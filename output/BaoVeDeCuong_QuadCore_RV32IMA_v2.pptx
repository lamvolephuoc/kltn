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5" r:id="rId8"/>
    <p:sldId id="262" r:id="rId9"/>
    <p:sldId id="263" r:id="rId10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03" autoAdjust="0"/>
  </p:normalViewPr>
  <p:slideViewPr>
    <p:cSldViewPr snapToGrid="0">
      <p:cViewPr>
        <p:scale>
          <a:sx n="50" d="100"/>
          <a:sy n="50" d="100"/>
        </p:scale>
        <p:origin x="946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UAV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lực</a:t>
            </a:r>
            <a:r>
              <a:rPr dirty="0"/>
              <a:t>, </a:t>
            </a:r>
            <a:r>
              <a:rPr dirty="0" err="1"/>
              <a:t>khóa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cam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khiển</a:t>
            </a:r>
            <a:r>
              <a:rPr dirty="0"/>
              <a:t> bay. </a:t>
            </a:r>
            <a:r>
              <a:rPr dirty="0" err="1"/>
              <a:t>Nền</a:t>
            </a:r>
            <a:r>
              <a:rPr dirty="0"/>
              <a:t> </a:t>
            </a:r>
            <a:r>
              <a:rPr dirty="0" err="1"/>
              <a:t>tảng</a:t>
            </a:r>
            <a:r>
              <a:rPr dirty="0"/>
              <a:t> </a:t>
            </a:r>
            <a:r>
              <a:rPr dirty="0" err="1"/>
              <a:t>tham</a:t>
            </a:r>
            <a:r>
              <a:rPr dirty="0"/>
              <a:t> </a:t>
            </a:r>
            <a:r>
              <a:rPr dirty="0" err="1"/>
              <a:t>khảo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khoa </a:t>
            </a:r>
            <a:r>
              <a:rPr dirty="0" err="1"/>
              <a:t>gồm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2 </a:t>
            </a:r>
            <a:r>
              <a:rPr dirty="0" err="1"/>
              <a:t>lõi</a:t>
            </a:r>
            <a:r>
              <a:rPr dirty="0"/>
              <a:t> RV32IMFA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2 </a:t>
            </a:r>
            <a:r>
              <a:rPr dirty="0" err="1"/>
              <a:t>lõi</a:t>
            </a:r>
            <a:r>
              <a:rPr dirty="0"/>
              <a:t> RV32IA </a:t>
            </a:r>
            <a:r>
              <a:rPr dirty="0" err="1"/>
              <a:t>có</a:t>
            </a:r>
            <a:r>
              <a:rPr dirty="0"/>
              <a:t> cache/coherence.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4 </a:t>
            </a:r>
            <a:r>
              <a:rPr dirty="0" err="1"/>
              <a:t>lõi</a:t>
            </a:r>
            <a:r>
              <a:rPr dirty="0"/>
              <a:t> RV32IMA </a:t>
            </a:r>
            <a:r>
              <a:rPr dirty="0" err="1"/>
              <a:t>với</a:t>
            </a:r>
            <a:r>
              <a:rPr dirty="0"/>
              <a:t> L1/L2, coherence </a:t>
            </a:r>
            <a:r>
              <a:rPr dirty="0" err="1"/>
              <a:t>và</a:t>
            </a:r>
            <a:r>
              <a:rPr dirty="0"/>
              <a:t> MMU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, </a:t>
            </a:r>
            <a:r>
              <a:rPr dirty="0" err="1"/>
              <a:t>rồi</a:t>
            </a:r>
            <a:r>
              <a:rPr dirty="0"/>
              <a:t>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phỏng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FPGA. </a:t>
            </a:r>
            <a:r>
              <a:rPr lang="vi-VN" dirty="0"/>
              <a:t>Tránh khẳng định mọi nghiên cứu quốc tế đều chưa giải quyết cache.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6061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RV32I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lệnh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, M </a:t>
            </a:r>
            <a:r>
              <a:rPr dirty="0" err="1"/>
              <a:t>bổ</a:t>
            </a:r>
            <a:r>
              <a:rPr dirty="0"/>
              <a:t> sung </a:t>
            </a:r>
            <a:r>
              <a:rPr dirty="0" err="1"/>
              <a:t>nhân</a:t>
            </a:r>
            <a:r>
              <a:rPr dirty="0"/>
              <a:t>/chia, A </a:t>
            </a:r>
            <a:r>
              <a:rPr dirty="0" err="1"/>
              <a:t>bổ</a:t>
            </a:r>
            <a:r>
              <a:rPr dirty="0"/>
              <a:t> sung </a:t>
            </a:r>
            <a:r>
              <a:rPr dirty="0" err="1"/>
              <a:t>thao</a:t>
            </a:r>
            <a:r>
              <a:rPr dirty="0"/>
              <a:t>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tử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chia </a:t>
            </a:r>
            <a:r>
              <a:rPr dirty="0" err="1"/>
              <a:t>sẻ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. Hai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bao </a:t>
            </a:r>
            <a:r>
              <a:rPr dirty="0" err="1"/>
              <a:t>quát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. RTL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chủ</a:t>
            </a:r>
            <a:r>
              <a:rPr dirty="0"/>
              <a:t> </a:t>
            </a:r>
            <a:r>
              <a:rPr dirty="0" err="1"/>
              <a:t>yếu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Verilog .v,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cương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Verilog/</a:t>
            </a:r>
            <a:r>
              <a:rPr dirty="0" err="1"/>
              <a:t>SystemVerilog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. MMU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Sv32 2 </a:t>
            </a:r>
            <a:r>
              <a:rPr dirty="0" err="1"/>
              <a:t>cấp</a:t>
            </a:r>
            <a:r>
              <a:rPr dirty="0"/>
              <a:t>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dạng</a:t>
            </a:r>
            <a:r>
              <a:rPr dirty="0"/>
              <a:t> PTE/PA </a:t>
            </a:r>
            <a:r>
              <a:rPr dirty="0" err="1"/>
              <a:t>tùy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 32 bit,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tuyên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</a:t>
            </a:r>
            <a:r>
              <a:rPr dirty="0" err="1"/>
              <a:t>tuân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Sv32.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superpage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A/D,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trang</a:t>
            </a:r>
            <a:r>
              <a:rPr dirty="0"/>
              <a:t> S/U.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dần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tạp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cô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: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, </a:t>
            </a:r>
            <a:r>
              <a:rPr dirty="0" err="1"/>
              <a:t>ghép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,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,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.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: L1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, L2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</a:t>
            </a:r>
            <a:r>
              <a:rPr dirty="0" err="1"/>
              <a:t>đệm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chung</a:t>
            </a:r>
            <a:r>
              <a:rPr dirty="0"/>
              <a:t>, MESI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cache, MMU </a:t>
            </a:r>
            <a:r>
              <a:rPr dirty="0" err="1"/>
              <a:t>dịch</a:t>
            </a:r>
            <a:r>
              <a:rPr dirty="0"/>
              <a:t> 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. AHB-Lite ở </a:t>
            </a:r>
            <a:r>
              <a:rPr dirty="0" err="1"/>
              <a:t>biên</a:t>
            </a:r>
            <a:r>
              <a:rPr dirty="0"/>
              <a:t> L1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coherence, AXI4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phía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. RTL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AHB-Lite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bus snoop </a:t>
            </a:r>
            <a:r>
              <a:rPr dirty="0" err="1"/>
              <a:t>riêng</a:t>
            </a:r>
            <a:r>
              <a:rPr dirty="0"/>
              <a:t>,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coherence_manager</a:t>
            </a:r>
            <a:r>
              <a:rPr dirty="0"/>
              <a:t>; DMA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IP </a:t>
            </a:r>
            <a:r>
              <a:rPr dirty="0" err="1"/>
              <a:t>axi_cdma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Tcl</a:t>
            </a:r>
            <a:r>
              <a:rPr dirty="0"/>
              <a:t>,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,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bên</a:t>
            </a:r>
            <a:r>
              <a:rPr dirty="0"/>
              <a:t> </a:t>
            </a:r>
            <a:r>
              <a:rPr dirty="0" err="1"/>
              <a:t>trái</a:t>
            </a:r>
            <a:r>
              <a:rPr dirty="0"/>
              <a:t>: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</a:t>
            </a:r>
            <a:r>
              <a:rPr dirty="0" err="1"/>
              <a:t>gồm</a:t>
            </a:r>
            <a:r>
              <a:rPr dirty="0"/>
              <a:t> pipeline, MMU/TLB, cache </a:t>
            </a:r>
            <a:r>
              <a:rPr dirty="0" err="1"/>
              <a:t>và</a:t>
            </a:r>
            <a:r>
              <a:rPr dirty="0"/>
              <a:t> bus;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đó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,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4 </a:t>
            </a:r>
            <a:r>
              <a:rPr dirty="0" err="1"/>
              <a:t>lõi</a:t>
            </a:r>
            <a:r>
              <a:rPr dirty="0"/>
              <a:t>.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chuyển</a:t>
            </a:r>
            <a:r>
              <a:rPr dirty="0"/>
              <a:t> sang </a:t>
            </a: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buộc</a:t>
            </a:r>
            <a:r>
              <a:rPr dirty="0"/>
              <a:t> PASS; FAIL quay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. Hai </a:t>
            </a:r>
            <a:r>
              <a:rPr dirty="0" err="1"/>
              <a:t>vòng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họa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debug,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ngụ</a:t>
            </a:r>
            <a:r>
              <a:rPr dirty="0"/>
              <a:t> ý </a:t>
            </a:r>
            <a:r>
              <a:rPr dirty="0" err="1"/>
              <a:t>lỗi</a:t>
            </a:r>
            <a:r>
              <a:rPr dirty="0"/>
              <a:t> </a:t>
            </a:r>
            <a:r>
              <a:rPr dirty="0" err="1"/>
              <a:t>nào</a:t>
            </a:r>
            <a:r>
              <a:rPr dirty="0"/>
              <a:t> </a:t>
            </a:r>
            <a:r>
              <a:rPr dirty="0" err="1"/>
              <a:t>cũng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ở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module. Spike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chiếu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/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I/M/A,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chiếu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CSR/trap, MMU hay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. Demo </a:t>
            </a:r>
            <a:r>
              <a:rPr dirty="0" err="1"/>
              <a:t>bên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DOCX: </a:t>
            </a:r>
            <a:r>
              <a:rPr dirty="0" err="1"/>
              <a:t>đọc</a:t>
            </a:r>
            <a:r>
              <a:rPr dirty="0"/>
              <a:t> </a:t>
            </a:r>
            <a:r>
              <a:rPr dirty="0" err="1"/>
              <a:t>chương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SD qua SPI, DMA </a:t>
            </a:r>
            <a:r>
              <a:rPr dirty="0" err="1"/>
              <a:t>nạp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DRAM, CPU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DRAM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SD;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PASS/FAIL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đo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. FPGA </a:t>
            </a:r>
            <a:r>
              <a:rPr dirty="0" err="1"/>
              <a:t>đích</a:t>
            </a:r>
            <a:r>
              <a:rPr dirty="0"/>
              <a:t> VCU129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cương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5126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5">
            <a:extLst>
              <a:ext uri="{FF2B5EF4-FFF2-40B4-BE49-F238E27FC236}">
                <a16:creationId xmlns:a16="http://schemas.microsoft.com/office/drawing/2014/main" id="{C74B57CF-0C32-47D8-AED7-4B596E27AE0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3360" y="972439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448FEEA-FDEB-46C8-8255-8133435EB3EE}" type="datetime1">
              <a:rPr lang="en-US" smtClean="0"/>
              <a:t>9/16/2026</a:t>
            </a:fld>
            <a:endParaRPr/>
          </a:p>
        </p:txBody>
      </p:sp>
      <p:sp>
        <p:nvSpPr>
          <p:cNvPr id="13" name="Google Shape;13;p65">
            <a:extLst>
              <a:ext uri="{FF2B5EF4-FFF2-40B4-BE49-F238E27FC236}">
                <a16:creationId xmlns:a16="http://schemas.microsoft.com/office/drawing/2014/main" id="{0B59968E-A04C-492E-9A4B-F67A3B07834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65">
            <a:extLst>
              <a:ext uri="{FF2B5EF4-FFF2-40B4-BE49-F238E27FC236}">
                <a16:creationId xmlns:a16="http://schemas.microsoft.com/office/drawing/2014/main" id="{BB22804F-6BE2-4C6B-8D96-0C77AF98CA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941040" y="972439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7">
            <a:extLst>
              <a:ext uri="{FF2B5EF4-FFF2-40B4-BE49-F238E27FC236}">
                <a16:creationId xmlns:a16="http://schemas.microsoft.com/office/drawing/2014/main" id="{73B73360-A6F2-4806-8D52-227D7929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7">
            <a:extLst>
              <a:ext uri="{FF2B5EF4-FFF2-40B4-BE49-F238E27FC236}">
                <a16:creationId xmlns:a16="http://schemas.microsoft.com/office/drawing/2014/main" id="{4F81394F-1C26-4991-B6DF-0C50C5B50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7">
            <a:extLst>
              <a:ext uri="{FF2B5EF4-FFF2-40B4-BE49-F238E27FC236}">
                <a16:creationId xmlns:a16="http://schemas.microsoft.com/office/drawing/2014/main" id="{8696AED8-69B5-40BC-B770-45B7294E278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59080" y="96472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7A229BE-91E7-41DB-A58B-4B21D677B6AD}" type="datetime1">
              <a:rPr lang="en-US" smtClean="0"/>
              <a:t>9/16/2026</a:t>
            </a:fld>
            <a:endParaRPr/>
          </a:p>
        </p:txBody>
      </p:sp>
      <p:sp>
        <p:nvSpPr>
          <p:cNvPr id="25" name="Google Shape;25;p67">
            <a:extLst>
              <a:ext uri="{FF2B5EF4-FFF2-40B4-BE49-F238E27FC236}">
                <a16:creationId xmlns:a16="http://schemas.microsoft.com/office/drawing/2014/main" id="{EEF774CA-4412-4BD9-B993-EBAD5F20FA4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7">
            <a:extLst>
              <a:ext uri="{FF2B5EF4-FFF2-40B4-BE49-F238E27FC236}">
                <a16:creationId xmlns:a16="http://schemas.microsoft.com/office/drawing/2014/main" id="{16ACCE79-E24F-42B1-83F3-6E7C38BBA3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895320" y="96472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8">
            <a:extLst>
              <a:ext uri="{FF2B5EF4-FFF2-40B4-BE49-F238E27FC236}">
                <a16:creationId xmlns:a16="http://schemas.microsoft.com/office/drawing/2014/main" id="{FCD343B9-B717-4F30-A562-592FBCF7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8">
            <a:extLst>
              <a:ext uri="{FF2B5EF4-FFF2-40B4-BE49-F238E27FC236}">
                <a16:creationId xmlns:a16="http://schemas.microsoft.com/office/drawing/2014/main" id="{1543D893-AB8D-4CEF-A542-E359370EA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8">
            <a:extLst>
              <a:ext uri="{FF2B5EF4-FFF2-40B4-BE49-F238E27FC236}">
                <a16:creationId xmlns:a16="http://schemas.microsoft.com/office/drawing/2014/main" id="{1BE630A9-44CE-4100-AE15-213DF31E967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2A69A97-2108-4CC5-8DB0-FC115DBEDC86}" type="datetime1">
              <a:rPr lang="en-US" smtClean="0"/>
              <a:t>9/16/2026</a:t>
            </a:fld>
            <a:endParaRPr/>
          </a:p>
        </p:txBody>
      </p:sp>
      <p:sp>
        <p:nvSpPr>
          <p:cNvPr id="31" name="Google Shape;31;p68">
            <a:extLst>
              <a:ext uri="{FF2B5EF4-FFF2-40B4-BE49-F238E27FC236}">
                <a16:creationId xmlns:a16="http://schemas.microsoft.com/office/drawing/2014/main" id="{35829F60-5B28-45AC-8558-367599EDD50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8">
            <a:extLst>
              <a:ext uri="{FF2B5EF4-FFF2-40B4-BE49-F238E27FC236}">
                <a16:creationId xmlns:a16="http://schemas.microsoft.com/office/drawing/2014/main" id="{FD921911-21E2-43D9-9EA4-5FD5DC2FB0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9">
            <a:extLst>
              <a:ext uri="{FF2B5EF4-FFF2-40B4-BE49-F238E27FC236}">
                <a16:creationId xmlns:a16="http://schemas.microsoft.com/office/drawing/2014/main" id="{C3A73EC1-6B0B-43D7-A166-7FDBA317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9">
            <a:extLst>
              <a:ext uri="{FF2B5EF4-FFF2-40B4-BE49-F238E27FC236}">
                <a16:creationId xmlns:a16="http://schemas.microsoft.com/office/drawing/2014/main" id="{ECFD2AD4-A8AD-4B84-A72D-62D15D4C2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9">
            <a:extLst>
              <a:ext uri="{FF2B5EF4-FFF2-40B4-BE49-F238E27FC236}">
                <a16:creationId xmlns:a16="http://schemas.microsoft.com/office/drawing/2014/main" id="{E6C566FE-0384-4320-9E4C-B1F67794FA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9">
            <a:extLst>
              <a:ext uri="{FF2B5EF4-FFF2-40B4-BE49-F238E27FC236}">
                <a16:creationId xmlns:a16="http://schemas.microsoft.com/office/drawing/2014/main" id="{926CF0E4-797F-47A6-AAE1-2033AFB34F4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C29681F-5422-4B2C-99C3-DA8387D98079}" type="datetime1">
              <a:rPr lang="en-US" smtClean="0"/>
              <a:t>9/16/2026</a:t>
            </a:fld>
            <a:endParaRPr/>
          </a:p>
        </p:txBody>
      </p:sp>
      <p:sp>
        <p:nvSpPr>
          <p:cNvPr id="38" name="Google Shape;38;p69">
            <a:extLst>
              <a:ext uri="{FF2B5EF4-FFF2-40B4-BE49-F238E27FC236}">
                <a16:creationId xmlns:a16="http://schemas.microsoft.com/office/drawing/2014/main" id="{A10ABA25-A7E1-4AC2-A2CA-E8E96662712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9">
            <a:extLst>
              <a:ext uri="{FF2B5EF4-FFF2-40B4-BE49-F238E27FC236}">
                <a16:creationId xmlns:a16="http://schemas.microsoft.com/office/drawing/2014/main" id="{A64449F5-C04E-48A2-85FC-C78BE114D2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>
            <a:extLst>
              <a:ext uri="{FF2B5EF4-FFF2-40B4-BE49-F238E27FC236}">
                <a16:creationId xmlns:a16="http://schemas.microsoft.com/office/drawing/2014/main" id="{BC7A33FE-4883-4B57-A086-B88CFBEFB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0">
            <a:extLst>
              <a:ext uri="{FF2B5EF4-FFF2-40B4-BE49-F238E27FC236}">
                <a16:creationId xmlns:a16="http://schemas.microsoft.com/office/drawing/2014/main" id="{3F5BEDD3-845C-441C-904C-FF6F0E64E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0">
            <a:extLst>
              <a:ext uri="{FF2B5EF4-FFF2-40B4-BE49-F238E27FC236}">
                <a16:creationId xmlns:a16="http://schemas.microsoft.com/office/drawing/2014/main" id="{9B9AC6E2-DD57-4A0A-A9D0-97238262A64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0">
            <a:extLst>
              <a:ext uri="{FF2B5EF4-FFF2-40B4-BE49-F238E27FC236}">
                <a16:creationId xmlns:a16="http://schemas.microsoft.com/office/drawing/2014/main" id="{9925AB7E-E501-4ACF-AAA6-E7F8964771A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0">
            <a:extLst>
              <a:ext uri="{FF2B5EF4-FFF2-40B4-BE49-F238E27FC236}">
                <a16:creationId xmlns:a16="http://schemas.microsoft.com/office/drawing/2014/main" id="{1C86BF82-2689-4B73-BB70-120D26EC72F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0">
            <a:extLst>
              <a:ext uri="{FF2B5EF4-FFF2-40B4-BE49-F238E27FC236}">
                <a16:creationId xmlns:a16="http://schemas.microsoft.com/office/drawing/2014/main" id="{9CEA7117-B3FF-475B-B4F8-6E3F1721979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B8FD345-7F0D-40EB-ABC9-1FFFAF3A83DE}" type="datetime1">
              <a:rPr lang="en-US" smtClean="0"/>
              <a:t>9/16/2026</a:t>
            </a:fld>
            <a:endParaRPr/>
          </a:p>
        </p:txBody>
      </p:sp>
      <p:sp>
        <p:nvSpPr>
          <p:cNvPr id="47" name="Google Shape;47;p70">
            <a:extLst>
              <a:ext uri="{FF2B5EF4-FFF2-40B4-BE49-F238E27FC236}">
                <a16:creationId xmlns:a16="http://schemas.microsoft.com/office/drawing/2014/main" id="{7D0360EF-FF4A-4457-BF69-37B5F3E1401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>
            <a:extLst>
              <a:ext uri="{FF2B5EF4-FFF2-40B4-BE49-F238E27FC236}">
                <a16:creationId xmlns:a16="http://schemas.microsoft.com/office/drawing/2014/main" id="{B97F3D5C-0A17-41D3-9D7C-D2649F42EF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1">
            <a:extLst>
              <a:ext uri="{FF2B5EF4-FFF2-40B4-BE49-F238E27FC236}">
                <a16:creationId xmlns:a16="http://schemas.microsoft.com/office/drawing/2014/main" id="{33F61148-238B-4038-9A77-71987276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1">
            <a:extLst>
              <a:ext uri="{FF2B5EF4-FFF2-40B4-BE49-F238E27FC236}">
                <a16:creationId xmlns:a16="http://schemas.microsoft.com/office/drawing/2014/main" id="{8D34D264-8B3D-4AA9-B65B-E61C217DA41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4CC0B41-931E-479D-9FBF-FB36F5929F47}" type="datetime1">
              <a:rPr lang="en-US" smtClean="0"/>
              <a:t>9/16/2026</a:t>
            </a:fld>
            <a:endParaRPr/>
          </a:p>
        </p:txBody>
      </p:sp>
      <p:sp>
        <p:nvSpPr>
          <p:cNvPr id="52" name="Google Shape;52;p71">
            <a:extLst>
              <a:ext uri="{FF2B5EF4-FFF2-40B4-BE49-F238E27FC236}">
                <a16:creationId xmlns:a16="http://schemas.microsoft.com/office/drawing/2014/main" id="{B729DCCC-B420-4BAD-B619-6A2D7929AD2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1">
            <a:extLst>
              <a:ext uri="{FF2B5EF4-FFF2-40B4-BE49-F238E27FC236}">
                <a16:creationId xmlns:a16="http://schemas.microsoft.com/office/drawing/2014/main" id="{AC9FADC3-F3A3-4559-9E3F-321371F553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2">
            <a:extLst>
              <a:ext uri="{FF2B5EF4-FFF2-40B4-BE49-F238E27FC236}">
                <a16:creationId xmlns:a16="http://schemas.microsoft.com/office/drawing/2014/main" id="{67058512-6929-4CEA-853C-FDCDC1C2E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2">
            <a:extLst>
              <a:ext uri="{FF2B5EF4-FFF2-40B4-BE49-F238E27FC236}">
                <a16:creationId xmlns:a16="http://schemas.microsoft.com/office/drawing/2014/main" id="{F2C6D176-3971-49B9-B3E9-2FAD2A66E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72">
            <a:extLst>
              <a:ext uri="{FF2B5EF4-FFF2-40B4-BE49-F238E27FC236}">
                <a16:creationId xmlns:a16="http://schemas.microsoft.com/office/drawing/2014/main" id="{586E3F69-09F5-489D-995C-A0B52119E4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72">
            <a:extLst>
              <a:ext uri="{FF2B5EF4-FFF2-40B4-BE49-F238E27FC236}">
                <a16:creationId xmlns:a16="http://schemas.microsoft.com/office/drawing/2014/main" id="{9E3E83EE-7634-4EDA-97E5-12035C4B7C7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5CE7971-2D5F-4424-BC99-EECF937C64F9}" type="datetime1">
              <a:rPr lang="en-US" smtClean="0"/>
              <a:t>9/16/2026</a:t>
            </a:fld>
            <a:endParaRPr/>
          </a:p>
        </p:txBody>
      </p:sp>
      <p:sp>
        <p:nvSpPr>
          <p:cNvPr id="59" name="Google Shape;59;p72">
            <a:extLst>
              <a:ext uri="{FF2B5EF4-FFF2-40B4-BE49-F238E27FC236}">
                <a16:creationId xmlns:a16="http://schemas.microsoft.com/office/drawing/2014/main" id="{81B7D178-31FB-42FB-A7BF-D75A02A873D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>
            <a:extLst>
              <a:ext uri="{FF2B5EF4-FFF2-40B4-BE49-F238E27FC236}">
                <a16:creationId xmlns:a16="http://schemas.microsoft.com/office/drawing/2014/main" id="{3565693E-1147-42C2-B745-FDF9CD857E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3">
            <a:extLst>
              <a:ext uri="{FF2B5EF4-FFF2-40B4-BE49-F238E27FC236}">
                <a16:creationId xmlns:a16="http://schemas.microsoft.com/office/drawing/2014/main" id="{3509ADB1-6638-4126-84B3-008CE8A4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3">
            <a:extLst>
              <a:ext uri="{FF2B5EF4-FFF2-40B4-BE49-F238E27FC236}">
                <a16:creationId xmlns:a16="http://schemas.microsoft.com/office/drawing/2014/main" id="{BD7E749F-2494-4689-AE32-6761DB4389B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Google Shape;64;p73">
            <a:extLst>
              <a:ext uri="{FF2B5EF4-FFF2-40B4-BE49-F238E27FC236}">
                <a16:creationId xmlns:a16="http://schemas.microsoft.com/office/drawing/2014/main" id="{1F95764F-2F6C-4EC2-8201-DF2E02F1E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73">
            <a:extLst>
              <a:ext uri="{FF2B5EF4-FFF2-40B4-BE49-F238E27FC236}">
                <a16:creationId xmlns:a16="http://schemas.microsoft.com/office/drawing/2014/main" id="{BA3F57A4-9C69-4EC2-9E35-B916277C2D4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A4F9A07-F358-4D88-B8D6-3A8286260DCB}" type="datetime1">
              <a:rPr lang="en-US" smtClean="0"/>
              <a:t>9/16/2026</a:t>
            </a:fld>
            <a:endParaRPr/>
          </a:p>
        </p:txBody>
      </p:sp>
      <p:sp>
        <p:nvSpPr>
          <p:cNvPr id="66" name="Google Shape;66;p73">
            <a:extLst>
              <a:ext uri="{FF2B5EF4-FFF2-40B4-BE49-F238E27FC236}">
                <a16:creationId xmlns:a16="http://schemas.microsoft.com/office/drawing/2014/main" id="{C2A0F88B-954A-44B2-BF7A-B0AEF1D1CD6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>
            <a:extLst>
              <a:ext uri="{FF2B5EF4-FFF2-40B4-BE49-F238E27FC236}">
                <a16:creationId xmlns:a16="http://schemas.microsoft.com/office/drawing/2014/main" id="{8A00C873-35B4-4A07-ADD9-51986FF187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4">
            <a:extLst>
              <a:ext uri="{FF2B5EF4-FFF2-40B4-BE49-F238E27FC236}">
                <a16:creationId xmlns:a16="http://schemas.microsoft.com/office/drawing/2014/main" id="{0D714272-21BE-440D-99C9-7485C917B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4">
            <a:extLst>
              <a:ext uri="{FF2B5EF4-FFF2-40B4-BE49-F238E27FC236}">
                <a16:creationId xmlns:a16="http://schemas.microsoft.com/office/drawing/2014/main" id="{5103459F-09BD-47C8-BD14-C3624FC4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4">
            <a:extLst>
              <a:ext uri="{FF2B5EF4-FFF2-40B4-BE49-F238E27FC236}">
                <a16:creationId xmlns:a16="http://schemas.microsoft.com/office/drawing/2014/main" id="{877748D2-5A6C-45F0-B47F-1E311D31D78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EAC57CE-8F21-42B4-A04A-10E30C609514}" type="datetime1">
              <a:rPr lang="en-US" smtClean="0"/>
              <a:t>9/16/2026</a:t>
            </a:fld>
            <a:endParaRPr/>
          </a:p>
        </p:txBody>
      </p:sp>
      <p:sp>
        <p:nvSpPr>
          <p:cNvPr id="72" name="Google Shape;72;p74">
            <a:extLst>
              <a:ext uri="{FF2B5EF4-FFF2-40B4-BE49-F238E27FC236}">
                <a16:creationId xmlns:a16="http://schemas.microsoft.com/office/drawing/2014/main" id="{042FE8EB-3F95-43BC-B19E-B2467DC027C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4">
            <a:extLst>
              <a:ext uri="{FF2B5EF4-FFF2-40B4-BE49-F238E27FC236}">
                <a16:creationId xmlns:a16="http://schemas.microsoft.com/office/drawing/2014/main" id="{296FC556-C898-46C1-9D36-1EA7AF8629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5">
            <a:extLst>
              <a:ext uri="{FF2B5EF4-FFF2-40B4-BE49-F238E27FC236}">
                <a16:creationId xmlns:a16="http://schemas.microsoft.com/office/drawing/2014/main" id="{8816A78B-3EA4-4B94-BBA0-EEB0B3C13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5">
            <a:extLst>
              <a:ext uri="{FF2B5EF4-FFF2-40B4-BE49-F238E27FC236}">
                <a16:creationId xmlns:a16="http://schemas.microsoft.com/office/drawing/2014/main" id="{C0B79456-ED65-4DC5-ABBC-EA12605C2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75">
            <a:extLst>
              <a:ext uri="{FF2B5EF4-FFF2-40B4-BE49-F238E27FC236}">
                <a16:creationId xmlns:a16="http://schemas.microsoft.com/office/drawing/2014/main" id="{095871A5-5717-41EC-B0A1-F0CC764E731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7C3D479-D0DE-4EFD-88AF-98A304FF157B}" type="datetime1">
              <a:rPr lang="en-US" smtClean="0"/>
              <a:t>9/16/2026</a:t>
            </a:fld>
            <a:endParaRPr/>
          </a:p>
        </p:txBody>
      </p:sp>
      <p:sp>
        <p:nvSpPr>
          <p:cNvPr id="78" name="Google Shape;78;p75">
            <a:extLst>
              <a:ext uri="{FF2B5EF4-FFF2-40B4-BE49-F238E27FC236}">
                <a16:creationId xmlns:a16="http://schemas.microsoft.com/office/drawing/2014/main" id="{F9C57157-6970-4DDB-B4B4-63F1915C9C7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5">
            <a:extLst>
              <a:ext uri="{FF2B5EF4-FFF2-40B4-BE49-F238E27FC236}">
                <a16:creationId xmlns:a16="http://schemas.microsoft.com/office/drawing/2014/main" id="{85C41256-5BCB-4696-83DF-012B5DEEF8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>
            <a:extLst>
              <a:ext uri="{FF2B5EF4-FFF2-40B4-BE49-F238E27FC236}">
                <a16:creationId xmlns:a16="http://schemas.microsoft.com/office/drawing/2014/main" id="{BD1F16B6-9994-4945-8F13-8B8D2692B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4">
            <a:extLst>
              <a:ext uri="{FF2B5EF4-FFF2-40B4-BE49-F238E27FC236}">
                <a16:creationId xmlns:a16="http://schemas.microsoft.com/office/drawing/2014/main" id="{57CE1742-94B0-447A-89AB-BE98C11DA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8" name="Google Shape;8;p64">
            <a:extLst>
              <a:ext uri="{FF2B5EF4-FFF2-40B4-BE49-F238E27FC236}">
                <a16:creationId xmlns:a16="http://schemas.microsoft.com/office/drawing/2014/main" id="{8D980AC8-2F2D-4901-B6BB-EDC82B03E01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ABF8F200-D8E1-4993-AF40-036F4B183E60}" type="datetime1">
              <a:rPr lang="en-US" smtClean="0"/>
              <a:t>9/16/2026</a:t>
            </a:fld>
            <a:endParaRPr/>
          </a:p>
        </p:txBody>
      </p:sp>
      <p:sp>
        <p:nvSpPr>
          <p:cNvPr id="9" name="Google Shape;9;p64">
            <a:extLst>
              <a:ext uri="{FF2B5EF4-FFF2-40B4-BE49-F238E27FC236}">
                <a16:creationId xmlns:a16="http://schemas.microsoft.com/office/drawing/2014/main" id="{9C7C7118-0817-4BFD-A08B-B1D8C828F32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0" name="Google Shape;10;p64">
            <a:extLst>
              <a:ext uri="{FF2B5EF4-FFF2-40B4-BE49-F238E27FC236}">
                <a16:creationId xmlns:a16="http://schemas.microsoft.com/office/drawing/2014/main" id="{BDF890DE-63EB-425F-BAD1-3168563CBC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B2DCE872-5EC7-FDE7-A471-67B7338CD750}"/>
              </a:ext>
            </a:extLst>
          </p:cNvPr>
          <p:cNvSpPr>
            <a:spLocks noGrp="1"/>
          </p:cNvSpPr>
          <p:nvPr/>
        </p:nvSpPr>
        <p:spPr>
          <a:xfrm>
            <a:off x="-36213" y="0"/>
            <a:ext cx="789388" cy="10287000"/>
          </a:xfrm>
          <a:custGeom>
            <a:avLst/>
            <a:gdLst/>
            <a:ahLst/>
            <a:cxnLst/>
            <a:rect l="l" t="t" r="r" b="b"/>
            <a:pathLst>
              <a:path w="1267460" h="13716000">
                <a:moveTo>
                  <a:pt x="0" y="0"/>
                </a:moveTo>
                <a:lnTo>
                  <a:pt x="1267460" y="0"/>
                </a:lnTo>
                <a:lnTo>
                  <a:pt x="126746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F209E95F-FC29-42FA-0AB7-934A412D145F}"/>
              </a:ext>
            </a:extLst>
          </p:cNvPr>
          <p:cNvSpPr>
            <a:spLocks noGrp="1"/>
          </p:cNvSpPr>
          <p:nvPr/>
        </p:nvSpPr>
        <p:spPr>
          <a:xfrm rot="10800000" flipH="1">
            <a:off x="-46871" y="0"/>
            <a:ext cx="714044" cy="10287000"/>
          </a:xfrm>
          <a:custGeom>
            <a:avLst/>
            <a:gdLst/>
            <a:ahLst/>
            <a:cxnLst/>
            <a:rect l="l" t="t" r="r" b="b"/>
            <a:pathLst>
              <a:path w="1267460" h="13716000">
                <a:moveTo>
                  <a:pt x="0" y="0"/>
                </a:moveTo>
                <a:lnTo>
                  <a:pt x="1267460" y="0"/>
                </a:lnTo>
                <a:lnTo>
                  <a:pt x="1267460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50" r="-2951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97421035-DF72-0EE9-42AB-BB512D0EACCC}"/>
              </a:ext>
            </a:extLst>
          </p:cNvPr>
          <p:cNvSpPr>
            <a:spLocks noGrp="1"/>
          </p:cNvSpPr>
          <p:nvPr/>
        </p:nvSpPr>
        <p:spPr>
          <a:xfrm rot="16200000">
            <a:off x="-2734402" y="6615396"/>
            <a:ext cx="6259599" cy="54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 sz="2200"/>
          </a:p>
        </p:txBody>
      </p:sp>
      <p:sp>
        <p:nvSpPr>
          <p:cNvPr id="94" name="Google Shape;94;p1">
            <a:extLst>
              <a:ext uri="{FF2B5EF4-FFF2-40B4-BE49-F238E27FC236}">
                <a16:creationId xmlns:a16="http://schemas.microsoft.com/office/drawing/2014/main" id="{2865E276-16FB-9F77-A512-ABE50A4B8220}"/>
              </a:ext>
            </a:extLst>
          </p:cNvPr>
          <p:cNvSpPr>
            <a:spLocks noGrp="1"/>
          </p:cNvSpPr>
          <p:nvPr/>
        </p:nvSpPr>
        <p:spPr>
          <a:xfrm>
            <a:off x="6719978" y="445698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">
            <a:extLst>
              <a:ext uri="{FF2B5EF4-FFF2-40B4-BE49-F238E27FC236}">
                <a16:creationId xmlns:a16="http://schemas.microsoft.com/office/drawing/2014/main" id="{0495937E-9E77-B490-2BE5-AEDF4E6CB720}"/>
              </a:ext>
            </a:extLst>
          </p:cNvPr>
          <p:cNvSpPr>
            <a:spLocks noGrp="1"/>
          </p:cNvSpPr>
          <p:nvPr/>
        </p:nvSpPr>
        <p:spPr>
          <a:xfrm>
            <a:off x="6807463" y="523733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1">
            <a:extLst>
              <a:ext uri="{FF2B5EF4-FFF2-40B4-BE49-F238E27FC236}">
                <a16:creationId xmlns:a16="http://schemas.microsoft.com/office/drawing/2014/main" id="{087584D7-002B-886B-5EB8-D820F4F91E63}"/>
              </a:ext>
            </a:extLst>
          </p:cNvPr>
          <p:cNvSpPr>
            <a:spLocks noGrp="1"/>
          </p:cNvSpPr>
          <p:nvPr/>
        </p:nvSpPr>
        <p:spPr>
          <a:xfrm>
            <a:off x="9436446" y="350307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1">
            <a:extLst>
              <a:ext uri="{FF2B5EF4-FFF2-40B4-BE49-F238E27FC236}">
                <a16:creationId xmlns:a16="http://schemas.microsoft.com/office/drawing/2014/main" id="{46003153-ED0F-8790-E89B-1E619EE381FE}"/>
              </a:ext>
            </a:extLst>
          </p:cNvPr>
          <p:cNvSpPr>
            <a:spLocks noGrp="1"/>
          </p:cNvSpPr>
          <p:nvPr/>
        </p:nvSpPr>
        <p:spPr>
          <a:xfrm>
            <a:off x="7688248" y="385842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BẢO VỆ ĐỀ CƯƠNG KHÓA LUẬN TỐT NGHIỆP">
            <a:extLst>
              <a:ext uri="{FF2B5EF4-FFF2-40B4-BE49-F238E27FC236}">
                <a16:creationId xmlns:a16="http://schemas.microsoft.com/office/drawing/2014/main" id="{89A9B6D1-6F3F-4CA7-9D33-4AFD6F7BB69B}"/>
              </a:ext>
            </a:extLst>
          </p:cNvPr>
          <p:cNvSpPr>
            <a:spLocks noGrp="1"/>
          </p:cNvSpPr>
          <p:nvPr/>
        </p:nvSpPr>
        <p:spPr>
          <a:xfrm>
            <a:off x="2047875" y="2571750"/>
            <a:ext cx="1466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079D9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9D93"/>
                </a:solidFill>
                <a:latin typeface="Arial"/>
                <a:ea typeface="Arial"/>
                <a:cs typeface="Arial"/>
              </a:rPr>
              <a:t>BẢO VỆ ĐỀ CƯƠNG KHÓA LUẬN TỐT NGHIỆP</a:t>
            </a:r>
          </a:p>
        </p:txBody>
      </p:sp>
      <p:sp>
        <p:nvSpPr>
          <p:cNvPr id="99" name="THIẾT KẾ BỘ VI XỬ LÝ 4 LÕI RISC-V&#10;DỰA TRÊN KIẾN TRÚC TẬP LỆNH RV32IMA">
            <a:extLst>
              <a:ext uri="{FF2B5EF4-FFF2-40B4-BE49-F238E27FC236}">
                <a16:creationId xmlns:a16="http://schemas.microsoft.com/office/drawing/2014/main" id="{9EBB4BB5-32DD-41BC-B570-A1CD3383BE3D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15240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THIẾT KẾ BỘ VI XỬ LÝ 4 LÕI RISC-V</a:t>
            </a:r>
          </a:p>
          <a:p>
            <a:pPr algn="ctr">
              <a:defRPr sz="40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DỰA TRÊN KIẾN TRÚC TẬP LỆNH RV32IMA</a:t>
            </a:r>
          </a:p>
        </p:txBody>
      </p:sp>
      <p:sp>
        <p:nvSpPr>
          <p:cNvPr id="100" name="GVHD: TS. Nguyễn Minh Sơn">
            <a:extLst>
              <a:ext uri="{FF2B5EF4-FFF2-40B4-BE49-F238E27FC236}">
                <a16:creationId xmlns:a16="http://schemas.microsoft.com/office/drawing/2014/main" id="{6FACAEBC-C45F-4D5B-81EC-8EFA6CA38B09}"/>
              </a:ext>
            </a:extLst>
          </p:cNvPr>
          <p:cNvSpPr>
            <a:spLocks noGrp="1"/>
          </p:cNvSpPr>
          <p:nvPr/>
        </p:nvSpPr>
        <p:spPr>
          <a:xfrm>
            <a:off x="2190750" y="6191250"/>
            <a:ext cx="14192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GVHD: TS. Nguyễn Minh Sơn</a:t>
            </a:r>
          </a:p>
        </p:txBody>
      </p:sp>
      <p:sp>
        <p:nvSpPr>
          <p:cNvPr id="101" name="Vũ Thành Lam">
            <a:extLst>
              <a:ext uri="{FF2B5EF4-FFF2-40B4-BE49-F238E27FC236}">
                <a16:creationId xmlns:a16="http://schemas.microsoft.com/office/drawing/2014/main" id="{37717B85-FEE2-45EB-A3B3-604C2F809ECF}"/>
              </a:ext>
            </a:extLst>
          </p:cNvPr>
          <p:cNvSpPr>
            <a:spLocks noGrp="1"/>
          </p:cNvSpPr>
          <p:nvPr/>
        </p:nvSpPr>
        <p:spPr>
          <a:xfrm>
            <a:off x="2190750" y="70675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Vũ Thành Lam</a:t>
            </a:r>
          </a:p>
        </p:txBody>
      </p:sp>
      <p:sp>
        <p:nvSpPr>
          <p:cNvPr id="102" name="23520840">
            <a:extLst>
              <a:ext uri="{FF2B5EF4-FFF2-40B4-BE49-F238E27FC236}">
                <a16:creationId xmlns:a16="http://schemas.microsoft.com/office/drawing/2014/main" id="{2FFA0DE1-5C80-4AB2-98B3-C0E6CA7A56E7}"/>
              </a:ext>
            </a:extLst>
          </p:cNvPr>
          <p:cNvSpPr>
            <a:spLocks noGrp="1"/>
          </p:cNvSpPr>
          <p:nvPr/>
        </p:nvSpPr>
        <p:spPr>
          <a:xfrm>
            <a:off x="8763000" y="706755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23520840</a:t>
            </a:r>
          </a:p>
        </p:txBody>
      </p:sp>
      <p:sp>
        <p:nvSpPr>
          <p:cNvPr id="103" name="Võ Lê Phước Lâm">
            <a:extLst>
              <a:ext uri="{FF2B5EF4-FFF2-40B4-BE49-F238E27FC236}">
                <a16:creationId xmlns:a16="http://schemas.microsoft.com/office/drawing/2014/main" id="{A968B7E6-8479-4105-8097-605570E36949}"/>
              </a:ext>
            </a:extLst>
          </p:cNvPr>
          <p:cNvSpPr>
            <a:spLocks noGrp="1"/>
          </p:cNvSpPr>
          <p:nvPr/>
        </p:nvSpPr>
        <p:spPr>
          <a:xfrm>
            <a:off x="2190750" y="78295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Võ Lê Phước Lâm</a:t>
            </a:r>
          </a:p>
        </p:txBody>
      </p:sp>
      <p:sp>
        <p:nvSpPr>
          <p:cNvPr id="104" name="23520838">
            <a:extLst>
              <a:ext uri="{FF2B5EF4-FFF2-40B4-BE49-F238E27FC236}">
                <a16:creationId xmlns:a16="http://schemas.microsoft.com/office/drawing/2014/main" id="{0F8029E9-874B-4DEF-BDA4-512F15FAB9E3}"/>
              </a:ext>
            </a:extLst>
          </p:cNvPr>
          <p:cNvSpPr>
            <a:spLocks noGrp="1"/>
          </p:cNvSpPr>
          <p:nvPr/>
        </p:nvSpPr>
        <p:spPr>
          <a:xfrm>
            <a:off x="8763000" y="782955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23520838</a:t>
            </a:r>
          </a:p>
        </p:txBody>
      </p:sp>
      <p:sp>
        <p:nvSpPr>
          <p:cNvPr id="105" name="TP. Hồ Chí Minh, tháng 9 năm 2026">
            <a:extLst>
              <a:ext uri="{FF2B5EF4-FFF2-40B4-BE49-F238E27FC236}">
                <a16:creationId xmlns:a16="http://schemas.microsoft.com/office/drawing/2014/main" id="{697595B4-7036-474C-888E-0A00DE7FDADC}"/>
              </a:ext>
            </a:extLst>
          </p:cNvPr>
          <p:cNvSpPr>
            <a:spLocks noGrp="1"/>
          </p:cNvSpPr>
          <p:nvPr/>
        </p:nvSpPr>
        <p:spPr>
          <a:xfrm>
            <a:off x="2190750" y="9220200"/>
            <a:ext cx="14192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15E"/>
                </a:solidFill>
                <a:latin typeface="Arial"/>
                <a:ea typeface="Arial"/>
                <a:cs typeface="Arial"/>
              </a:rPr>
              <a:t>TP. Hồ Chí Minh, tháng 9 năm 2026</a:t>
            </a:r>
          </a:p>
        </p:txBody>
      </p:sp>
    </p:spTree>
    <p:extLst>
      <p:ext uri="{BB962C8B-B14F-4D97-AF65-F5344CB8AC3E}">
        <p14:creationId xmlns:p14="http://schemas.microsoft.com/office/powerpoint/2010/main" val="3287283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7AEA612B-45BA-42C5-AE75-58FDD9A8B251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9AD8E415-E544-4CB2-8F44-62CD80C8C3B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9C7B45FF-4167-47FB-9008-4175EA763FD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72D3D682-CDAE-4CD3-BB7D-D9AA273088FD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84FAB926-91D1-4266-8A21-D6D460278E4D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6AC07224-92D1-499D-8694-BFA17889782B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7DFEB014-466A-45CA-83FE-661B86B482D2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289A243A-8F3B-4B03-9910-2B3E213D59F3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3F9E7DED-0DB0-4282-BF4D-FC26645BBC22}"/>
              </a:ext>
            </a:extLst>
          </p:cNvPr>
          <p:cNvSpPr txBox="1">
            <a:spLocks/>
          </p:cNvSpPr>
          <p:nvPr/>
        </p:nvSpPr>
        <p:spPr>
          <a:xfrm>
            <a:off x="1184524" y="1874677"/>
            <a:ext cx="4398079" cy="8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VN" sz="44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29676">
                        <a:lumMod val="75000"/>
                      </a:srgbClr>
                    </a:gs>
                    <a:gs pos="100000">
                      <a:srgbClr val="38EF7D">
                        <a:lumMod val="75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Nội dung báo cáo</a:t>
            </a:r>
            <a:endParaRPr kumimoji="0" lang="en-VN" sz="44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29676">
                      <a:lumMod val="75000"/>
                    </a:srgbClr>
                  </a:gs>
                  <a:gs pos="100000">
                    <a:srgbClr val="38EF7D">
                      <a:lumMod val="75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Times New Roman" panose="02020603050405020304"/>
              <a:ea typeface="+mj-ea"/>
              <a:cs typeface="+mj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2D8DE37-4C5C-4FA2-A47D-57E28066A23D}"/>
              </a:ext>
            </a:extLst>
          </p:cNvPr>
          <p:cNvGrpSpPr/>
          <p:nvPr/>
        </p:nvGrpSpPr>
        <p:grpSpPr>
          <a:xfrm>
            <a:off x="2306388" y="3100315"/>
            <a:ext cx="10637102" cy="5858863"/>
            <a:chOff x="3193039" y="3415626"/>
            <a:chExt cx="9974950" cy="5858863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B01CDE-233D-47EB-ADD5-F4635C030367}"/>
                </a:ext>
              </a:extLst>
            </p:cNvPr>
            <p:cNvGrpSpPr/>
            <p:nvPr/>
          </p:nvGrpSpPr>
          <p:grpSpPr>
            <a:xfrm>
              <a:off x="3193040" y="3415626"/>
              <a:ext cx="9974949" cy="1240553"/>
              <a:chOff x="1033164" y="2094865"/>
              <a:chExt cx="8368546" cy="948373"/>
            </a:xfrm>
          </p:grpSpPr>
          <p:sp>
            <p:nvSpPr>
              <p:cNvPr id="38" name="Rounded Rectangle 6">
                <a:extLst>
                  <a:ext uri="{FF2B5EF4-FFF2-40B4-BE49-F238E27FC236}">
                    <a16:creationId xmlns:a16="http://schemas.microsoft.com/office/drawing/2014/main" id="{5A81827F-8D8C-4A4F-A583-25727C93D84F}"/>
                  </a:ext>
                </a:extLst>
              </p:cNvPr>
              <p:cNvSpPr/>
              <p:nvPr/>
            </p:nvSpPr>
            <p:spPr>
              <a:xfrm>
                <a:off x="1033164" y="2094865"/>
                <a:ext cx="8368546" cy="948373"/>
              </a:xfrm>
              <a:prstGeom prst="roundRect">
                <a:avLst>
                  <a:gd name="adj" fmla="val 6767"/>
                </a:avLst>
              </a:prstGeom>
              <a:solidFill>
                <a:srgbClr val="FFFFFF"/>
              </a:solidFill>
              <a:ln w="19050" cap="flat" cmpd="sng" algn="ctr">
                <a:solidFill>
                  <a:srgbClr val="029676">
                    <a:lumMod val="75000"/>
                  </a:srgbClr>
                </a:solidFill>
                <a:prstDash val="solid"/>
                <a:miter lim="800000"/>
              </a:ln>
              <a:effectLst>
                <a:glow rad="63500">
                  <a:srgbClr val="38EF7D">
                    <a:satMod val="175000"/>
                    <a:alpha val="40000"/>
                  </a:srgbClr>
                </a:glow>
              </a:effectLst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VN" sz="2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+mn-cs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D49AE86-094A-4598-894E-1881F097F434}"/>
                  </a:ext>
                </a:extLst>
              </p:cNvPr>
              <p:cNvSpPr/>
              <p:nvPr/>
            </p:nvSpPr>
            <p:spPr>
              <a:xfrm>
                <a:off x="1193006" y="2265441"/>
                <a:ext cx="607219" cy="607219"/>
              </a:xfrm>
              <a:prstGeom prst="ellipse">
                <a:avLst/>
              </a:prstGeom>
              <a:solidFill>
                <a:srgbClr val="38EF7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V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8C522E-BE00-4BE2-AA5C-F7AB0B9506F2}"/>
                  </a:ext>
                </a:extLst>
              </p:cNvPr>
              <p:cNvSpPr txBox="1"/>
              <p:nvPr/>
            </p:nvSpPr>
            <p:spPr>
              <a:xfrm>
                <a:off x="1862399" y="2333763"/>
                <a:ext cx="6940941" cy="4705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Tổng</a:t>
                </a:r>
                <a:r>
                  <a:rPr kumimoji="0" lang="en-US" sz="3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 </a:t>
                </a: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quan</a:t>
                </a:r>
                <a:r>
                  <a:rPr kumimoji="0" lang="en-US" sz="3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 </a:t>
                </a: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đề</a:t>
                </a:r>
                <a:r>
                  <a:rPr kumimoji="0" lang="en-US" sz="3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 </a:t>
                </a: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tài</a:t>
                </a:r>
                <a:endParaRPr kumimoji="0" lang="en-VN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56A9963-4073-4282-BC0C-DFF858B5E968}"/>
                </a:ext>
              </a:extLst>
            </p:cNvPr>
            <p:cNvGrpSpPr/>
            <p:nvPr/>
          </p:nvGrpSpPr>
          <p:grpSpPr>
            <a:xfrm>
              <a:off x="3193040" y="5022209"/>
              <a:ext cx="9974949" cy="1172924"/>
              <a:chOff x="1033164" y="3239499"/>
              <a:chExt cx="8368546" cy="948373"/>
            </a:xfrm>
          </p:grpSpPr>
          <p:sp>
            <p:nvSpPr>
              <p:cNvPr id="42" name="Rounded Rectangle 10">
                <a:extLst>
                  <a:ext uri="{FF2B5EF4-FFF2-40B4-BE49-F238E27FC236}">
                    <a16:creationId xmlns:a16="http://schemas.microsoft.com/office/drawing/2014/main" id="{972E0192-B3B0-4B3E-ABF4-AF60CB824401}"/>
                  </a:ext>
                </a:extLst>
              </p:cNvPr>
              <p:cNvSpPr/>
              <p:nvPr/>
            </p:nvSpPr>
            <p:spPr>
              <a:xfrm>
                <a:off x="1033164" y="3239499"/>
                <a:ext cx="8368546" cy="948373"/>
              </a:xfrm>
              <a:prstGeom prst="roundRect">
                <a:avLst>
                  <a:gd name="adj" fmla="val 6767"/>
                </a:avLst>
              </a:prstGeom>
              <a:solidFill>
                <a:srgbClr val="029676">
                  <a:lumMod val="75000"/>
                </a:srgbClr>
              </a:solidFill>
              <a:ln w="19050" cap="flat" cmpd="sng" algn="ctr">
                <a:solidFill>
                  <a:srgbClr val="029676">
                    <a:lumMod val="75000"/>
                  </a:srgbClr>
                </a:solidFill>
                <a:prstDash val="solid"/>
                <a:miter lim="800000"/>
              </a:ln>
              <a:effectLst>
                <a:glow rad="63500">
                  <a:srgbClr val="38EF7D">
                    <a:satMod val="175000"/>
                    <a:alpha val="40000"/>
                  </a:srgbClr>
                </a:glow>
              </a:effectLst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VN" sz="2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3EBFC7A-2D58-44DD-9A5C-CA25837E82EB}"/>
                  </a:ext>
                </a:extLst>
              </p:cNvPr>
              <p:cNvSpPr/>
              <p:nvPr/>
            </p:nvSpPr>
            <p:spPr>
              <a:xfrm>
                <a:off x="1193005" y="3410075"/>
                <a:ext cx="607219" cy="607219"/>
              </a:xfrm>
              <a:prstGeom prst="ellipse">
                <a:avLst/>
              </a:prstGeom>
              <a:solidFill>
                <a:srgbClr val="38EF7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V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0B3D791-7213-40CB-89BB-FA855C1C357D}"/>
                  </a:ext>
                </a:extLst>
              </p:cNvPr>
              <p:cNvSpPr txBox="1"/>
              <p:nvPr/>
            </p:nvSpPr>
            <p:spPr>
              <a:xfrm>
                <a:off x="1862399" y="3464830"/>
                <a:ext cx="6609248" cy="49770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</a:rPr>
                  <a:t>Mục</a:t>
                </a:r>
                <a:r>
                  <a:rPr kumimoji="0" lang="en-US" sz="3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</a:rPr>
                  <a:t> </a:t>
                </a: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</a:rPr>
                  <a:t>tiêu</a:t>
                </a:r>
                <a:r>
                  <a:rPr kumimoji="0" lang="en-US" sz="3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</a:rPr>
                  <a:t> </a:t>
                </a: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</a:rPr>
                  <a:t>đề</a:t>
                </a:r>
                <a:r>
                  <a:rPr kumimoji="0" lang="en-US" sz="3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</a:rPr>
                  <a:t> </a:t>
                </a: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</a:rPr>
                  <a:t>tài</a:t>
                </a:r>
                <a:endParaRPr kumimoji="0" lang="en-VN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195A474-40DF-40EA-807E-5393B4F826F1}"/>
                </a:ext>
              </a:extLst>
            </p:cNvPr>
            <p:cNvGrpSpPr/>
            <p:nvPr/>
          </p:nvGrpSpPr>
          <p:grpSpPr>
            <a:xfrm>
              <a:off x="3193039" y="6582220"/>
              <a:ext cx="9974949" cy="1152591"/>
              <a:chOff x="1033164" y="4431224"/>
              <a:chExt cx="8368546" cy="948373"/>
            </a:xfrm>
          </p:grpSpPr>
          <p:sp>
            <p:nvSpPr>
              <p:cNvPr id="46" name="Rounded Rectangle 6">
                <a:extLst>
                  <a:ext uri="{FF2B5EF4-FFF2-40B4-BE49-F238E27FC236}">
                    <a16:creationId xmlns:a16="http://schemas.microsoft.com/office/drawing/2014/main" id="{1A6B4BE4-3DBB-4973-BC86-E5129EB257E6}"/>
                  </a:ext>
                </a:extLst>
              </p:cNvPr>
              <p:cNvSpPr/>
              <p:nvPr/>
            </p:nvSpPr>
            <p:spPr>
              <a:xfrm>
                <a:off x="1033164" y="4431224"/>
                <a:ext cx="8368546" cy="948373"/>
              </a:xfrm>
              <a:prstGeom prst="roundRect">
                <a:avLst>
                  <a:gd name="adj" fmla="val 6767"/>
                </a:avLst>
              </a:prstGeom>
              <a:solidFill>
                <a:srgbClr val="FFFFFF"/>
              </a:solidFill>
              <a:ln w="19050" cap="flat" cmpd="sng" algn="ctr">
                <a:solidFill>
                  <a:srgbClr val="029676">
                    <a:lumMod val="75000"/>
                  </a:srgbClr>
                </a:solidFill>
                <a:prstDash val="solid"/>
                <a:miter lim="800000"/>
              </a:ln>
              <a:effectLst>
                <a:glow rad="63500">
                  <a:srgbClr val="38EF7D">
                    <a:satMod val="175000"/>
                    <a:alpha val="40000"/>
                  </a:srgbClr>
                </a:glow>
              </a:effectLst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VN" sz="2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52A2C4E-CB8C-4734-9438-E52F27CD25D5}"/>
                  </a:ext>
                </a:extLst>
              </p:cNvPr>
              <p:cNvSpPr/>
              <p:nvPr/>
            </p:nvSpPr>
            <p:spPr>
              <a:xfrm>
                <a:off x="1193006" y="4601800"/>
                <a:ext cx="607219" cy="607219"/>
              </a:xfrm>
              <a:prstGeom prst="ellipse">
                <a:avLst/>
              </a:prstGeom>
              <a:solidFill>
                <a:srgbClr val="38EF7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Times New Roman" panose="02020603050405020304" pitchFamily="18" charset="0"/>
                  </a:rPr>
                  <a:t>3</a:t>
                </a:r>
                <a:endParaRPr kumimoji="0" lang="en-V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22F57C2-FEB9-4C43-A8D0-211DC93049B6}"/>
                  </a:ext>
                </a:extLst>
              </p:cNvPr>
              <p:cNvSpPr txBox="1"/>
              <p:nvPr/>
            </p:nvSpPr>
            <p:spPr>
              <a:xfrm>
                <a:off x="1862400" y="4652166"/>
                <a:ext cx="6609248" cy="50648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400" kern="0" dirty="0" err="1">
                    <a:solidFill>
                      <a:srgbClr val="000000"/>
                    </a:solidFill>
                    <a:latin typeface="Times New Roman" panose="02020603050405020304"/>
                  </a:rPr>
                  <a:t>Nội</a:t>
                </a:r>
                <a:r>
                  <a:rPr lang="en-US" sz="3400" kern="0" dirty="0">
                    <a:solidFill>
                      <a:srgbClr val="000000"/>
                    </a:solidFill>
                    <a:latin typeface="Times New Roman" panose="02020603050405020304"/>
                  </a:rPr>
                  <a:t> dung </a:t>
                </a:r>
                <a:r>
                  <a:rPr lang="en-US" sz="3400" kern="0" dirty="0" err="1">
                    <a:solidFill>
                      <a:srgbClr val="000000"/>
                    </a:solidFill>
                    <a:latin typeface="Times New Roman" panose="02020603050405020304"/>
                  </a:rPr>
                  <a:t>và</a:t>
                </a:r>
                <a:r>
                  <a:rPr lang="en-US" sz="3400" kern="0" dirty="0">
                    <a:solidFill>
                      <a:srgbClr val="000000"/>
                    </a:solidFill>
                    <a:latin typeface="Times New Roman" panose="02020603050405020304"/>
                  </a:rPr>
                  <a:t> p</a:t>
                </a: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hương</a:t>
                </a:r>
                <a:r>
                  <a:rPr kumimoji="0" lang="en-US" sz="3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 </a:t>
                </a: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pháp</a:t>
                </a:r>
                <a:r>
                  <a:rPr kumimoji="0" lang="en-US" sz="3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 </a:t>
                </a: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thực</a:t>
                </a:r>
                <a:r>
                  <a:rPr kumimoji="0" lang="en-US" sz="3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 </a:t>
                </a:r>
                <a:r>
                  <a:rPr kumimoji="0" lang="en-US" sz="3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</a:rPr>
                  <a:t>hiện</a:t>
                </a:r>
                <a:endParaRPr kumimoji="0" lang="en-VN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1F66DAF-57FC-4BEC-9E8E-BD8C7AB06DE5}"/>
                </a:ext>
              </a:extLst>
            </p:cNvPr>
            <p:cNvGrpSpPr/>
            <p:nvPr/>
          </p:nvGrpSpPr>
          <p:grpSpPr>
            <a:xfrm>
              <a:off x="3193040" y="8121898"/>
              <a:ext cx="9974948" cy="1152591"/>
              <a:chOff x="1033164" y="5575858"/>
              <a:chExt cx="8368545" cy="948373"/>
            </a:xfrm>
          </p:grpSpPr>
          <p:sp>
            <p:nvSpPr>
              <p:cNvPr id="50" name="Rounded Rectangle 9">
                <a:extLst>
                  <a:ext uri="{FF2B5EF4-FFF2-40B4-BE49-F238E27FC236}">
                    <a16:creationId xmlns:a16="http://schemas.microsoft.com/office/drawing/2014/main" id="{254058AA-0EA3-4F69-8D71-FAFFDCF3EAA3}"/>
                  </a:ext>
                </a:extLst>
              </p:cNvPr>
              <p:cNvSpPr/>
              <p:nvPr/>
            </p:nvSpPr>
            <p:spPr>
              <a:xfrm>
                <a:off x="1033164" y="5575858"/>
                <a:ext cx="8368545" cy="948373"/>
              </a:xfrm>
              <a:prstGeom prst="roundRect">
                <a:avLst>
                  <a:gd name="adj" fmla="val 6767"/>
                </a:avLst>
              </a:prstGeom>
              <a:solidFill>
                <a:srgbClr val="029676">
                  <a:lumMod val="75000"/>
                </a:srgbClr>
              </a:solidFill>
              <a:ln w="19050" cap="flat" cmpd="sng" algn="ctr">
                <a:solidFill>
                  <a:srgbClr val="029676">
                    <a:lumMod val="75000"/>
                  </a:srgbClr>
                </a:solidFill>
                <a:prstDash val="solid"/>
                <a:miter lim="800000"/>
              </a:ln>
              <a:effectLst>
                <a:glow rad="63500">
                  <a:srgbClr val="38EF7D">
                    <a:satMod val="175000"/>
                    <a:alpha val="40000"/>
                  </a:srgbClr>
                </a:glow>
              </a:effectLst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VN" sz="2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1476B86-3994-4A27-B67C-D2C3B14FC39F}"/>
                  </a:ext>
                </a:extLst>
              </p:cNvPr>
              <p:cNvSpPr/>
              <p:nvPr/>
            </p:nvSpPr>
            <p:spPr>
              <a:xfrm>
                <a:off x="1193005" y="5746434"/>
                <a:ext cx="607219" cy="607219"/>
              </a:xfrm>
              <a:prstGeom prst="ellipse">
                <a:avLst/>
              </a:prstGeom>
              <a:solidFill>
                <a:srgbClr val="38EF7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Times New Roman" panose="02020603050405020304" pitchFamily="18" charset="0"/>
                  </a:rPr>
                  <a:t>4</a:t>
                </a:r>
                <a:endParaRPr kumimoji="0" lang="en-V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04DA40-76A7-4487-8749-F8C82DEFA9C6}"/>
                  </a:ext>
                </a:extLst>
              </p:cNvPr>
              <p:cNvSpPr txBox="1"/>
              <p:nvPr/>
            </p:nvSpPr>
            <p:spPr>
              <a:xfrm>
                <a:off x="1862399" y="5796801"/>
                <a:ext cx="6609248" cy="50648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lvl="0" defTabSz="457200"/>
                <a:r>
                  <a:rPr lang="en-US" sz="3400" kern="0" dirty="0" err="1">
                    <a:solidFill>
                      <a:srgbClr val="FFFFFF"/>
                    </a:solidFill>
                    <a:latin typeface="Times New Roman" panose="02020603050405020304"/>
                  </a:rPr>
                  <a:t>Kế</a:t>
                </a:r>
                <a:r>
                  <a:rPr lang="en-US" sz="3400" kern="0" dirty="0">
                    <a:solidFill>
                      <a:srgbClr val="FFFFFF"/>
                    </a:solidFill>
                    <a:latin typeface="Times New Roman" panose="02020603050405020304"/>
                  </a:rPr>
                  <a:t> </a:t>
                </a:r>
                <a:r>
                  <a:rPr lang="en-US" sz="3400" kern="0" dirty="0" err="1">
                    <a:solidFill>
                      <a:srgbClr val="FFFFFF"/>
                    </a:solidFill>
                    <a:latin typeface="Times New Roman" panose="02020603050405020304"/>
                  </a:rPr>
                  <a:t>hoạch</a:t>
                </a:r>
                <a:r>
                  <a:rPr lang="en-US" sz="3400" kern="0" dirty="0">
                    <a:solidFill>
                      <a:srgbClr val="FFFFFF"/>
                    </a:solidFill>
                    <a:latin typeface="Times New Roman" panose="02020603050405020304"/>
                  </a:rPr>
                  <a:t> </a:t>
                </a:r>
                <a:r>
                  <a:rPr lang="en-US" sz="3400" kern="0" dirty="0" err="1">
                    <a:solidFill>
                      <a:srgbClr val="FFFFFF"/>
                    </a:solidFill>
                    <a:latin typeface="Times New Roman" panose="02020603050405020304"/>
                  </a:rPr>
                  <a:t>thực</a:t>
                </a:r>
                <a:r>
                  <a:rPr lang="en-US" sz="3400" kern="0" dirty="0">
                    <a:solidFill>
                      <a:srgbClr val="FFFFFF"/>
                    </a:solidFill>
                    <a:latin typeface="Times New Roman" panose="02020603050405020304"/>
                  </a:rPr>
                  <a:t> </a:t>
                </a:r>
                <a:r>
                  <a:rPr lang="en-US" sz="3400" kern="0" dirty="0" err="1">
                    <a:solidFill>
                      <a:srgbClr val="FFFFFF"/>
                    </a:solidFill>
                    <a:latin typeface="Times New Roman" panose="02020603050405020304"/>
                  </a:rPr>
                  <a:t>hiện</a:t>
                </a:r>
                <a:r>
                  <a:rPr lang="en-US" sz="3400" kern="0" dirty="0">
                    <a:solidFill>
                      <a:srgbClr val="FFFFFF"/>
                    </a:solidFill>
                    <a:latin typeface="Times New Roman" panose="02020603050405020304"/>
                  </a:rPr>
                  <a:t> </a:t>
                </a:r>
                <a:r>
                  <a:rPr lang="en-US" sz="3400" kern="0" dirty="0" err="1">
                    <a:solidFill>
                      <a:srgbClr val="FFFFFF"/>
                    </a:solidFill>
                    <a:latin typeface="Times New Roman" panose="02020603050405020304"/>
                  </a:rPr>
                  <a:t>và</a:t>
                </a:r>
                <a:r>
                  <a:rPr lang="en-US" sz="3400" kern="0" dirty="0">
                    <a:solidFill>
                      <a:srgbClr val="FFFFFF"/>
                    </a:solidFill>
                    <a:latin typeface="Times New Roman" panose="02020603050405020304"/>
                  </a:rPr>
                  <a:t> </a:t>
                </a:r>
                <a:r>
                  <a:rPr lang="en-US" sz="3400" kern="0" dirty="0" err="1">
                    <a:solidFill>
                      <a:srgbClr val="FFFFFF"/>
                    </a:solidFill>
                    <a:latin typeface="Times New Roman" panose="02020603050405020304"/>
                  </a:rPr>
                  <a:t>tiêu</a:t>
                </a:r>
                <a:r>
                  <a:rPr lang="en-US" sz="3400" kern="0" dirty="0">
                    <a:solidFill>
                      <a:srgbClr val="FFFFFF"/>
                    </a:solidFill>
                    <a:latin typeface="Times New Roman" panose="02020603050405020304"/>
                  </a:rPr>
                  <a:t> </a:t>
                </a:r>
                <a:r>
                  <a:rPr lang="en-US" sz="3400" kern="0" dirty="0" err="1">
                    <a:solidFill>
                      <a:srgbClr val="FFFFFF"/>
                    </a:solidFill>
                    <a:latin typeface="Times New Roman" panose="02020603050405020304"/>
                  </a:rPr>
                  <a:t>chí</a:t>
                </a:r>
                <a:r>
                  <a:rPr lang="en-US" sz="3400" kern="0" dirty="0">
                    <a:solidFill>
                      <a:srgbClr val="FFFFFF"/>
                    </a:solidFill>
                    <a:latin typeface="Times New Roman" panose="02020603050405020304"/>
                  </a:rPr>
                  <a:t> </a:t>
                </a:r>
                <a:r>
                  <a:rPr lang="en-US" sz="3400" kern="0" dirty="0" err="1">
                    <a:solidFill>
                      <a:srgbClr val="FFFFFF"/>
                    </a:solidFill>
                    <a:latin typeface="Times New Roman" panose="02020603050405020304"/>
                  </a:rPr>
                  <a:t>đánh</a:t>
                </a:r>
                <a:r>
                  <a:rPr lang="en-US" sz="3400" kern="0" dirty="0">
                    <a:solidFill>
                      <a:srgbClr val="FFFFFF"/>
                    </a:solidFill>
                    <a:latin typeface="Times New Roman" panose="02020603050405020304"/>
                  </a:rPr>
                  <a:t> </a:t>
                </a:r>
                <a:r>
                  <a:rPr lang="en-US" sz="3400" kern="0" dirty="0" err="1">
                    <a:solidFill>
                      <a:srgbClr val="FFFFFF"/>
                    </a:solidFill>
                    <a:latin typeface="Times New Roman" panose="02020603050405020304"/>
                  </a:rPr>
                  <a:t>giá</a:t>
                </a:r>
                <a:endParaRPr kumimoji="0" lang="en-VN" sz="3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7416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Hands-On Look at RISC-V Verification for Next-Gen Designs Using Synopsys'  Flow - RISC-V International">
            <a:extLst>
              <a:ext uri="{FF2B5EF4-FFF2-40B4-BE49-F238E27FC236}">
                <a16:creationId xmlns:a16="http://schemas.microsoft.com/office/drawing/2014/main" id="{B3D7B1B6-C86A-4AF3-A965-356A1B03BA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49"/>
          <a:stretch/>
        </p:blipFill>
        <p:spPr bwMode="auto">
          <a:xfrm>
            <a:off x="160394" y="2397344"/>
            <a:ext cx="10054072" cy="749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7AEA612B-45BA-42C5-AE75-58FDD9A8B251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9AD8E415-E544-4CB2-8F44-62CD80C8C3B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9C7B45FF-4167-47FB-9008-4175EA763FD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72D3D682-CDAE-4CD3-BB7D-D9AA273088FD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84FAB926-91D1-4266-8A21-D6D460278E4D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6AC07224-92D1-499D-8694-BFA17889782B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7DFEB014-466A-45CA-83FE-661B86B482D2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289A243A-8F3B-4B03-9910-2B3E213D59F3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1. Tổng quan đề tài">
            <a:extLst>
              <a:ext uri="{FF2B5EF4-FFF2-40B4-BE49-F238E27FC236}">
                <a16:creationId xmlns:a16="http://schemas.microsoft.com/office/drawing/2014/main" id="{B75A9023-DE66-48E4-9BFD-D7E9B9CE75D1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1.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Tổng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quan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đề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tài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Nhu cầu xử lý nhiều tác vụ đồng thời">
            <a:extLst>
              <a:ext uri="{FF2B5EF4-FFF2-40B4-BE49-F238E27FC236}">
                <a16:creationId xmlns:a16="http://schemas.microsoft.com/office/drawing/2014/main" id="{E19DA171-279E-4422-A328-81138E73E782}"/>
              </a:ext>
            </a:extLst>
          </p:cNvPr>
          <p:cNvSpPr>
            <a:spLocks noGrp="1"/>
          </p:cNvSpPr>
          <p:nvPr/>
        </p:nvSpPr>
        <p:spPr>
          <a:xfrm>
            <a:off x="9746210" y="2518694"/>
            <a:ext cx="6862763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Nhu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cầu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nhiều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tác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vụ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đồng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thời</a:t>
            </a:r>
            <a:endParaRPr sz="30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Các hệ thống nhúng như khối điều khiển bay UAV đặt ra nhu cầu xử lý dữ">
            <a:extLst>
              <a:ext uri="{FF2B5EF4-FFF2-40B4-BE49-F238E27FC236}">
                <a16:creationId xmlns:a16="http://schemas.microsoft.com/office/drawing/2014/main" id="{1ED24323-0BEC-43F8-95D1-986ACFB7C194}"/>
              </a:ext>
            </a:extLst>
          </p:cNvPr>
          <p:cNvSpPr>
            <a:spLocks noGrp="1"/>
          </p:cNvSpPr>
          <p:nvPr/>
        </p:nvSpPr>
        <p:spPr>
          <a:xfrm>
            <a:off x="9910762" y="3097622"/>
            <a:ext cx="7234238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Các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thống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nhúng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như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khối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điều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khiển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bay UAV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đặt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ra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cầu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cảm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biến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điều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khiển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giao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tiếp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cùng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lúc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3" name="Lựa chọn kiến trúc RISC-V">
            <a:extLst>
              <a:ext uri="{FF2B5EF4-FFF2-40B4-BE49-F238E27FC236}">
                <a16:creationId xmlns:a16="http://schemas.microsoft.com/office/drawing/2014/main" id="{18A9DD79-4549-45C1-9630-F9419F0701E5}"/>
              </a:ext>
            </a:extLst>
          </p:cNvPr>
          <p:cNvSpPr>
            <a:spLocks noGrp="1"/>
          </p:cNvSpPr>
          <p:nvPr/>
        </p:nvSpPr>
        <p:spPr>
          <a:xfrm>
            <a:off x="9746210" y="4848882"/>
            <a:ext cx="50196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Lựa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chọn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kiến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trúc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RISC-V</a:t>
            </a:r>
          </a:p>
        </p:txBody>
      </p:sp>
      <p:sp>
        <p:nvSpPr>
          <p:cNvPr id="234" name="Kiến trúc tập lệnh mở cho phép nhóm chủ động thiết kế và tùy biến bộ x">
            <a:extLst>
              <a:ext uri="{FF2B5EF4-FFF2-40B4-BE49-F238E27FC236}">
                <a16:creationId xmlns:a16="http://schemas.microsoft.com/office/drawing/2014/main" id="{1524C8C5-54ED-4CEF-81F8-2598B62EC25B}"/>
              </a:ext>
            </a:extLst>
          </p:cNvPr>
          <p:cNvSpPr>
            <a:spLocks noGrp="1"/>
          </p:cNvSpPr>
          <p:nvPr/>
        </p:nvSpPr>
        <p:spPr>
          <a:xfrm>
            <a:off x="9910762" y="5436126"/>
            <a:ext cx="7905750" cy="1534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Kiến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trúc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tập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lệnh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mở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phép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nhóm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chủ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động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thiết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kế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tùy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biến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ở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mức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RTL,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phù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hợp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với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nghiên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cứu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phần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cứng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5" name="Bài toán của khóa luận">
            <a:extLst>
              <a:ext uri="{FF2B5EF4-FFF2-40B4-BE49-F238E27FC236}">
                <a16:creationId xmlns:a16="http://schemas.microsoft.com/office/drawing/2014/main" id="{F17D9D4B-CC26-458D-BB42-425576631617}"/>
              </a:ext>
            </a:extLst>
          </p:cNvPr>
          <p:cNvSpPr>
            <a:spLocks noGrp="1"/>
          </p:cNvSpPr>
          <p:nvPr/>
        </p:nvSpPr>
        <p:spPr>
          <a:xfrm>
            <a:off x="9746210" y="7287547"/>
            <a:ext cx="4348163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Bài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toán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của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khóa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luận</a:t>
            </a:r>
            <a:endParaRPr sz="30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Xây dựng hệ 4 lõi RV32IMA có bộ nhớ đệm và quản lý bộ nhớ, bảo đảm dữ ">
            <a:extLst>
              <a:ext uri="{FF2B5EF4-FFF2-40B4-BE49-F238E27FC236}">
                <a16:creationId xmlns:a16="http://schemas.microsoft.com/office/drawing/2014/main" id="{F3ADFCFD-1820-40E6-9AEE-F28C15914468}"/>
              </a:ext>
            </a:extLst>
          </p:cNvPr>
          <p:cNvSpPr>
            <a:spLocks noGrp="1"/>
          </p:cNvSpPr>
          <p:nvPr/>
        </p:nvSpPr>
        <p:spPr>
          <a:xfrm>
            <a:off x="9910762" y="7837078"/>
            <a:ext cx="7519988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Xây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dựng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4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RV32IMA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có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nhớ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đệm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quản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nhớ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bảo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đảm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chia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sẻ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nhất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quán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FPGA.</a:t>
            </a:r>
          </a:p>
        </p:txBody>
      </p:sp>
    </p:spTree>
    <p:extLst>
      <p:ext uri="{BB962C8B-B14F-4D97-AF65-F5344CB8AC3E}">
        <p14:creationId xmlns:p14="http://schemas.microsoft.com/office/powerpoint/2010/main" val="375585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E77E43C7-69BA-DFDE-40C8-CDD7988E47AB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3858341C-4BB0-7398-4010-0EEC237CB81B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1F275C04-1EA7-EFB2-58EC-EB3F6A551830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88AAF152-00AC-C496-7743-14F4BCDBCAF2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EEEA4F8F-6835-8996-9F20-2C578FEEB049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BA904E38-0A5D-E2E4-703B-94B49FA2E199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9836EA18-ECAC-F1C8-A57F-0D5108695454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0F196DA8-72BC-39DF-74B8-CB7AA6E11558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2. Mục tiêu đề tài">
            <a:extLst>
              <a:ext uri="{FF2B5EF4-FFF2-40B4-BE49-F238E27FC236}">
                <a16:creationId xmlns:a16="http://schemas.microsoft.com/office/drawing/2014/main" id="{9E292DB8-D387-43FA-8466-B7B22383E2CF}"/>
              </a:ext>
            </a:extLst>
          </p:cNvPr>
          <p:cNvSpPr>
            <a:spLocks noGrp="1"/>
          </p:cNvSpPr>
          <p:nvPr/>
        </p:nvSpPr>
        <p:spPr>
          <a:xfrm>
            <a:off x="518512" y="1768498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2. Mục tiêu đề tài</a:t>
            </a:r>
          </a:p>
        </p:txBody>
      </p:sp>
      <p:sp>
        <p:nvSpPr>
          <p:cNvPr id="231" name="Mục tiêu 1  Thiết kế và hiện thực hệ vi xử lý 4 lõi">
            <a:extLst>
              <a:ext uri="{FF2B5EF4-FFF2-40B4-BE49-F238E27FC236}">
                <a16:creationId xmlns:a16="http://schemas.microsoft.com/office/drawing/2014/main" id="{7133C2D2-1B19-4DDD-BDF1-629A196D593F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1638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1</a:t>
            </a:r>
            <a:r>
              <a:rPr lang="en-US"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: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Thiết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vi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4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lõi</a:t>
            </a:r>
            <a:endParaRPr sz="30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Lõi RV32IMA, cache L1 riêng và L2 dùng chung, cơ chế nhất quán dữ liệu">
            <a:extLst>
              <a:ext uri="{FF2B5EF4-FFF2-40B4-BE49-F238E27FC236}">
                <a16:creationId xmlns:a16="http://schemas.microsoft.com/office/drawing/2014/main" id="{630B98C8-ADEA-4B78-9182-A332DA81D0A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163830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 RV32IMA, cache L1 riêng và L2 dùng chung, cơ chế nhất quán dữ liệu MESI, MMU/TLB cho từng lõi, giao tiếp bus và DMA.</a:t>
            </a:r>
          </a:p>
        </p:txBody>
      </p:sp>
      <p:sp>
        <p:nvSpPr>
          <p:cNvPr id="233" name="Mục tiêu 2  Kiểm chứng, đánh giá và triển khai trên FPGA">
            <a:extLst>
              <a:ext uri="{FF2B5EF4-FFF2-40B4-BE49-F238E27FC236}">
                <a16:creationId xmlns:a16="http://schemas.microsoft.com/office/drawing/2014/main" id="{FB2B2FEB-A3C7-4F64-9A5D-4362BC4FEFF6}"/>
              </a:ext>
            </a:extLst>
          </p:cNvPr>
          <p:cNvSpPr>
            <a:spLocks noGrp="1"/>
          </p:cNvSpPr>
          <p:nvPr/>
        </p:nvSpPr>
        <p:spPr>
          <a:xfrm>
            <a:off x="952500" y="5124450"/>
            <a:ext cx="1638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2</a:t>
            </a:r>
            <a:r>
              <a:rPr lang="en-US"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: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triển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khai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FPGA</a:t>
            </a:r>
          </a:p>
        </p:txBody>
      </p:sp>
      <p:sp>
        <p:nvSpPr>
          <p:cNvPr id="234" name="Kiểm tra đúng chức năng bằng mô phỏng RTL và demo tự động trên FPGA. Đ">
            <a:extLst>
              <a:ext uri="{FF2B5EF4-FFF2-40B4-BE49-F238E27FC236}">
                <a16:creationId xmlns:a16="http://schemas.microsoft.com/office/drawing/2014/main" id="{6CD00D4E-C77F-486A-9CBA-BF6BF6F474FC}"/>
              </a:ext>
            </a:extLst>
          </p:cNvPr>
          <p:cNvSpPr>
            <a:spLocks noGrp="1"/>
          </p:cNvSpPr>
          <p:nvPr/>
        </p:nvSpPr>
        <p:spPr>
          <a:xfrm>
            <a:off x="952500" y="5829300"/>
            <a:ext cx="163830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tra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đúng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năng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bằng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mô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phỏng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RTL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demo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tự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động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FPGA.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Đánh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giá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hiệu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năng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tài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nguyên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timing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công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suất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ước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tính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5" name="Phạm vi thực hiện">
            <a:extLst>
              <a:ext uri="{FF2B5EF4-FFF2-40B4-BE49-F238E27FC236}">
                <a16:creationId xmlns:a16="http://schemas.microsoft.com/office/drawing/2014/main" id="{93A5E84E-0002-439B-838C-695786116AEF}"/>
              </a:ext>
            </a:extLst>
          </p:cNvPr>
          <p:cNvSpPr>
            <a:spLocks noGrp="1"/>
          </p:cNvSpPr>
          <p:nvPr/>
        </p:nvSpPr>
        <p:spPr>
          <a:xfrm>
            <a:off x="952500" y="7572375"/>
            <a:ext cx="1638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Phạm vi thực hiện</a:t>
            </a:r>
          </a:p>
        </p:txBody>
      </p:sp>
      <p:sp>
        <p:nvSpPr>
          <p:cNvPr id="236" name="4 lõi, tập lệnh RV32I/M/A. Không mở rộng F/D hoặc C. MMU giới hạn tran">
            <a:extLst>
              <a:ext uri="{FF2B5EF4-FFF2-40B4-BE49-F238E27FC236}">
                <a16:creationId xmlns:a16="http://schemas.microsoft.com/office/drawing/2014/main" id="{510ED214-9775-472C-93DF-0A76C05F3842}"/>
              </a:ext>
            </a:extLst>
          </p:cNvPr>
          <p:cNvSpPr>
            <a:spLocks noGrp="1"/>
          </p:cNvSpPr>
          <p:nvPr/>
        </p:nvSpPr>
        <p:spPr>
          <a:xfrm>
            <a:off x="952500" y="8191500"/>
            <a:ext cx="16383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4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tập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lệnh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RV32I/M/A.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Không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mở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rộng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F/D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hoặc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C. MMU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giới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hạn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trang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4 KB; CSR/trap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ngoài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phạm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vi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đề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cương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625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D7860EAB-80CD-B3CD-26E9-786331497CEA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DC1937D5-981D-491E-C851-A8C0ADF66CBC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57F404DD-C029-6714-6DFB-9274C55C8F52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197D2A85-3385-63ED-A5CC-5D4AFA4CB27D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ED874408-6986-1FE4-6E13-758C05084726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04894B58-CC3F-7A85-88A1-7B099995B9F1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8F8F9C0E-7CEA-DCA0-7581-BCC2CB234D7D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B96425F5-9567-4B65-E61C-4D7184A08B4A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Nội dung và phương pháp thực hiện">
            <a:extLst>
              <a:ext uri="{FF2B5EF4-FFF2-40B4-BE49-F238E27FC236}">
                <a16:creationId xmlns:a16="http://schemas.microsoft.com/office/drawing/2014/main" id="{6B76308F-EAF1-45A4-A869-46D30DD8C112}"/>
              </a:ext>
            </a:extLst>
          </p:cNvPr>
          <p:cNvSpPr>
            <a:spLocks noGrp="1"/>
          </p:cNvSpPr>
          <p:nvPr/>
        </p:nvSpPr>
        <p:spPr>
          <a:xfrm>
            <a:off x="523875" y="1761233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3. Nội dung và phương pháp thực hiện</a:t>
            </a:r>
          </a:p>
        </p:txBody>
      </p:sp>
      <p:graphicFrame>
        <p:nvGraphicFramePr>
          <p:cNvPr id="242" name="Table 241"/>
          <p:cNvGraphicFramePr/>
          <p:nvPr>
            <p:extLst>
              <p:ext uri="{D42A27DB-BD31-4B8C-83A1-F6EECF244321}">
                <p14:modId xmlns:p14="http://schemas.microsoft.com/office/powerpoint/2010/main" val="338695395"/>
              </p:ext>
            </p:extLst>
          </p:nvPr>
        </p:nvGraphicFramePr>
        <p:xfrm>
          <a:off x="809625" y="2857500"/>
          <a:ext cx="16668750" cy="5953125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Nội dung chính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Phương pháp thực hiện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dự kiến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1. Khảo sát và lựa chọn kiến trúc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Nghiên cứu ISA, đa lõi và tổ chức bộ nhớ. Đối chiếu các thiết kế tham khảo.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Đặc tả và kiến trúc tổng thể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2. Xây dựng lõi đơn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Hiện thực lõi RV32IMA, cache L1 và MMU. Kiểm tra theo từng khối.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 đơn hoạt động đúng chức năng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3. Tích hợp hệ 4 lõi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Ghép 4 lõi, L2, MESI và bus AHB/AXI4. Tích hợp DMA, giao tiếp SD/SPI.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Các lõi chia sẻ dữ liệu nhất quán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algn="l"/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4. Đánh giá và hoàn thiện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RTL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testbench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cache/coherence;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Vivado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demo FPGA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Demo,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kết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quả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đánh</a:t>
                      </a:r>
                      <a:r>
                        <a:rPr sz="25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giá</a:t>
                      </a:r>
                      <a:endParaRPr sz="25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62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1E52C618-F875-1443-64BA-C58F421DF579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038795DC-7AAE-E472-E8BA-730CCEEFB3F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5E4B0504-2DDF-65FA-3D44-D48110D62434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B06BFB91-F606-B659-25E6-2C29A9A32F10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CA841D89-D962-D472-5C78-26E705C30FC1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E5A1C7D4-C516-302E-7FA6-1B375E2D0DDE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50A2744F-E543-77FD-B6C0-9CA16EA10EA7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B3BB28D9-0572-CD5B-DCAD-D077D329E8B7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Kiểm chứng và demo hệ thống">
            <a:extLst>
              <a:ext uri="{FF2B5EF4-FFF2-40B4-BE49-F238E27FC236}">
                <a16:creationId xmlns:a16="http://schemas.microsoft.com/office/drawing/2014/main" id="{0914514E-40A9-46FD-BF7E-DBFB40B7D9DE}"/>
              </a:ext>
            </a:extLst>
          </p:cNvPr>
          <p:cNvSpPr>
            <a:spLocks noGrp="1"/>
          </p:cNvSpPr>
          <p:nvPr/>
        </p:nvSpPr>
        <p:spPr>
          <a:xfrm>
            <a:off x="530099" y="1067457"/>
            <a:ext cx="3832991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Kiến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trúc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đề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xuất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7E4E8-7299-463D-8C0E-DCCD0E694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0614" y="1593167"/>
            <a:ext cx="14130751" cy="869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52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1E52C618-F875-1443-64BA-C58F421DF579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038795DC-7AAE-E472-E8BA-730CCEEFB3F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5E4B0504-2DDF-65FA-3D44-D48110D62434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B06BFB91-F606-B659-25E6-2C29A9A32F10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CA841D89-D962-D472-5C78-26E705C30FC1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E5A1C7D4-C516-302E-7FA6-1B375E2D0DDE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50A2744F-E543-77FD-B6C0-9CA16EA10EA7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B3BB28D9-0572-CD5B-DCAD-D077D329E8B7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Kiểm chứng và demo hệ thống">
            <a:extLst>
              <a:ext uri="{FF2B5EF4-FFF2-40B4-BE49-F238E27FC236}">
                <a16:creationId xmlns:a16="http://schemas.microsoft.com/office/drawing/2014/main" id="{0914514E-40A9-46FD-BF7E-DBFB40B7D9DE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Kiểm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demo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hệ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thống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Khung sơ đồ">
            <a:extLst>
              <a:ext uri="{FF2B5EF4-FFF2-40B4-BE49-F238E27FC236}">
                <a16:creationId xmlns:a16="http://schemas.microsoft.com/office/drawing/2014/main" id="{5DC8E18C-75BC-4DB3-9968-C81DF6AB00E6}"/>
              </a:ext>
            </a:extLst>
          </p:cNvPr>
          <p:cNvSpPr>
            <a:spLocks noGrp="1"/>
          </p:cNvSpPr>
          <p:nvPr/>
        </p:nvSpPr>
        <p:spPr>
          <a:xfrm>
            <a:off x="809625" y="2762250"/>
            <a:ext cx="7524750" cy="6048375"/>
          </a:xfrm>
          <a:prstGeom prst="rect">
            <a:avLst/>
          </a:prstGeom>
          <a:noFill/>
          <a:ln w="11430">
            <a:solidFill>
              <a:srgbClr val="244E50"/>
            </a:solidFill>
          </a:ln>
        </p:spPr>
      </p:sp>
      <p:sp>
        <p:nvSpPr>
          <p:cNvPr id="232" name="Khung sơ đồ">
            <a:extLst>
              <a:ext uri="{FF2B5EF4-FFF2-40B4-BE49-F238E27FC236}">
                <a16:creationId xmlns:a16="http://schemas.microsoft.com/office/drawing/2014/main" id="{56DAD00F-9144-4FF1-8EA4-A06201F1876A}"/>
              </a:ext>
            </a:extLst>
          </p:cNvPr>
          <p:cNvSpPr>
            <a:spLocks noGrp="1"/>
          </p:cNvSpPr>
          <p:nvPr/>
        </p:nvSpPr>
        <p:spPr>
          <a:xfrm>
            <a:off x="9667875" y="2762250"/>
            <a:ext cx="7524750" cy="6048375"/>
          </a:xfrm>
          <a:prstGeom prst="rect">
            <a:avLst/>
          </a:prstGeom>
          <a:noFill/>
          <a:ln w="11430">
            <a:solidFill>
              <a:srgbClr val="244E50"/>
            </a:solidFill>
          </a:ln>
        </p:spPr>
      </p:sp>
      <p:sp>
        <p:nvSpPr>
          <p:cNvPr id="233" name="Quy trình kiểm chứng">
            <a:extLst>
              <a:ext uri="{FF2B5EF4-FFF2-40B4-BE49-F238E27FC236}">
                <a16:creationId xmlns:a16="http://schemas.microsoft.com/office/drawing/2014/main" id="{5A91B40A-3AA2-4C0D-8CEA-D2366B865D22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704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Quy trình kiểm chứng</a:t>
            </a:r>
          </a:p>
        </p:txBody>
      </p:sp>
      <p:sp>
        <p:nvSpPr>
          <p:cNvPr id="234" name="Demo dự kiến trên VCU129">
            <a:extLst>
              <a:ext uri="{FF2B5EF4-FFF2-40B4-BE49-F238E27FC236}">
                <a16:creationId xmlns:a16="http://schemas.microsoft.com/office/drawing/2014/main" id="{AE111731-21A9-46DA-8A66-6FF79E7BBCEB}"/>
              </a:ext>
            </a:extLst>
          </p:cNvPr>
          <p:cNvSpPr>
            <a:spLocks noGrp="1"/>
          </p:cNvSpPr>
          <p:nvPr/>
        </p:nvSpPr>
        <p:spPr>
          <a:xfrm>
            <a:off x="9906000" y="2990850"/>
            <a:ext cx="704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Demo dự kiến trên VCU129</a:t>
            </a:r>
          </a:p>
        </p:txBody>
      </p:sp>
      <p:sp>
        <p:nvSpPr>
          <p:cNvPr id="235" name="Khối riêng">
            <a:extLst>
              <a:ext uri="{FF2B5EF4-FFF2-40B4-BE49-F238E27FC236}">
                <a16:creationId xmlns:a16="http://schemas.microsoft.com/office/drawing/2014/main" id="{14D7AD86-5668-480E-9BCC-41AB5396AE62}"/>
              </a:ext>
            </a:extLst>
          </p:cNvPr>
          <p:cNvSpPr>
            <a:spLocks noGrp="1"/>
          </p:cNvSpPr>
          <p:nvPr/>
        </p:nvSpPr>
        <p:spPr>
          <a:xfrm>
            <a:off x="2381250" y="38576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Khối riêng</a:t>
            </a:r>
          </a:p>
        </p:txBody>
      </p:sp>
      <p:sp>
        <p:nvSpPr>
          <p:cNvPr id="236" name="Lõi đơn">
            <a:extLst>
              <a:ext uri="{FF2B5EF4-FFF2-40B4-BE49-F238E27FC236}">
                <a16:creationId xmlns:a16="http://schemas.microsoft.com/office/drawing/2014/main" id="{AF4788A8-C749-4BEC-A3EF-9B2C6C8FCA82}"/>
              </a:ext>
            </a:extLst>
          </p:cNvPr>
          <p:cNvSpPr>
            <a:spLocks noGrp="1"/>
          </p:cNvSpPr>
          <p:nvPr/>
        </p:nvSpPr>
        <p:spPr>
          <a:xfrm>
            <a:off x="2381250" y="566737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 đơn</a:t>
            </a:r>
          </a:p>
        </p:txBody>
      </p:sp>
      <p:sp>
        <p:nvSpPr>
          <p:cNvPr id="237" name="Hệ 4 lõi">
            <a:extLst>
              <a:ext uri="{FF2B5EF4-FFF2-40B4-BE49-F238E27FC236}">
                <a16:creationId xmlns:a16="http://schemas.microsoft.com/office/drawing/2014/main" id="{BF3F01E0-1CEA-4354-90DC-E747AC294D5E}"/>
              </a:ext>
            </a:extLst>
          </p:cNvPr>
          <p:cNvSpPr>
            <a:spLocks noGrp="1"/>
          </p:cNvSpPr>
          <p:nvPr/>
        </p:nvSpPr>
        <p:spPr>
          <a:xfrm>
            <a:off x="2381250" y="74771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 4 lõi</a:t>
            </a:r>
          </a:p>
        </p:txBody>
      </p:sp>
      <p:cxnSp>
        <p:nvCxnSpPr>
          <p:cNvPr id="277" name="Straight Arrow Connector 276"/>
          <p:cNvCxnSpPr>
            <a:stCxn id="235" idx="2"/>
            <a:endCxn id="236" idx="0"/>
          </p:cNvCxnSpPr>
          <p:nvPr/>
        </p:nvCxnSpPr>
        <p:spPr>
          <a:xfrm>
            <a:off x="4572000" y="500062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cxnSp>
        <p:nvCxnSpPr>
          <p:cNvPr id="278" name="Straight Arrow Connector 277"/>
          <p:cNvCxnSpPr>
            <a:stCxn id="236" idx="2"/>
            <a:endCxn id="237" idx="0"/>
          </p:cNvCxnSpPr>
          <p:nvPr/>
        </p:nvCxnSpPr>
        <p:spPr>
          <a:xfrm>
            <a:off x="4572000" y="681037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sp>
        <p:nvSpPr>
          <p:cNvPr id="240" name="PASS">
            <a:extLst>
              <a:ext uri="{FF2B5EF4-FFF2-40B4-BE49-F238E27FC236}">
                <a16:creationId xmlns:a16="http://schemas.microsoft.com/office/drawing/2014/main" id="{74F7A6A0-C8FA-4FF9-9358-6E3E3E8D4744}"/>
              </a:ext>
            </a:extLst>
          </p:cNvPr>
          <p:cNvSpPr>
            <a:spLocks noGrp="1"/>
          </p:cNvSpPr>
          <p:nvPr/>
        </p:nvSpPr>
        <p:spPr>
          <a:xfrm>
            <a:off x="4857750" y="5191125"/>
            <a:ext cx="123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A6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1" name="PASS">
            <a:extLst>
              <a:ext uri="{FF2B5EF4-FFF2-40B4-BE49-F238E27FC236}">
                <a16:creationId xmlns:a16="http://schemas.microsoft.com/office/drawing/2014/main" id="{8EC9EA5F-554B-4097-B10B-21C3CA292F66}"/>
              </a:ext>
            </a:extLst>
          </p:cNvPr>
          <p:cNvSpPr>
            <a:spLocks noGrp="1"/>
          </p:cNvSpPr>
          <p:nvPr/>
        </p:nvSpPr>
        <p:spPr>
          <a:xfrm>
            <a:off x="4857750" y="7000875"/>
            <a:ext cx="123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A6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2" name="Điểm nối nhánh kiểm tra lại">
            <a:extLst>
              <a:ext uri="{FF2B5EF4-FFF2-40B4-BE49-F238E27FC236}">
                <a16:creationId xmlns:a16="http://schemas.microsoft.com/office/drawing/2014/main" id="{98F65D08-BC4C-41C5-8825-77C89821C0CD}"/>
              </a:ext>
            </a:extLst>
          </p:cNvPr>
          <p:cNvSpPr>
            <a:spLocks noGrp="1"/>
          </p:cNvSpPr>
          <p:nvPr/>
        </p:nvSpPr>
        <p:spPr>
          <a:xfrm>
            <a:off x="1476375" y="6238875"/>
            <a:ext cx="953" cy="953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3" name="Điểm nối nhánh kiểm tra lại">
            <a:extLst>
              <a:ext uri="{FF2B5EF4-FFF2-40B4-BE49-F238E27FC236}">
                <a16:creationId xmlns:a16="http://schemas.microsoft.com/office/drawing/2014/main" id="{AA1477A7-B5C1-4FFC-980C-8F8D2973A69B}"/>
              </a:ext>
            </a:extLst>
          </p:cNvPr>
          <p:cNvSpPr>
            <a:spLocks noGrp="1"/>
          </p:cNvSpPr>
          <p:nvPr/>
        </p:nvSpPr>
        <p:spPr>
          <a:xfrm>
            <a:off x="1476375" y="4429125"/>
            <a:ext cx="953" cy="953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283" name="Straight Arrow Connector 282"/>
          <p:cNvCxnSpPr>
            <a:stCxn id="236" idx="1"/>
            <a:endCxn id="242" idx="3"/>
          </p:cNvCxnSpPr>
          <p:nvPr/>
        </p:nvCxnSpPr>
        <p:spPr>
          <a:xfrm flipH="1">
            <a:off x="1477328" y="6238875"/>
            <a:ext cx="903922" cy="47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84" name="Straight Arrow Connector 283"/>
          <p:cNvCxnSpPr>
            <a:stCxn id="242" idx="0"/>
            <a:endCxn id="243" idx="2"/>
          </p:cNvCxnSpPr>
          <p:nvPr/>
        </p:nvCxnSpPr>
        <p:spPr>
          <a:xfrm flipV="1">
            <a:off x="1476852" y="4430078"/>
            <a:ext cx="0" cy="180879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85" name="Straight Arrow Connector 284"/>
          <p:cNvCxnSpPr>
            <a:stCxn id="243" idx="3"/>
            <a:endCxn id="235" idx="1"/>
          </p:cNvCxnSpPr>
          <p:nvPr/>
        </p:nvCxnSpPr>
        <p:spPr>
          <a:xfrm flipV="1">
            <a:off x="1477328" y="4429125"/>
            <a:ext cx="903922" cy="476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sp>
        <p:nvSpPr>
          <p:cNvPr id="247" name="FAIL">
            <a:extLst>
              <a:ext uri="{FF2B5EF4-FFF2-40B4-BE49-F238E27FC236}">
                <a16:creationId xmlns:a16="http://schemas.microsoft.com/office/drawing/2014/main" id="{B418EBB9-5DE2-4055-851F-A1E29662F607}"/>
              </a:ext>
            </a:extLst>
          </p:cNvPr>
          <p:cNvSpPr>
            <a:spLocks noGrp="1"/>
          </p:cNvSpPr>
          <p:nvPr/>
        </p:nvSpPr>
        <p:spPr>
          <a:xfrm>
            <a:off x="913206" y="5148500"/>
            <a:ext cx="58198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48" name="Điểm nối nhánh kiểm tra lại">
            <a:extLst>
              <a:ext uri="{FF2B5EF4-FFF2-40B4-BE49-F238E27FC236}">
                <a16:creationId xmlns:a16="http://schemas.microsoft.com/office/drawing/2014/main" id="{08BF6DCA-B61E-4E67-BDAC-4899F0CFE418}"/>
              </a:ext>
            </a:extLst>
          </p:cNvPr>
          <p:cNvSpPr>
            <a:spLocks noGrp="1"/>
          </p:cNvSpPr>
          <p:nvPr/>
        </p:nvSpPr>
        <p:spPr>
          <a:xfrm>
            <a:off x="7715250" y="8048625"/>
            <a:ext cx="953" cy="953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9" name="Điểm nối nhánh kiểm tra lại">
            <a:extLst>
              <a:ext uri="{FF2B5EF4-FFF2-40B4-BE49-F238E27FC236}">
                <a16:creationId xmlns:a16="http://schemas.microsoft.com/office/drawing/2014/main" id="{9A4D06B7-32DC-4DFB-BDDF-AE1B2366BB87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953" cy="953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289" name="Straight Arrow Connector 288"/>
          <p:cNvCxnSpPr>
            <a:stCxn id="237" idx="3"/>
            <a:endCxn id="248" idx="1"/>
          </p:cNvCxnSpPr>
          <p:nvPr/>
        </p:nvCxnSpPr>
        <p:spPr>
          <a:xfrm>
            <a:off x="6762750" y="8048625"/>
            <a:ext cx="952500" cy="47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90" name="Straight Arrow Connector 289"/>
          <p:cNvCxnSpPr>
            <a:stCxn id="248" idx="0"/>
            <a:endCxn id="249" idx="2"/>
          </p:cNvCxnSpPr>
          <p:nvPr/>
        </p:nvCxnSpPr>
        <p:spPr>
          <a:xfrm flipV="1">
            <a:off x="7715727" y="4430078"/>
            <a:ext cx="0" cy="3618547"/>
          </a:xfrm>
          <a:prstGeom prst="straightConnector1">
            <a:avLst/>
          </a:prstGeom>
          <a:ln w="16193">
            <a:solidFill>
              <a:srgbClr val="244E50"/>
            </a:solidFill>
            <a:tailEnd type="none" w="sm" len="sm"/>
          </a:ln>
        </p:spPr>
      </p:cxnSp>
      <p:cxnSp>
        <p:nvCxnSpPr>
          <p:cNvPr id="291" name="Straight Arrow Connector 290"/>
          <p:cNvCxnSpPr>
            <a:stCxn id="249" idx="1"/>
            <a:endCxn id="235" idx="3"/>
          </p:cNvCxnSpPr>
          <p:nvPr/>
        </p:nvCxnSpPr>
        <p:spPr>
          <a:xfrm flipH="1" flipV="1">
            <a:off x="6762750" y="4429125"/>
            <a:ext cx="952500" cy="476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sp>
        <p:nvSpPr>
          <p:cNvPr id="253" name="FAIL">
            <a:extLst>
              <a:ext uri="{FF2B5EF4-FFF2-40B4-BE49-F238E27FC236}">
                <a16:creationId xmlns:a16="http://schemas.microsoft.com/office/drawing/2014/main" id="{22EE04D5-DCB0-416F-9D0E-DF2DB51DE390}"/>
              </a:ext>
            </a:extLst>
          </p:cNvPr>
          <p:cNvSpPr>
            <a:spLocks noGrp="1"/>
          </p:cNvSpPr>
          <p:nvPr/>
        </p:nvSpPr>
        <p:spPr>
          <a:xfrm>
            <a:off x="7096603" y="6064317"/>
            <a:ext cx="665793" cy="411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52615E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54" name="SD/SPI → DMA → DRAM">
            <a:extLst>
              <a:ext uri="{FF2B5EF4-FFF2-40B4-BE49-F238E27FC236}">
                <a16:creationId xmlns:a16="http://schemas.microsoft.com/office/drawing/2014/main" id="{E436E3E1-0B70-461E-9E58-99F54E680486}"/>
              </a:ext>
            </a:extLst>
          </p:cNvPr>
          <p:cNvSpPr>
            <a:spLocks noGrp="1"/>
          </p:cNvSpPr>
          <p:nvPr/>
        </p:nvSpPr>
        <p:spPr>
          <a:xfrm>
            <a:off x="11239500" y="38576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62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SD/SPI → DMA → DRAM</a:t>
            </a:r>
          </a:p>
        </p:txBody>
      </p:sp>
      <p:sp>
        <p:nvSpPr>
          <p:cNvPr id="255" name="CPU 4 lõi thực thi">
            <a:extLst>
              <a:ext uri="{FF2B5EF4-FFF2-40B4-BE49-F238E27FC236}">
                <a16:creationId xmlns:a16="http://schemas.microsoft.com/office/drawing/2014/main" id="{B956066B-3A21-46BD-9C2E-371875AFE4CA}"/>
              </a:ext>
            </a:extLst>
          </p:cNvPr>
          <p:cNvSpPr>
            <a:spLocks noGrp="1"/>
          </p:cNvSpPr>
          <p:nvPr/>
        </p:nvSpPr>
        <p:spPr>
          <a:xfrm>
            <a:off x="11239500" y="566737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CPU 4 lõi thực thi</a:t>
            </a:r>
          </a:p>
        </p:txBody>
      </p:sp>
      <p:sp>
        <p:nvSpPr>
          <p:cNvPr id="256" name="Ghi kết quả về SD">
            <a:extLst>
              <a:ext uri="{FF2B5EF4-FFF2-40B4-BE49-F238E27FC236}">
                <a16:creationId xmlns:a16="http://schemas.microsoft.com/office/drawing/2014/main" id="{18DBA602-FAC4-4900-AECB-62A89BFB8AB9}"/>
              </a:ext>
            </a:extLst>
          </p:cNvPr>
          <p:cNvSpPr>
            <a:spLocks noGrp="1"/>
          </p:cNvSpPr>
          <p:nvPr/>
        </p:nvSpPr>
        <p:spPr>
          <a:xfrm>
            <a:off x="11239500" y="7477125"/>
            <a:ext cx="4381500" cy="1143000"/>
          </a:xfrm>
          <a:prstGeom prst="rect">
            <a:avLst/>
          </a:prstGeom>
          <a:solidFill>
            <a:srgbClr val="EDF5F1"/>
          </a:solidFill>
          <a:ln w="11430">
            <a:solidFill>
              <a:srgbClr val="244E50"/>
            </a:solidFill>
          </a:ln>
        </p:spPr>
        <p:txBody>
          <a:bodyPr lIns="152400" tIns="114300" rIns="152400" bIns="114300" anchor="ctr">
            <a:noAutofit/>
          </a:bodyPr>
          <a:lstStyle/>
          <a:p>
            <a:pPr algn="ctr"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Ghi kết quả về SD</a:t>
            </a:r>
          </a:p>
        </p:txBody>
      </p:sp>
      <p:cxnSp>
        <p:nvCxnSpPr>
          <p:cNvPr id="296" name="Straight Arrow Connector 295"/>
          <p:cNvCxnSpPr>
            <a:stCxn id="254" idx="2"/>
            <a:endCxn id="255" idx="0"/>
          </p:cNvCxnSpPr>
          <p:nvPr/>
        </p:nvCxnSpPr>
        <p:spPr>
          <a:xfrm>
            <a:off x="13430250" y="500062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  <p:cxnSp>
        <p:nvCxnSpPr>
          <p:cNvPr id="297" name="Straight Arrow Connector 296"/>
          <p:cNvCxnSpPr>
            <a:stCxn id="255" idx="2"/>
            <a:endCxn id="256" idx="0"/>
          </p:cNvCxnSpPr>
          <p:nvPr/>
        </p:nvCxnSpPr>
        <p:spPr>
          <a:xfrm>
            <a:off x="13430250" y="6810375"/>
            <a:ext cx="0" cy="666750"/>
          </a:xfrm>
          <a:prstGeom prst="straightConnector1">
            <a:avLst/>
          </a:prstGeom>
          <a:ln w="16193">
            <a:solidFill>
              <a:srgbClr val="244E50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21482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DC808253-1ED7-379A-C73C-599E83571A5A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5912409C-2803-AB21-AE33-4169475CA97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444CFF2D-3ED5-830B-27D7-43A8B350B69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832DE0AF-E5FF-7DCD-B9BF-91CB90C0936F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D44993FD-0D50-D839-6600-5F18159B93EE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5AF7D653-61AF-F707-0E27-F8EA21E6B772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289AB586-BB02-5F14-3C9F-C76D8DC740C8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9D7A377B-BF97-AA94-CA09-9423DAE437F0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4. Kế hoạch thực hiện theo tháng">
            <a:extLst>
              <a:ext uri="{FF2B5EF4-FFF2-40B4-BE49-F238E27FC236}">
                <a16:creationId xmlns:a16="http://schemas.microsoft.com/office/drawing/2014/main" id="{FBF85D8C-C357-43E1-A7EE-C30E61891DE2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4.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hoạch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chí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46" name="Table 245"/>
          <p:cNvGraphicFramePr/>
          <p:nvPr>
            <p:extLst>
              <p:ext uri="{D42A27DB-BD31-4B8C-83A1-F6EECF244321}">
                <p14:modId xmlns:p14="http://schemas.microsoft.com/office/powerpoint/2010/main" val="980834699"/>
              </p:ext>
            </p:extLst>
          </p:nvPr>
        </p:nvGraphicFramePr>
        <p:xfrm>
          <a:off x="952500" y="2622643"/>
          <a:ext cx="16668750" cy="4762500"/>
        </p:xfrm>
        <a:graphic>
          <a:graphicData uri="http://schemas.openxmlformats.org/drawingml/2006/table">
            <a:tbl>
              <a:tblPr/>
              <a:tblGrid>
                <a:gridCol w="714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</a:t>
                      </a:r>
                      <a:r>
                        <a:rPr sz="232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việc</a:t>
                      </a:r>
                      <a:endParaRPr sz="2325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T9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T10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T11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T12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T1/27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Kiến trúc, lõi đơn, L1 và MMU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AHB/AXI4, L2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MESI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DMA, SD/SPI và tích hợp hệ thống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325" b="1" dirty="0">
                        <a:solidFill>
                          <a:srgbClr val="007A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325" b="1" dirty="0">
                        <a:solidFill>
                          <a:srgbClr val="007A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RTL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toàn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hệ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thống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hiện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thực</a:t>
                      </a:r>
                      <a:r>
                        <a:rPr lang="en-US"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FPGA</a:t>
                      </a:r>
                      <a:endParaRPr sz="2325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Đo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dự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phòng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325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endParaRPr sz="2325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 dirty="0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D0E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3" name="Lâm: lõi, L1, MMU/TLB, SD/SPI. Lam: bus, L2, MESI, DMA. Cả hai: kiểm c">
            <a:extLst>
              <a:ext uri="{FF2B5EF4-FFF2-40B4-BE49-F238E27FC236}">
                <a16:creationId xmlns:a16="http://schemas.microsoft.com/office/drawing/2014/main" id="{5108FF10-CFA0-4C1C-9CD2-7380DAE64FF5}"/>
              </a:ext>
            </a:extLst>
          </p:cNvPr>
          <p:cNvSpPr>
            <a:spLocks noGrp="1"/>
          </p:cNvSpPr>
          <p:nvPr/>
        </p:nvSpPr>
        <p:spPr>
          <a:xfrm>
            <a:off x="1218868" y="7582250"/>
            <a:ext cx="6469380" cy="21687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Lâm: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L1, MMU/TLB, SD/SPI. </a:t>
            </a:r>
            <a:endParaRPr lang="en-US" sz="3000" b="0" dirty="0">
              <a:solidFill>
                <a:srgbClr val="172A2A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50000"/>
              </a:lnSpc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Lam: bus, L2, MESI, DMA. </a:t>
            </a:r>
            <a:endParaRPr lang="en-US" sz="3000" b="0" dirty="0">
              <a:solidFill>
                <a:srgbClr val="172A2A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50000"/>
              </a:lnSpc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Cả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hai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: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demo,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báo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dirty="0" err="1">
                <a:solidFill>
                  <a:srgbClr val="172A2A"/>
                </a:solidFill>
                <a:latin typeface="Arial"/>
                <a:ea typeface="Arial"/>
                <a:cs typeface="Arial"/>
              </a:rPr>
              <a:t>cáo</a:t>
            </a:r>
            <a:r>
              <a:rPr sz="3000" b="0" dirty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2665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>
            <a:extLst>
              <a:ext uri="{FF2B5EF4-FFF2-40B4-BE49-F238E27FC236}">
                <a16:creationId xmlns:a16="http://schemas.microsoft.com/office/drawing/2014/main" id="{DC808253-1ED7-379A-C73C-599E83571A5A}"/>
              </a:ext>
            </a:extLst>
          </p:cNvPr>
          <p:cNvSpPr>
            <a:spLocks noGrp="1"/>
          </p:cNvSpPr>
          <p:nvPr/>
        </p:nvSpPr>
        <p:spPr>
          <a:xfrm rot="5400000">
            <a:off x="8670767" y="-8672351"/>
            <a:ext cx="942755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>
              <a:ext uri="{FF2B5EF4-FFF2-40B4-BE49-F238E27FC236}">
                <a16:creationId xmlns:a16="http://schemas.microsoft.com/office/drawing/2014/main" id="{5912409C-2803-AB21-AE33-4169475CA97A}"/>
              </a:ext>
            </a:extLst>
          </p:cNvPr>
          <p:cNvSpPr>
            <a:spLocks noGrp="1"/>
          </p:cNvSpPr>
          <p:nvPr/>
        </p:nvSpPr>
        <p:spPr>
          <a:xfrm rot="-5400000" flipH="1">
            <a:off x="8672625" y="-8674476"/>
            <a:ext cx="942756" cy="18291714"/>
          </a:xfrm>
          <a:custGeom>
            <a:avLst/>
            <a:gdLst/>
            <a:ahLst/>
            <a:cxnLst/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5090" r="-35085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>
              <a:ext uri="{FF2B5EF4-FFF2-40B4-BE49-F238E27FC236}">
                <a16:creationId xmlns:a16="http://schemas.microsoft.com/office/drawing/2014/main" id="{444CFF2D-3ED5-830B-27D7-43A8B350B698}"/>
              </a:ext>
            </a:extLst>
          </p:cNvPr>
          <p:cNvSpPr>
            <a:spLocks noGrp="1"/>
          </p:cNvSpPr>
          <p:nvPr/>
        </p:nvSpPr>
        <p:spPr>
          <a:xfrm>
            <a:off x="360422" y="212133"/>
            <a:ext cx="11130437" cy="506075"/>
          </a:xfrm>
          <a:custGeom>
            <a:avLst/>
            <a:gdLst/>
            <a:ahLst/>
            <a:cxnLst/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>
              <a:ext uri="{FF2B5EF4-FFF2-40B4-BE49-F238E27FC236}">
                <a16:creationId xmlns:a16="http://schemas.microsoft.com/office/drawing/2014/main" id="{832DE0AF-E5FF-7DCD-B9BF-91CB90C0936F}"/>
              </a:ext>
            </a:extLst>
          </p:cNvPr>
          <p:cNvSpPr>
            <a:spLocks noGrp="1"/>
          </p:cNvSpPr>
          <p:nvPr/>
        </p:nvSpPr>
        <p:spPr>
          <a:xfrm>
            <a:off x="360422" y="176415"/>
            <a:ext cx="11130436" cy="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>
              <a:ext uri="{FF2B5EF4-FFF2-40B4-BE49-F238E27FC236}">
                <a16:creationId xmlns:a16="http://schemas.microsoft.com/office/drawing/2014/main" id="{D44993FD-0D50-D839-6600-5F18159B93EE}"/>
              </a:ext>
            </a:extLst>
          </p:cNvPr>
          <p:cNvSpPr>
            <a:spLocks noGrp="1"/>
          </p:cNvSpPr>
          <p:nvPr/>
        </p:nvSpPr>
        <p:spPr>
          <a:xfrm>
            <a:off x="6719978" y="457932"/>
            <a:ext cx="4848130" cy="958025"/>
          </a:xfrm>
          <a:custGeom>
            <a:avLst/>
            <a:gdLst/>
            <a:ahLst/>
            <a:cxnLst/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>
              <a:ext uri="{FF2B5EF4-FFF2-40B4-BE49-F238E27FC236}">
                <a16:creationId xmlns:a16="http://schemas.microsoft.com/office/drawing/2014/main" id="{5AF7D653-61AF-F707-0E27-F8EA21E6B772}"/>
              </a:ext>
            </a:extLst>
          </p:cNvPr>
          <p:cNvSpPr>
            <a:spLocks noGrp="1"/>
          </p:cNvSpPr>
          <p:nvPr/>
        </p:nvSpPr>
        <p:spPr>
          <a:xfrm>
            <a:off x="6807463" y="535967"/>
            <a:ext cx="4673060" cy="801909"/>
          </a:xfrm>
          <a:custGeom>
            <a:avLst/>
            <a:gdLst/>
            <a:ahLst/>
            <a:cxnLst/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>
              <a:ext uri="{FF2B5EF4-FFF2-40B4-BE49-F238E27FC236}">
                <a16:creationId xmlns:a16="http://schemas.microsoft.com/office/drawing/2014/main" id="{289AB586-BB02-5F14-3C9F-C76D8DC740C8}"/>
              </a:ext>
            </a:extLst>
          </p:cNvPr>
          <p:cNvSpPr>
            <a:spLocks noGrp="1"/>
          </p:cNvSpPr>
          <p:nvPr/>
        </p:nvSpPr>
        <p:spPr>
          <a:xfrm>
            <a:off x="9436446" y="362541"/>
            <a:ext cx="1163307" cy="1152591"/>
          </a:xfrm>
          <a:custGeom>
            <a:avLst/>
            <a:gdLst/>
            <a:ahLst/>
            <a:cxnLst/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3" r="-72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>
              <a:ext uri="{FF2B5EF4-FFF2-40B4-BE49-F238E27FC236}">
                <a16:creationId xmlns:a16="http://schemas.microsoft.com/office/drawing/2014/main" id="{9D7A377B-BF97-AA94-CA09-9423DAE437F0}"/>
              </a:ext>
            </a:extLst>
          </p:cNvPr>
          <p:cNvSpPr>
            <a:spLocks noGrp="1"/>
          </p:cNvSpPr>
          <p:nvPr/>
        </p:nvSpPr>
        <p:spPr>
          <a:xfrm>
            <a:off x="7688248" y="398076"/>
            <a:ext cx="1307514" cy="1081521"/>
          </a:xfrm>
          <a:custGeom>
            <a:avLst/>
            <a:gdLst/>
            <a:ahLst/>
            <a:cxnLst/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74" b="-73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4. Tiêu chí đánh giá và kế hoạch theo tuần">
            <a:extLst>
              <a:ext uri="{FF2B5EF4-FFF2-40B4-BE49-F238E27FC236}">
                <a16:creationId xmlns:a16="http://schemas.microsoft.com/office/drawing/2014/main" id="{04A0627E-FD0F-4405-AAA8-FD588D91AE18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95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4.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hoạch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chí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lang="en-US" sz="3600" b="1" dirty="0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endParaRPr sz="3600" b="1" dirty="0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Tiêu chí đánh giá">
            <a:extLst>
              <a:ext uri="{FF2B5EF4-FFF2-40B4-BE49-F238E27FC236}">
                <a16:creationId xmlns:a16="http://schemas.microsoft.com/office/drawing/2014/main" id="{5F43F57D-9CBE-4577-A76B-24250259D72B}"/>
              </a:ext>
            </a:extLst>
          </p:cNvPr>
          <p:cNvSpPr>
            <a:spLocks noGrp="1"/>
          </p:cNvSpPr>
          <p:nvPr/>
        </p:nvSpPr>
        <p:spPr>
          <a:xfrm>
            <a:off x="809625" y="2762250"/>
            <a:ext cx="6477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 chí đánh giá</a:t>
            </a:r>
          </a:p>
        </p:txBody>
      </p:sp>
      <p:sp>
        <p:nvSpPr>
          <p:cNvPr id="232" name="Kế hoạch thực hiện">
            <a:extLst>
              <a:ext uri="{FF2B5EF4-FFF2-40B4-BE49-F238E27FC236}">
                <a16:creationId xmlns:a16="http://schemas.microsoft.com/office/drawing/2014/main" id="{495A3DB7-B1BF-414A-9914-33AE8AA53593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9239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 hoạch thực hiện</a:t>
            </a:r>
          </a:p>
        </p:txBody>
      </p:sp>
      <p:graphicFrame>
        <p:nvGraphicFramePr>
          <p:cNvPr id="248" name="Table 247"/>
          <p:cNvGraphicFramePr/>
          <p:nvPr/>
        </p:nvGraphicFramePr>
        <p:xfrm>
          <a:off x="809625" y="3524250"/>
          <a:ext cx="6524625" cy="5381628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938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Tiêu chí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đánh giá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l"/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Chức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endParaRPr sz="22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PASS/FAIL; I/M/A, MMU, dữ liệu chia sẻ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Tài nguyên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LUT, FF, BRAM, DSP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Fmax, WNS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 năng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Chu kỳ / thời gian chạy; so sánh 1 và 4 lõi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6938">
                <a:tc>
                  <a:txBody>
                    <a:bodyPr/>
                    <a:lstStyle/>
                    <a:p>
                      <a:pPr algn="l"/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Công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suất</a:t>
                      </a:r>
                      <a:endParaRPr sz="22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Ước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tính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từ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Vivado</a:t>
                      </a:r>
                      <a:endParaRPr sz="22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9" name="Table 248"/>
          <p:cNvGraphicFramePr/>
          <p:nvPr>
            <p:extLst>
              <p:ext uri="{D42A27DB-BD31-4B8C-83A1-F6EECF244321}">
                <p14:modId xmlns:p14="http://schemas.microsoft.com/office/powerpoint/2010/main" val="1650149650"/>
              </p:ext>
            </p:extLst>
          </p:nvPr>
        </p:nvGraphicFramePr>
        <p:xfrm>
          <a:off x="8096250" y="3524250"/>
          <a:ext cx="9382125" cy="5381628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804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Tuần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việc và mốc chính</a:t>
                      </a:r>
                    </a:p>
                  </a:txBody>
                  <a:tcPr anchor="ctr">
                    <a:solidFill>
                      <a:srgbClr val="007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1–5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Chốt kiến trúc; lõi đơn, L1, MMU; DMA v1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6–10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L2, MESI, interconnect; coherence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11–12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SD/SPI</a:t>
                      </a:r>
                      <a:r>
                        <a:rPr lang="en-US"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DMA</a:t>
                      </a:r>
                      <a:r>
                        <a:rPr lang="en-US"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DRAM PASS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trong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mô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phỏng</a:t>
                      </a:r>
                      <a:endParaRPr sz="2250" b="0" dirty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13–15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Tích hợp, RTL toàn hệ thống PASS; tổng hợp Vivado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16–18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Bring-up, debug FPGA; demo tự động và đo hiệu năng</a:t>
                      </a:r>
                    </a:p>
                  </a:txBody>
                  <a:tcPr anchor="ctr">
                    <a:solidFill>
                      <a:srgbClr val="E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8804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19–20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Dự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phòng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;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slide </a:t>
                      </a:r>
                      <a:r>
                        <a:rPr sz="2250" b="0" dirty="0" err="1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250" b="0" dirty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video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665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1370</Words>
  <Application>Microsoft Office PowerPoint</Application>
  <DocSecurity>0</DocSecurity>
  <PresentationFormat>Custom</PresentationFormat>
  <Paragraphs>128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Lâm Võ Lê Phước</cp:lastModifiedBy>
  <cp:revision>12</cp:revision>
  <dcterms:created xsi:type="dcterms:W3CDTF">2026-09-15T14:02:37Z</dcterms:created>
  <dcterms:modified xsi:type="dcterms:W3CDTF">2026-09-15T17:15:15Z</dcterms:modified>
</cp:coreProperties>
</file>