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embedTrueTypeFonts="1" saveSubsetFonts="1">
  <p:sldMasterIdLst>
    <p:sldMasterId id="2147483648" r:id="rId1"/>
    <p:sldMasterId id="2147483660" r:id="rId2"/>
  </p:sldMasterIdLst>
  <p:notesMasterIdLst>
    <p:notesMasterId r:id="rId13"/>
  </p:notesMasterIdLst>
  <p:handoutMasterIdLst>
    <p:handoutMasterId r:id="rId14"/>
  </p:handoutMasterIdLst>
  <p:sldIdLst>
    <p:sldId id="256" r:id="rId3"/>
    <p:sldId id="257" r:id="rId4"/>
    <p:sldId id="264" r:id="rId5"/>
    <p:sldId id="258" r:id="rId6"/>
    <p:sldId id="259" r:id="rId7"/>
    <p:sldId id="260" r:id="rId8"/>
    <p:sldId id="265" r:id="rId9"/>
    <p:sldId id="262" r:id="rId10"/>
    <p:sldId id="263" r:id="rId11"/>
    <p:sldId id="269" r:id="rId12"/>
  </p:sldIdLst>
  <p:sldSz cx="18288000" cy="10287000"/>
  <p:notesSz cx="6858000" cy="9144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003" autoAdjust="0"/>
  </p:normalViewPr>
  <p:slideViewPr>
    <p:cSldViewPr snapToGrid="0">
      <p:cViewPr varScale="1">
        <p:scale>
          <a:sx n="32" d="100"/>
          <a:sy n="32" d="100"/>
        </p:scale>
        <p:origin x="90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4.fntdata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3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font" Target="fonts/font1.fntdata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handoutMaster" Target="handoutMasters/handoutMaster1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D4DEF42-7DB9-4ACE-AE33-62309EDECEB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111824-51F4-4EE7-980A-F2CE222A089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C0AE9A-26A4-4C02-BECC-BABD4827E266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B05A1E-D4AC-4988-8AD3-3A492226C9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9843E1-2506-4D69-BBE5-E04C7EDA05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0746AD-7C0C-43CA-8FF5-DA3374F94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55495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5D4334-F1E3-4BAE-B77E-6EBBFF4D911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642767-693B-46B8-9B97-C268CC22A23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UAV </a:t>
            </a:r>
            <a:r>
              <a:rPr dirty="0" err="1"/>
              <a:t>chỉ</a:t>
            </a:r>
            <a:r>
              <a:rPr dirty="0"/>
              <a:t> </a:t>
            </a:r>
            <a:r>
              <a:rPr dirty="0" err="1"/>
              <a:t>là</a:t>
            </a:r>
            <a:r>
              <a:rPr dirty="0"/>
              <a:t> </a:t>
            </a:r>
            <a:r>
              <a:rPr dirty="0" err="1"/>
              <a:t>ví</a:t>
            </a:r>
            <a:r>
              <a:rPr dirty="0"/>
              <a:t> </a:t>
            </a:r>
            <a:r>
              <a:rPr dirty="0" err="1"/>
              <a:t>dụ</a:t>
            </a:r>
            <a:r>
              <a:rPr dirty="0"/>
              <a:t> </a:t>
            </a:r>
            <a:r>
              <a:rPr dirty="0" err="1"/>
              <a:t>tạo</a:t>
            </a:r>
            <a:r>
              <a:rPr dirty="0"/>
              <a:t> </a:t>
            </a:r>
            <a:r>
              <a:rPr dirty="0" err="1"/>
              <a:t>động</a:t>
            </a:r>
            <a:r>
              <a:rPr dirty="0"/>
              <a:t> </a:t>
            </a:r>
            <a:r>
              <a:rPr dirty="0" err="1"/>
              <a:t>lực</a:t>
            </a:r>
            <a:r>
              <a:rPr dirty="0"/>
              <a:t>, </a:t>
            </a:r>
            <a:r>
              <a:rPr dirty="0" err="1"/>
              <a:t>khóa</a:t>
            </a:r>
            <a:r>
              <a:rPr dirty="0"/>
              <a:t> </a:t>
            </a:r>
            <a:r>
              <a:rPr dirty="0" err="1"/>
              <a:t>luận</a:t>
            </a:r>
            <a:r>
              <a:rPr dirty="0"/>
              <a:t> </a:t>
            </a:r>
            <a:r>
              <a:rPr dirty="0" err="1"/>
              <a:t>không</a:t>
            </a:r>
            <a:r>
              <a:rPr dirty="0"/>
              <a:t> cam </a:t>
            </a: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xây</a:t>
            </a:r>
            <a:r>
              <a:rPr dirty="0"/>
              <a:t> </a:t>
            </a:r>
            <a:r>
              <a:rPr dirty="0" err="1"/>
              <a:t>dựng</a:t>
            </a:r>
            <a:r>
              <a:rPr dirty="0"/>
              <a:t> </a:t>
            </a:r>
            <a:r>
              <a:rPr dirty="0" err="1"/>
              <a:t>hoặc</a:t>
            </a:r>
            <a:r>
              <a:rPr dirty="0"/>
              <a:t> </a:t>
            </a:r>
            <a:r>
              <a:rPr dirty="0" err="1"/>
              <a:t>chứng</a:t>
            </a:r>
            <a:r>
              <a:rPr dirty="0"/>
              <a:t> </a:t>
            </a:r>
            <a:r>
              <a:rPr dirty="0" err="1"/>
              <a:t>nhận</a:t>
            </a:r>
            <a:r>
              <a:rPr dirty="0"/>
              <a:t> </a:t>
            </a:r>
            <a:r>
              <a:rPr dirty="0" err="1"/>
              <a:t>hệ</a:t>
            </a:r>
            <a:r>
              <a:rPr dirty="0"/>
              <a:t> </a:t>
            </a:r>
            <a:r>
              <a:rPr dirty="0" err="1"/>
              <a:t>điều</a:t>
            </a:r>
            <a:r>
              <a:rPr dirty="0"/>
              <a:t> </a:t>
            </a:r>
            <a:r>
              <a:rPr dirty="0" err="1"/>
              <a:t>khiển</a:t>
            </a:r>
            <a:r>
              <a:rPr dirty="0"/>
              <a:t> bay. </a:t>
            </a:r>
            <a:r>
              <a:rPr dirty="0" err="1"/>
              <a:t>Nền</a:t>
            </a:r>
            <a:r>
              <a:rPr dirty="0"/>
              <a:t> </a:t>
            </a:r>
            <a:r>
              <a:rPr dirty="0" err="1"/>
              <a:t>tảng</a:t>
            </a:r>
            <a:r>
              <a:rPr dirty="0"/>
              <a:t> </a:t>
            </a:r>
            <a:r>
              <a:rPr dirty="0" err="1"/>
              <a:t>tham</a:t>
            </a:r>
            <a:r>
              <a:rPr dirty="0"/>
              <a:t> </a:t>
            </a:r>
            <a:r>
              <a:rPr dirty="0" err="1"/>
              <a:t>khảo</a:t>
            </a:r>
            <a:r>
              <a:rPr dirty="0"/>
              <a:t> </a:t>
            </a:r>
            <a:r>
              <a:rPr dirty="0" err="1"/>
              <a:t>trong</a:t>
            </a:r>
            <a:r>
              <a:rPr dirty="0"/>
              <a:t> khoa </a:t>
            </a:r>
            <a:r>
              <a:rPr dirty="0" err="1"/>
              <a:t>gồm</a:t>
            </a:r>
            <a:r>
              <a:rPr dirty="0"/>
              <a:t> </a:t>
            </a:r>
            <a:r>
              <a:rPr dirty="0" err="1"/>
              <a:t>hệ</a:t>
            </a:r>
            <a:r>
              <a:rPr dirty="0"/>
              <a:t> 2 </a:t>
            </a:r>
            <a:r>
              <a:rPr dirty="0" err="1"/>
              <a:t>lõi</a:t>
            </a:r>
            <a:r>
              <a:rPr dirty="0"/>
              <a:t> RV32IMFA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hệ</a:t>
            </a:r>
            <a:r>
              <a:rPr dirty="0"/>
              <a:t> 2 </a:t>
            </a:r>
            <a:r>
              <a:rPr dirty="0" err="1"/>
              <a:t>lõi</a:t>
            </a:r>
            <a:r>
              <a:rPr dirty="0"/>
              <a:t> RV32IA </a:t>
            </a:r>
            <a:r>
              <a:rPr dirty="0" err="1"/>
              <a:t>có</a:t>
            </a:r>
            <a:r>
              <a:rPr dirty="0"/>
              <a:t> cache/coherence. </a:t>
            </a:r>
            <a:r>
              <a:rPr dirty="0" err="1"/>
              <a:t>Đóng</a:t>
            </a:r>
            <a:r>
              <a:rPr dirty="0"/>
              <a:t> </a:t>
            </a:r>
            <a:r>
              <a:rPr dirty="0" err="1"/>
              <a:t>góp</a:t>
            </a:r>
            <a:r>
              <a:rPr dirty="0"/>
              <a:t> </a:t>
            </a:r>
            <a:r>
              <a:rPr dirty="0" err="1"/>
              <a:t>nhóm</a:t>
            </a:r>
            <a:r>
              <a:rPr dirty="0"/>
              <a:t> </a:t>
            </a:r>
            <a:r>
              <a:rPr dirty="0" err="1"/>
              <a:t>hướng</a:t>
            </a:r>
            <a:r>
              <a:rPr dirty="0"/>
              <a:t> </a:t>
            </a:r>
            <a:r>
              <a:rPr dirty="0" err="1"/>
              <a:t>tới</a:t>
            </a:r>
            <a:r>
              <a:rPr dirty="0"/>
              <a:t> </a:t>
            </a:r>
            <a:r>
              <a:rPr dirty="0" err="1"/>
              <a:t>là</a:t>
            </a:r>
            <a:r>
              <a:rPr dirty="0"/>
              <a:t> </a:t>
            </a:r>
            <a:r>
              <a:rPr dirty="0" err="1"/>
              <a:t>tích</a:t>
            </a:r>
            <a:r>
              <a:rPr dirty="0"/>
              <a:t> </a:t>
            </a:r>
            <a:r>
              <a:rPr dirty="0" err="1"/>
              <a:t>hợp</a:t>
            </a:r>
            <a:r>
              <a:rPr dirty="0"/>
              <a:t> </a:t>
            </a:r>
            <a:r>
              <a:rPr dirty="0" err="1"/>
              <a:t>hệ</a:t>
            </a:r>
            <a:r>
              <a:rPr dirty="0"/>
              <a:t> 4 </a:t>
            </a:r>
            <a:r>
              <a:rPr dirty="0" err="1"/>
              <a:t>lõi</a:t>
            </a:r>
            <a:r>
              <a:rPr dirty="0"/>
              <a:t> RV32IMA </a:t>
            </a:r>
            <a:r>
              <a:rPr dirty="0" err="1"/>
              <a:t>với</a:t>
            </a:r>
            <a:r>
              <a:rPr dirty="0"/>
              <a:t> L1/L2, coherence </a:t>
            </a:r>
            <a:r>
              <a:rPr dirty="0" err="1"/>
              <a:t>và</a:t>
            </a:r>
            <a:r>
              <a:rPr dirty="0"/>
              <a:t> MMU </a:t>
            </a:r>
            <a:r>
              <a:rPr dirty="0" err="1"/>
              <a:t>theo</a:t>
            </a:r>
            <a:r>
              <a:rPr dirty="0"/>
              <a:t> </a:t>
            </a:r>
            <a:r>
              <a:rPr dirty="0" err="1"/>
              <a:t>từng</a:t>
            </a:r>
            <a:r>
              <a:rPr dirty="0"/>
              <a:t> </a:t>
            </a:r>
            <a:r>
              <a:rPr dirty="0" err="1"/>
              <a:t>lõi</a:t>
            </a:r>
            <a:r>
              <a:rPr dirty="0"/>
              <a:t>, </a:t>
            </a:r>
            <a:r>
              <a:rPr dirty="0" err="1"/>
              <a:t>rồi</a:t>
            </a:r>
            <a:r>
              <a:rPr dirty="0"/>
              <a:t> </a:t>
            </a:r>
            <a:r>
              <a:rPr dirty="0" err="1"/>
              <a:t>đánh</a:t>
            </a:r>
            <a:r>
              <a:rPr dirty="0"/>
              <a:t> </a:t>
            </a:r>
            <a:r>
              <a:rPr dirty="0" err="1"/>
              <a:t>giá</a:t>
            </a:r>
            <a:r>
              <a:rPr dirty="0"/>
              <a:t> </a:t>
            </a:r>
            <a:r>
              <a:rPr dirty="0" err="1"/>
              <a:t>bằng</a:t>
            </a:r>
            <a:r>
              <a:rPr dirty="0"/>
              <a:t> </a:t>
            </a:r>
            <a:r>
              <a:rPr dirty="0" err="1"/>
              <a:t>mô</a:t>
            </a:r>
            <a:r>
              <a:rPr dirty="0"/>
              <a:t> </a:t>
            </a:r>
            <a:r>
              <a:rPr dirty="0" err="1"/>
              <a:t>phỏng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FPGA. </a:t>
            </a:r>
            <a:r>
              <a:rPr lang="vi-VN" dirty="0"/>
              <a:t>Tránh khẳng định mọi nghiên cứu quốc tế đều chưa giải quyết cache.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2BF3C4-7A48-45B5-8C50-3ED1F0DDC9F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0616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RV32I </a:t>
            </a:r>
            <a:r>
              <a:rPr dirty="0" err="1"/>
              <a:t>là</a:t>
            </a:r>
            <a:r>
              <a:rPr dirty="0"/>
              <a:t> </a:t>
            </a:r>
            <a:r>
              <a:rPr dirty="0" err="1"/>
              <a:t>tập</a:t>
            </a:r>
            <a:r>
              <a:rPr dirty="0"/>
              <a:t> </a:t>
            </a:r>
            <a:r>
              <a:rPr dirty="0" err="1"/>
              <a:t>lệnh</a:t>
            </a:r>
            <a:r>
              <a:rPr dirty="0"/>
              <a:t> </a:t>
            </a:r>
            <a:r>
              <a:rPr dirty="0" err="1"/>
              <a:t>số</a:t>
            </a:r>
            <a:r>
              <a:rPr dirty="0"/>
              <a:t> </a:t>
            </a:r>
            <a:r>
              <a:rPr dirty="0" err="1"/>
              <a:t>nguyên</a:t>
            </a:r>
            <a:r>
              <a:rPr dirty="0"/>
              <a:t> </a:t>
            </a:r>
            <a:r>
              <a:rPr dirty="0" err="1"/>
              <a:t>cơ</a:t>
            </a:r>
            <a:r>
              <a:rPr dirty="0"/>
              <a:t> </a:t>
            </a:r>
            <a:r>
              <a:rPr dirty="0" err="1"/>
              <a:t>sở</a:t>
            </a:r>
            <a:r>
              <a:rPr dirty="0"/>
              <a:t>, M </a:t>
            </a:r>
            <a:r>
              <a:rPr dirty="0" err="1"/>
              <a:t>bổ</a:t>
            </a:r>
            <a:r>
              <a:rPr dirty="0"/>
              <a:t> sung </a:t>
            </a:r>
            <a:r>
              <a:rPr dirty="0" err="1"/>
              <a:t>nhân</a:t>
            </a:r>
            <a:r>
              <a:rPr dirty="0"/>
              <a:t>/chia, A </a:t>
            </a:r>
            <a:r>
              <a:rPr dirty="0" err="1"/>
              <a:t>bổ</a:t>
            </a:r>
            <a:r>
              <a:rPr dirty="0"/>
              <a:t> sung </a:t>
            </a:r>
            <a:r>
              <a:rPr dirty="0" err="1"/>
              <a:t>thao</a:t>
            </a:r>
            <a:r>
              <a:rPr dirty="0"/>
              <a:t> </a:t>
            </a:r>
            <a:r>
              <a:rPr dirty="0" err="1"/>
              <a:t>tác</a:t>
            </a:r>
            <a:r>
              <a:rPr dirty="0"/>
              <a:t> </a:t>
            </a:r>
            <a:r>
              <a:rPr dirty="0" err="1"/>
              <a:t>nguyên</a:t>
            </a:r>
            <a:r>
              <a:rPr dirty="0"/>
              <a:t> </a:t>
            </a:r>
            <a:r>
              <a:rPr dirty="0" err="1"/>
              <a:t>tử</a:t>
            </a:r>
            <a:r>
              <a:rPr dirty="0"/>
              <a:t> </a:t>
            </a:r>
            <a:r>
              <a:rPr dirty="0" err="1"/>
              <a:t>phục</a:t>
            </a:r>
            <a:r>
              <a:rPr dirty="0"/>
              <a:t> </a:t>
            </a:r>
            <a:r>
              <a:rPr dirty="0" err="1"/>
              <a:t>vụ</a:t>
            </a:r>
            <a:r>
              <a:rPr dirty="0"/>
              <a:t> chia </a:t>
            </a:r>
            <a:r>
              <a:rPr dirty="0" err="1"/>
              <a:t>sẻ</a:t>
            </a:r>
            <a:r>
              <a:rPr dirty="0"/>
              <a:t> 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 </a:t>
            </a:r>
            <a:r>
              <a:rPr dirty="0" err="1"/>
              <a:t>giữa</a:t>
            </a:r>
            <a:r>
              <a:rPr dirty="0"/>
              <a:t> </a:t>
            </a:r>
            <a:r>
              <a:rPr dirty="0" err="1"/>
              <a:t>các</a:t>
            </a:r>
            <a:r>
              <a:rPr dirty="0"/>
              <a:t> </a:t>
            </a:r>
            <a:r>
              <a:rPr dirty="0" err="1"/>
              <a:t>lõi</a:t>
            </a:r>
            <a:r>
              <a:rPr dirty="0"/>
              <a:t>. Hai </a:t>
            </a:r>
            <a:r>
              <a:rPr dirty="0" err="1"/>
              <a:t>mục</a:t>
            </a:r>
            <a:r>
              <a:rPr dirty="0"/>
              <a:t> </a:t>
            </a:r>
            <a:r>
              <a:rPr dirty="0" err="1"/>
              <a:t>tiêu</a:t>
            </a:r>
            <a:r>
              <a:rPr dirty="0"/>
              <a:t> bao </a:t>
            </a:r>
            <a:r>
              <a:rPr dirty="0" err="1"/>
              <a:t>quát</a:t>
            </a:r>
            <a:r>
              <a:rPr dirty="0"/>
              <a:t> </a:t>
            </a:r>
            <a:r>
              <a:rPr dirty="0" err="1"/>
              <a:t>phần</a:t>
            </a:r>
            <a:r>
              <a:rPr dirty="0"/>
              <a:t> </a:t>
            </a:r>
            <a:r>
              <a:rPr dirty="0" err="1"/>
              <a:t>thiết</a:t>
            </a:r>
            <a:r>
              <a:rPr dirty="0"/>
              <a:t> </a:t>
            </a:r>
            <a:r>
              <a:rPr dirty="0" err="1"/>
              <a:t>kế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phần</a:t>
            </a:r>
            <a:r>
              <a:rPr dirty="0"/>
              <a:t> </a:t>
            </a:r>
            <a:r>
              <a:rPr dirty="0" err="1"/>
              <a:t>chứng</a:t>
            </a:r>
            <a:r>
              <a:rPr dirty="0"/>
              <a:t> </a:t>
            </a:r>
            <a:r>
              <a:rPr dirty="0" err="1"/>
              <a:t>minh</a:t>
            </a:r>
            <a:r>
              <a:rPr dirty="0"/>
              <a:t> </a:t>
            </a:r>
            <a:r>
              <a:rPr dirty="0" err="1"/>
              <a:t>thiết</a:t>
            </a:r>
            <a:r>
              <a:rPr dirty="0"/>
              <a:t> </a:t>
            </a:r>
            <a:r>
              <a:rPr dirty="0" err="1"/>
              <a:t>kế</a:t>
            </a:r>
            <a:r>
              <a:rPr dirty="0"/>
              <a:t> </a:t>
            </a:r>
            <a:r>
              <a:rPr dirty="0" err="1"/>
              <a:t>hoạt</a:t>
            </a:r>
            <a:r>
              <a:rPr dirty="0"/>
              <a:t> </a:t>
            </a:r>
            <a:r>
              <a:rPr dirty="0" err="1"/>
              <a:t>động</a:t>
            </a:r>
            <a:r>
              <a:rPr dirty="0"/>
              <a:t>. RTL </a:t>
            </a:r>
            <a:r>
              <a:rPr dirty="0" err="1"/>
              <a:t>hiện</a:t>
            </a:r>
            <a:r>
              <a:rPr dirty="0"/>
              <a:t> </a:t>
            </a:r>
            <a:r>
              <a:rPr dirty="0" err="1"/>
              <a:t>có</a:t>
            </a:r>
            <a:r>
              <a:rPr dirty="0"/>
              <a:t> </a:t>
            </a:r>
            <a:r>
              <a:rPr dirty="0" err="1"/>
              <a:t>chủ</a:t>
            </a:r>
            <a:r>
              <a:rPr dirty="0"/>
              <a:t> </a:t>
            </a:r>
            <a:r>
              <a:rPr dirty="0" err="1"/>
              <a:t>yếu</a:t>
            </a:r>
            <a:r>
              <a:rPr dirty="0"/>
              <a:t> </a:t>
            </a:r>
            <a:r>
              <a:rPr dirty="0" err="1"/>
              <a:t>là</a:t>
            </a:r>
            <a:r>
              <a:rPr dirty="0"/>
              <a:t> Verilog .v, </a:t>
            </a:r>
            <a:r>
              <a:rPr dirty="0" err="1"/>
              <a:t>đề</a:t>
            </a:r>
            <a:r>
              <a:rPr dirty="0"/>
              <a:t> </a:t>
            </a:r>
            <a:r>
              <a:rPr dirty="0" err="1"/>
              <a:t>cương</a:t>
            </a:r>
            <a:r>
              <a:rPr dirty="0"/>
              <a:t> </a:t>
            </a:r>
            <a:r>
              <a:rPr dirty="0" err="1"/>
              <a:t>định</a:t>
            </a:r>
            <a:r>
              <a:rPr dirty="0"/>
              <a:t> </a:t>
            </a:r>
            <a:r>
              <a:rPr dirty="0" err="1"/>
              <a:t>hướng</a:t>
            </a:r>
            <a:r>
              <a:rPr dirty="0"/>
              <a:t> Verilog/</a:t>
            </a:r>
            <a:r>
              <a:rPr dirty="0" err="1"/>
              <a:t>SystemVerilog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môi</a:t>
            </a:r>
            <a:r>
              <a:rPr dirty="0"/>
              <a:t> </a:t>
            </a:r>
            <a:r>
              <a:rPr dirty="0" err="1"/>
              <a:t>trường</a:t>
            </a:r>
            <a:r>
              <a:rPr dirty="0"/>
              <a:t> </a:t>
            </a:r>
            <a:r>
              <a:rPr dirty="0" err="1"/>
              <a:t>kiểm</a:t>
            </a:r>
            <a:r>
              <a:rPr dirty="0"/>
              <a:t> </a:t>
            </a:r>
            <a:r>
              <a:rPr dirty="0" err="1"/>
              <a:t>chứng</a:t>
            </a:r>
            <a:r>
              <a:rPr dirty="0"/>
              <a:t>. MMU </a:t>
            </a:r>
            <a:r>
              <a:rPr dirty="0" err="1"/>
              <a:t>hiện</a:t>
            </a:r>
            <a:r>
              <a:rPr dirty="0"/>
              <a:t> </a:t>
            </a:r>
            <a:r>
              <a:rPr dirty="0" err="1"/>
              <a:t>thực</a:t>
            </a:r>
            <a:r>
              <a:rPr dirty="0"/>
              <a:t> </a:t>
            </a:r>
            <a:r>
              <a:rPr dirty="0" err="1"/>
              <a:t>theo</a:t>
            </a:r>
            <a:r>
              <a:rPr dirty="0"/>
              <a:t> </a:t>
            </a:r>
            <a:r>
              <a:rPr dirty="0" err="1"/>
              <a:t>cấu</a:t>
            </a:r>
            <a:r>
              <a:rPr dirty="0"/>
              <a:t> </a:t>
            </a:r>
            <a:r>
              <a:rPr dirty="0" err="1"/>
              <a:t>trúc</a:t>
            </a:r>
            <a:r>
              <a:rPr dirty="0"/>
              <a:t> Sv32 2 </a:t>
            </a:r>
            <a:r>
              <a:rPr dirty="0" err="1"/>
              <a:t>cấp</a:t>
            </a:r>
            <a:r>
              <a:rPr dirty="0"/>
              <a:t> </a:t>
            </a:r>
            <a:r>
              <a:rPr dirty="0" err="1"/>
              <a:t>nhưng</a:t>
            </a:r>
            <a:r>
              <a:rPr dirty="0"/>
              <a:t> </a:t>
            </a:r>
            <a:r>
              <a:rPr dirty="0" err="1"/>
              <a:t>dùng</a:t>
            </a:r>
            <a:r>
              <a:rPr dirty="0"/>
              <a:t> </a:t>
            </a:r>
            <a:r>
              <a:rPr dirty="0" err="1"/>
              <a:t>định</a:t>
            </a:r>
            <a:r>
              <a:rPr dirty="0"/>
              <a:t> </a:t>
            </a:r>
            <a:r>
              <a:rPr dirty="0" err="1"/>
              <a:t>dạng</a:t>
            </a:r>
            <a:r>
              <a:rPr dirty="0"/>
              <a:t> PTE/PA </a:t>
            </a:r>
            <a:r>
              <a:rPr dirty="0" err="1"/>
              <a:t>tùy</a:t>
            </a:r>
            <a:r>
              <a:rPr dirty="0"/>
              <a:t> </a:t>
            </a:r>
            <a:r>
              <a:rPr dirty="0" err="1"/>
              <a:t>biến</a:t>
            </a:r>
            <a:r>
              <a:rPr dirty="0"/>
              <a:t> 32 bit,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tuyên</a:t>
            </a:r>
            <a:r>
              <a:rPr dirty="0"/>
              <a:t> </a:t>
            </a:r>
            <a:r>
              <a:rPr dirty="0" err="1"/>
              <a:t>bố</a:t>
            </a:r>
            <a:r>
              <a:rPr dirty="0"/>
              <a:t> </a:t>
            </a:r>
            <a:r>
              <a:rPr dirty="0" err="1"/>
              <a:t>tuân</a:t>
            </a:r>
            <a:r>
              <a:rPr dirty="0"/>
              <a:t> </a:t>
            </a:r>
            <a:r>
              <a:rPr dirty="0" err="1"/>
              <a:t>thủ</a:t>
            </a:r>
            <a:r>
              <a:rPr dirty="0"/>
              <a:t> </a:t>
            </a:r>
            <a:r>
              <a:rPr dirty="0" err="1"/>
              <a:t>đầy</a:t>
            </a:r>
            <a:r>
              <a:rPr dirty="0"/>
              <a:t> </a:t>
            </a:r>
            <a:r>
              <a:rPr dirty="0" err="1"/>
              <a:t>đủ</a:t>
            </a:r>
            <a:r>
              <a:rPr dirty="0"/>
              <a:t> Sv32.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có</a:t>
            </a:r>
            <a:r>
              <a:rPr dirty="0"/>
              <a:t> </a:t>
            </a:r>
            <a:r>
              <a:rPr dirty="0" err="1"/>
              <a:t>superpage</a:t>
            </a:r>
            <a:r>
              <a:rPr dirty="0"/>
              <a:t>,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tự</a:t>
            </a:r>
            <a:r>
              <a:rPr dirty="0"/>
              <a:t> </a:t>
            </a:r>
            <a:r>
              <a:rPr dirty="0" err="1"/>
              <a:t>cập</a:t>
            </a:r>
            <a:r>
              <a:rPr dirty="0"/>
              <a:t> </a:t>
            </a:r>
            <a:r>
              <a:rPr dirty="0" err="1"/>
              <a:t>nhật</a:t>
            </a:r>
            <a:r>
              <a:rPr dirty="0"/>
              <a:t> A/D,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áp</a:t>
            </a:r>
            <a:r>
              <a:rPr dirty="0"/>
              <a:t> </a:t>
            </a:r>
            <a:r>
              <a:rPr dirty="0" err="1"/>
              <a:t>dụng</a:t>
            </a:r>
            <a:r>
              <a:rPr dirty="0"/>
              <a:t> </a:t>
            </a:r>
            <a:r>
              <a:rPr dirty="0" err="1"/>
              <a:t>đầy</a:t>
            </a:r>
            <a:r>
              <a:rPr dirty="0"/>
              <a:t> </a:t>
            </a:r>
            <a:r>
              <a:rPr dirty="0" err="1"/>
              <a:t>đủ</a:t>
            </a:r>
            <a:r>
              <a:rPr dirty="0"/>
              <a:t> </a:t>
            </a:r>
            <a:r>
              <a:rPr dirty="0" err="1"/>
              <a:t>phân</a:t>
            </a:r>
            <a:r>
              <a:rPr dirty="0"/>
              <a:t> </a:t>
            </a:r>
            <a:r>
              <a:rPr dirty="0" err="1"/>
              <a:t>quyền</a:t>
            </a:r>
            <a:r>
              <a:rPr dirty="0"/>
              <a:t> </a:t>
            </a:r>
            <a:r>
              <a:rPr dirty="0" err="1"/>
              <a:t>truy</a:t>
            </a:r>
            <a:r>
              <a:rPr dirty="0"/>
              <a:t> </a:t>
            </a:r>
            <a:r>
              <a:rPr dirty="0" err="1"/>
              <a:t>cập</a:t>
            </a:r>
            <a:r>
              <a:rPr dirty="0"/>
              <a:t> </a:t>
            </a:r>
            <a:r>
              <a:rPr dirty="0" err="1"/>
              <a:t>trang</a:t>
            </a:r>
            <a:r>
              <a:rPr dirty="0"/>
              <a:t> S/U.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B3F753-950E-4413-91E8-19B1532E4AD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dirty="0" err="1"/>
              <a:t>Thiết</a:t>
            </a:r>
            <a:r>
              <a:rPr dirty="0"/>
              <a:t> </a:t>
            </a:r>
            <a:r>
              <a:rPr dirty="0" err="1"/>
              <a:t>kế</a:t>
            </a:r>
            <a:r>
              <a:rPr dirty="0"/>
              <a:t> </a:t>
            </a:r>
            <a:r>
              <a:rPr dirty="0" err="1"/>
              <a:t>tăng</a:t>
            </a:r>
            <a:r>
              <a:rPr dirty="0"/>
              <a:t> </a:t>
            </a:r>
            <a:r>
              <a:rPr dirty="0" err="1"/>
              <a:t>dần</a:t>
            </a:r>
            <a:r>
              <a:rPr dirty="0"/>
              <a:t> </a:t>
            </a:r>
            <a:r>
              <a:rPr dirty="0" err="1"/>
              <a:t>độ</a:t>
            </a:r>
            <a:r>
              <a:rPr dirty="0"/>
              <a:t> </a:t>
            </a:r>
            <a:r>
              <a:rPr dirty="0" err="1"/>
              <a:t>phức</a:t>
            </a:r>
            <a:r>
              <a:rPr dirty="0"/>
              <a:t> </a:t>
            </a:r>
            <a:r>
              <a:rPr dirty="0" err="1"/>
              <a:t>tạp</a:t>
            </a:r>
            <a:r>
              <a:rPr dirty="0"/>
              <a:t> </a:t>
            </a:r>
            <a:r>
              <a:rPr dirty="0" err="1"/>
              <a:t>để</a:t>
            </a:r>
            <a:r>
              <a:rPr dirty="0"/>
              <a:t> </a:t>
            </a:r>
            <a:r>
              <a:rPr dirty="0" err="1"/>
              <a:t>cô</a:t>
            </a:r>
            <a:r>
              <a:rPr dirty="0"/>
              <a:t> </a:t>
            </a:r>
            <a:r>
              <a:rPr dirty="0" err="1"/>
              <a:t>lập</a:t>
            </a:r>
            <a:r>
              <a:rPr dirty="0"/>
              <a:t> </a:t>
            </a:r>
            <a:r>
              <a:rPr dirty="0" err="1"/>
              <a:t>lỗi</a:t>
            </a:r>
            <a:r>
              <a:rPr dirty="0"/>
              <a:t>: </a:t>
            </a:r>
            <a:r>
              <a:rPr dirty="0" err="1"/>
              <a:t>kiểm</a:t>
            </a:r>
            <a:r>
              <a:rPr dirty="0"/>
              <a:t> </a:t>
            </a:r>
            <a:r>
              <a:rPr dirty="0" err="1"/>
              <a:t>tra</a:t>
            </a:r>
            <a:r>
              <a:rPr dirty="0"/>
              <a:t> </a:t>
            </a:r>
            <a:r>
              <a:rPr dirty="0" err="1"/>
              <a:t>khối</a:t>
            </a:r>
            <a:r>
              <a:rPr dirty="0"/>
              <a:t> </a:t>
            </a:r>
            <a:r>
              <a:rPr dirty="0" err="1"/>
              <a:t>riêng</a:t>
            </a:r>
            <a:r>
              <a:rPr dirty="0"/>
              <a:t>, </a:t>
            </a:r>
            <a:r>
              <a:rPr dirty="0" err="1"/>
              <a:t>ghép</a:t>
            </a:r>
            <a:r>
              <a:rPr dirty="0"/>
              <a:t> </a:t>
            </a:r>
            <a:r>
              <a:rPr dirty="0" err="1"/>
              <a:t>lõi</a:t>
            </a:r>
            <a:r>
              <a:rPr dirty="0"/>
              <a:t> </a:t>
            </a:r>
            <a:r>
              <a:rPr dirty="0" err="1"/>
              <a:t>đơn</a:t>
            </a:r>
            <a:r>
              <a:rPr dirty="0"/>
              <a:t>, </a:t>
            </a:r>
            <a:r>
              <a:rPr dirty="0" err="1"/>
              <a:t>tích</a:t>
            </a:r>
            <a:r>
              <a:rPr dirty="0"/>
              <a:t> </a:t>
            </a:r>
            <a:r>
              <a:rPr dirty="0" err="1"/>
              <a:t>hợp</a:t>
            </a:r>
            <a:r>
              <a:rPr dirty="0"/>
              <a:t> </a:t>
            </a:r>
            <a:r>
              <a:rPr dirty="0" err="1"/>
              <a:t>nhiều</a:t>
            </a:r>
            <a:r>
              <a:rPr dirty="0"/>
              <a:t> </a:t>
            </a:r>
            <a:r>
              <a:rPr dirty="0" err="1"/>
              <a:t>lõi</a:t>
            </a:r>
            <a:r>
              <a:rPr dirty="0"/>
              <a:t>, </a:t>
            </a:r>
            <a:r>
              <a:rPr dirty="0" err="1"/>
              <a:t>cuối</a:t>
            </a:r>
            <a:r>
              <a:rPr dirty="0"/>
              <a:t> </a:t>
            </a:r>
            <a:r>
              <a:rPr dirty="0" err="1"/>
              <a:t>cùng</a:t>
            </a:r>
            <a:r>
              <a:rPr dirty="0"/>
              <a:t> </a:t>
            </a:r>
            <a:r>
              <a:rPr dirty="0" err="1"/>
              <a:t>chạy</a:t>
            </a:r>
            <a:r>
              <a:rPr dirty="0"/>
              <a:t> </a:t>
            </a:r>
            <a:r>
              <a:rPr dirty="0" err="1"/>
              <a:t>toàn</a:t>
            </a:r>
            <a:r>
              <a:rPr dirty="0"/>
              <a:t> </a:t>
            </a:r>
            <a:r>
              <a:rPr dirty="0" err="1"/>
              <a:t>hệ</a:t>
            </a:r>
            <a:r>
              <a:rPr dirty="0"/>
              <a:t> </a:t>
            </a:r>
            <a:r>
              <a:rPr dirty="0" err="1"/>
              <a:t>thống</a:t>
            </a:r>
            <a:r>
              <a:rPr dirty="0"/>
              <a:t>. </a:t>
            </a:r>
            <a:r>
              <a:rPr dirty="0" err="1"/>
              <a:t>Vai</a:t>
            </a:r>
            <a:r>
              <a:rPr dirty="0"/>
              <a:t> </a:t>
            </a:r>
            <a:r>
              <a:rPr dirty="0" err="1"/>
              <a:t>trò</a:t>
            </a:r>
            <a:r>
              <a:rPr dirty="0"/>
              <a:t> </a:t>
            </a:r>
            <a:r>
              <a:rPr dirty="0" err="1"/>
              <a:t>các</a:t>
            </a:r>
            <a:r>
              <a:rPr dirty="0"/>
              <a:t> </a:t>
            </a:r>
            <a:r>
              <a:rPr dirty="0" err="1"/>
              <a:t>thành</a:t>
            </a:r>
            <a:r>
              <a:rPr dirty="0"/>
              <a:t> </a:t>
            </a:r>
            <a:r>
              <a:rPr dirty="0" err="1"/>
              <a:t>phần</a:t>
            </a:r>
            <a:r>
              <a:rPr dirty="0"/>
              <a:t>: L1 </a:t>
            </a:r>
            <a:r>
              <a:rPr dirty="0" err="1"/>
              <a:t>giảm</a:t>
            </a:r>
            <a:r>
              <a:rPr dirty="0"/>
              <a:t> </a:t>
            </a:r>
            <a:r>
              <a:rPr dirty="0" err="1"/>
              <a:t>truy</a:t>
            </a:r>
            <a:r>
              <a:rPr dirty="0"/>
              <a:t> </a:t>
            </a:r>
            <a:r>
              <a:rPr dirty="0" err="1"/>
              <a:t>cập</a:t>
            </a:r>
            <a:r>
              <a:rPr dirty="0"/>
              <a:t> </a:t>
            </a:r>
            <a:r>
              <a:rPr dirty="0" err="1"/>
              <a:t>bộ</a:t>
            </a:r>
            <a:r>
              <a:rPr dirty="0"/>
              <a:t> </a:t>
            </a:r>
            <a:r>
              <a:rPr dirty="0" err="1"/>
              <a:t>nhớ</a:t>
            </a:r>
            <a:r>
              <a:rPr dirty="0"/>
              <a:t> </a:t>
            </a:r>
            <a:r>
              <a:rPr dirty="0" err="1"/>
              <a:t>cho</a:t>
            </a:r>
            <a:r>
              <a:rPr dirty="0"/>
              <a:t> </a:t>
            </a:r>
            <a:r>
              <a:rPr dirty="0" err="1"/>
              <a:t>từng</a:t>
            </a:r>
            <a:r>
              <a:rPr dirty="0"/>
              <a:t> </a:t>
            </a:r>
            <a:r>
              <a:rPr dirty="0" err="1"/>
              <a:t>lõi</a:t>
            </a:r>
            <a:r>
              <a:rPr dirty="0"/>
              <a:t>, L2 </a:t>
            </a:r>
            <a:r>
              <a:rPr dirty="0" err="1"/>
              <a:t>là</a:t>
            </a:r>
            <a:r>
              <a:rPr dirty="0"/>
              <a:t> </a:t>
            </a:r>
            <a:r>
              <a:rPr dirty="0" err="1"/>
              <a:t>bộ</a:t>
            </a:r>
            <a:r>
              <a:rPr dirty="0"/>
              <a:t> </a:t>
            </a:r>
            <a:r>
              <a:rPr dirty="0" err="1"/>
              <a:t>nhớ</a:t>
            </a:r>
            <a:r>
              <a:rPr dirty="0"/>
              <a:t> </a:t>
            </a:r>
            <a:r>
              <a:rPr dirty="0" err="1"/>
              <a:t>đệm</a:t>
            </a:r>
            <a:r>
              <a:rPr dirty="0"/>
              <a:t> </a:t>
            </a:r>
            <a:r>
              <a:rPr dirty="0" err="1"/>
              <a:t>dùng</a:t>
            </a:r>
            <a:r>
              <a:rPr dirty="0"/>
              <a:t> </a:t>
            </a:r>
            <a:r>
              <a:rPr dirty="0" err="1"/>
              <a:t>chung</a:t>
            </a:r>
            <a:r>
              <a:rPr dirty="0"/>
              <a:t>, MESI </a:t>
            </a:r>
            <a:r>
              <a:rPr dirty="0" err="1"/>
              <a:t>quản</a:t>
            </a:r>
            <a:r>
              <a:rPr dirty="0"/>
              <a:t> </a:t>
            </a:r>
            <a:r>
              <a:rPr dirty="0" err="1"/>
              <a:t>lý</a:t>
            </a:r>
            <a:r>
              <a:rPr dirty="0"/>
              <a:t> </a:t>
            </a:r>
            <a:r>
              <a:rPr dirty="0" err="1"/>
              <a:t>bản</a:t>
            </a:r>
            <a:r>
              <a:rPr dirty="0"/>
              <a:t> </a:t>
            </a:r>
            <a:r>
              <a:rPr dirty="0" err="1"/>
              <a:t>sao</a:t>
            </a:r>
            <a:r>
              <a:rPr dirty="0"/>
              <a:t> 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 </a:t>
            </a:r>
            <a:r>
              <a:rPr dirty="0" err="1"/>
              <a:t>giữa</a:t>
            </a:r>
            <a:r>
              <a:rPr dirty="0"/>
              <a:t> </a:t>
            </a:r>
            <a:r>
              <a:rPr dirty="0" err="1"/>
              <a:t>các</a:t>
            </a:r>
            <a:r>
              <a:rPr dirty="0"/>
              <a:t> cache, MMU </a:t>
            </a:r>
            <a:r>
              <a:rPr dirty="0" err="1"/>
              <a:t>dịch</a:t>
            </a:r>
            <a:r>
              <a:rPr dirty="0"/>
              <a:t> </a:t>
            </a:r>
            <a:r>
              <a:rPr dirty="0" err="1"/>
              <a:t>địa</a:t>
            </a:r>
            <a:r>
              <a:rPr dirty="0"/>
              <a:t> </a:t>
            </a:r>
            <a:r>
              <a:rPr dirty="0" err="1"/>
              <a:t>chỉ</a:t>
            </a:r>
            <a:r>
              <a:rPr dirty="0"/>
              <a:t>. AHB-Lite ở </a:t>
            </a:r>
            <a:r>
              <a:rPr dirty="0" err="1"/>
              <a:t>biên</a:t>
            </a:r>
            <a:r>
              <a:rPr dirty="0"/>
              <a:t> L1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khối</a:t>
            </a:r>
            <a:r>
              <a:rPr dirty="0"/>
              <a:t> coherence, AXI4 </a:t>
            </a:r>
            <a:r>
              <a:rPr dirty="0" err="1"/>
              <a:t>nối</a:t>
            </a:r>
            <a:r>
              <a:rPr dirty="0"/>
              <a:t> </a:t>
            </a:r>
            <a:r>
              <a:rPr dirty="0" err="1"/>
              <a:t>phía</a:t>
            </a:r>
            <a:r>
              <a:rPr dirty="0"/>
              <a:t> </a:t>
            </a:r>
            <a:r>
              <a:rPr dirty="0" err="1"/>
              <a:t>hệ</a:t>
            </a:r>
            <a:r>
              <a:rPr dirty="0"/>
              <a:t> </a:t>
            </a:r>
            <a:r>
              <a:rPr dirty="0" err="1"/>
              <a:t>thống</a:t>
            </a:r>
            <a:r>
              <a:rPr dirty="0"/>
              <a:t>. RTL </a:t>
            </a:r>
            <a:r>
              <a:rPr dirty="0" err="1"/>
              <a:t>hiện</a:t>
            </a:r>
            <a:r>
              <a:rPr dirty="0"/>
              <a:t> </a:t>
            </a:r>
            <a:r>
              <a:rPr dirty="0" err="1"/>
              <a:t>tại</a:t>
            </a:r>
            <a:r>
              <a:rPr dirty="0"/>
              <a:t> </a:t>
            </a:r>
            <a:r>
              <a:rPr dirty="0" err="1"/>
              <a:t>có</a:t>
            </a:r>
            <a:r>
              <a:rPr dirty="0"/>
              <a:t> </a:t>
            </a:r>
            <a:r>
              <a:rPr dirty="0" err="1"/>
              <a:t>các</a:t>
            </a:r>
            <a:r>
              <a:rPr dirty="0"/>
              <a:t> </a:t>
            </a:r>
            <a:r>
              <a:rPr dirty="0" err="1"/>
              <a:t>liên</a:t>
            </a:r>
            <a:r>
              <a:rPr dirty="0"/>
              <a:t> </a:t>
            </a:r>
            <a:r>
              <a:rPr dirty="0" err="1"/>
              <a:t>kết</a:t>
            </a:r>
            <a:r>
              <a:rPr dirty="0"/>
              <a:t> AHB-Lite </a:t>
            </a:r>
            <a:r>
              <a:rPr dirty="0" err="1"/>
              <a:t>điểm</a:t>
            </a:r>
            <a:r>
              <a:rPr dirty="0"/>
              <a:t> </a:t>
            </a:r>
            <a:r>
              <a:rPr dirty="0" err="1"/>
              <a:t>nối</a:t>
            </a:r>
            <a:r>
              <a:rPr dirty="0"/>
              <a:t> </a:t>
            </a:r>
            <a:r>
              <a:rPr dirty="0" err="1"/>
              <a:t>điểm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bus snoop </a:t>
            </a:r>
            <a:r>
              <a:rPr dirty="0" err="1"/>
              <a:t>riêng</a:t>
            </a:r>
            <a:r>
              <a:rPr dirty="0"/>
              <a:t>, </a:t>
            </a:r>
            <a:r>
              <a:rPr dirty="0" err="1"/>
              <a:t>trọng</a:t>
            </a:r>
            <a:r>
              <a:rPr dirty="0"/>
              <a:t> </a:t>
            </a:r>
            <a:r>
              <a:rPr dirty="0" err="1"/>
              <a:t>tài</a:t>
            </a:r>
            <a:r>
              <a:rPr dirty="0"/>
              <a:t> </a:t>
            </a:r>
            <a:r>
              <a:rPr dirty="0" err="1"/>
              <a:t>nằm</a:t>
            </a:r>
            <a:r>
              <a:rPr dirty="0"/>
              <a:t> </a:t>
            </a:r>
            <a:r>
              <a:rPr dirty="0" err="1"/>
              <a:t>trong</a:t>
            </a:r>
            <a:r>
              <a:rPr dirty="0"/>
              <a:t> </a:t>
            </a:r>
            <a:r>
              <a:rPr dirty="0" err="1"/>
              <a:t>coherence_manager</a:t>
            </a:r>
            <a:r>
              <a:rPr dirty="0"/>
              <a:t>; DMA </a:t>
            </a:r>
            <a:r>
              <a:rPr dirty="0" err="1"/>
              <a:t>hiện</a:t>
            </a:r>
            <a:r>
              <a:rPr dirty="0"/>
              <a:t> </a:t>
            </a:r>
            <a:r>
              <a:rPr dirty="0" err="1"/>
              <a:t>chọn</a:t>
            </a:r>
            <a:r>
              <a:rPr dirty="0"/>
              <a:t> IP </a:t>
            </a:r>
            <a:r>
              <a:rPr dirty="0" err="1"/>
              <a:t>axi_cdma</a:t>
            </a:r>
            <a:r>
              <a:rPr dirty="0"/>
              <a:t> </a:t>
            </a:r>
            <a:r>
              <a:rPr dirty="0" err="1"/>
              <a:t>trong</a:t>
            </a:r>
            <a:r>
              <a:rPr dirty="0"/>
              <a:t> </a:t>
            </a:r>
            <a:r>
              <a:rPr dirty="0" err="1"/>
              <a:t>Tcl</a:t>
            </a:r>
            <a:r>
              <a:rPr dirty="0"/>
              <a:t>,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dirty="0" err="1"/>
              <a:t>cấu</a:t>
            </a:r>
            <a:r>
              <a:rPr dirty="0"/>
              <a:t> </a:t>
            </a:r>
            <a:r>
              <a:rPr dirty="0" err="1"/>
              <a:t>hình</a:t>
            </a:r>
            <a:r>
              <a:rPr dirty="0"/>
              <a:t>, </a:t>
            </a:r>
            <a:r>
              <a:rPr dirty="0" err="1"/>
              <a:t>tích</a:t>
            </a:r>
            <a:r>
              <a:rPr dirty="0"/>
              <a:t> </a:t>
            </a:r>
            <a:r>
              <a:rPr dirty="0" err="1"/>
              <a:t>hợp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kiểm</a:t>
            </a:r>
            <a:r>
              <a:rPr dirty="0"/>
              <a:t> </a:t>
            </a:r>
            <a:r>
              <a:rPr dirty="0" err="1"/>
              <a:t>chứng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821AB2-D0CD-4264-959A-77BCF0B9887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2E2D84-762F-4C88-A484-0B8A51C19D3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dirty="0" err="1"/>
              <a:t>Quy</a:t>
            </a:r>
            <a:r>
              <a:rPr dirty="0"/>
              <a:t> </a:t>
            </a:r>
            <a:r>
              <a:rPr dirty="0" err="1"/>
              <a:t>trình</a:t>
            </a:r>
            <a:r>
              <a:rPr dirty="0"/>
              <a:t> </a:t>
            </a:r>
            <a:r>
              <a:rPr dirty="0" err="1"/>
              <a:t>bên</a:t>
            </a:r>
            <a:r>
              <a:rPr dirty="0"/>
              <a:t> </a:t>
            </a:r>
            <a:r>
              <a:rPr dirty="0" err="1"/>
              <a:t>trái</a:t>
            </a:r>
            <a:r>
              <a:rPr dirty="0"/>
              <a:t>: </a:t>
            </a:r>
            <a:r>
              <a:rPr dirty="0" err="1"/>
              <a:t>kiểm</a:t>
            </a:r>
            <a:r>
              <a:rPr dirty="0"/>
              <a:t> </a:t>
            </a:r>
            <a:r>
              <a:rPr dirty="0" err="1"/>
              <a:t>chứng</a:t>
            </a:r>
            <a:r>
              <a:rPr dirty="0"/>
              <a:t> </a:t>
            </a:r>
            <a:r>
              <a:rPr dirty="0" err="1"/>
              <a:t>khối</a:t>
            </a:r>
            <a:r>
              <a:rPr dirty="0"/>
              <a:t> </a:t>
            </a:r>
            <a:r>
              <a:rPr dirty="0" err="1"/>
              <a:t>riêng</a:t>
            </a:r>
            <a:r>
              <a:rPr dirty="0"/>
              <a:t> </a:t>
            </a:r>
            <a:r>
              <a:rPr dirty="0" err="1"/>
              <a:t>gồm</a:t>
            </a:r>
            <a:r>
              <a:rPr dirty="0"/>
              <a:t> pipeline, MMU/TLB, cache </a:t>
            </a:r>
            <a:r>
              <a:rPr dirty="0" err="1"/>
              <a:t>và</a:t>
            </a:r>
            <a:r>
              <a:rPr dirty="0"/>
              <a:t> bus; </a:t>
            </a:r>
            <a:r>
              <a:rPr dirty="0" err="1"/>
              <a:t>sau</a:t>
            </a:r>
            <a:r>
              <a:rPr dirty="0"/>
              <a:t> </a:t>
            </a:r>
            <a:r>
              <a:rPr dirty="0" err="1"/>
              <a:t>đó</a:t>
            </a:r>
            <a:r>
              <a:rPr dirty="0"/>
              <a:t> </a:t>
            </a:r>
            <a:r>
              <a:rPr dirty="0" err="1"/>
              <a:t>tích</a:t>
            </a:r>
            <a:r>
              <a:rPr dirty="0"/>
              <a:t> </a:t>
            </a:r>
            <a:r>
              <a:rPr dirty="0" err="1"/>
              <a:t>hợp</a:t>
            </a:r>
            <a:r>
              <a:rPr dirty="0"/>
              <a:t> </a:t>
            </a:r>
            <a:r>
              <a:rPr dirty="0" err="1"/>
              <a:t>lõi</a:t>
            </a:r>
            <a:r>
              <a:rPr dirty="0"/>
              <a:t> </a:t>
            </a:r>
            <a:r>
              <a:rPr dirty="0" err="1"/>
              <a:t>đơn</a:t>
            </a:r>
            <a:r>
              <a:rPr dirty="0"/>
              <a:t>, </a:t>
            </a:r>
            <a:r>
              <a:rPr dirty="0" err="1"/>
              <a:t>cuối</a:t>
            </a:r>
            <a:r>
              <a:rPr dirty="0"/>
              <a:t> </a:t>
            </a:r>
            <a:r>
              <a:rPr dirty="0" err="1"/>
              <a:t>cùng</a:t>
            </a:r>
            <a:r>
              <a:rPr dirty="0"/>
              <a:t> </a:t>
            </a:r>
            <a:r>
              <a:rPr dirty="0" err="1"/>
              <a:t>hệ</a:t>
            </a:r>
            <a:r>
              <a:rPr dirty="0"/>
              <a:t> 4 </a:t>
            </a:r>
            <a:r>
              <a:rPr dirty="0" err="1"/>
              <a:t>lõi</a:t>
            </a:r>
            <a:r>
              <a:rPr dirty="0"/>
              <a:t>. </a:t>
            </a:r>
            <a:r>
              <a:rPr dirty="0" err="1"/>
              <a:t>Chỉ</a:t>
            </a:r>
            <a:r>
              <a:rPr dirty="0"/>
              <a:t> </a:t>
            </a:r>
            <a:r>
              <a:rPr dirty="0" err="1"/>
              <a:t>chuyển</a:t>
            </a:r>
            <a:r>
              <a:rPr dirty="0"/>
              <a:t> sang </a:t>
            </a:r>
            <a:r>
              <a:rPr dirty="0" err="1"/>
              <a:t>mức</a:t>
            </a:r>
            <a:r>
              <a:rPr dirty="0"/>
              <a:t> </a:t>
            </a:r>
            <a:r>
              <a:rPr dirty="0" err="1"/>
              <a:t>tiếp</a:t>
            </a:r>
            <a:r>
              <a:rPr dirty="0"/>
              <a:t> </a:t>
            </a:r>
            <a:r>
              <a:rPr dirty="0" err="1"/>
              <a:t>theo</a:t>
            </a:r>
            <a:r>
              <a:rPr dirty="0"/>
              <a:t> </a:t>
            </a:r>
            <a:r>
              <a:rPr dirty="0" err="1"/>
              <a:t>khi</a:t>
            </a:r>
            <a:r>
              <a:rPr dirty="0"/>
              <a:t> </a:t>
            </a:r>
            <a:r>
              <a:rPr dirty="0" err="1"/>
              <a:t>các</a:t>
            </a:r>
            <a:r>
              <a:rPr dirty="0"/>
              <a:t> </a:t>
            </a:r>
            <a:r>
              <a:rPr dirty="0" err="1"/>
              <a:t>kiểm</a:t>
            </a:r>
            <a:r>
              <a:rPr dirty="0"/>
              <a:t> </a:t>
            </a:r>
            <a:r>
              <a:rPr dirty="0" err="1"/>
              <a:t>tra</a:t>
            </a:r>
            <a:r>
              <a:rPr dirty="0"/>
              <a:t> </a:t>
            </a:r>
            <a:r>
              <a:rPr dirty="0" err="1"/>
              <a:t>bắt</a:t>
            </a:r>
            <a:r>
              <a:rPr dirty="0"/>
              <a:t> </a:t>
            </a:r>
            <a:r>
              <a:rPr dirty="0" err="1"/>
              <a:t>buộc</a:t>
            </a:r>
            <a:r>
              <a:rPr dirty="0"/>
              <a:t> PASS; FAIL quay </a:t>
            </a:r>
            <a:r>
              <a:rPr dirty="0" err="1"/>
              <a:t>lại</a:t>
            </a:r>
            <a:r>
              <a:rPr dirty="0"/>
              <a:t> </a:t>
            </a:r>
            <a:r>
              <a:rPr dirty="0" err="1"/>
              <a:t>khối</a:t>
            </a:r>
            <a:r>
              <a:rPr dirty="0"/>
              <a:t> </a:t>
            </a:r>
            <a:r>
              <a:rPr dirty="0" err="1"/>
              <a:t>liên</a:t>
            </a:r>
            <a:r>
              <a:rPr dirty="0"/>
              <a:t> </a:t>
            </a:r>
            <a:r>
              <a:rPr dirty="0" err="1"/>
              <a:t>quan</a:t>
            </a:r>
            <a:r>
              <a:rPr dirty="0"/>
              <a:t> </a:t>
            </a:r>
            <a:r>
              <a:rPr dirty="0" err="1"/>
              <a:t>để</a:t>
            </a:r>
            <a:r>
              <a:rPr dirty="0"/>
              <a:t> </a:t>
            </a:r>
            <a:r>
              <a:rPr dirty="0" err="1"/>
              <a:t>sửa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chạy</a:t>
            </a:r>
            <a:r>
              <a:rPr dirty="0"/>
              <a:t> </a:t>
            </a:r>
            <a:r>
              <a:rPr dirty="0" err="1"/>
              <a:t>lại</a:t>
            </a:r>
            <a:r>
              <a:rPr dirty="0"/>
              <a:t>. Hai </a:t>
            </a:r>
            <a:r>
              <a:rPr dirty="0" err="1"/>
              <a:t>vòng</a:t>
            </a:r>
            <a:r>
              <a:rPr dirty="0"/>
              <a:t> </a:t>
            </a:r>
            <a:r>
              <a:rPr dirty="0" err="1"/>
              <a:t>phản</a:t>
            </a:r>
            <a:r>
              <a:rPr dirty="0"/>
              <a:t> </a:t>
            </a:r>
            <a:r>
              <a:rPr dirty="0" err="1"/>
              <a:t>hồi</a:t>
            </a:r>
            <a:r>
              <a:rPr dirty="0"/>
              <a:t> </a:t>
            </a:r>
            <a:r>
              <a:rPr dirty="0" err="1"/>
              <a:t>trên</a:t>
            </a:r>
            <a:r>
              <a:rPr dirty="0"/>
              <a:t> </a:t>
            </a:r>
            <a:r>
              <a:rPr dirty="0" err="1"/>
              <a:t>sơ</a:t>
            </a:r>
            <a:r>
              <a:rPr dirty="0"/>
              <a:t> </a:t>
            </a:r>
            <a:r>
              <a:rPr dirty="0" err="1"/>
              <a:t>đồ</a:t>
            </a:r>
            <a:r>
              <a:rPr dirty="0"/>
              <a:t> </a:t>
            </a:r>
            <a:r>
              <a:rPr dirty="0" err="1"/>
              <a:t>minh</a:t>
            </a:r>
            <a:r>
              <a:rPr dirty="0"/>
              <a:t> </a:t>
            </a:r>
            <a:r>
              <a:rPr dirty="0" err="1"/>
              <a:t>họa</a:t>
            </a:r>
            <a:r>
              <a:rPr dirty="0"/>
              <a:t> </a:t>
            </a:r>
            <a:r>
              <a:rPr dirty="0" err="1"/>
              <a:t>quy</a:t>
            </a:r>
            <a:r>
              <a:rPr dirty="0"/>
              <a:t> </a:t>
            </a:r>
            <a:r>
              <a:rPr dirty="0" err="1"/>
              <a:t>trình</a:t>
            </a:r>
            <a:r>
              <a:rPr dirty="0"/>
              <a:t> debug,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ngụ</a:t>
            </a:r>
            <a:r>
              <a:rPr dirty="0"/>
              <a:t> ý </a:t>
            </a:r>
            <a:r>
              <a:rPr dirty="0" err="1"/>
              <a:t>lỗi</a:t>
            </a:r>
            <a:r>
              <a:rPr dirty="0"/>
              <a:t> </a:t>
            </a:r>
            <a:r>
              <a:rPr dirty="0" err="1"/>
              <a:t>nào</a:t>
            </a:r>
            <a:r>
              <a:rPr dirty="0"/>
              <a:t> </a:t>
            </a:r>
            <a:r>
              <a:rPr dirty="0" err="1"/>
              <a:t>cũng</a:t>
            </a:r>
            <a:r>
              <a:rPr dirty="0"/>
              <a:t> </a:t>
            </a:r>
            <a:r>
              <a:rPr dirty="0" err="1"/>
              <a:t>nằm</a:t>
            </a:r>
            <a:r>
              <a:rPr dirty="0"/>
              <a:t> ở </a:t>
            </a:r>
            <a:r>
              <a:rPr dirty="0" err="1"/>
              <a:t>cùng</a:t>
            </a:r>
            <a:r>
              <a:rPr dirty="0"/>
              <a:t> </a:t>
            </a:r>
            <a:r>
              <a:rPr dirty="0" err="1"/>
              <a:t>một</a:t>
            </a:r>
            <a:r>
              <a:rPr dirty="0"/>
              <a:t> module. Spike </a:t>
            </a:r>
            <a:r>
              <a:rPr dirty="0" err="1"/>
              <a:t>chỉ</a:t>
            </a:r>
            <a:r>
              <a:rPr dirty="0"/>
              <a:t> </a:t>
            </a:r>
            <a:r>
              <a:rPr dirty="0" err="1"/>
              <a:t>đối</a:t>
            </a:r>
            <a:r>
              <a:rPr dirty="0"/>
              <a:t> </a:t>
            </a:r>
            <a:r>
              <a:rPr dirty="0" err="1"/>
              <a:t>chiếu</a:t>
            </a:r>
            <a:r>
              <a:rPr dirty="0"/>
              <a:t> </a:t>
            </a: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quả</a:t>
            </a:r>
            <a:r>
              <a:rPr dirty="0"/>
              <a:t> </a:t>
            </a:r>
            <a:r>
              <a:rPr dirty="0" err="1"/>
              <a:t>thanh</a:t>
            </a:r>
            <a:r>
              <a:rPr dirty="0"/>
              <a:t> </a:t>
            </a:r>
            <a:r>
              <a:rPr dirty="0" err="1"/>
              <a:t>ghi</a:t>
            </a:r>
            <a:r>
              <a:rPr dirty="0"/>
              <a:t>/</a:t>
            </a:r>
            <a:r>
              <a:rPr dirty="0" err="1"/>
              <a:t>bộ</a:t>
            </a:r>
            <a:r>
              <a:rPr dirty="0"/>
              <a:t> </a:t>
            </a:r>
            <a:r>
              <a:rPr dirty="0" err="1"/>
              <a:t>nhớ</a:t>
            </a:r>
            <a:r>
              <a:rPr dirty="0"/>
              <a:t> I/M/A,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đối</a:t>
            </a:r>
            <a:r>
              <a:rPr dirty="0"/>
              <a:t> </a:t>
            </a:r>
            <a:r>
              <a:rPr dirty="0" err="1"/>
              <a:t>chiếu</a:t>
            </a:r>
            <a:r>
              <a:rPr dirty="0"/>
              <a:t> </a:t>
            </a:r>
            <a:r>
              <a:rPr dirty="0" err="1"/>
              <a:t>toàn</a:t>
            </a:r>
            <a:r>
              <a:rPr dirty="0"/>
              <a:t> </a:t>
            </a:r>
            <a:r>
              <a:rPr dirty="0" err="1"/>
              <a:t>bộ</a:t>
            </a:r>
            <a:r>
              <a:rPr dirty="0"/>
              <a:t> CSR/trap, MMU hay </a:t>
            </a:r>
            <a:r>
              <a:rPr dirty="0" err="1"/>
              <a:t>hệ</a:t>
            </a:r>
            <a:r>
              <a:rPr dirty="0"/>
              <a:t> </a:t>
            </a:r>
            <a:r>
              <a:rPr dirty="0" err="1"/>
              <a:t>đa</a:t>
            </a:r>
            <a:r>
              <a:rPr dirty="0"/>
              <a:t> </a:t>
            </a:r>
            <a:r>
              <a:rPr dirty="0" err="1"/>
              <a:t>lõi</a:t>
            </a:r>
            <a:r>
              <a:rPr dirty="0"/>
              <a:t>. Demo </a:t>
            </a:r>
            <a:r>
              <a:rPr dirty="0" err="1"/>
              <a:t>bên</a:t>
            </a:r>
            <a:r>
              <a:rPr dirty="0"/>
              <a:t> </a:t>
            </a:r>
            <a:r>
              <a:rPr dirty="0" err="1"/>
              <a:t>phải</a:t>
            </a:r>
            <a:r>
              <a:rPr dirty="0"/>
              <a:t> </a:t>
            </a:r>
            <a:r>
              <a:rPr dirty="0" err="1"/>
              <a:t>là</a:t>
            </a:r>
            <a:r>
              <a:rPr dirty="0"/>
              <a:t> </a:t>
            </a:r>
            <a:r>
              <a:rPr dirty="0" err="1"/>
              <a:t>luồng</a:t>
            </a:r>
            <a:r>
              <a:rPr dirty="0"/>
              <a:t> </a:t>
            </a:r>
            <a:r>
              <a:rPr dirty="0" err="1"/>
              <a:t>dự</a:t>
            </a:r>
            <a:r>
              <a:rPr dirty="0"/>
              <a:t> </a:t>
            </a:r>
            <a:r>
              <a:rPr dirty="0" err="1"/>
              <a:t>kiến</a:t>
            </a:r>
            <a:r>
              <a:rPr dirty="0"/>
              <a:t> </a:t>
            </a:r>
            <a:r>
              <a:rPr dirty="0" err="1"/>
              <a:t>theo</a:t>
            </a:r>
            <a:r>
              <a:rPr dirty="0"/>
              <a:t> DOCX: </a:t>
            </a:r>
            <a:r>
              <a:rPr dirty="0" err="1"/>
              <a:t>đọc</a:t>
            </a:r>
            <a:r>
              <a:rPr dirty="0"/>
              <a:t> </a:t>
            </a:r>
            <a:r>
              <a:rPr dirty="0" err="1"/>
              <a:t>chương</a:t>
            </a:r>
            <a:r>
              <a:rPr dirty="0"/>
              <a:t> </a:t>
            </a:r>
            <a:r>
              <a:rPr dirty="0" err="1"/>
              <a:t>trình</a:t>
            </a:r>
            <a:r>
              <a:rPr dirty="0"/>
              <a:t> </a:t>
            </a:r>
            <a:r>
              <a:rPr dirty="0" err="1"/>
              <a:t>từ</a:t>
            </a:r>
            <a:r>
              <a:rPr dirty="0"/>
              <a:t> SD qua SPI, DMA </a:t>
            </a:r>
            <a:r>
              <a:rPr dirty="0" err="1"/>
              <a:t>nạp</a:t>
            </a:r>
            <a:r>
              <a:rPr dirty="0"/>
              <a:t> </a:t>
            </a:r>
            <a:r>
              <a:rPr dirty="0" err="1"/>
              <a:t>vào</a:t>
            </a:r>
            <a:r>
              <a:rPr dirty="0"/>
              <a:t> DRAM, CPU </a:t>
            </a:r>
            <a:r>
              <a:rPr dirty="0" err="1"/>
              <a:t>thực</a:t>
            </a:r>
            <a:r>
              <a:rPr dirty="0"/>
              <a:t> </a:t>
            </a:r>
            <a:r>
              <a:rPr dirty="0" err="1"/>
              <a:t>thi</a:t>
            </a:r>
            <a:r>
              <a:rPr dirty="0"/>
              <a:t> </a:t>
            </a:r>
            <a:r>
              <a:rPr dirty="0" err="1"/>
              <a:t>từ</a:t>
            </a:r>
            <a:r>
              <a:rPr dirty="0"/>
              <a:t> DRAM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ghi</a:t>
            </a:r>
            <a:r>
              <a:rPr dirty="0"/>
              <a:t> </a:t>
            </a: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quả</a:t>
            </a:r>
            <a:r>
              <a:rPr dirty="0"/>
              <a:t> </a:t>
            </a:r>
            <a:r>
              <a:rPr dirty="0" err="1"/>
              <a:t>về</a:t>
            </a:r>
            <a:r>
              <a:rPr dirty="0"/>
              <a:t> SD; </a:t>
            </a:r>
            <a:r>
              <a:rPr dirty="0" err="1"/>
              <a:t>có</a:t>
            </a:r>
            <a:r>
              <a:rPr dirty="0"/>
              <a:t> </a:t>
            </a:r>
            <a:r>
              <a:rPr dirty="0" err="1"/>
              <a:t>kiểm</a:t>
            </a:r>
            <a:r>
              <a:rPr dirty="0"/>
              <a:t> </a:t>
            </a:r>
            <a:r>
              <a:rPr dirty="0" err="1"/>
              <a:t>tra</a:t>
            </a:r>
            <a:r>
              <a:rPr dirty="0"/>
              <a:t> </a:t>
            </a:r>
            <a:r>
              <a:rPr dirty="0" err="1"/>
              <a:t>tự</a:t>
            </a:r>
            <a:r>
              <a:rPr dirty="0"/>
              <a:t> </a:t>
            </a:r>
            <a:r>
              <a:rPr dirty="0" err="1"/>
              <a:t>động</a:t>
            </a:r>
            <a:r>
              <a:rPr dirty="0"/>
              <a:t> PASS/FAIL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đo</a:t>
            </a:r>
            <a:r>
              <a:rPr dirty="0"/>
              <a:t> </a:t>
            </a:r>
            <a:r>
              <a:rPr dirty="0" err="1"/>
              <a:t>thời</a:t>
            </a:r>
            <a:r>
              <a:rPr dirty="0"/>
              <a:t> </a:t>
            </a:r>
            <a:r>
              <a:rPr dirty="0" err="1"/>
              <a:t>gian</a:t>
            </a:r>
            <a:r>
              <a:rPr dirty="0"/>
              <a:t> </a:t>
            </a:r>
            <a:r>
              <a:rPr dirty="0" err="1"/>
              <a:t>thực</a:t>
            </a:r>
            <a:r>
              <a:rPr dirty="0"/>
              <a:t> </a:t>
            </a:r>
            <a:r>
              <a:rPr dirty="0" err="1"/>
              <a:t>thi</a:t>
            </a:r>
            <a:r>
              <a:rPr dirty="0"/>
              <a:t>. FPGA </a:t>
            </a:r>
            <a:r>
              <a:rPr dirty="0" err="1"/>
              <a:t>đích</a:t>
            </a:r>
            <a:r>
              <a:rPr dirty="0"/>
              <a:t> VCU129 </a:t>
            </a:r>
            <a:r>
              <a:rPr dirty="0" err="1"/>
              <a:t>theo</a:t>
            </a:r>
            <a:r>
              <a:rPr dirty="0"/>
              <a:t> </a:t>
            </a:r>
            <a:r>
              <a:rPr dirty="0" err="1"/>
              <a:t>đề</a:t>
            </a:r>
            <a:r>
              <a:rPr dirty="0"/>
              <a:t> </a:t>
            </a:r>
            <a:r>
              <a:rPr dirty="0" err="1"/>
              <a:t>cương</a:t>
            </a:r>
            <a:r>
              <a:rPr dirty="0"/>
              <a:t>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2C395C-C3DC-4837-ACF5-590D7DD4F94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1266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CE3599-3E36-42D0-872D-D977CA6B8F7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C9B12-8E66-4BD2-94A5-26CE565E430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jpe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5">
            <a:extLst>
              <a:ext uri="{FF2B5EF4-FFF2-40B4-BE49-F238E27FC236}">
                <a16:creationId xmlns:a16="http://schemas.microsoft.com/office/drawing/2014/main" id="{C74B57CF-0C32-47D8-AED7-4B596E27AE01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3360" y="972439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8EBBA32E-8EF1-4309-AB0C-4ED2B976D409}" type="datetime1">
              <a:rPr lang="en-US" smtClean="0"/>
              <a:t>9/18/2026</a:t>
            </a:fld>
            <a:endParaRPr/>
          </a:p>
        </p:txBody>
      </p:sp>
      <p:sp>
        <p:nvSpPr>
          <p:cNvPr id="13" name="Google Shape;13;p65">
            <a:extLst>
              <a:ext uri="{FF2B5EF4-FFF2-40B4-BE49-F238E27FC236}">
                <a16:creationId xmlns:a16="http://schemas.microsoft.com/office/drawing/2014/main" id="{0B59968E-A04C-492E-9A4B-F67A3B078348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4" name="Google Shape;14;p65">
            <a:extLst>
              <a:ext uri="{FF2B5EF4-FFF2-40B4-BE49-F238E27FC236}">
                <a16:creationId xmlns:a16="http://schemas.microsoft.com/office/drawing/2014/main" id="{BB22804F-6BE2-4C6B-8D96-0C77AF98CAF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941040" y="972439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7">
            <a:extLst>
              <a:ext uri="{FF2B5EF4-FFF2-40B4-BE49-F238E27FC236}">
                <a16:creationId xmlns:a16="http://schemas.microsoft.com/office/drawing/2014/main" id="{73B73360-A6F2-4806-8D52-227D7929B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7">
            <a:extLst>
              <a:ext uri="{FF2B5EF4-FFF2-40B4-BE49-F238E27FC236}">
                <a16:creationId xmlns:a16="http://schemas.microsoft.com/office/drawing/2014/main" id="{4F81394F-1C26-4991-B6DF-0C50C5B50B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67">
            <a:extLst>
              <a:ext uri="{FF2B5EF4-FFF2-40B4-BE49-F238E27FC236}">
                <a16:creationId xmlns:a16="http://schemas.microsoft.com/office/drawing/2014/main" id="{8696AED8-69B5-40BC-B770-45B7294E2782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59080" y="964723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A768ED3C-346E-4889-95E4-607DDF05DD9D}" type="datetime1">
              <a:rPr lang="en-US" smtClean="0"/>
              <a:t>9/18/2026</a:t>
            </a:fld>
            <a:endParaRPr/>
          </a:p>
        </p:txBody>
      </p:sp>
      <p:sp>
        <p:nvSpPr>
          <p:cNvPr id="25" name="Google Shape;25;p67">
            <a:extLst>
              <a:ext uri="{FF2B5EF4-FFF2-40B4-BE49-F238E27FC236}">
                <a16:creationId xmlns:a16="http://schemas.microsoft.com/office/drawing/2014/main" id="{EEF774CA-4412-4BD9-B993-EBAD5F20FA45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7">
            <a:extLst>
              <a:ext uri="{FF2B5EF4-FFF2-40B4-BE49-F238E27FC236}">
                <a16:creationId xmlns:a16="http://schemas.microsoft.com/office/drawing/2014/main" id="{16ACCE79-E24F-42B1-83F3-6E7C38BBA31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895320" y="964723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8">
            <a:extLst>
              <a:ext uri="{FF2B5EF4-FFF2-40B4-BE49-F238E27FC236}">
                <a16:creationId xmlns:a16="http://schemas.microsoft.com/office/drawing/2014/main" id="{FCD343B9-B717-4F30-A562-592FBCF70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8">
            <a:extLst>
              <a:ext uri="{FF2B5EF4-FFF2-40B4-BE49-F238E27FC236}">
                <a16:creationId xmlns:a16="http://schemas.microsoft.com/office/drawing/2014/main" id="{1543D893-AB8D-4CEF-A542-E359370EA7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marL="45720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68">
            <a:extLst>
              <a:ext uri="{FF2B5EF4-FFF2-40B4-BE49-F238E27FC236}">
                <a16:creationId xmlns:a16="http://schemas.microsoft.com/office/drawing/2014/main" id="{1BE630A9-44CE-4100-AE15-213DF31E967C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16567C00-B8C7-4DF9-AE9D-9C7D5E9DD62E}" type="datetime1">
              <a:rPr lang="en-US" smtClean="0"/>
              <a:t>9/18/2026</a:t>
            </a:fld>
            <a:endParaRPr/>
          </a:p>
        </p:txBody>
      </p:sp>
      <p:sp>
        <p:nvSpPr>
          <p:cNvPr id="31" name="Google Shape;31;p68">
            <a:extLst>
              <a:ext uri="{FF2B5EF4-FFF2-40B4-BE49-F238E27FC236}">
                <a16:creationId xmlns:a16="http://schemas.microsoft.com/office/drawing/2014/main" id="{35829F60-5B28-45AC-8558-367599EDD502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8">
            <a:extLst>
              <a:ext uri="{FF2B5EF4-FFF2-40B4-BE49-F238E27FC236}">
                <a16:creationId xmlns:a16="http://schemas.microsoft.com/office/drawing/2014/main" id="{FD921911-21E2-43D9-9EA4-5FD5DC2FB0A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9">
            <a:extLst>
              <a:ext uri="{FF2B5EF4-FFF2-40B4-BE49-F238E27FC236}">
                <a16:creationId xmlns:a16="http://schemas.microsoft.com/office/drawing/2014/main" id="{C3A73EC1-6B0B-43D7-A166-7FDBA3179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9">
            <a:extLst>
              <a:ext uri="{FF2B5EF4-FFF2-40B4-BE49-F238E27FC236}">
                <a16:creationId xmlns:a16="http://schemas.microsoft.com/office/drawing/2014/main" id="{ECFD2AD4-A8AD-4B84-A72D-62D15D4C21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9">
            <a:extLst>
              <a:ext uri="{FF2B5EF4-FFF2-40B4-BE49-F238E27FC236}">
                <a16:creationId xmlns:a16="http://schemas.microsoft.com/office/drawing/2014/main" id="{E6C566FE-0384-4320-9E4C-B1F67794FAF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9">
            <a:extLst>
              <a:ext uri="{FF2B5EF4-FFF2-40B4-BE49-F238E27FC236}">
                <a16:creationId xmlns:a16="http://schemas.microsoft.com/office/drawing/2014/main" id="{926CF0E4-797F-47A6-AAE1-2033AFB34F4F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C42DC62D-0143-4EF9-BD4D-4FBDA9B922FB}" type="datetime1">
              <a:rPr lang="en-US" smtClean="0"/>
              <a:t>9/18/2026</a:t>
            </a:fld>
            <a:endParaRPr/>
          </a:p>
        </p:txBody>
      </p:sp>
      <p:sp>
        <p:nvSpPr>
          <p:cNvPr id="38" name="Google Shape;38;p69">
            <a:extLst>
              <a:ext uri="{FF2B5EF4-FFF2-40B4-BE49-F238E27FC236}">
                <a16:creationId xmlns:a16="http://schemas.microsoft.com/office/drawing/2014/main" id="{A10ABA25-A7E1-4AC2-A2CA-E8E96662712D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9">
            <a:extLst>
              <a:ext uri="{FF2B5EF4-FFF2-40B4-BE49-F238E27FC236}">
                <a16:creationId xmlns:a16="http://schemas.microsoft.com/office/drawing/2014/main" id="{A64449F5-C04E-48A2-85FC-C78BE114D28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0">
            <a:extLst>
              <a:ext uri="{FF2B5EF4-FFF2-40B4-BE49-F238E27FC236}">
                <a16:creationId xmlns:a16="http://schemas.microsoft.com/office/drawing/2014/main" id="{BC7A33FE-4883-4B57-A086-B88CFBEFB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0">
            <a:extLst>
              <a:ext uri="{FF2B5EF4-FFF2-40B4-BE49-F238E27FC236}">
                <a16:creationId xmlns:a16="http://schemas.microsoft.com/office/drawing/2014/main" id="{3F5BEDD3-845C-441C-904C-FF6F0E64EA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marL="45720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0">
            <a:extLst>
              <a:ext uri="{FF2B5EF4-FFF2-40B4-BE49-F238E27FC236}">
                <a16:creationId xmlns:a16="http://schemas.microsoft.com/office/drawing/2014/main" id="{9B9AC6E2-DD57-4A0A-A9D0-97238262A64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0">
            <a:extLst>
              <a:ext uri="{FF2B5EF4-FFF2-40B4-BE49-F238E27FC236}">
                <a16:creationId xmlns:a16="http://schemas.microsoft.com/office/drawing/2014/main" id="{9925AB7E-E501-4ACF-AAA6-E7F8964771AE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marL="45720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0">
            <a:extLst>
              <a:ext uri="{FF2B5EF4-FFF2-40B4-BE49-F238E27FC236}">
                <a16:creationId xmlns:a16="http://schemas.microsoft.com/office/drawing/2014/main" id="{1C86BF82-2689-4B73-BB70-120D26EC72F8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0">
            <a:extLst>
              <a:ext uri="{FF2B5EF4-FFF2-40B4-BE49-F238E27FC236}">
                <a16:creationId xmlns:a16="http://schemas.microsoft.com/office/drawing/2014/main" id="{9CEA7117-B3FF-475B-B4F8-6E3F17219798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AE35D502-086A-4DE9-8FC0-6031A8C02E9B}" type="datetime1">
              <a:rPr lang="en-US" smtClean="0"/>
              <a:t>9/18/2026</a:t>
            </a:fld>
            <a:endParaRPr/>
          </a:p>
        </p:txBody>
      </p:sp>
      <p:sp>
        <p:nvSpPr>
          <p:cNvPr id="47" name="Google Shape;47;p70">
            <a:extLst>
              <a:ext uri="{FF2B5EF4-FFF2-40B4-BE49-F238E27FC236}">
                <a16:creationId xmlns:a16="http://schemas.microsoft.com/office/drawing/2014/main" id="{7D0360EF-FF4A-4457-BF69-37B5F3E14010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0">
            <a:extLst>
              <a:ext uri="{FF2B5EF4-FFF2-40B4-BE49-F238E27FC236}">
                <a16:creationId xmlns:a16="http://schemas.microsoft.com/office/drawing/2014/main" id="{B97F3D5C-0A17-41D3-9D7C-D2649F42EFF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1">
            <a:extLst>
              <a:ext uri="{FF2B5EF4-FFF2-40B4-BE49-F238E27FC236}">
                <a16:creationId xmlns:a16="http://schemas.microsoft.com/office/drawing/2014/main" id="{33F61148-238B-4038-9A77-719872767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1">
            <a:extLst>
              <a:ext uri="{FF2B5EF4-FFF2-40B4-BE49-F238E27FC236}">
                <a16:creationId xmlns:a16="http://schemas.microsoft.com/office/drawing/2014/main" id="{8D34D264-8B3D-4AA9-B65B-E61C217DA412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CAD51E1E-129A-4295-8264-7F7B1626B94B}" type="datetime1">
              <a:rPr lang="en-US" smtClean="0"/>
              <a:t>9/18/2026</a:t>
            </a:fld>
            <a:endParaRPr/>
          </a:p>
        </p:txBody>
      </p:sp>
      <p:sp>
        <p:nvSpPr>
          <p:cNvPr id="52" name="Google Shape;52;p71">
            <a:extLst>
              <a:ext uri="{FF2B5EF4-FFF2-40B4-BE49-F238E27FC236}">
                <a16:creationId xmlns:a16="http://schemas.microsoft.com/office/drawing/2014/main" id="{B729DCCC-B420-4BAD-B619-6A2D7929AD2E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1">
            <a:extLst>
              <a:ext uri="{FF2B5EF4-FFF2-40B4-BE49-F238E27FC236}">
                <a16:creationId xmlns:a16="http://schemas.microsoft.com/office/drawing/2014/main" id="{AC9FADC3-F3A3-4559-9E3F-321371F553A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2">
            <a:extLst>
              <a:ext uri="{FF2B5EF4-FFF2-40B4-BE49-F238E27FC236}">
                <a16:creationId xmlns:a16="http://schemas.microsoft.com/office/drawing/2014/main" id="{67058512-6929-4CEA-853C-FDCDC1C2E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2">
            <a:extLst>
              <a:ext uri="{FF2B5EF4-FFF2-40B4-BE49-F238E27FC236}">
                <a16:creationId xmlns:a16="http://schemas.microsoft.com/office/drawing/2014/main" id="{F2C6D176-3971-49B9-B3E9-2FAD2A66E3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72">
            <a:extLst>
              <a:ext uri="{FF2B5EF4-FFF2-40B4-BE49-F238E27FC236}">
                <a16:creationId xmlns:a16="http://schemas.microsoft.com/office/drawing/2014/main" id="{586E3F69-09F5-489D-995C-A0B52119E4C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72">
            <a:extLst>
              <a:ext uri="{FF2B5EF4-FFF2-40B4-BE49-F238E27FC236}">
                <a16:creationId xmlns:a16="http://schemas.microsoft.com/office/drawing/2014/main" id="{9E3E83EE-7634-4EDA-97E5-12035C4B7C70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6F994B78-D16A-454A-A875-CE3432FD6125}" type="datetime1">
              <a:rPr lang="en-US" smtClean="0"/>
              <a:t>9/18/2026</a:t>
            </a:fld>
            <a:endParaRPr/>
          </a:p>
        </p:txBody>
      </p:sp>
      <p:sp>
        <p:nvSpPr>
          <p:cNvPr id="59" name="Google Shape;59;p72">
            <a:extLst>
              <a:ext uri="{FF2B5EF4-FFF2-40B4-BE49-F238E27FC236}">
                <a16:creationId xmlns:a16="http://schemas.microsoft.com/office/drawing/2014/main" id="{81B7D178-31FB-42FB-A7BF-D75A02A873DB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72">
            <a:extLst>
              <a:ext uri="{FF2B5EF4-FFF2-40B4-BE49-F238E27FC236}">
                <a16:creationId xmlns:a16="http://schemas.microsoft.com/office/drawing/2014/main" id="{3565693E-1147-42C2-B745-FDF9CD857E8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3">
            <a:extLst>
              <a:ext uri="{FF2B5EF4-FFF2-40B4-BE49-F238E27FC236}">
                <a16:creationId xmlns:a16="http://schemas.microsoft.com/office/drawing/2014/main" id="{3509ADB1-6638-4126-84B3-008CE8A41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73">
            <a:extLst>
              <a:ext uri="{FF2B5EF4-FFF2-40B4-BE49-F238E27FC236}">
                <a16:creationId xmlns:a16="http://schemas.microsoft.com/office/drawing/2014/main" id="{BD7E749F-2494-4689-AE32-6761DB4389BB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" name="Google Shape;64;p73">
            <a:extLst>
              <a:ext uri="{FF2B5EF4-FFF2-40B4-BE49-F238E27FC236}">
                <a16:creationId xmlns:a16="http://schemas.microsoft.com/office/drawing/2014/main" id="{1F95764F-2F6C-4EC2-8201-DF2E02F1EE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73">
            <a:extLst>
              <a:ext uri="{FF2B5EF4-FFF2-40B4-BE49-F238E27FC236}">
                <a16:creationId xmlns:a16="http://schemas.microsoft.com/office/drawing/2014/main" id="{BA3F57A4-9C69-4EC2-9E35-B916277C2D49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8A5941FE-A0B9-471B-9D82-78A8CFD2FA28}" type="datetime1">
              <a:rPr lang="en-US" smtClean="0"/>
              <a:t>9/18/2026</a:t>
            </a:fld>
            <a:endParaRPr/>
          </a:p>
        </p:txBody>
      </p:sp>
      <p:sp>
        <p:nvSpPr>
          <p:cNvPr id="66" name="Google Shape;66;p73">
            <a:extLst>
              <a:ext uri="{FF2B5EF4-FFF2-40B4-BE49-F238E27FC236}">
                <a16:creationId xmlns:a16="http://schemas.microsoft.com/office/drawing/2014/main" id="{C2A0F88B-954A-44B2-BF7A-B0AEF1D1CD63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73">
            <a:extLst>
              <a:ext uri="{FF2B5EF4-FFF2-40B4-BE49-F238E27FC236}">
                <a16:creationId xmlns:a16="http://schemas.microsoft.com/office/drawing/2014/main" id="{8A00C873-35B4-4A07-ADD9-51986FF1877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4">
            <a:extLst>
              <a:ext uri="{FF2B5EF4-FFF2-40B4-BE49-F238E27FC236}">
                <a16:creationId xmlns:a16="http://schemas.microsoft.com/office/drawing/2014/main" id="{0D714272-21BE-440D-99C9-7485C917B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74">
            <a:extLst>
              <a:ext uri="{FF2B5EF4-FFF2-40B4-BE49-F238E27FC236}">
                <a16:creationId xmlns:a16="http://schemas.microsoft.com/office/drawing/2014/main" id="{5103459F-09BD-47C8-BD14-C3624FC4D7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74">
            <a:extLst>
              <a:ext uri="{FF2B5EF4-FFF2-40B4-BE49-F238E27FC236}">
                <a16:creationId xmlns:a16="http://schemas.microsoft.com/office/drawing/2014/main" id="{877748D2-5A6C-45F0-B47F-1E311D31D781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87997FC3-EB3A-432F-A64B-9906ACDAE3F8}" type="datetime1">
              <a:rPr lang="en-US" smtClean="0"/>
              <a:t>9/18/2026</a:t>
            </a:fld>
            <a:endParaRPr/>
          </a:p>
        </p:txBody>
      </p:sp>
      <p:sp>
        <p:nvSpPr>
          <p:cNvPr id="72" name="Google Shape;72;p74">
            <a:extLst>
              <a:ext uri="{FF2B5EF4-FFF2-40B4-BE49-F238E27FC236}">
                <a16:creationId xmlns:a16="http://schemas.microsoft.com/office/drawing/2014/main" id="{042FE8EB-3F95-43BC-B19E-B2467DC027C9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74">
            <a:extLst>
              <a:ext uri="{FF2B5EF4-FFF2-40B4-BE49-F238E27FC236}">
                <a16:creationId xmlns:a16="http://schemas.microsoft.com/office/drawing/2014/main" id="{296FC556-C898-46C1-9D36-1EA7AF8629D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5">
            <a:extLst>
              <a:ext uri="{FF2B5EF4-FFF2-40B4-BE49-F238E27FC236}">
                <a16:creationId xmlns:a16="http://schemas.microsoft.com/office/drawing/2014/main" id="{8816A78B-3EA4-4B94-BBA0-EEB0B3C13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75">
            <a:extLst>
              <a:ext uri="{FF2B5EF4-FFF2-40B4-BE49-F238E27FC236}">
                <a16:creationId xmlns:a16="http://schemas.microsoft.com/office/drawing/2014/main" id="{C0B79456-ED65-4DC5-ABBC-EA12605C2C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75">
            <a:extLst>
              <a:ext uri="{FF2B5EF4-FFF2-40B4-BE49-F238E27FC236}">
                <a16:creationId xmlns:a16="http://schemas.microsoft.com/office/drawing/2014/main" id="{095871A5-5717-41EC-B0A1-F0CC764E731B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33F5A07C-DEFC-4001-B8F0-4194489069CB}" type="datetime1">
              <a:rPr lang="en-US" smtClean="0"/>
              <a:t>9/18/2026</a:t>
            </a:fld>
            <a:endParaRPr/>
          </a:p>
        </p:txBody>
      </p:sp>
      <p:sp>
        <p:nvSpPr>
          <p:cNvPr id="78" name="Google Shape;78;p75">
            <a:extLst>
              <a:ext uri="{FF2B5EF4-FFF2-40B4-BE49-F238E27FC236}">
                <a16:creationId xmlns:a16="http://schemas.microsoft.com/office/drawing/2014/main" id="{F9C57157-6970-4DDB-B4B4-63F1915C9C7D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75">
            <a:extLst>
              <a:ext uri="{FF2B5EF4-FFF2-40B4-BE49-F238E27FC236}">
                <a16:creationId xmlns:a16="http://schemas.microsoft.com/office/drawing/2014/main" id="{85C41256-5BCB-4696-83DF-012B5DEEF89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0719B2E-DC3C-7989-BF9C-E418B1F120BA}"/>
              </a:ext>
            </a:extLst>
          </p:cNvPr>
          <p:cNvSpPr/>
          <p:nvPr userDrawn="1"/>
        </p:nvSpPr>
        <p:spPr>
          <a:xfrm>
            <a:off x="-36214" y="0"/>
            <a:ext cx="950615" cy="10287000"/>
          </a:xfrm>
          <a:prstGeom prst="rect">
            <a:avLst/>
          </a:prstGeom>
          <a:gradFill>
            <a:gsLst>
              <a:gs pos="0">
                <a:schemeClr val="accent3">
                  <a:lumMod val="75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5400000" scaled="1"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7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F8ED77-1B03-1740-9FA5-C31B68B30520}"/>
              </a:ext>
            </a:extLst>
          </p:cNvPr>
          <p:cNvSpPr/>
          <p:nvPr userDrawn="1"/>
        </p:nvSpPr>
        <p:spPr>
          <a:xfrm flipV="1">
            <a:off x="-46870" y="0"/>
            <a:ext cx="950615" cy="10287000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7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A63ACE-37E2-79AD-3312-2CAEC1D54166}"/>
              </a:ext>
            </a:extLst>
          </p:cNvPr>
          <p:cNvSpPr txBox="1"/>
          <p:nvPr userDrawn="1"/>
        </p:nvSpPr>
        <p:spPr>
          <a:xfrm rot="16200000">
            <a:off x="-2658049" y="6721583"/>
            <a:ext cx="61729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2400" b="1">
                <a:solidFill>
                  <a:schemeClr val="bg1"/>
                </a:solidFill>
              </a:rPr>
              <a:t>FACULTY OF COMPUTER ENGINEERING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2885387"/>
            <a:ext cx="13716000" cy="3581400"/>
          </a:xfrm>
          <a:prstGeom prst="roundRect">
            <a:avLst>
              <a:gd name="adj" fmla="val 3901"/>
            </a:avLst>
          </a:prstGeom>
          <a:noFill/>
          <a:ln w="25400">
            <a:gradFill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4">
                    <a:lumMod val="75000"/>
                  </a:schemeClr>
                </a:gs>
              </a:gsLst>
              <a:lin ang="5400000" scaled="1"/>
            </a:gradFill>
          </a:ln>
        </p:spPr>
        <p:txBody>
          <a:bodyPr anchor="ctr"/>
          <a:lstStyle>
            <a:lvl1pPr algn="ctr">
              <a:defRPr sz="9000" b="1">
                <a:gradFill flip="none" rotWithShape="1">
                  <a:gsLst>
                    <a:gs pos="0">
                      <a:srgbClr val="11998E"/>
                    </a:gs>
                    <a:gs pos="100000">
                      <a:srgbClr val="38EF7D"/>
                    </a:gs>
                  </a:gsLst>
                  <a:lin ang="16200000" scaled="1"/>
                  <a:tileRect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03D80-2A77-FF40-B2F3-C1B60766027B}" type="datetime3">
              <a:rPr lang="en-US" smtClean="0"/>
              <a:t>18 September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C394D7-1EFF-FAA3-89F8-A3FE670BE2B5}"/>
              </a:ext>
            </a:extLst>
          </p:cNvPr>
          <p:cNvGrpSpPr/>
          <p:nvPr userDrawn="1"/>
        </p:nvGrpSpPr>
        <p:grpSpPr>
          <a:xfrm>
            <a:off x="17262339" y="364604"/>
            <a:ext cx="819198" cy="819198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358F1D4-800B-8791-DFC5-8A5607735CCD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20D358D-A251-F06A-7DC9-D456AA169459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568A42A-7730-4E7F-BB19-5F94929B0802}"/>
              </a:ext>
            </a:extLst>
          </p:cNvPr>
          <p:cNvGrpSpPr/>
          <p:nvPr userDrawn="1"/>
        </p:nvGrpSpPr>
        <p:grpSpPr>
          <a:xfrm>
            <a:off x="6719978" y="197907"/>
            <a:ext cx="4848045" cy="1152591"/>
            <a:chOff x="4280055" y="84406"/>
            <a:chExt cx="3631889" cy="863458"/>
          </a:xfrm>
        </p:grpSpPr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2DB618A9-33C1-376A-428B-F9CC7F7D80AF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CB65CCD6-D2F8-CF1A-F92C-147178B9AE40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  <p:pic>
          <p:nvPicPr>
            <p:cNvPr id="18" name="Picture 17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0E79988A-FC21-2FFF-EC33-6DB4853FB1E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20" name="Picture 19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id="{1E57E620-C26D-491A-ECBF-0FCA22233E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269B9A8A-4866-4619-F199-78B53536095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86000" y="8313083"/>
            <a:ext cx="13716000" cy="77867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700" i="1"/>
            </a:lvl1pPr>
          </a:lstStyle>
          <a:p>
            <a:pPr lvl="0"/>
            <a:r>
              <a:rPr lang="en-VN" dirty="0"/>
              <a:t>Địa điểm, Ngày Tháng Năm</a:t>
            </a:r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2A9389A2-74BD-31C8-FDCD-6A93E9D759B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95425" y="2325105"/>
            <a:ext cx="3548576" cy="571500"/>
          </a:xfrm>
          <a:prstGeom prst="roundRect">
            <a:avLst>
              <a:gd name="adj" fmla="val 8146"/>
            </a:avLst>
          </a:prstGeom>
          <a:gradFill flip="none" rotWithShape="1">
            <a:gsLst>
              <a:gs pos="100000">
                <a:schemeClr val="accent3">
                  <a:lumMod val="75000"/>
                </a:schemeClr>
              </a:gs>
              <a:gs pos="0">
                <a:schemeClr val="accent4">
                  <a:lumMod val="75000"/>
                </a:schemeClr>
              </a:gs>
            </a:gsLst>
            <a:lin ang="2700000" scaled="1"/>
            <a:tileRect/>
          </a:gradFill>
          <a:effectLst>
            <a:innerShdw blurRad="127000">
              <a:schemeClr val="bg1">
                <a:alpha val="80000"/>
              </a:schemeClr>
            </a:innerShdw>
          </a:effectLst>
        </p:spPr>
        <p:txBody>
          <a:bodyPr vert="horz" lIns="91440" tIns="45720" rIns="91440" bIns="45720" rtlCol="0" anchor="ctr">
            <a:noAutofit/>
          </a:bodyPr>
          <a:lstStyle>
            <a:lvl1pPr>
              <a:defRPr lang="en-VN" sz="2400" b="1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VN" dirty="0"/>
              <a:t>Loại trình bày</a:t>
            </a:r>
          </a:p>
        </p:txBody>
      </p:sp>
      <p:sp>
        <p:nvSpPr>
          <p:cNvPr id="52" name="Text Placeholder 50">
            <a:extLst>
              <a:ext uri="{FF2B5EF4-FFF2-40B4-BE49-F238E27FC236}">
                <a16:creationId xmlns:a16="http://schemas.microsoft.com/office/drawing/2014/main" id="{11F19A4B-2FBF-1F37-52BA-2EEAE4CA8E7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44000" y="6464524"/>
            <a:ext cx="5082363" cy="571500"/>
          </a:xfrm>
          <a:prstGeom prst="roundRect">
            <a:avLst>
              <a:gd name="adj" fmla="val 8146"/>
            </a:avLst>
          </a:prstGeom>
          <a:gradFill flip="none" rotWithShape="1">
            <a:gsLst>
              <a:gs pos="100000">
                <a:schemeClr val="accent3">
                  <a:lumMod val="75000"/>
                </a:schemeClr>
              </a:gs>
              <a:gs pos="0">
                <a:schemeClr val="accent4">
                  <a:lumMod val="75000"/>
                </a:schemeClr>
              </a:gs>
            </a:gsLst>
            <a:lin ang="2700000" scaled="1"/>
            <a:tileRect/>
          </a:gradFill>
          <a:effectLst>
            <a:innerShdw blurRad="127000">
              <a:schemeClr val="bg1">
                <a:alpha val="80000"/>
              </a:schemeClr>
            </a:innerShdw>
          </a:effectLst>
        </p:spPr>
        <p:txBody>
          <a:bodyPr vert="horz" lIns="91440" tIns="45720" rIns="91440" bIns="45720" rtlCol="0" anchor="ctr">
            <a:noAutofit/>
          </a:bodyPr>
          <a:lstStyle>
            <a:lvl1pPr>
              <a:defRPr lang="en-VN" sz="2400" b="1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VN" dirty="0"/>
              <a:t>Trình bày: …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5614538" y="500360"/>
            <a:ext cx="4114800" cy="547688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3" name="Freeform 52">
            <a:extLst>
              <a:ext uri="{FF2B5EF4-FFF2-40B4-BE49-F238E27FC236}">
                <a16:creationId xmlns:a16="http://schemas.microsoft.com/office/drawing/2014/main" id="{19DDC379-1E06-2848-14F1-C16A9CCE4619}"/>
              </a:ext>
            </a:extLst>
          </p:cNvPr>
          <p:cNvSpPr/>
          <p:nvPr userDrawn="1"/>
        </p:nvSpPr>
        <p:spPr>
          <a:xfrm>
            <a:off x="1" y="2128"/>
            <a:ext cx="18291719" cy="10295492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 sz="2700"/>
          </a:p>
        </p:txBody>
      </p:sp>
    </p:spTree>
    <p:extLst>
      <p:ext uri="{BB962C8B-B14F-4D97-AF65-F5344CB8AC3E}">
        <p14:creationId xmlns:p14="http://schemas.microsoft.com/office/powerpoint/2010/main" val="21663492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354605" y="9534526"/>
            <a:ext cx="4114800" cy="547688"/>
          </a:xfrm>
        </p:spPr>
        <p:txBody>
          <a:bodyPr/>
          <a:lstStyle/>
          <a:p>
            <a:fld id="{ACF17CAC-8297-FC4A-82FA-F61255D7A70E}" type="datetime3">
              <a:rPr lang="en-US" smtClean="0"/>
              <a:t>18 September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848975" y="9534526"/>
            <a:ext cx="6172200" cy="547688"/>
          </a:xfrm>
        </p:spPr>
        <p:txBody>
          <a:bodyPr/>
          <a:lstStyle/>
          <a:p>
            <a:r>
              <a:rPr lang="en-US"/>
              <a:t>Copyrights 2024 CE-UIT. All Rights Reserved.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42C0F1-5644-4389-360B-5397956CD38A}"/>
              </a:ext>
            </a:extLst>
          </p:cNvPr>
          <p:cNvSpPr/>
          <p:nvPr userDrawn="1"/>
        </p:nvSpPr>
        <p:spPr>
          <a:xfrm>
            <a:off x="-36214" y="0"/>
            <a:ext cx="6084590" cy="10287000"/>
          </a:xfrm>
          <a:prstGeom prst="rect">
            <a:avLst/>
          </a:prstGeom>
          <a:gradFill>
            <a:gsLst>
              <a:gs pos="0">
                <a:srgbClr val="38EF7D"/>
              </a:gs>
              <a:gs pos="100000">
                <a:srgbClr val="11998E"/>
              </a:gs>
            </a:gsLst>
            <a:lin ang="5400000" scaled="1"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7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1B0644-6BE5-3A17-CB9E-03CC0ADBCAC3}"/>
              </a:ext>
            </a:extLst>
          </p:cNvPr>
          <p:cNvSpPr/>
          <p:nvPr userDrawn="1"/>
        </p:nvSpPr>
        <p:spPr>
          <a:xfrm flipV="1">
            <a:off x="-46870" y="0"/>
            <a:ext cx="2707175" cy="10287000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7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1CABA6-14B3-43D2-ED89-BD749E5AF92A}"/>
              </a:ext>
            </a:extLst>
          </p:cNvPr>
          <p:cNvSpPr txBox="1"/>
          <p:nvPr userDrawn="1"/>
        </p:nvSpPr>
        <p:spPr>
          <a:xfrm rot="16200000">
            <a:off x="-2658049" y="6721583"/>
            <a:ext cx="61729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2400" b="1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6CA6459-D804-2D1E-9BE6-04D9777C2161}"/>
              </a:ext>
            </a:extLst>
          </p:cNvPr>
          <p:cNvGrpSpPr/>
          <p:nvPr userDrawn="1"/>
        </p:nvGrpSpPr>
        <p:grpSpPr>
          <a:xfrm>
            <a:off x="6719978" y="197907"/>
            <a:ext cx="4848045" cy="1152591"/>
            <a:chOff x="4280055" y="84406"/>
            <a:chExt cx="3631889" cy="863458"/>
          </a:xfrm>
        </p:grpSpPr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55D6C41E-6B27-7E5A-648B-DD401B12DFC5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B567EB7E-D89E-FE6D-1F1D-A9C48547288A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  <p:pic>
          <p:nvPicPr>
            <p:cNvPr id="15" name="Picture 14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49BDC9CC-F359-3B37-10BB-43B88207358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6" name="Picture 15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id="{D9063C0E-6124-70AB-5990-6A8D28B5DA3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B48FC94-0045-6DC4-777D-4F5E40C1D399}"/>
              </a:ext>
            </a:extLst>
          </p:cNvPr>
          <p:cNvGrpSpPr/>
          <p:nvPr userDrawn="1"/>
        </p:nvGrpSpPr>
        <p:grpSpPr>
          <a:xfrm>
            <a:off x="17262339" y="364604"/>
            <a:ext cx="819198" cy="819198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9120F02-27FC-FEC5-707D-FDA64409C1B6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3BF5235-1626-C61A-115C-C67CC9015074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5614538" y="498427"/>
            <a:ext cx="4114800" cy="547688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AA5FA796-6DE2-7146-15EE-C9B175F7F587}"/>
              </a:ext>
            </a:extLst>
          </p:cNvPr>
          <p:cNvSpPr/>
          <p:nvPr userDrawn="1"/>
        </p:nvSpPr>
        <p:spPr>
          <a:xfrm>
            <a:off x="1705232" y="2175642"/>
            <a:ext cx="15315942" cy="6434481"/>
          </a:xfrm>
          <a:prstGeom prst="roundRect">
            <a:avLst>
              <a:gd name="adj" fmla="val 2701"/>
            </a:avLst>
          </a:prstGeom>
          <a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700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2388E92E-709B-64D5-4BEC-56AE8C45F3A5}"/>
              </a:ext>
            </a:extLst>
          </p:cNvPr>
          <p:cNvSpPr/>
          <p:nvPr userDrawn="1"/>
        </p:nvSpPr>
        <p:spPr>
          <a:xfrm>
            <a:off x="1705232" y="2175642"/>
            <a:ext cx="15315942" cy="6434481"/>
          </a:xfrm>
          <a:prstGeom prst="roundRect">
            <a:avLst>
              <a:gd name="adj" fmla="val 2701"/>
            </a:avLst>
          </a:prstGeom>
          <a:gradFill>
            <a:gsLst>
              <a:gs pos="0">
                <a:srgbClr val="38EF7D">
                  <a:alpha val="40000"/>
                </a:srgbClr>
              </a:gs>
              <a:gs pos="100000">
                <a:srgbClr val="11998E">
                  <a:alpha val="40000"/>
                </a:srgb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7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43" y="3638074"/>
            <a:ext cx="13766322" cy="225893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anchor="ctr">
            <a:normAutofit/>
          </a:bodyPr>
          <a:lstStyle>
            <a:lvl1pPr>
              <a:defRPr sz="81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80044" y="6162347"/>
            <a:ext cx="8347253" cy="1112888"/>
          </a:xfrm>
        </p:spPr>
        <p:txBody>
          <a:bodyPr/>
          <a:lstStyle>
            <a:lvl1pPr marL="0" indent="0" algn="l">
              <a:buNone/>
              <a:defRPr sz="3600">
                <a:solidFill>
                  <a:schemeClr val="bg1"/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4340540A-BFD6-C001-24D2-E0A446DCF91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480044" y="841915"/>
            <a:ext cx="3078956" cy="2678906"/>
          </a:xfrm>
        </p:spPr>
        <p:txBody>
          <a:bodyPr>
            <a:noAutofit/>
          </a:bodyPr>
          <a:lstStyle>
            <a:lvl1pPr marL="0" indent="0">
              <a:buNone/>
              <a:defRPr sz="17250" b="1">
                <a:solidFill>
                  <a:schemeClr val="bg1">
                    <a:alpha val="65236"/>
                  </a:schemeClr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lvl="0"/>
            <a:r>
              <a:rPr lang="en-VN" dirty="0"/>
              <a:t>01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3801A917-2F30-C5E0-9749-96D2AA3258C3}"/>
              </a:ext>
            </a:extLst>
          </p:cNvPr>
          <p:cNvSpPr/>
          <p:nvPr userDrawn="1"/>
        </p:nvSpPr>
        <p:spPr>
          <a:xfrm>
            <a:off x="1" y="2128"/>
            <a:ext cx="18291719" cy="10295492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 sz="2700"/>
          </a:p>
        </p:txBody>
      </p:sp>
    </p:spTree>
    <p:extLst>
      <p:ext uri="{BB962C8B-B14F-4D97-AF65-F5344CB8AC3E}">
        <p14:creationId xmlns:p14="http://schemas.microsoft.com/office/powerpoint/2010/main" val="11917362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9000" y="1555151"/>
            <a:ext cx="16470000" cy="1335995"/>
          </a:xfrm>
        </p:spPr>
        <p:txBody>
          <a:bodyPr/>
          <a:lstStyle>
            <a:lvl1pPr marL="0" indent="0">
              <a:buFont typeface="+mj-lt"/>
              <a:buNone/>
              <a:defRPr b="1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000" y="3030419"/>
            <a:ext cx="16470000" cy="6235026"/>
          </a:xfrm>
        </p:spPr>
        <p:txBody>
          <a:bodyPr/>
          <a:lstStyle>
            <a:lvl1pPr>
              <a:lnSpc>
                <a:spcPct val="130000"/>
              </a:lnSpc>
              <a:spcBef>
                <a:spcPts val="450"/>
              </a:spcBef>
              <a:spcAft>
                <a:spcPts val="450"/>
              </a:spcAft>
              <a:defRPr/>
            </a:lvl1pPr>
            <a:lvl2pPr>
              <a:lnSpc>
                <a:spcPct val="130000"/>
              </a:lnSpc>
              <a:spcBef>
                <a:spcPts val="450"/>
              </a:spcBef>
              <a:spcAft>
                <a:spcPts val="450"/>
              </a:spcAft>
              <a:defRPr/>
            </a:lvl2pPr>
            <a:lvl3pPr>
              <a:lnSpc>
                <a:spcPct val="130000"/>
              </a:lnSpc>
              <a:spcBef>
                <a:spcPts val="450"/>
              </a:spcBef>
              <a:spcAft>
                <a:spcPts val="450"/>
              </a:spcAft>
              <a:defRPr/>
            </a:lvl3pPr>
            <a:lvl4pPr>
              <a:lnSpc>
                <a:spcPct val="130000"/>
              </a:lnSpc>
              <a:spcBef>
                <a:spcPts val="450"/>
              </a:spcBef>
              <a:spcAft>
                <a:spcPts val="450"/>
              </a:spcAft>
              <a:defRPr/>
            </a:lvl4pPr>
            <a:lvl5pPr>
              <a:lnSpc>
                <a:spcPct val="130000"/>
              </a:lnSpc>
              <a:spcBef>
                <a:spcPts val="450"/>
              </a:spcBef>
              <a:spcAft>
                <a:spcPts val="45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49746" y="9534526"/>
            <a:ext cx="4114800" cy="547688"/>
          </a:xfrm>
        </p:spPr>
        <p:txBody>
          <a:bodyPr/>
          <a:lstStyle/>
          <a:p>
            <a:fld id="{A4B08D6D-E5AB-054C-8BBA-2EAE96362CB2}" type="datetime3">
              <a:rPr lang="en-US" smtClean="0"/>
              <a:t>18 September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350346" y="9534526"/>
            <a:ext cx="6172200" cy="547688"/>
          </a:xfrm>
        </p:spPr>
        <p:txBody>
          <a:bodyPr/>
          <a:lstStyle/>
          <a:p>
            <a:r>
              <a:rPr lang="en-US"/>
              <a:t>Copyrights 2024 CE-UIT. All Rights Reserved.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7F0F65-AD9D-F4EF-651A-F8557E5CEDEF}"/>
              </a:ext>
            </a:extLst>
          </p:cNvPr>
          <p:cNvSpPr/>
          <p:nvPr userDrawn="1"/>
        </p:nvSpPr>
        <p:spPr>
          <a:xfrm rot="5400000">
            <a:off x="8668478" y="-8670067"/>
            <a:ext cx="947328" cy="18291719"/>
          </a:xfrm>
          <a:prstGeom prst="rect">
            <a:avLst/>
          </a:prstGeom>
          <a:gradFill>
            <a:gsLst>
              <a:gs pos="0">
                <a:schemeClr val="accent3">
                  <a:lumMod val="75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7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792619-8016-D1B1-D5B6-0463FC873115}"/>
              </a:ext>
            </a:extLst>
          </p:cNvPr>
          <p:cNvSpPr/>
          <p:nvPr userDrawn="1"/>
        </p:nvSpPr>
        <p:spPr>
          <a:xfrm rot="5400000" flipV="1">
            <a:off x="8670336" y="-8672194"/>
            <a:ext cx="947328" cy="1829171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7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34CFDC-8819-F613-CB53-B010209F03B3}"/>
              </a:ext>
            </a:extLst>
          </p:cNvPr>
          <p:cNvSpPr txBox="1"/>
          <p:nvPr userDrawn="1"/>
        </p:nvSpPr>
        <p:spPr>
          <a:xfrm>
            <a:off x="360422" y="212135"/>
            <a:ext cx="61729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2400" b="1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847D5C7-4917-CA09-77DC-A3EC771CB75C}"/>
              </a:ext>
            </a:extLst>
          </p:cNvPr>
          <p:cNvGrpSpPr/>
          <p:nvPr userDrawn="1"/>
        </p:nvGrpSpPr>
        <p:grpSpPr>
          <a:xfrm>
            <a:off x="6719978" y="362541"/>
            <a:ext cx="4848045" cy="1152591"/>
            <a:chOff x="4280055" y="84406"/>
            <a:chExt cx="3631889" cy="863458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48D4D6A6-CC45-52A4-171D-81125CDEE0BB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E10A2D28-A8FF-8313-ADCB-2B72C390FACF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  <p:pic>
          <p:nvPicPr>
            <p:cNvPr id="13" name="Picture 12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1E73120D-A83C-0746-0C19-5132936E24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4" name="Picture 13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id="{FF279D30-BA02-4EF4-72A0-69A0DFA1F18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15A5037-1013-FEAC-916D-D7685B8E78E3}"/>
              </a:ext>
            </a:extLst>
          </p:cNvPr>
          <p:cNvGrpSpPr/>
          <p:nvPr userDrawn="1"/>
        </p:nvGrpSpPr>
        <p:grpSpPr>
          <a:xfrm>
            <a:off x="17262339" y="9405383"/>
            <a:ext cx="819198" cy="819198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6836040-223F-32E9-6652-247D1B1776AC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C7C8B3B-CA71-8CB4-C831-5785E5171D6A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</p:grp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>
          <a:xfrm>
            <a:off x="15634416" y="9534526"/>
            <a:ext cx="4114800" cy="547688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DCEAF726-95E1-8A34-13F1-109FB98C6990}"/>
              </a:ext>
            </a:extLst>
          </p:cNvPr>
          <p:cNvSpPr/>
          <p:nvPr userDrawn="1"/>
        </p:nvSpPr>
        <p:spPr>
          <a:xfrm>
            <a:off x="1" y="2128"/>
            <a:ext cx="18291719" cy="10295492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 sz="2700"/>
          </a:p>
        </p:txBody>
      </p:sp>
    </p:spTree>
    <p:extLst>
      <p:ext uri="{BB962C8B-B14F-4D97-AF65-F5344CB8AC3E}">
        <p14:creationId xmlns:p14="http://schemas.microsoft.com/office/powerpoint/2010/main" val="8075764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9000" y="1555151"/>
            <a:ext cx="16470000" cy="1335995"/>
          </a:xfrm>
        </p:spPr>
        <p:txBody>
          <a:bodyPr/>
          <a:lstStyle>
            <a:lvl1pPr marL="0" indent="0">
              <a:buFont typeface="+mj-lt"/>
              <a:buNone/>
              <a:defRPr b="1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000" y="3030419"/>
            <a:ext cx="16470000" cy="6235026"/>
          </a:xfrm>
        </p:spPr>
        <p:txBody>
          <a:bodyPr/>
          <a:lstStyle>
            <a:lvl1pPr>
              <a:lnSpc>
                <a:spcPct val="130000"/>
              </a:lnSpc>
              <a:spcBef>
                <a:spcPts val="450"/>
              </a:spcBef>
              <a:spcAft>
                <a:spcPts val="450"/>
              </a:spcAft>
              <a:defRPr/>
            </a:lvl1pPr>
            <a:lvl2pPr>
              <a:lnSpc>
                <a:spcPct val="130000"/>
              </a:lnSpc>
              <a:spcBef>
                <a:spcPts val="450"/>
              </a:spcBef>
              <a:spcAft>
                <a:spcPts val="450"/>
              </a:spcAft>
              <a:defRPr/>
            </a:lvl2pPr>
            <a:lvl3pPr>
              <a:lnSpc>
                <a:spcPct val="130000"/>
              </a:lnSpc>
              <a:spcBef>
                <a:spcPts val="450"/>
              </a:spcBef>
              <a:spcAft>
                <a:spcPts val="450"/>
              </a:spcAft>
              <a:defRPr/>
            </a:lvl3pPr>
            <a:lvl4pPr>
              <a:lnSpc>
                <a:spcPct val="130000"/>
              </a:lnSpc>
              <a:spcBef>
                <a:spcPts val="450"/>
              </a:spcBef>
              <a:spcAft>
                <a:spcPts val="450"/>
              </a:spcAft>
              <a:defRPr/>
            </a:lvl4pPr>
            <a:lvl5pPr>
              <a:lnSpc>
                <a:spcPct val="130000"/>
              </a:lnSpc>
              <a:spcBef>
                <a:spcPts val="450"/>
              </a:spcBef>
              <a:spcAft>
                <a:spcPts val="45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49746" y="9534526"/>
            <a:ext cx="4114800" cy="547688"/>
          </a:xfrm>
        </p:spPr>
        <p:txBody>
          <a:bodyPr/>
          <a:lstStyle/>
          <a:p>
            <a:fld id="{A4B08D6D-E5AB-054C-8BBA-2EAE96362CB2}" type="datetime3">
              <a:rPr lang="en-US" smtClean="0"/>
              <a:t>18 September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350346" y="9534526"/>
            <a:ext cx="6172200" cy="547688"/>
          </a:xfrm>
        </p:spPr>
        <p:txBody>
          <a:bodyPr/>
          <a:lstStyle/>
          <a:p>
            <a:r>
              <a:rPr lang="en-US"/>
              <a:t>Copyrights 2024 CE-UIT. All Rights Reserved.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7F0F65-AD9D-F4EF-651A-F8557E5CEDEF}"/>
              </a:ext>
            </a:extLst>
          </p:cNvPr>
          <p:cNvSpPr/>
          <p:nvPr userDrawn="1"/>
        </p:nvSpPr>
        <p:spPr>
          <a:xfrm rot="5400000">
            <a:off x="8668478" y="-8670067"/>
            <a:ext cx="947328" cy="18291719"/>
          </a:xfrm>
          <a:prstGeom prst="rect">
            <a:avLst/>
          </a:prstGeom>
          <a:gradFill>
            <a:gsLst>
              <a:gs pos="0">
                <a:schemeClr val="accent3">
                  <a:lumMod val="75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7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792619-8016-D1B1-D5B6-0463FC873115}"/>
              </a:ext>
            </a:extLst>
          </p:cNvPr>
          <p:cNvSpPr/>
          <p:nvPr userDrawn="1"/>
        </p:nvSpPr>
        <p:spPr>
          <a:xfrm rot="5400000" flipV="1">
            <a:off x="8670336" y="-8672194"/>
            <a:ext cx="947328" cy="1829171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7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34CFDC-8819-F613-CB53-B010209F03B3}"/>
              </a:ext>
            </a:extLst>
          </p:cNvPr>
          <p:cNvSpPr txBox="1"/>
          <p:nvPr userDrawn="1"/>
        </p:nvSpPr>
        <p:spPr>
          <a:xfrm>
            <a:off x="360422" y="212135"/>
            <a:ext cx="61729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2400" b="1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847D5C7-4917-CA09-77DC-A3EC771CB75C}"/>
              </a:ext>
            </a:extLst>
          </p:cNvPr>
          <p:cNvGrpSpPr/>
          <p:nvPr userDrawn="1"/>
        </p:nvGrpSpPr>
        <p:grpSpPr>
          <a:xfrm>
            <a:off x="6719978" y="362541"/>
            <a:ext cx="4848045" cy="1152591"/>
            <a:chOff x="4280055" y="84406"/>
            <a:chExt cx="3631889" cy="863458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48D4D6A6-CC45-52A4-171D-81125CDEE0BB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E10A2D28-A8FF-8313-ADCB-2B72C390FACF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  <p:pic>
          <p:nvPicPr>
            <p:cNvPr id="13" name="Picture 12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1E73120D-A83C-0746-0C19-5132936E24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4" name="Picture 13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id="{FF279D30-BA02-4EF4-72A0-69A0DFA1F18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15A5037-1013-FEAC-916D-D7685B8E78E3}"/>
              </a:ext>
            </a:extLst>
          </p:cNvPr>
          <p:cNvGrpSpPr/>
          <p:nvPr userDrawn="1"/>
        </p:nvGrpSpPr>
        <p:grpSpPr>
          <a:xfrm>
            <a:off x="17262339" y="9405383"/>
            <a:ext cx="819198" cy="819198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6836040-223F-32E9-6652-247D1B1776AC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C7C8B3B-CA71-8CB4-C831-5785E5171D6A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</p:grp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>
          <a:xfrm>
            <a:off x="15634416" y="9534526"/>
            <a:ext cx="4114800" cy="547688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DCEAF726-95E1-8A34-13F1-109FB98C6990}"/>
              </a:ext>
            </a:extLst>
          </p:cNvPr>
          <p:cNvSpPr/>
          <p:nvPr userDrawn="1"/>
        </p:nvSpPr>
        <p:spPr>
          <a:xfrm>
            <a:off x="1" y="2128"/>
            <a:ext cx="18291719" cy="10295492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 sz="2700"/>
          </a:p>
        </p:txBody>
      </p:sp>
    </p:spTree>
    <p:extLst>
      <p:ext uri="{BB962C8B-B14F-4D97-AF65-F5344CB8AC3E}">
        <p14:creationId xmlns:p14="http://schemas.microsoft.com/office/powerpoint/2010/main" val="8152075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9000" y="1555151"/>
            <a:ext cx="16470000" cy="1335995"/>
          </a:xfrm>
        </p:spPr>
        <p:txBody>
          <a:bodyPr/>
          <a:lstStyle>
            <a:lvl1pPr marL="0" indent="0">
              <a:buFont typeface="+mj-lt"/>
              <a:buNone/>
              <a:defRPr b="1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000" y="3030419"/>
            <a:ext cx="16470000" cy="6235026"/>
          </a:xfrm>
        </p:spPr>
        <p:txBody>
          <a:bodyPr/>
          <a:lstStyle>
            <a:lvl1pPr>
              <a:lnSpc>
                <a:spcPct val="130000"/>
              </a:lnSpc>
              <a:spcBef>
                <a:spcPts val="450"/>
              </a:spcBef>
              <a:spcAft>
                <a:spcPts val="450"/>
              </a:spcAft>
              <a:defRPr/>
            </a:lvl1pPr>
            <a:lvl2pPr>
              <a:lnSpc>
                <a:spcPct val="130000"/>
              </a:lnSpc>
              <a:spcBef>
                <a:spcPts val="450"/>
              </a:spcBef>
              <a:spcAft>
                <a:spcPts val="450"/>
              </a:spcAft>
              <a:defRPr/>
            </a:lvl2pPr>
            <a:lvl3pPr>
              <a:lnSpc>
                <a:spcPct val="130000"/>
              </a:lnSpc>
              <a:spcBef>
                <a:spcPts val="450"/>
              </a:spcBef>
              <a:spcAft>
                <a:spcPts val="450"/>
              </a:spcAft>
              <a:defRPr/>
            </a:lvl3pPr>
            <a:lvl4pPr>
              <a:lnSpc>
                <a:spcPct val="130000"/>
              </a:lnSpc>
              <a:spcBef>
                <a:spcPts val="450"/>
              </a:spcBef>
              <a:spcAft>
                <a:spcPts val="450"/>
              </a:spcAft>
              <a:defRPr/>
            </a:lvl4pPr>
            <a:lvl5pPr>
              <a:lnSpc>
                <a:spcPct val="130000"/>
              </a:lnSpc>
              <a:spcBef>
                <a:spcPts val="450"/>
              </a:spcBef>
              <a:spcAft>
                <a:spcPts val="45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49746" y="9534526"/>
            <a:ext cx="4114800" cy="547688"/>
          </a:xfrm>
        </p:spPr>
        <p:txBody>
          <a:bodyPr/>
          <a:lstStyle/>
          <a:p>
            <a:fld id="{A4B08D6D-E5AB-054C-8BBA-2EAE96362CB2}" type="datetime3">
              <a:rPr lang="en-US" smtClean="0"/>
              <a:t>18 September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350346" y="9534526"/>
            <a:ext cx="6172200" cy="547688"/>
          </a:xfrm>
        </p:spPr>
        <p:txBody>
          <a:bodyPr/>
          <a:lstStyle/>
          <a:p>
            <a:r>
              <a:rPr lang="en-US"/>
              <a:t>Copyrights 2024 CE-UIT. All Rights Reserved.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7F0F65-AD9D-F4EF-651A-F8557E5CEDEF}"/>
              </a:ext>
            </a:extLst>
          </p:cNvPr>
          <p:cNvSpPr/>
          <p:nvPr userDrawn="1"/>
        </p:nvSpPr>
        <p:spPr>
          <a:xfrm rot="5400000">
            <a:off x="8668478" y="-8670067"/>
            <a:ext cx="947328" cy="18291719"/>
          </a:xfrm>
          <a:prstGeom prst="rect">
            <a:avLst/>
          </a:prstGeom>
          <a:gradFill>
            <a:gsLst>
              <a:gs pos="0">
                <a:schemeClr val="accent3">
                  <a:lumMod val="75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7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792619-8016-D1B1-D5B6-0463FC873115}"/>
              </a:ext>
            </a:extLst>
          </p:cNvPr>
          <p:cNvSpPr/>
          <p:nvPr userDrawn="1"/>
        </p:nvSpPr>
        <p:spPr>
          <a:xfrm rot="5400000" flipV="1">
            <a:off x="8670336" y="-8672194"/>
            <a:ext cx="947328" cy="1829171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7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34CFDC-8819-F613-CB53-B010209F03B3}"/>
              </a:ext>
            </a:extLst>
          </p:cNvPr>
          <p:cNvSpPr txBox="1"/>
          <p:nvPr userDrawn="1"/>
        </p:nvSpPr>
        <p:spPr>
          <a:xfrm>
            <a:off x="360422" y="212135"/>
            <a:ext cx="61729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2400" b="1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847D5C7-4917-CA09-77DC-A3EC771CB75C}"/>
              </a:ext>
            </a:extLst>
          </p:cNvPr>
          <p:cNvGrpSpPr/>
          <p:nvPr userDrawn="1"/>
        </p:nvGrpSpPr>
        <p:grpSpPr>
          <a:xfrm>
            <a:off x="6719978" y="362541"/>
            <a:ext cx="4848045" cy="1152591"/>
            <a:chOff x="4280055" y="84406"/>
            <a:chExt cx="3631889" cy="863458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48D4D6A6-CC45-52A4-171D-81125CDEE0BB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E10A2D28-A8FF-8313-ADCB-2B72C390FACF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  <p:pic>
          <p:nvPicPr>
            <p:cNvPr id="13" name="Picture 12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1E73120D-A83C-0746-0C19-5132936E24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4" name="Picture 13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id="{FF279D30-BA02-4EF4-72A0-69A0DFA1F18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15A5037-1013-FEAC-916D-D7685B8E78E3}"/>
              </a:ext>
            </a:extLst>
          </p:cNvPr>
          <p:cNvGrpSpPr/>
          <p:nvPr userDrawn="1"/>
        </p:nvGrpSpPr>
        <p:grpSpPr>
          <a:xfrm>
            <a:off x="17262339" y="9405383"/>
            <a:ext cx="819198" cy="819198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6836040-223F-32E9-6652-247D1B1776AC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C7C8B3B-CA71-8CB4-C831-5785E5171D6A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</p:grp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>
          <a:xfrm>
            <a:off x="15634416" y="9534526"/>
            <a:ext cx="4114800" cy="547688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DCEAF726-95E1-8A34-13F1-109FB98C6990}"/>
              </a:ext>
            </a:extLst>
          </p:cNvPr>
          <p:cNvSpPr/>
          <p:nvPr userDrawn="1"/>
        </p:nvSpPr>
        <p:spPr>
          <a:xfrm>
            <a:off x="1" y="2128"/>
            <a:ext cx="18291719" cy="10295492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 sz="2700"/>
          </a:p>
        </p:txBody>
      </p:sp>
    </p:spTree>
    <p:extLst>
      <p:ext uri="{BB962C8B-B14F-4D97-AF65-F5344CB8AC3E}">
        <p14:creationId xmlns:p14="http://schemas.microsoft.com/office/powerpoint/2010/main" val="6358205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9000" y="1555151"/>
            <a:ext cx="16470000" cy="1335995"/>
          </a:xfrm>
        </p:spPr>
        <p:txBody>
          <a:bodyPr/>
          <a:lstStyle>
            <a:lvl1pPr marL="0" indent="0">
              <a:buFont typeface="+mj-lt"/>
              <a:buNone/>
              <a:defRPr b="1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000" y="3030419"/>
            <a:ext cx="16470000" cy="6235026"/>
          </a:xfrm>
        </p:spPr>
        <p:txBody>
          <a:bodyPr/>
          <a:lstStyle>
            <a:lvl1pPr>
              <a:lnSpc>
                <a:spcPct val="130000"/>
              </a:lnSpc>
              <a:spcBef>
                <a:spcPts val="450"/>
              </a:spcBef>
              <a:spcAft>
                <a:spcPts val="450"/>
              </a:spcAft>
              <a:defRPr/>
            </a:lvl1pPr>
            <a:lvl2pPr>
              <a:lnSpc>
                <a:spcPct val="130000"/>
              </a:lnSpc>
              <a:spcBef>
                <a:spcPts val="450"/>
              </a:spcBef>
              <a:spcAft>
                <a:spcPts val="450"/>
              </a:spcAft>
              <a:defRPr/>
            </a:lvl2pPr>
            <a:lvl3pPr>
              <a:lnSpc>
                <a:spcPct val="130000"/>
              </a:lnSpc>
              <a:spcBef>
                <a:spcPts val="450"/>
              </a:spcBef>
              <a:spcAft>
                <a:spcPts val="450"/>
              </a:spcAft>
              <a:defRPr/>
            </a:lvl3pPr>
            <a:lvl4pPr>
              <a:lnSpc>
                <a:spcPct val="130000"/>
              </a:lnSpc>
              <a:spcBef>
                <a:spcPts val="450"/>
              </a:spcBef>
              <a:spcAft>
                <a:spcPts val="450"/>
              </a:spcAft>
              <a:defRPr/>
            </a:lvl4pPr>
            <a:lvl5pPr>
              <a:lnSpc>
                <a:spcPct val="130000"/>
              </a:lnSpc>
              <a:spcBef>
                <a:spcPts val="450"/>
              </a:spcBef>
              <a:spcAft>
                <a:spcPts val="45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49746" y="9534526"/>
            <a:ext cx="4114800" cy="547688"/>
          </a:xfrm>
        </p:spPr>
        <p:txBody>
          <a:bodyPr/>
          <a:lstStyle/>
          <a:p>
            <a:fld id="{A4B08D6D-E5AB-054C-8BBA-2EAE96362CB2}" type="datetime3">
              <a:rPr lang="en-US" smtClean="0"/>
              <a:t>18 September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350346" y="9534526"/>
            <a:ext cx="6172200" cy="547688"/>
          </a:xfrm>
        </p:spPr>
        <p:txBody>
          <a:bodyPr/>
          <a:lstStyle/>
          <a:p>
            <a:r>
              <a:rPr lang="en-US"/>
              <a:t>Copyrights 2024 CE-UIT. All Rights Reserved.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7F0F65-AD9D-F4EF-651A-F8557E5CEDEF}"/>
              </a:ext>
            </a:extLst>
          </p:cNvPr>
          <p:cNvSpPr/>
          <p:nvPr userDrawn="1"/>
        </p:nvSpPr>
        <p:spPr>
          <a:xfrm rot="5400000">
            <a:off x="8668478" y="-8670067"/>
            <a:ext cx="947328" cy="18291719"/>
          </a:xfrm>
          <a:prstGeom prst="rect">
            <a:avLst/>
          </a:prstGeom>
          <a:gradFill>
            <a:gsLst>
              <a:gs pos="0">
                <a:schemeClr val="accent3">
                  <a:lumMod val="75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7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792619-8016-D1B1-D5B6-0463FC873115}"/>
              </a:ext>
            </a:extLst>
          </p:cNvPr>
          <p:cNvSpPr/>
          <p:nvPr userDrawn="1"/>
        </p:nvSpPr>
        <p:spPr>
          <a:xfrm rot="5400000" flipV="1">
            <a:off x="8670336" y="-8672194"/>
            <a:ext cx="947328" cy="1829171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7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34CFDC-8819-F613-CB53-B010209F03B3}"/>
              </a:ext>
            </a:extLst>
          </p:cNvPr>
          <p:cNvSpPr txBox="1"/>
          <p:nvPr userDrawn="1"/>
        </p:nvSpPr>
        <p:spPr>
          <a:xfrm>
            <a:off x="360422" y="212135"/>
            <a:ext cx="61729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2400" b="1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847D5C7-4917-CA09-77DC-A3EC771CB75C}"/>
              </a:ext>
            </a:extLst>
          </p:cNvPr>
          <p:cNvGrpSpPr/>
          <p:nvPr userDrawn="1"/>
        </p:nvGrpSpPr>
        <p:grpSpPr>
          <a:xfrm>
            <a:off x="6719978" y="362541"/>
            <a:ext cx="4848045" cy="1152591"/>
            <a:chOff x="4280055" y="84406"/>
            <a:chExt cx="3631889" cy="863458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48D4D6A6-CC45-52A4-171D-81125CDEE0BB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E10A2D28-A8FF-8313-ADCB-2B72C390FACF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  <p:pic>
          <p:nvPicPr>
            <p:cNvPr id="13" name="Picture 12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1E73120D-A83C-0746-0C19-5132936E24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4" name="Picture 13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id="{FF279D30-BA02-4EF4-72A0-69A0DFA1F18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15A5037-1013-FEAC-916D-D7685B8E78E3}"/>
              </a:ext>
            </a:extLst>
          </p:cNvPr>
          <p:cNvGrpSpPr/>
          <p:nvPr userDrawn="1"/>
        </p:nvGrpSpPr>
        <p:grpSpPr>
          <a:xfrm>
            <a:off x="17262339" y="9405383"/>
            <a:ext cx="819198" cy="819198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6836040-223F-32E9-6652-247D1B1776AC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C7C8B3B-CA71-8CB4-C831-5785E5171D6A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</p:grp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>
          <a:xfrm>
            <a:off x="15634416" y="9534526"/>
            <a:ext cx="4114800" cy="547688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DCEAF726-95E1-8A34-13F1-109FB98C6990}"/>
              </a:ext>
            </a:extLst>
          </p:cNvPr>
          <p:cNvSpPr/>
          <p:nvPr userDrawn="1"/>
        </p:nvSpPr>
        <p:spPr>
          <a:xfrm>
            <a:off x="1" y="2128"/>
            <a:ext cx="18291719" cy="10295492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 sz="2700"/>
          </a:p>
        </p:txBody>
      </p:sp>
    </p:spTree>
    <p:extLst>
      <p:ext uri="{BB962C8B-B14F-4D97-AF65-F5344CB8AC3E}">
        <p14:creationId xmlns:p14="http://schemas.microsoft.com/office/powerpoint/2010/main" val="37909638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9000" y="1555151"/>
            <a:ext cx="16470000" cy="1335995"/>
          </a:xfrm>
        </p:spPr>
        <p:txBody>
          <a:bodyPr/>
          <a:lstStyle>
            <a:lvl1pPr marL="0" indent="0">
              <a:buFont typeface="+mj-lt"/>
              <a:buNone/>
              <a:defRPr b="1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000" y="3030419"/>
            <a:ext cx="16470000" cy="6235026"/>
          </a:xfrm>
        </p:spPr>
        <p:txBody>
          <a:bodyPr/>
          <a:lstStyle>
            <a:lvl1pPr>
              <a:lnSpc>
                <a:spcPct val="130000"/>
              </a:lnSpc>
              <a:spcBef>
                <a:spcPts val="450"/>
              </a:spcBef>
              <a:spcAft>
                <a:spcPts val="450"/>
              </a:spcAft>
              <a:defRPr/>
            </a:lvl1pPr>
            <a:lvl2pPr>
              <a:lnSpc>
                <a:spcPct val="130000"/>
              </a:lnSpc>
              <a:spcBef>
                <a:spcPts val="450"/>
              </a:spcBef>
              <a:spcAft>
                <a:spcPts val="450"/>
              </a:spcAft>
              <a:defRPr/>
            </a:lvl2pPr>
            <a:lvl3pPr>
              <a:lnSpc>
                <a:spcPct val="130000"/>
              </a:lnSpc>
              <a:spcBef>
                <a:spcPts val="450"/>
              </a:spcBef>
              <a:spcAft>
                <a:spcPts val="450"/>
              </a:spcAft>
              <a:defRPr/>
            </a:lvl3pPr>
            <a:lvl4pPr>
              <a:lnSpc>
                <a:spcPct val="130000"/>
              </a:lnSpc>
              <a:spcBef>
                <a:spcPts val="450"/>
              </a:spcBef>
              <a:spcAft>
                <a:spcPts val="450"/>
              </a:spcAft>
              <a:defRPr/>
            </a:lvl4pPr>
            <a:lvl5pPr>
              <a:lnSpc>
                <a:spcPct val="130000"/>
              </a:lnSpc>
              <a:spcBef>
                <a:spcPts val="450"/>
              </a:spcBef>
              <a:spcAft>
                <a:spcPts val="45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49746" y="9534526"/>
            <a:ext cx="4114800" cy="547688"/>
          </a:xfrm>
        </p:spPr>
        <p:txBody>
          <a:bodyPr/>
          <a:lstStyle/>
          <a:p>
            <a:fld id="{A4B08D6D-E5AB-054C-8BBA-2EAE96362CB2}" type="datetime3">
              <a:rPr lang="en-US" smtClean="0"/>
              <a:t>18 September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350346" y="9534526"/>
            <a:ext cx="6172200" cy="547688"/>
          </a:xfrm>
        </p:spPr>
        <p:txBody>
          <a:bodyPr/>
          <a:lstStyle/>
          <a:p>
            <a:r>
              <a:rPr lang="en-US"/>
              <a:t>Copyrights 2024 CE-UIT. All Rights Reserved.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7F0F65-AD9D-F4EF-651A-F8557E5CEDEF}"/>
              </a:ext>
            </a:extLst>
          </p:cNvPr>
          <p:cNvSpPr/>
          <p:nvPr userDrawn="1"/>
        </p:nvSpPr>
        <p:spPr>
          <a:xfrm rot="5400000">
            <a:off x="8668478" y="-8670067"/>
            <a:ext cx="947328" cy="18291719"/>
          </a:xfrm>
          <a:prstGeom prst="rect">
            <a:avLst/>
          </a:prstGeom>
          <a:gradFill>
            <a:gsLst>
              <a:gs pos="0">
                <a:schemeClr val="accent3">
                  <a:lumMod val="75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7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792619-8016-D1B1-D5B6-0463FC873115}"/>
              </a:ext>
            </a:extLst>
          </p:cNvPr>
          <p:cNvSpPr/>
          <p:nvPr userDrawn="1"/>
        </p:nvSpPr>
        <p:spPr>
          <a:xfrm rot="5400000" flipV="1">
            <a:off x="8670336" y="-8672194"/>
            <a:ext cx="947328" cy="1829171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7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34CFDC-8819-F613-CB53-B010209F03B3}"/>
              </a:ext>
            </a:extLst>
          </p:cNvPr>
          <p:cNvSpPr txBox="1"/>
          <p:nvPr userDrawn="1"/>
        </p:nvSpPr>
        <p:spPr>
          <a:xfrm>
            <a:off x="360422" y="212135"/>
            <a:ext cx="61729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2400" b="1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847D5C7-4917-CA09-77DC-A3EC771CB75C}"/>
              </a:ext>
            </a:extLst>
          </p:cNvPr>
          <p:cNvGrpSpPr/>
          <p:nvPr userDrawn="1"/>
        </p:nvGrpSpPr>
        <p:grpSpPr>
          <a:xfrm>
            <a:off x="6719978" y="362541"/>
            <a:ext cx="4848045" cy="1152591"/>
            <a:chOff x="4280055" y="84406"/>
            <a:chExt cx="3631889" cy="863458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48D4D6A6-CC45-52A4-171D-81125CDEE0BB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E10A2D28-A8FF-8313-ADCB-2B72C390FACF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  <p:pic>
          <p:nvPicPr>
            <p:cNvPr id="13" name="Picture 12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1E73120D-A83C-0746-0C19-5132936E24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4" name="Picture 13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id="{FF279D30-BA02-4EF4-72A0-69A0DFA1F18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15A5037-1013-FEAC-916D-D7685B8E78E3}"/>
              </a:ext>
            </a:extLst>
          </p:cNvPr>
          <p:cNvGrpSpPr/>
          <p:nvPr userDrawn="1"/>
        </p:nvGrpSpPr>
        <p:grpSpPr>
          <a:xfrm>
            <a:off x="17262339" y="9405383"/>
            <a:ext cx="819198" cy="819198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6836040-223F-32E9-6652-247D1B1776AC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C7C8B3B-CA71-8CB4-C831-5785E5171D6A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</p:grp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>
          <a:xfrm>
            <a:off x="15634416" y="9534526"/>
            <a:ext cx="4114800" cy="547688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DCEAF726-95E1-8A34-13F1-109FB98C6990}"/>
              </a:ext>
            </a:extLst>
          </p:cNvPr>
          <p:cNvSpPr/>
          <p:nvPr userDrawn="1"/>
        </p:nvSpPr>
        <p:spPr>
          <a:xfrm>
            <a:off x="1" y="2128"/>
            <a:ext cx="18291719" cy="10295492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 sz="2700"/>
          </a:p>
        </p:txBody>
      </p:sp>
    </p:spTree>
    <p:extLst>
      <p:ext uri="{BB962C8B-B14F-4D97-AF65-F5344CB8AC3E}">
        <p14:creationId xmlns:p14="http://schemas.microsoft.com/office/powerpoint/2010/main" val="38477905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9000" y="1348463"/>
            <a:ext cx="16470000" cy="1261847"/>
          </a:xfrm>
        </p:spPr>
        <p:txBody>
          <a:bodyPr>
            <a:normAutofit/>
          </a:bodyPr>
          <a:lstStyle>
            <a:lvl1pPr marL="0" indent="0" algn="l" defTabSz="1371600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lang="en-US" sz="6600" b="1" kern="1200" dirty="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25284" y="3009316"/>
            <a:ext cx="7965000" cy="62561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14000" y="3009316"/>
            <a:ext cx="7965000" cy="62561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E05FC-80DB-0148-874D-D86DE9D2ADC5}" type="datetime3">
              <a:rPr lang="en-US" smtClean="0"/>
              <a:t>18 September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5501B7-06E2-F246-2BAD-EAF23122D87C}"/>
              </a:ext>
            </a:extLst>
          </p:cNvPr>
          <p:cNvSpPr/>
          <p:nvPr userDrawn="1"/>
        </p:nvSpPr>
        <p:spPr>
          <a:xfrm rot="5400000">
            <a:off x="8668478" y="-8670067"/>
            <a:ext cx="947328" cy="18291719"/>
          </a:xfrm>
          <a:prstGeom prst="rect">
            <a:avLst/>
          </a:prstGeom>
          <a:gradFill>
            <a:gsLst>
              <a:gs pos="0">
                <a:srgbClr val="38EF7D"/>
              </a:gs>
              <a:gs pos="100000">
                <a:srgbClr val="11998E"/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7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FA2C82-F7CF-516D-BCFE-BD30ECC9EA5A}"/>
              </a:ext>
            </a:extLst>
          </p:cNvPr>
          <p:cNvSpPr/>
          <p:nvPr userDrawn="1"/>
        </p:nvSpPr>
        <p:spPr>
          <a:xfrm rot="5400000" flipV="1">
            <a:off x="8668476" y="-8672194"/>
            <a:ext cx="947328" cy="1829171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7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B8F8FF-3914-88F4-7096-A2992F1DABC0}"/>
              </a:ext>
            </a:extLst>
          </p:cNvPr>
          <p:cNvSpPr txBox="1"/>
          <p:nvPr userDrawn="1"/>
        </p:nvSpPr>
        <p:spPr>
          <a:xfrm>
            <a:off x="360422" y="212135"/>
            <a:ext cx="61729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2400" b="1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79A1157-FF7F-7C1B-C247-077067BBC028}"/>
              </a:ext>
            </a:extLst>
          </p:cNvPr>
          <p:cNvGrpSpPr/>
          <p:nvPr userDrawn="1"/>
        </p:nvGrpSpPr>
        <p:grpSpPr>
          <a:xfrm>
            <a:off x="6719978" y="362541"/>
            <a:ext cx="4848045" cy="1152591"/>
            <a:chOff x="4280055" y="84406"/>
            <a:chExt cx="3631889" cy="863458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87F4C074-B87D-1D6E-559E-9B5F5A6D59D5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051A38B1-9970-6D8A-99F0-1519F63F8C21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  <p:pic>
          <p:nvPicPr>
            <p:cNvPr id="14" name="Picture 13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CDAB1087-5677-0CD0-2E97-0AC0475A5D4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5" name="Picture 14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id="{75F57DD9-9F2F-64B5-ABD6-42254D27DA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4EDAAF6-0642-D0AC-8393-BCA7C5A21D37}"/>
              </a:ext>
            </a:extLst>
          </p:cNvPr>
          <p:cNvGrpSpPr/>
          <p:nvPr userDrawn="1"/>
        </p:nvGrpSpPr>
        <p:grpSpPr>
          <a:xfrm>
            <a:off x="17262339" y="9405383"/>
            <a:ext cx="819198" cy="819198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1D9D6F2C-9702-AFF6-0F7A-DB2E2C1FF67A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FFED086E-27AD-496B-CF1A-0F2B00E50490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</p:grpSp>
      <p:sp>
        <p:nvSpPr>
          <p:cNvPr id="19" name="Freeform 18">
            <a:extLst>
              <a:ext uri="{FF2B5EF4-FFF2-40B4-BE49-F238E27FC236}">
                <a16:creationId xmlns:a16="http://schemas.microsoft.com/office/drawing/2014/main" id="{C849CBBA-8A36-61D9-7C3A-A5B8C98344BA}"/>
              </a:ext>
            </a:extLst>
          </p:cNvPr>
          <p:cNvSpPr/>
          <p:nvPr userDrawn="1"/>
        </p:nvSpPr>
        <p:spPr>
          <a:xfrm>
            <a:off x="1" y="2128"/>
            <a:ext cx="18291719" cy="10295492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 sz="270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5614538" y="9534526"/>
            <a:ext cx="4114800" cy="547688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6311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9000" y="1337843"/>
            <a:ext cx="16470000" cy="1483934"/>
          </a:xfrm>
        </p:spPr>
        <p:txBody>
          <a:bodyPr>
            <a:normAutofit/>
          </a:bodyPr>
          <a:lstStyle>
            <a:lvl1pPr marL="0" indent="0" algn="l" defTabSz="1371600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lang="en-US" sz="6600" b="1" kern="1200" dirty="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9002" y="2988882"/>
            <a:ext cx="7965000" cy="964554"/>
          </a:xfrm>
        </p:spPr>
        <p:txBody>
          <a:bodyPr anchor="ctr"/>
          <a:lstStyle>
            <a:lvl1pPr marL="0" indent="0">
              <a:buNone/>
              <a:defRPr sz="3600" b="1">
                <a:gradFill flip="none" rotWithShape="1">
                  <a:gsLst>
                    <a:gs pos="0">
                      <a:schemeClr val="accent6"/>
                    </a:gs>
                    <a:gs pos="100000">
                      <a:schemeClr val="accent5"/>
                    </a:gs>
                  </a:gsLst>
                  <a:lin ang="2700000" scaled="1"/>
                  <a:tileRect/>
                </a:gra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09002" y="4120543"/>
            <a:ext cx="7965000" cy="51639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414000" y="2988882"/>
            <a:ext cx="7965000" cy="964554"/>
          </a:xfrm>
        </p:spPr>
        <p:txBody>
          <a:bodyPr anchor="ctr">
            <a:normAutofit/>
          </a:bodyPr>
          <a:lstStyle>
            <a:lvl1pPr marL="0" indent="0">
              <a:buNone/>
              <a:defRPr lang="en-US" sz="3600" b="1" kern="1200" dirty="0">
                <a:gradFill flip="none" rotWithShape="1">
                  <a:gsLst>
                    <a:gs pos="0">
                      <a:schemeClr val="accent6"/>
                    </a:gs>
                    <a:gs pos="100000">
                      <a:schemeClr val="accent5"/>
                    </a:gs>
                  </a:gsLst>
                  <a:lin ang="2700000" scaled="1"/>
                  <a:tileRect/>
                </a:gradFill>
                <a:latin typeface="+mn-lt"/>
                <a:ea typeface="+mn-ea"/>
                <a:cs typeface="+mn-cs"/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marL="0" lvl="0" indent="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414000" y="4120543"/>
            <a:ext cx="7965000" cy="51639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5D97B-A544-724E-B7AA-E954CECFEC59}" type="datetime3">
              <a:rPr lang="en-US" smtClean="0"/>
              <a:t>18 September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F7C7FE-91AA-777B-FCF1-8DFE0AC663E2}"/>
              </a:ext>
            </a:extLst>
          </p:cNvPr>
          <p:cNvSpPr/>
          <p:nvPr userDrawn="1"/>
        </p:nvSpPr>
        <p:spPr>
          <a:xfrm rot="5400000">
            <a:off x="8668478" y="-8670067"/>
            <a:ext cx="947328" cy="18291719"/>
          </a:xfrm>
          <a:prstGeom prst="rect">
            <a:avLst/>
          </a:prstGeom>
          <a:gradFill>
            <a:gsLst>
              <a:gs pos="0">
                <a:srgbClr val="38EF7D"/>
              </a:gs>
              <a:gs pos="100000">
                <a:srgbClr val="11998E"/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7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62D67D-95A8-A852-CF14-572C6CE00ED0}"/>
              </a:ext>
            </a:extLst>
          </p:cNvPr>
          <p:cNvSpPr/>
          <p:nvPr userDrawn="1"/>
        </p:nvSpPr>
        <p:spPr>
          <a:xfrm rot="5400000" flipV="1">
            <a:off x="8668476" y="-8672194"/>
            <a:ext cx="947328" cy="1829171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7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71CB91-0E23-8BF0-4ADC-5082D6650DF4}"/>
              </a:ext>
            </a:extLst>
          </p:cNvPr>
          <p:cNvSpPr txBox="1"/>
          <p:nvPr userDrawn="1"/>
        </p:nvSpPr>
        <p:spPr>
          <a:xfrm>
            <a:off x="360422" y="212135"/>
            <a:ext cx="61729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2400" b="1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AAD86C4-FCFD-9291-27AD-78AEB135B122}"/>
              </a:ext>
            </a:extLst>
          </p:cNvPr>
          <p:cNvGrpSpPr/>
          <p:nvPr userDrawn="1"/>
        </p:nvGrpSpPr>
        <p:grpSpPr>
          <a:xfrm>
            <a:off x="6719978" y="362541"/>
            <a:ext cx="4848045" cy="1152591"/>
            <a:chOff x="4280055" y="84406"/>
            <a:chExt cx="3631889" cy="863458"/>
          </a:xfrm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1CF0A3C9-A5C5-7885-0000-B445E4181054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2A842F66-7AA0-4602-5FF9-D5131812A65A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  <p:pic>
          <p:nvPicPr>
            <p:cNvPr id="16" name="Picture 15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B096FE08-51CC-1D46-80F1-45BD3824B12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7" name="Picture 16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id="{49B7CFC8-73D7-D65B-98B9-1026DEA3128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A207177-F45D-1E4B-327B-7ADB21C03E0D}"/>
              </a:ext>
            </a:extLst>
          </p:cNvPr>
          <p:cNvGrpSpPr/>
          <p:nvPr userDrawn="1"/>
        </p:nvGrpSpPr>
        <p:grpSpPr>
          <a:xfrm>
            <a:off x="17262339" y="9405383"/>
            <a:ext cx="819198" cy="819198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B944A9A0-279D-4287-22A6-B50BEFA9D41A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59E2F26-1088-5258-841C-AB0BAAE822E4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</p:grpSp>
      <p:sp>
        <p:nvSpPr>
          <p:cNvPr id="21" name="Freeform 20">
            <a:extLst>
              <a:ext uri="{FF2B5EF4-FFF2-40B4-BE49-F238E27FC236}">
                <a16:creationId xmlns:a16="http://schemas.microsoft.com/office/drawing/2014/main" id="{E418F7BB-B3EC-2462-55FF-B70CB9656121}"/>
              </a:ext>
            </a:extLst>
          </p:cNvPr>
          <p:cNvSpPr/>
          <p:nvPr userDrawn="1"/>
        </p:nvSpPr>
        <p:spPr>
          <a:xfrm>
            <a:off x="1" y="2128"/>
            <a:ext cx="18291719" cy="10295492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 sz="270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5614538" y="9534526"/>
            <a:ext cx="4114800" cy="547688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0161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9000" y="1466985"/>
            <a:ext cx="16470000" cy="1479600"/>
          </a:xfrm>
        </p:spPr>
        <p:txBody>
          <a:bodyPr>
            <a:normAutofit/>
          </a:bodyPr>
          <a:lstStyle>
            <a:lvl1pPr marL="0" indent="0" algn="l" defTabSz="1371600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lang="en-US" sz="6600" b="1" kern="1200" dirty="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20595-1D13-FB4B-A345-0906822BCC7D}" type="datetime3">
              <a:rPr lang="en-US" smtClean="0"/>
              <a:t>18 September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636FC2-729D-C9CA-CC90-21D4CBEC73A2}"/>
              </a:ext>
            </a:extLst>
          </p:cNvPr>
          <p:cNvSpPr/>
          <p:nvPr userDrawn="1"/>
        </p:nvSpPr>
        <p:spPr>
          <a:xfrm rot="5400000">
            <a:off x="8668478" y="-8670067"/>
            <a:ext cx="947328" cy="18291719"/>
          </a:xfrm>
          <a:prstGeom prst="rect">
            <a:avLst/>
          </a:prstGeom>
          <a:gradFill>
            <a:gsLst>
              <a:gs pos="0">
                <a:srgbClr val="38EF7D"/>
              </a:gs>
              <a:gs pos="100000">
                <a:srgbClr val="11998E"/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7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A385C0-495A-0190-FBE8-231CFC660C3A}"/>
              </a:ext>
            </a:extLst>
          </p:cNvPr>
          <p:cNvSpPr/>
          <p:nvPr userDrawn="1"/>
        </p:nvSpPr>
        <p:spPr>
          <a:xfrm rot="5400000" flipV="1">
            <a:off x="8668476" y="-8672194"/>
            <a:ext cx="947328" cy="1829171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7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6AA5F0-C810-9BFE-4A24-47254E96DDA4}"/>
              </a:ext>
            </a:extLst>
          </p:cNvPr>
          <p:cNvSpPr txBox="1"/>
          <p:nvPr userDrawn="1"/>
        </p:nvSpPr>
        <p:spPr>
          <a:xfrm>
            <a:off x="360422" y="212135"/>
            <a:ext cx="61729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2400" b="1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7F5DC64-C53E-D570-F572-A07974B9F1B5}"/>
              </a:ext>
            </a:extLst>
          </p:cNvPr>
          <p:cNvGrpSpPr/>
          <p:nvPr userDrawn="1"/>
        </p:nvGrpSpPr>
        <p:grpSpPr>
          <a:xfrm>
            <a:off x="6719978" y="362541"/>
            <a:ext cx="4848045" cy="1152591"/>
            <a:chOff x="4280055" y="84406"/>
            <a:chExt cx="3631889" cy="863458"/>
          </a:xfrm>
        </p:grpSpPr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FA9113C1-A485-B1D0-18A2-2B4ACB6C023B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581A74BC-FADD-5AAC-4592-F1F01A7FEE2B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  <p:pic>
          <p:nvPicPr>
            <p:cNvPr id="12" name="Picture 11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03279EC9-0774-3A5C-2866-2FEBE99211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3" name="Picture 12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id="{40729B2C-F0E2-C8ED-820D-2150BC392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AD48359-0185-411D-3829-537B58B51408}"/>
              </a:ext>
            </a:extLst>
          </p:cNvPr>
          <p:cNvGrpSpPr/>
          <p:nvPr userDrawn="1"/>
        </p:nvGrpSpPr>
        <p:grpSpPr>
          <a:xfrm>
            <a:off x="17262339" y="9405383"/>
            <a:ext cx="819198" cy="819198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E6F2E26B-6E6E-A080-698A-20804C4088BF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E87EB44-478E-3F0B-3713-00B3ED19FFD9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</p:grpSp>
      <p:sp>
        <p:nvSpPr>
          <p:cNvPr id="17" name="Freeform 16">
            <a:extLst>
              <a:ext uri="{FF2B5EF4-FFF2-40B4-BE49-F238E27FC236}">
                <a16:creationId xmlns:a16="http://schemas.microsoft.com/office/drawing/2014/main" id="{725A6CA3-8A6F-8240-FE9F-93A63D7F2742}"/>
              </a:ext>
            </a:extLst>
          </p:cNvPr>
          <p:cNvSpPr/>
          <p:nvPr userDrawn="1"/>
        </p:nvSpPr>
        <p:spPr>
          <a:xfrm>
            <a:off x="1" y="2128"/>
            <a:ext cx="18291719" cy="10295492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 sz="27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5614538" y="9534526"/>
            <a:ext cx="4114800" cy="547688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3860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D7E87-33E4-774F-A870-A86FB4A2E684}" type="datetime3">
              <a:rPr lang="en-US" smtClean="0"/>
              <a:t>18 September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7356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D7E87-33E4-774F-A870-A86FB4A2E684}" type="datetime3">
              <a:rPr lang="en-US" smtClean="0"/>
              <a:t>18 September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2214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D7E87-33E4-774F-A870-A86FB4A2E684}" type="datetime3">
              <a:rPr lang="en-US" smtClean="0"/>
              <a:t>18 September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62311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5840" y="1872298"/>
            <a:ext cx="6172199" cy="2099381"/>
          </a:xfrm>
        </p:spPr>
        <p:txBody>
          <a:bodyPr anchor="ctr">
            <a:noAutofit/>
          </a:bodyPr>
          <a:lstStyle>
            <a:lvl1pPr marL="0" indent="0" algn="l" defTabSz="1371600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lang="en-US" sz="6000" b="1" kern="1200" dirty="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871236"/>
            <a:ext cx="9487557" cy="7182836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85840" y="4165603"/>
            <a:ext cx="6172199" cy="4900376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C5163-90AE-AD4E-90CC-EF8132230884}" type="datetime3">
              <a:rPr lang="en-US" smtClean="0"/>
              <a:t>18 September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F4E612-1058-8C98-5698-29AC0F96CCFC}"/>
              </a:ext>
            </a:extLst>
          </p:cNvPr>
          <p:cNvSpPr/>
          <p:nvPr userDrawn="1"/>
        </p:nvSpPr>
        <p:spPr>
          <a:xfrm rot="5400000">
            <a:off x="8668478" y="-8670067"/>
            <a:ext cx="947328" cy="18291719"/>
          </a:xfrm>
          <a:prstGeom prst="rect">
            <a:avLst/>
          </a:prstGeom>
          <a:gradFill>
            <a:gsLst>
              <a:gs pos="0">
                <a:srgbClr val="38EF7D"/>
              </a:gs>
              <a:gs pos="100000">
                <a:srgbClr val="11998E"/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7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6C02E4-C8F1-CFE1-7D10-8623040C9C70}"/>
              </a:ext>
            </a:extLst>
          </p:cNvPr>
          <p:cNvSpPr/>
          <p:nvPr userDrawn="1"/>
        </p:nvSpPr>
        <p:spPr>
          <a:xfrm rot="5400000" flipV="1">
            <a:off x="8668476" y="-8672194"/>
            <a:ext cx="947328" cy="1829171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7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41C53F-A49B-53F0-C3F1-679406363096}"/>
              </a:ext>
            </a:extLst>
          </p:cNvPr>
          <p:cNvSpPr txBox="1"/>
          <p:nvPr userDrawn="1"/>
        </p:nvSpPr>
        <p:spPr>
          <a:xfrm>
            <a:off x="360422" y="212135"/>
            <a:ext cx="61729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2400" b="1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4D11EC5-BDDA-E9D0-4DEA-3DF925376418}"/>
              </a:ext>
            </a:extLst>
          </p:cNvPr>
          <p:cNvGrpSpPr/>
          <p:nvPr userDrawn="1"/>
        </p:nvGrpSpPr>
        <p:grpSpPr>
          <a:xfrm>
            <a:off x="6719978" y="362541"/>
            <a:ext cx="4848045" cy="1152591"/>
            <a:chOff x="4280055" y="84406"/>
            <a:chExt cx="3631889" cy="863458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1D52B6A8-0087-00B0-3232-F07D0531A071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4A6EF4E7-68D7-4757-F5BC-40A00600395C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  <p:pic>
          <p:nvPicPr>
            <p:cNvPr id="14" name="Picture 13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FF366716-D0A3-BA9D-EAEF-1DD9CCC2F25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5" name="Picture 14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id="{B3C5B766-CE3D-A784-0576-67400911DFF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CC0EBB2-4B0D-F995-4530-D9916005BC53}"/>
              </a:ext>
            </a:extLst>
          </p:cNvPr>
          <p:cNvGrpSpPr/>
          <p:nvPr userDrawn="1"/>
        </p:nvGrpSpPr>
        <p:grpSpPr>
          <a:xfrm>
            <a:off x="17262339" y="9405383"/>
            <a:ext cx="819198" cy="819198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3F1E5B57-26E0-13A1-B4C3-FBB674F761F8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01CDAB9-F5F1-D42C-1271-4A7D18D9DC06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</p:grpSp>
      <p:sp>
        <p:nvSpPr>
          <p:cNvPr id="19" name="Freeform 18">
            <a:extLst>
              <a:ext uri="{FF2B5EF4-FFF2-40B4-BE49-F238E27FC236}">
                <a16:creationId xmlns:a16="http://schemas.microsoft.com/office/drawing/2014/main" id="{2AB873A6-A6DD-3337-0E8F-2FC03C939D1C}"/>
              </a:ext>
            </a:extLst>
          </p:cNvPr>
          <p:cNvSpPr/>
          <p:nvPr userDrawn="1"/>
        </p:nvSpPr>
        <p:spPr>
          <a:xfrm>
            <a:off x="1" y="2128"/>
            <a:ext cx="18291719" cy="10295492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 sz="270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5614538" y="9534526"/>
            <a:ext cx="4114800" cy="547688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51222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5840" y="1906049"/>
            <a:ext cx="6172199" cy="1743270"/>
          </a:xfrm>
        </p:spPr>
        <p:txBody>
          <a:bodyPr anchor="ctr">
            <a:noAutofit/>
          </a:bodyPr>
          <a:lstStyle>
            <a:lvl1pPr marL="0" indent="0" algn="l" defTabSz="1371600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lang="en-US" sz="6000" b="1" kern="1200" dirty="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1906049"/>
            <a:ext cx="9487557" cy="7194743"/>
          </a:xfrm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85840" y="3842181"/>
            <a:ext cx="6172199" cy="5258610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3818E-E997-CB43-BA3A-7A12F66A1845}" type="datetime3">
              <a:rPr lang="en-US" smtClean="0"/>
              <a:t>18 September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772E24-BD94-18AA-FD01-31FA7CF5560F}"/>
              </a:ext>
            </a:extLst>
          </p:cNvPr>
          <p:cNvSpPr/>
          <p:nvPr userDrawn="1"/>
        </p:nvSpPr>
        <p:spPr>
          <a:xfrm rot="5400000">
            <a:off x="8668478" y="-8670067"/>
            <a:ext cx="947328" cy="18291719"/>
          </a:xfrm>
          <a:prstGeom prst="rect">
            <a:avLst/>
          </a:prstGeom>
          <a:gradFill>
            <a:gsLst>
              <a:gs pos="0">
                <a:srgbClr val="38EF7D"/>
              </a:gs>
              <a:gs pos="100000">
                <a:srgbClr val="11998E"/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7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E4A83D-52D2-F989-EF30-67F8142259A4}"/>
              </a:ext>
            </a:extLst>
          </p:cNvPr>
          <p:cNvSpPr/>
          <p:nvPr userDrawn="1"/>
        </p:nvSpPr>
        <p:spPr>
          <a:xfrm rot="5400000" flipV="1">
            <a:off x="8668476" y="-8672194"/>
            <a:ext cx="947328" cy="1829171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7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0737FF-EF11-8E07-04CA-FAD856E16DB6}"/>
              </a:ext>
            </a:extLst>
          </p:cNvPr>
          <p:cNvSpPr txBox="1"/>
          <p:nvPr userDrawn="1"/>
        </p:nvSpPr>
        <p:spPr>
          <a:xfrm>
            <a:off x="360422" y="212135"/>
            <a:ext cx="61729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2400" b="1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AD20DF5-E25A-3691-7DBA-3D6427D54E16}"/>
              </a:ext>
            </a:extLst>
          </p:cNvPr>
          <p:cNvGrpSpPr/>
          <p:nvPr userDrawn="1"/>
        </p:nvGrpSpPr>
        <p:grpSpPr>
          <a:xfrm>
            <a:off x="6719978" y="362541"/>
            <a:ext cx="4848045" cy="1152591"/>
            <a:chOff x="4280055" y="84406"/>
            <a:chExt cx="3631889" cy="863458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667AD773-D1F6-2C2E-459A-06DB6685C3FB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638EDDB1-984D-1061-4FC7-D2B6F17C5211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  <p:pic>
          <p:nvPicPr>
            <p:cNvPr id="14" name="Picture 13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E076CEEA-0F0E-CB1E-716A-FD615E82AB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5" name="Picture 14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id="{AE0E7314-9B82-0D4E-10FD-26E7AC94AE8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87DE05D-821F-6133-B08D-FBA35FA266C4}"/>
              </a:ext>
            </a:extLst>
          </p:cNvPr>
          <p:cNvGrpSpPr/>
          <p:nvPr userDrawn="1"/>
        </p:nvGrpSpPr>
        <p:grpSpPr>
          <a:xfrm>
            <a:off x="17262339" y="9405383"/>
            <a:ext cx="819198" cy="819198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20B1677-C94F-846B-77EE-9A193D11F54B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5A92C3F-4715-4909-6588-378EC050C246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</p:grpSp>
      <p:sp>
        <p:nvSpPr>
          <p:cNvPr id="19" name="Freeform 18">
            <a:extLst>
              <a:ext uri="{FF2B5EF4-FFF2-40B4-BE49-F238E27FC236}">
                <a16:creationId xmlns:a16="http://schemas.microsoft.com/office/drawing/2014/main" id="{AC99D0E8-C446-4E6E-2E7F-3C5E6A007D9D}"/>
              </a:ext>
            </a:extLst>
          </p:cNvPr>
          <p:cNvSpPr/>
          <p:nvPr userDrawn="1"/>
        </p:nvSpPr>
        <p:spPr>
          <a:xfrm>
            <a:off x="1" y="2128"/>
            <a:ext cx="18291719" cy="10295492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 sz="270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5614538" y="9534526"/>
            <a:ext cx="4114800" cy="547688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8312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7300" y="1394642"/>
            <a:ext cx="15773400" cy="1164822"/>
          </a:xfrm>
        </p:spPr>
        <p:txBody>
          <a:bodyPr>
            <a:normAutofit/>
          </a:bodyPr>
          <a:lstStyle>
            <a:lvl1pPr marL="0" indent="0" algn="l" defTabSz="1371600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lang="en-US" sz="6600" b="1" kern="1200" dirty="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2688607"/>
            <a:ext cx="15773400" cy="657683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C75B1-5554-9E4B-9A38-5905F72F5940}" type="datetime3">
              <a:rPr lang="en-US" smtClean="0"/>
              <a:t>18 September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DC0A23-1328-52C6-A081-D12BD93902E5}"/>
              </a:ext>
            </a:extLst>
          </p:cNvPr>
          <p:cNvSpPr/>
          <p:nvPr userDrawn="1"/>
        </p:nvSpPr>
        <p:spPr>
          <a:xfrm rot="5400000">
            <a:off x="8668478" y="-8670067"/>
            <a:ext cx="947328" cy="18291719"/>
          </a:xfrm>
          <a:prstGeom prst="rect">
            <a:avLst/>
          </a:prstGeom>
          <a:gradFill>
            <a:gsLst>
              <a:gs pos="0">
                <a:srgbClr val="38EF7D"/>
              </a:gs>
              <a:gs pos="100000">
                <a:srgbClr val="11998E"/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7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CE3DD9-51D1-E19D-3E06-90C65EDEDC8F}"/>
              </a:ext>
            </a:extLst>
          </p:cNvPr>
          <p:cNvSpPr/>
          <p:nvPr userDrawn="1"/>
        </p:nvSpPr>
        <p:spPr>
          <a:xfrm rot="5400000" flipV="1">
            <a:off x="8668476" y="-8672194"/>
            <a:ext cx="947328" cy="1829171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7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BB84F3-1D66-E2E8-E826-723A4E767341}"/>
              </a:ext>
            </a:extLst>
          </p:cNvPr>
          <p:cNvSpPr txBox="1"/>
          <p:nvPr userDrawn="1"/>
        </p:nvSpPr>
        <p:spPr>
          <a:xfrm>
            <a:off x="360422" y="212135"/>
            <a:ext cx="61729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2400" b="1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CEAF201-E1DC-4486-4B93-4B7F751A4654}"/>
              </a:ext>
            </a:extLst>
          </p:cNvPr>
          <p:cNvGrpSpPr/>
          <p:nvPr userDrawn="1"/>
        </p:nvGrpSpPr>
        <p:grpSpPr>
          <a:xfrm>
            <a:off x="6719978" y="362541"/>
            <a:ext cx="4848045" cy="1152591"/>
            <a:chOff x="4280055" y="84406"/>
            <a:chExt cx="3631889" cy="863458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E5497DE0-0B16-BC6B-6FF5-9B929CD769D5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329FDB57-B8ED-7771-901B-1E7618CEFA1A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  <p:pic>
          <p:nvPicPr>
            <p:cNvPr id="13" name="Picture 12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70695794-09CF-65D2-FE84-CDEAC81942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4" name="Picture 13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id="{07E79F0D-50D3-99AC-B977-26D27AD098B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6E71496-B352-9AE6-2AFB-7F84245DBA7F}"/>
              </a:ext>
            </a:extLst>
          </p:cNvPr>
          <p:cNvGrpSpPr/>
          <p:nvPr userDrawn="1"/>
        </p:nvGrpSpPr>
        <p:grpSpPr>
          <a:xfrm>
            <a:off x="17262339" y="9405383"/>
            <a:ext cx="819198" cy="819198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41E81DB-4E8D-E98B-BF91-1CFFC0BAEBDF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33025DD8-AFB9-10B6-DDE8-D2282F9E5CE3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</p:grpSp>
      <p:sp>
        <p:nvSpPr>
          <p:cNvPr id="18" name="Freeform 17">
            <a:extLst>
              <a:ext uri="{FF2B5EF4-FFF2-40B4-BE49-F238E27FC236}">
                <a16:creationId xmlns:a16="http://schemas.microsoft.com/office/drawing/2014/main" id="{4F0D81A6-FA21-21F6-FF6F-EFBBD913E859}"/>
              </a:ext>
            </a:extLst>
          </p:cNvPr>
          <p:cNvSpPr/>
          <p:nvPr userDrawn="1"/>
        </p:nvSpPr>
        <p:spPr>
          <a:xfrm>
            <a:off x="1" y="2128"/>
            <a:ext cx="18291719" cy="10295492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 sz="27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5614538" y="9534526"/>
            <a:ext cx="4114800" cy="547688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5242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1557632"/>
            <a:ext cx="3943350" cy="7707813"/>
          </a:xfrm>
        </p:spPr>
        <p:txBody>
          <a:bodyPr vert="eaVert">
            <a:normAutofit/>
          </a:bodyPr>
          <a:lstStyle>
            <a:lvl1pPr marL="0" indent="0" algn="l" defTabSz="1371600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lang="en-US" sz="6600" b="1" kern="1200" dirty="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1557632"/>
            <a:ext cx="11601450" cy="77078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64986-AD58-F748-BD5B-19DAFB14C4B2}" type="datetime3">
              <a:rPr lang="en-US" smtClean="0"/>
              <a:t>18 September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7F3936-136F-C194-2C47-66CE68C8B563}"/>
              </a:ext>
            </a:extLst>
          </p:cNvPr>
          <p:cNvSpPr/>
          <p:nvPr userDrawn="1"/>
        </p:nvSpPr>
        <p:spPr>
          <a:xfrm rot="5400000">
            <a:off x="8668478" y="-8670067"/>
            <a:ext cx="947328" cy="18291719"/>
          </a:xfrm>
          <a:prstGeom prst="rect">
            <a:avLst/>
          </a:prstGeom>
          <a:gradFill>
            <a:gsLst>
              <a:gs pos="0">
                <a:srgbClr val="38EF7D"/>
              </a:gs>
              <a:gs pos="100000">
                <a:srgbClr val="11998E"/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7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AECB53-429D-BB1E-41F9-39259E111926}"/>
              </a:ext>
            </a:extLst>
          </p:cNvPr>
          <p:cNvSpPr/>
          <p:nvPr userDrawn="1"/>
        </p:nvSpPr>
        <p:spPr>
          <a:xfrm rot="5400000" flipV="1">
            <a:off x="8668476" y="-8672194"/>
            <a:ext cx="947328" cy="1829171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7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02EFEB-91F7-F4A9-6DC7-57C29D79F9F9}"/>
              </a:ext>
            </a:extLst>
          </p:cNvPr>
          <p:cNvSpPr txBox="1"/>
          <p:nvPr userDrawn="1"/>
        </p:nvSpPr>
        <p:spPr>
          <a:xfrm>
            <a:off x="360422" y="212135"/>
            <a:ext cx="61729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2400" b="1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8202369-F8E5-A40E-96BF-5D9E8B5F1F16}"/>
              </a:ext>
            </a:extLst>
          </p:cNvPr>
          <p:cNvGrpSpPr/>
          <p:nvPr userDrawn="1"/>
        </p:nvGrpSpPr>
        <p:grpSpPr>
          <a:xfrm>
            <a:off x="6719978" y="362541"/>
            <a:ext cx="4848045" cy="1152591"/>
            <a:chOff x="4280055" y="84406"/>
            <a:chExt cx="3631889" cy="863458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548153D4-0D7E-5E40-CC29-BA0D3438A6E0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25D12D13-7CA6-581B-369D-0786B7CDA747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  <p:pic>
          <p:nvPicPr>
            <p:cNvPr id="13" name="Picture 12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C7D78A2B-7E0F-7276-F0FD-6896232239F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4" name="Picture 13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id="{774A90A5-5FD0-9383-6265-C82BA61F99A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4949A0B-E506-5DE7-2A23-C2CA5436DE0A}"/>
              </a:ext>
            </a:extLst>
          </p:cNvPr>
          <p:cNvGrpSpPr/>
          <p:nvPr userDrawn="1"/>
        </p:nvGrpSpPr>
        <p:grpSpPr>
          <a:xfrm>
            <a:off x="17262339" y="9405383"/>
            <a:ext cx="819198" cy="819198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D395D56-A0D5-B2F3-8B05-9F07E63BF0C4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BF5558D-A677-95F7-5700-2D1E71FBD838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sz="2700"/>
            </a:p>
          </p:txBody>
        </p:sp>
      </p:grpSp>
      <p:sp>
        <p:nvSpPr>
          <p:cNvPr id="18" name="Freeform 17">
            <a:extLst>
              <a:ext uri="{FF2B5EF4-FFF2-40B4-BE49-F238E27FC236}">
                <a16:creationId xmlns:a16="http://schemas.microsoft.com/office/drawing/2014/main" id="{A797F9EA-0DAE-4EA8-F91E-D25EC18E94F5}"/>
              </a:ext>
            </a:extLst>
          </p:cNvPr>
          <p:cNvSpPr/>
          <p:nvPr userDrawn="1"/>
        </p:nvSpPr>
        <p:spPr>
          <a:xfrm>
            <a:off x="1" y="2128"/>
            <a:ext cx="18291719" cy="10295492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 sz="27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5614538" y="9534526"/>
            <a:ext cx="4114800" cy="547688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407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23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2.xml"/><Relationship Id="rId16" Type="http://schemas.openxmlformats.org/officeDocument/2006/relationships/slideLayout" Target="../slideLayouts/slideLayout26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5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4">
            <a:extLst>
              <a:ext uri="{FF2B5EF4-FFF2-40B4-BE49-F238E27FC236}">
                <a16:creationId xmlns:a16="http://schemas.microsoft.com/office/drawing/2014/main" id="{BD1F16B6-9994-4945-8F13-8B8D2692B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64">
            <a:extLst>
              <a:ext uri="{FF2B5EF4-FFF2-40B4-BE49-F238E27FC236}">
                <a16:creationId xmlns:a16="http://schemas.microsoft.com/office/drawing/2014/main" id="{57CE1742-94B0-447A-89AB-BE98C11DA1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marR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8" name="Google Shape;8;p64">
            <a:extLst>
              <a:ext uri="{FF2B5EF4-FFF2-40B4-BE49-F238E27FC236}">
                <a16:creationId xmlns:a16="http://schemas.microsoft.com/office/drawing/2014/main" id="{8D980AC8-2F2D-4901-B6BB-EDC82B03E01D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fld id="{BBD77B81-646D-488F-BE8D-2CAA9DA7A2B1}" type="datetime1">
              <a:rPr lang="en-US" smtClean="0"/>
              <a:t>9/18/2026</a:t>
            </a:fld>
            <a:endParaRPr/>
          </a:p>
        </p:txBody>
      </p:sp>
      <p:sp>
        <p:nvSpPr>
          <p:cNvPr id="9" name="Google Shape;9;p64">
            <a:extLst>
              <a:ext uri="{FF2B5EF4-FFF2-40B4-BE49-F238E27FC236}">
                <a16:creationId xmlns:a16="http://schemas.microsoft.com/office/drawing/2014/main" id="{9C7C7118-0817-4BFD-A08B-B1D8C828F32F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10" name="Google Shape;10;p64">
            <a:extLst>
              <a:ext uri="{FF2B5EF4-FFF2-40B4-BE49-F238E27FC236}">
                <a16:creationId xmlns:a16="http://schemas.microsoft.com/office/drawing/2014/main" id="{BDF890DE-63EB-425F-BAD1-3168563CBC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hdr="0" ftr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9Slide.vn - 2019">
            <a:extLst>
              <a:ext uri="{FF2B5EF4-FFF2-40B4-BE49-F238E27FC236}">
                <a16:creationId xmlns:a16="http://schemas.microsoft.com/office/drawing/2014/main" id="{2E2EF8C9-F38D-9516-1D87-18E6996ECB8C}"/>
              </a:ext>
            </a:extLst>
          </p:cNvPr>
          <p:cNvSpPr txBox="1"/>
          <p:nvPr userDrawn="1"/>
        </p:nvSpPr>
        <p:spPr>
          <a:xfrm>
            <a:off x="0" y="-2314665"/>
            <a:ext cx="18288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3000">
                <a:solidFill>
                  <a:srgbClr val="C3C3C3"/>
                </a:solidFill>
              </a:rPr>
              <a:t>www.9slide.vn</a:t>
            </a:r>
            <a:endParaRPr lang="en-VN" sz="3000">
              <a:solidFill>
                <a:srgbClr val="C3C3C3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7EE0CA-0453-9B47-838C-B39080F57770}" type="datetime3">
              <a:rPr lang="en-US" smtClean="0"/>
              <a:t>18 September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Copyrights 2024 CE-UIT.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/>
              <a:t>‹#›</a:t>
            </a:fld>
            <a:endParaRPr lang="en-US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F631ED36-F92A-CE11-0084-292D548DE0CF}"/>
              </a:ext>
            </a:extLst>
          </p:cNvPr>
          <p:cNvSpPr/>
          <p:nvPr userDrawn="1"/>
        </p:nvSpPr>
        <p:spPr>
          <a:xfrm>
            <a:off x="1" y="2128"/>
            <a:ext cx="18291719" cy="10295492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 sz="2700"/>
          </a:p>
        </p:txBody>
      </p:sp>
    </p:spTree>
    <p:extLst>
      <p:ext uri="{BB962C8B-B14F-4D97-AF65-F5344CB8AC3E}">
        <p14:creationId xmlns:p14="http://schemas.microsoft.com/office/powerpoint/2010/main" val="3223135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dt="0"/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>
            <a:extLst>
              <a:ext uri="{FF2B5EF4-FFF2-40B4-BE49-F238E27FC236}">
                <a16:creationId xmlns:a16="http://schemas.microsoft.com/office/drawing/2014/main" id="{B2DCE872-5EC7-FDE7-A471-67B7338CD750}"/>
              </a:ext>
            </a:extLst>
          </p:cNvPr>
          <p:cNvSpPr>
            <a:spLocks noGrp="1"/>
          </p:cNvSpPr>
          <p:nvPr/>
        </p:nvSpPr>
        <p:spPr>
          <a:xfrm>
            <a:off x="-36213" y="0"/>
            <a:ext cx="789388" cy="10287000"/>
          </a:xfrm>
          <a:custGeom>
            <a:avLst/>
            <a:gdLst/>
            <a:ahLst/>
            <a:cxnLst/>
            <a:rect l="l" t="t" r="r" b="b"/>
            <a:pathLst>
              <a:path w="1267460" h="13716000">
                <a:moveTo>
                  <a:pt x="0" y="0"/>
                </a:moveTo>
                <a:lnTo>
                  <a:pt x="1267460" y="0"/>
                </a:lnTo>
                <a:lnTo>
                  <a:pt x="1267460" y="13716000"/>
                </a:lnTo>
                <a:lnTo>
                  <a:pt x="0" y="13716000"/>
                </a:lnTo>
                <a:close/>
              </a:path>
            </a:pathLst>
          </a:custGeom>
          <a:gradFill>
            <a:gsLst>
              <a:gs pos="0">
                <a:srgbClr val="10CD57"/>
              </a:gs>
              <a:gs pos="100000">
                <a:srgbClr val="027159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9" name="Google Shape;89;p1">
            <a:extLst>
              <a:ext uri="{FF2B5EF4-FFF2-40B4-BE49-F238E27FC236}">
                <a16:creationId xmlns:a16="http://schemas.microsoft.com/office/drawing/2014/main" id="{F209E95F-FC29-42FA-0AB7-934A412D145F}"/>
              </a:ext>
            </a:extLst>
          </p:cNvPr>
          <p:cNvSpPr>
            <a:spLocks noGrp="1"/>
          </p:cNvSpPr>
          <p:nvPr/>
        </p:nvSpPr>
        <p:spPr>
          <a:xfrm rot="10800000" flipH="1">
            <a:off x="-46871" y="0"/>
            <a:ext cx="714044" cy="10287000"/>
          </a:xfrm>
          <a:custGeom>
            <a:avLst/>
            <a:gdLst/>
            <a:ahLst/>
            <a:cxnLst/>
            <a:rect l="l" t="t" r="r" b="b"/>
            <a:pathLst>
              <a:path w="1267460" h="13716000">
                <a:moveTo>
                  <a:pt x="0" y="0"/>
                </a:moveTo>
                <a:lnTo>
                  <a:pt x="1267460" y="0"/>
                </a:lnTo>
                <a:lnTo>
                  <a:pt x="1267460" y="13716000"/>
                </a:lnTo>
                <a:lnTo>
                  <a:pt x="0" y="137160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2950" r="-2951"/>
            </a:stretch>
          </a:blip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2" name="Google Shape;92;p1">
            <a:extLst>
              <a:ext uri="{FF2B5EF4-FFF2-40B4-BE49-F238E27FC236}">
                <a16:creationId xmlns:a16="http://schemas.microsoft.com/office/drawing/2014/main" id="{97421035-DF72-0EE9-42AB-BB512D0EACCC}"/>
              </a:ext>
            </a:extLst>
          </p:cNvPr>
          <p:cNvSpPr>
            <a:spLocks noGrp="1"/>
          </p:cNvSpPr>
          <p:nvPr/>
        </p:nvSpPr>
        <p:spPr>
          <a:xfrm rot="16200000">
            <a:off x="-2734402" y="6615396"/>
            <a:ext cx="6259599" cy="54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FACULTY OF COMPUTER ENGINEERING</a:t>
            </a:r>
            <a:endParaRPr sz="2200"/>
          </a:p>
        </p:txBody>
      </p:sp>
      <p:sp>
        <p:nvSpPr>
          <p:cNvPr id="94" name="Google Shape;94;p1">
            <a:extLst>
              <a:ext uri="{FF2B5EF4-FFF2-40B4-BE49-F238E27FC236}">
                <a16:creationId xmlns:a16="http://schemas.microsoft.com/office/drawing/2014/main" id="{2865E276-16FB-9F77-A512-ABE50A4B8220}"/>
              </a:ext>
            </a:extLst>
          </p:cNvPr>
          <p:cNvSpPr>
            <a:spLocks noGrp="1"/>
          </p:cNvSpPr>
          <p:nvPr/>
        </p:nvSpPr>
        <p:spPr>
          <a:xfrm>
            <a:off x="6719978" y="445698"/>
            <a:ext cx="4848130" cy="958025"/>
          </a:xfrm>
          <a:custGeom>
            <a:avLst/>
            <a:gdLst/>
            <a:ahLst/>
            <a:cxnLst/>
            <a:rect l="l" t="t" r="r" b="b"/>
            <a:pathLst>
              <a:path w="6464173" h="1277366">
                <a:moveTo>
                  <a:pt x="0" y="638683"/>
                </a:moveTo>
                <a:cubicBezTo>
                  <a:pt x="0" y="285877"/>
                  <a:pt x="285877" y="0"/>
                  <a:pt x="638683" y="0"/>
                </a:cubicBezTo>
                <a:lnTo>
                  <a:pt x="5825490" y="0"/>
                </a:lnTo>
                <a:cubicBezTo>
                  <a:pt x="6178169" y="0"/>
                  <a:pt x="6464173" y="285877"/>
                  <a:pt x="6464173" y="638683"/>
                </a:cubicBezTo>
                <a:cubicBezTo>
                  <a:pt x="6464173" y="991489"/>
                  <a:pt x="6178296" y="1277366"/>
                  <a:pt x="5825490" y="1277366"/>
                </a:cubicBezTo>
                <a:lnTo>
                  <a:pt x="638683" y="1277366"/>
                </a:lnTo>
                <a:cubicBezTo>
                  <a:pt x="285877" y="1277239"/>
                  <a:pt x="0" y="991362"/>
                  <a:pt x="0" y="638683"/>
                </a:cubicBezTo>
                <a:close/>
              </a:path>
            </a:pathLst>
          </a:custGeom>
          <a:gradFill>
            <a:gsLst>
              <a:gs pos="0">
                <a:srgbClr val="38EF7D"/>
              </a:gs>
              <a:gs pos="100000">
                <a:srgbClr val="752AFF"/>
              </a:gs>
            </a:gsLst>
            <a:lin ang="4729360" scaled="0"/>
          </a:gra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5" name="Google Shape;95;p1">
            <a:extLst>
              <a:ext uri="{FF2B5EF4-FFF2-40B4-BE49-F238E27FC236}">
                <a16:creationId xmlns:a16="http://schemas.microsoft.com/office/drawing/2014/main" id="{0495937E-9E77-B490-2BE5-AEDF4E6CB720}"/>
              </a:ext>
            </a:extLst>
          </p:cNvPr>
          <p:cNvSpPr>
            <a:spLocks noGrp="1"/>
          </p:cNvSpPr>
          <p:nvPr/>
        </p:nvSpPr>
        <p:spPr>
          <a:xfrm>
            <a:off x="6807463" y="523733"/>
            <a:ext cx="4673060" cy="801909"/>
          </a:xfrm>
          <a:custGeom>
            <a:avLst/>
            <a:gdLst/>
            <a:ahLst/>
            <a:cxnLst/>
            <a:rect l="l" t="t" r="r" b="b"/>
            <a:pathLst>
              <a:path w="6230747" h="1069213">
                <a:moveTo>
                  <a:pt x="0" y="534543"/>
                </a:moveTo>
                <a:cubicBezTo>
                  <a:pt x="0" y="239395"/>
                  <a:pt x="239395" y="0"/>
                  <a:pt x="534543" y="0"/>
                </a:cubicBezTo>
                <a:lnTo>
                  <a:pt x="5696204" y="0"/>
                </a:lnTo>
                <a:cubicBezTo>
                  <a:pt x="5991479" y="0"/>
                  <a:pt x="6230747" y="239395"/>
                  <a:pt x="6230747" y="534543"/>
                </a:cubicBezTo>
                <a:cubicBezTo>
                  <a:pt x="6230747" y="829691"/>
                  <a:pt x="5991352" y="1069086"/>
                  <a:pt x="5696204" y="1069086"/>
                </a:cubicBezTo>
                <a:lnTo>
                  <a:pt x="534543" y="1069086"/>
                </a:lnTo>
                <a:cubicBezTo>
                  <a:pt x="239395" y="1069213"/>
                  <a:pt x="0" y="829818"/>
                  <a:pt x="0" y="53454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6" name="Google Shape;96;p1">
            <a:extLst>
              <a:ext uri="{FF2B5EF4-FFF2-40B4-BE49-F238E27FC236}">
                <a16:creationId xmlns:a16="http://schemas.microsoft.com/office/drawing/2014/main" id="{087584D7-002B-886B-5EB8-D820F4F91E63}"/>
              </a:ext>
            </a:extLst>
          </p:cNvPr>
          <p:cNvSpPr>
            <a:spLocks noGrp="1"/>
          </p:cNvSpPr>
          <p:nvPr/>
        </p:nvSpPr>
        <p:spPr>
          <a:xfrm>
            <a:off x="9436446" y="350307"/>
            <a:ext cx="1163307" cy="1152591"/>
          </a:xfrm>
          <a:custGeom>
            <a:avLst/>
            <a:gdLst/>
            <a:ahLst/>
            <a:cxnLst/>
            <a:rect l="l" t="t" r="r" b="b"/>
            <a:pathLst>
              <a:path w="1163307" h="1152591">
                <a:moveTo>
                  <a:pt x="0" y="0"/>
                </a:moveTo>
                <a:lnTo>
                  <a:pt x="1163307" y="0"/>
                </a:lnTo>
                <a:lnTo>
                  <a:pt x="1163307" y="1152591"/>
                </a:lnTo>
                <a:lnTo>
                  <a:pt x="0" y="11525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73" r="-72"/>
            </a:stretch>
          </a:blip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7" name="Google Shape;97;p1">
            <a:extLst>
              <a:ext uri="{FF2B5EF4-FFF2-40B4-BE49-F238E27FC236}">
                <a16:creationId xmlns:a16="http://schemas.microsoft.com/office/drawing/2014/main" id="{46003153-ED0F-8790-E89B-1E619EE381FE}"/>
              </a:ext>
            </a:extLst>
          </p:cNvPr>
          <p:cNvSpPr>
            <a:spLocks noGrp="1"/>
          </p:cNvSpPr>
          <p:nvPr/>
        </p:nvSpPr>
        <p:spPr>
          <a:xfrm>
            <a:off x="7688248" y="385842"/>
            <a:ext cx="1307514" cy="1081521"/>
          </a:xfrm>
          <a:custGeom>
            <a:avLst/>
            <a:gdLst/>
            <a:ahLst/>
            <a:cxnLst/>
            <a:rect l="l" t="t" r="r" b="b"/>
            <a:pathLst>
              <a:path w="1307514" h="1081521">
                <a:moveTo>
                  <a:pt x="0" y="0"/>
                </a:moveTo>
                <a:lnTo>
                  <a:pt x="1307514" y="0"/>
                </a:lnTo>
                <a:lnTo>
                  <a:pt x="1307514" y="1081521"/>
                </a:lnTo>
                <a:lnTo>
                  <a:pt x="0" y="10815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t="-74" b="-73"/>
            </a:stretch>
          </a:blip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8" name="BẢO VỆ ĐỀ CƯƠNG KHÓA LUẬN TỐT NGHIỆP">
            <a:extLst>
              <a:ext uri="{FF2B5EF4-FFF2-40B4-BE49-F238E27FC236}">
                <a16:creationId xmlns:a16="http://schemas.microsoft.com/office/drawing/2014/main" id="{89A9B6D1-6F3F-4CA7-9D33-4AFD6F7BB69B}"/>
              </a:ext>
            </a:extLst>
          </p:cNvPr>
          <p:cNvSpPr>
            <a:spLocks noGrp="1"/>
          </p:cNvSpPr>
          <p:nvPr/>
        </p:nvSpPr>
        <p:spPr>
          <a:xfrm>
            <a:off x="2047875" y="2571750"/>
            <a:ext cx="14668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3600" b="1">
                <a:solidFill>
                  <a:srgbClr val="079D9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79D93"/>
                </a:solidFill>
                <a:latin typeface="Arial"/>
                <a:ea typeface="Arial"/>
                <a:cs typeface="Arial"/>
              </a:rPr>
              <a:t>BẢO VỆ ĐỀ CƯƠNG KHÓA LUẬN TỐT NGHIỆP</a:t>
            </a:r>
          </a:p>
        </p:txBody>
      </p:sp>
      <p:sp>
        <p:nvSpPr>
          <p:cNvPr id="99" name="THIẾT KẾ BỘ VI XỬ LÝ 4 LÕI RISC-V&#10;DỰA TRÊN KIẾN TRÚC TẬP LỆNH RV32IMA">
            <a:extLst>
              <a:ext uri="{FF2B5EF4-FFF2-40B4-BE49-F238E27FC236}">
                <a16:creationId xmlns:a16="http://schemas.microsoft.com/office/drawing/2014/main" id="{9EBB4BB5-32DD-41BC-B570-A1CD3383BE3D}"/>
              </a:ext>
            </a:extLst>
          </p:cNvPr>
          <p:cNvSpPr>
            <a:spLocks noGrp="1"/>
          </p:cNvSpPr>
          <p:nvPr/>
        </p:nvSpPr>
        <p:spPr>
          <a:xfrm>
            <a:off x="1714500" y="3857625"/>
            <a:ext cx="15240000" cy="1476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4050" b="1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THIẾT KẾ BỘ VI XỬ LÝ 4 LÕI RISC-V</a:t>
            </a:r>
          </a:p>
          <a:p>
            <a:pPr algn="ctr">
              <a:defRPr sz="4050" b="1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DỰA TRÊN KIẾN TRÚC TẬP LỆNH RV32IMA</a:t>
            </a:r>
          </a:p>
        </p:txBody>
      </p:sp>
      <p:sp>
        <p:nvSpPr>
          <p:cNvPr id="100" name="GVHD: TS. Nguyễn Minh Sơn">
            <a:extLst>
              <a:ext uri="{FF2B5EF4-FFF2-40B4-BE49-F238E27FC236}">
                <a16:creationId xmlns:a16="http://schemas.microsoft.com/office/drawing/2014/main" id="{6FACAEBC-C45F-4D5B-81EC-8EFA6CA38B09}"/>
              </a:ext>
            </a:extLst>
          </p:cNvPr>
          <p:cNvSpPr>
            <a:spLocks noGrp="1"/>
          </p:cNvSpPr>
          <p:nvPr/>
        </p:nvSpPr>
        <p:spPr>
          <a:xfrm>
            <a:off x="2190750" y="6191250"/>
            <a:ext cx="141922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150" b="1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GVHD: TS. Nguyễn Minh Sơn</a:t>
            </a:r>
          </a:p>
        </p:txBody>
      </p:sp>
      <p:sp>
        <p:nvSpPr>
          <p:cNvPr id="101" name="Vũ Thành Lam">
            <a:extLst>
              <a:ext uri="{FF2B5EF4-FFF2-40B4-BE49-F238E27FC236}">
                <a16:creationId xmlns:a16="http://schemas.microsoft.com/office/drawing/2014/main" id="{37717B85-FEE2-45EB-A3B3-604C2F809ECF}"/>
              </a:ext>
            </a:extLst>
          </p:cNvPr>
          <p:cNvSpPr>
            <a:spLocks noGrp="1"/>
          </p:cNvSpPr>
          <p:nvPr/>
        </p:nvSpPr>
        <p:spPr>
          <a:xfrm>
            <a:off x="2190750" y="7067550"/>
            <a:ext cx="685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000" b="1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A2A"/>
                </a:solidFill>
                <a:latin typeface="Arial"/>
                <a:ea typeface="Arial"/>
                <a:cs typeface="Arial"/>
              </a:rPr>
              <a:t>Vũ Thành Lam</a:t>
            </a:r>
          </a:p>
        </p:txBody>
      </p:sp>
      <p:sp>
        <p:nvSpPr>
          <p:cNvPr id="102" name="23520840">
            <a:extLst>
              <a:ext uri="{FF2B5EF4-FFF2-40B4-BE49-F238E27FC236}">
                <a16:creationId xmlns:a16="http://schemas.microsoft.com/office/drawing/2014/main" id="{2FFA0DE1-5C80-4AB2-98B3-C0E6CA7A56E7}"/>
              </a:ext>
            </a:extLst>
          </p:cNvPr>
          <p:cNvSpPr>
            <a:spLocks noGrp="1"/>
          </p:cNvSpPr>
          <p:nvPr/>
        </p:nvSpPr>
        <p:spPr>
          <a:xfrm>
            <a:off x="8763000" y="7067550"/>
            <a:ext cx="4286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000" b="0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23520840</a:t>
            </a:r>
          </a:p>
        </p:txBody>
      </p:sp>
      <p:sp>
        <p:nvSpPr>
          <p:cNvPr id="103" name="Võ Lê Phước Lâm">
            <a:extLst>
              <a:ext uri="{FF2B5EF4-FFF2-40B4-BE49-F238E27FC236}">
                <a16:creationId xmlns:a16="http://schemas.microsoft.com/office/drawing/2014/main" id="{A968B7E6-8479-4105-8097-605570E36949}"/>
              </a:ext>
            </a:extLst>
          </p:cNvPr>
          <p:cNvSpPr>
            <a:spLocks noGrp="1"/>
          </p:cNvSpPr>
          <p:nvPr/>
        </p:nvSpPr>
        <p:spPr>
          <a:xfrm>
            <a:off x="2190750" y="7829550"/>
            <a:ext cx="685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000" b="1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A2A"/>
                </a:solidFill>
                <a:latin typeface="Arial"/>
                <a:ea typeface="Arial"/>
                <a:cs typeface="Arial"/>
              </a:rPr>
              <a:t>Võ Lê Phước Lâm</a:t>
            </a:r>
          </a:p>
        </p:txBody>
      </p:sp>
      <p:sp>
        <p:nvSpPr>
          <p:cNvPr id="104" name="23520838">
            <a:extLst>
              <a:ext uri="{FF2B5EF4-FFF2-40B4-BE49-F238E27FC236}">
                <a16:creationId xmlns:a16="http://schemas.microsoft.com/office/drawing/2014/main" id="{0F8029E9-874B-4DEF-BDA4-512F15FAB9E3}"/>
              </a:ext>
            </a:extLst>
          </p:cNvPr>
          <p:cNvSpPr>
            <a:spLocks noGrp="1"/>
          </p:cNvSpPr>
          <p:nvPr/>
        </p:nvSpPr>
        <p:spPr>
          <a:xfrm>
            <a:off x="8763000" y="7829550"/>
            <a:ext cx="4286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000" b="0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23520838</a:t>
            </a:r>
          </a:p>
        </p:txBody>
      </p:sp>
      <p:sp>
        <p:nvSpPr>
          <p:cNvPr id="105" name="TP. Hồ Chí Minh, tháng 9 năm 2026">
            <a:extLst>
              <a:ext uri="{FF2B5EF4-FFF2-40B4-BE49-F238E27FC236}">
                <a16:creationId xmlns:a16="http://schemas.microsoft.com/office/drawing/2014/main" id="{697595B4-7036-474C-888E-0A00DE7FDADC}"/>
              </a:ext>
            </a:extLst>
          </p:cNvPr>
          <p:cNvSpPr>
            <a:spLocks noGrp="1"/>
          </p:cNvSpPr>
          <p:nvPr/>
        </p:nvSpPr>
        <p:spPr>
          <a:xfrm>
            <a:off x="2190750" y="9220200"/>
            <a:ext cx="141922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400" b="0">
                <a:solidFill>
                  <a:srgbClr val="52615E"/>
                </a:solidFill>
                <a:latin typeface="Arial"/>
                <a:ea typeface="Arial"/>
                <a:cs typeface="Arial"/>
              </a:defRPr>
            </a:pPr>
            <a:r>
              <a:rPr sz="2400" b="0" dirty="0">
                <a:solidFill>
                  <a:srgbClr val="52615E"/>
                </a:solidFill>
                <a:latin typeface="Arial"/>
                <a:ea typeface="Arial"/>
                <a:cs typeface="Arial"/>
              </a:rPr>
              <a:t>TP. </a:t>
            </a:r>
            <a:r>
              <a:rPr sz="2400" b="0" dirty="0" err="1">
                <a:solidFill>
                  <a:srgbClr val="52615E"/>
                </a:solidFill>
                <a:latin typeface="Arial"/>
                <a:ea typeface="Arial"/>
                <a:cs typeface="Arial"/>
              </a:rPr>
              <a:t>Hồ</a:t>
            </a:r>
            <a:r>
              <a:rPr sz="2400" b="0" dirty="0">
                <a:solidFill>
                  <a:srgbClr val="52615E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0" dirty="0" err="1">
                <a:solidFill>
                  <a:srgbClr val="52615E"/>
                </a:solidFill>
                <a:latin typeface="Arial"/>
                <a:ea typeface="Arial"/>
                <a:cs typeface="Arial"/>
              </a:rPr>
              <a:t>Chí</a:t>
            </a:r>
            <a:r>
              <a:rPr sz="2400" b="0" dirty="0">
                <a:solidFill>
                  <a:srgbClr val="52615E"/>
                </a:solidFill>
                <a:latin typeface="Arial"/>
                <a:ea typeface="Arial"/>
                <a:cs typeface="Arial"/>
              </a:rPr>
              <a:t> Minh, </a:t>
            </a:r>
            <a:r>
              <a:rPr sz="2400" b="0" dirty="0" err="1">
                <a:solidFill>
                  <a:srgbClr val="52615E"/>
                </a:solidFill>
                <a:latin typeface="Arial"/>
                <a:ea typeface="Arial"/>
                <a:cs typeface="Arial"/>
              </a:rPr>
              <a:t>tháng</a:t>
            </a:r>
            <a:r>
              <a:rPr sz="2400" b="0" dirty="0">
                <a:solidFill>
                  <a:srgbClr val="52615E"/>
                </a:solidFill>
                <a:latin typeface="Arial"/>
                <a:ea typeface="Arial"/>
                <a:cs typeface="Arial"/>
              </a:rPr>
              <a:t> 9 </a:t>
            </a:r>
            <a:r>
              <a:rPr sz="2400" b="0" dirty="0" err="1">
                <a:solidFill>
                  <a:srgbClr val="52615E"/>
                </a:solidFill>
                <a:latin typeface="Arial"/>
                <a:ea typeface="Arial"/>
                <a:cs typeface="Arial"/>
              </a:rPr>
              <a:t>năm</a:t>
            </a:r>
            <a:r>
              <a:rPr sz="2400" b="0" dirty="0">
                <a:solidFill>
                  <a:srgbClr val="52615E"/>
                </a:solidFill>
                <a:latin typeface="Arial"/>
                <a:ea typeface="Arial"/>
                <a:cs typeface="Arial"/>
              </a:rPr>
              <a:t> 2026</a:t>
            </a:r>
          </a:p>
        </p:txBody>
      </p:sp>
    </p:spTree>
    <p:extLst>
      <p:ext uri="{BB962C8B-B14F-4D97-AF65-F5344CB8AC3E}">
        <p14:creationId xmlns:p14="http://schemas.microsoft.com/office/powerpoint/2010/main" val="3287283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">
            <a:extLst>
              <a:ext uri="{FF2B5EF4-FFF2-40B4-BE49-F238E27FC236}">
                <a16:creationId xmlns:a16="http://schemas.microsoft.com/office/drawing/2014/main" id="{7AEA612B-45BA-42C5-AE75-58FDD9A8B251}"/>
              </a:ext>
            </a:extLst>
          </p:cNvPr>
          <p:cNvSpPr>
            <a:spLocks noGrp="1"/>
          </p:cNvSpPr>
          <p:nvPr/>
        </p:nvSpPr>
        <p:spPr>
          <a:xfrm rot="5400000">
            <a:off x="8670767" y="-8672351"/>
            <a:ext cx="942755" cy="18291714"/>
          </a:xfrm>
          <a:custGeom>
            <a:avLst/>
            <a:gdLst/>
            <a:ahLst/>
            <a:cxnLst/>
            <a:rect l="l" t="t" r="r" b="b"/>
            <a:pathLst>
              <a:path w="1263142" h="24388953">
                <a:moveTo>
                  <a:pt x="0" y="0"/>
                </a:moveTo>
                <a:lnTo>
                  <a:pt x="1263142" y="0"/>
                </a:lnTo>
                <a:lnTo>
                  <a:pt x="1263142" y="24388953"/>
                </a:lnTo>
                <a:lnTo>
                  <a:pt x="0" y="24388953"/>
                </a:lnTo>
                <a:close/>
              </a:path>
            </a:pathLst>
          </a:custGeom>
          <a:gradFill>
            <a:gsLst>
              <a:gs pos="0">
                <a:srgbClr val="10CD57"/>
              </a:gs>
              <a:gs pos="100000">
                <a:srgbClr val="02715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1" name="Google Shape;221;p4">
            <a:extLst>
              <a:ext uri="{FF2B5EF4-FFF2-40B4-BE49-F238E27FC236}">
                <a16:creationId xmlns:a16="http://schemas.microsoft.com/office/drawing/2014/main" id="{9AD8E415-E544-4CB2-8F44-62CD80C8C3BA}"/>
              </a:ext>
            </a:extLst>
          </p:cNvPr>
          <p:cNvSpPr>
            <a:spLocks noGrp="1"/>
          </p:cNvSpPr>
          <p:nvPr/>
        </p:nvSpPr>
        <p:spPr>
          <a:xfrm rot="-5400000" flipH="1">
            <a:off x="8672625" y="-8674476"/>
            <a:ext cx="942756" cy="18291714"/>
          </a:xfrm>
          <a:custGeom>
            <a:avLst/>
            <a:gdLst/>
            <a:ahLst/>
            <a:cxnLst/>
            <a:rect l="l" t="t" r="r" b="b"/>
            <a:pathLst>
              <a:path w="1263142" h="24388953">
                <a:moveTo>
                  <a:pt x="0" y="0"/>
                </a:moveTo>
                <a:lnTo>
                  <a:pt x="1263142" y="0"/>
                </a:lnTo>
                <a:lnTo>
                  <a:pt x="1263142" y="24388953"/>
                </a:lnTo>
                <a:lnTo>
                  <a:pt x="0" y="24388953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35090" r="-35085"/>
            </a:stretch>
          </a:blip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3" name="Google Shape;223;p4">
            <a:extLst>
              <a:ext uri="{FF2B5EF4-FFF2-40B4-BE49-F238E27FC236}">
                <a16:creationId xmlns:a16="http://schemas.microsoft.com/office/drawing/2014/main" id="{9C7B45FF-4167-47FB-9008-4175EA763FD8}"/>
              </a:ext>
            </a:extLst>
          </p:cNvPr>
          <p:cNvSpPr>
            <a:spLocks noGrp="1"/>
          </p:cNvSpPr>
          <p:nvPr/>
        </p:nvSpPr>
        <p:spPr>
          <a:xfrm>
            <a:off x="360422" y="212133"/>
            <a:ext cx="11130437" cy="506075"/>
          </a:xfrm>
          <a:custGeom>
            <a:avLst/>
            <a:gdLst/>
            <a:ahLst/>
            <a:cxnLst/>
            <a:rect l="l" t="t" r="r" b="b"/>
            <a:pathLst>
              <a:path w="14840583" h="674766">
                <a:moveTo>
                  <a:pt x="0" y="0"/>
                </a:moveTo>
                <a:lnTo>
                  <a:pt x="14840583" y="0"/>
                </a:lnTo>
                <a:lnTo>
                  <a:pt x="14840583" y="674766"/>
                </a:lnTo>
                <a:lnTo>
                  <a:pt x="0" y="67476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4" name="Google Shape;224;p4">
            <a:extLst>
              <a:ext uri="{FF2B5EF4-FFF2-40B4-BE49-F238E27FC236}">
                <a16:creationId xmlns:a16="http://schemas.microsoft.com/office/drawing/2014/main" id="{72D3D682-CDAE-4CD3-BB7D-D9AA273088FD}"/>
              </a:ext>
            </a:extLst>
          </p:cNvPr>
          <p:cNvSpPr>
            <a:spLocks noGrp="1"/>
          </p:cNvSpPr>
          <p:nvPr/>
        </p:nvSpPr>
        <p:spPr>
          <a:xfrm>
            <a:off x="360422" y="176415"/>
            <a:ext cx="11130436" cy="541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FACULTY OF COMPUTER ENGINEERING</a:t>
            </a:r>
            <a:endParaRPr/>
          </a:p>
        </p:txBody>
      </p:sp>
      <p:sp>
        <p:nvSpPr>
          <p:cNvPr id="225" name="Google Shape;225;p4">
            <a:extLst>
              <a:ext uri="{FF2B5EF4-FFF2-40B4-BE49-F238E27FC236}">
                <a16:creationId xmlns:a16="http://schemas.microsoft.com/office/drawing/2014/main" id="{84FAB926-91D1-4266-8A21-D6D460278E4D}"/>
              </a:ext>
            </a:extLst>
          </p:cNvPr>
          <p:cNvSpPr>
            <a:spLocks noGrp="1"/>
          </p:cNvSpPr>
          <p:nvPr/>
        </p:nvSpPr>
        <p:spPr>
          <a:xfrm>
            <a:off x="6719978" y="457932"/>
            <a:ext cx="4848130" cy="958025"/>
          </a:xfrm>
          <a:custGeom>
            <a:avLst/>
            <a:gdLst/>
            <a:ahLst/>
            <a:cxnLst/>
            <a:rect l="l" t="t" r="r" b="b"/>
            <a:pathLst>
              <a:path w="6464173" h="1277366">
                <a:moveTo>
                  <a:pt x="0" y="638683"/>
                </a:moveTo>
                <a:cubicBezTo>
                  <a:pt x="0" y="285877"/>
                  <a:pt x="285877" y="0"/>
                  <a:pt x="638683" y="0"/>
                </a:cubicBezTo>
                <a:lnTo>
                  <a:pt x="5825490" y="0"/>
                </a:lnTo>
                <a:cubicBezTo>
                  <a:pt x="6178169" y="0"/>
                  <a:pt x="6464173" y="285877"/>
                  <a:pt x="6464173" y="638683"/>
                </a:cubicBezTo>
                <a:cubicBezTo>
                  <a:pt x="6464173" y="991489"/>
                  <a:pt x="6178296" y="1277366"/>
                  <a:pt x="5825490" y="1277366"/>
                </a:cubicBezTo>
                <a:lnTo>
                  <a:pt x="638683" y="1277366"/>
                </a:lnTo>
                <a:cubicBezTo>
                  <a:pt x="285877" y="1277239"/>
                  <a:pt x="0" y="991362"/>
                  <a:pt x="0" y="638683"/>
                </a:cubicBezTo>
                <a:close/>
              </a:path>
            </a:pathLst>
          </a:custGeom>
          <a:gradFill>
            <a:gsLst>
              <a:gs pos="0">
                <a:srgbClr val="38EF7D"/>
              </a:gs>
              <a:gs pos="100000">
                <a:srgbClr val="752AFF"/>
              </a:gs>
            </a:gsLst>
            <a:lin ang="4729360" scaled="0"/>
          </a:gra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6" name="Google Shape;226;p4">
            <a:extLst>
              <a:ext uri="{FF2B5EF4-FFF2-40B4-BE49-F238E27FC236}">
                <a16:creationId xmlns:a16="http://schemas.microsoft.com/office/drawing/2014/main" id="{6AC07224-92D1-499D-8694-BFA17889782B}"/>
              </a:ext>
            </a:extLst>
          </p:cNvPr>
          <p:cNvSpPr>
            <a:spLocks noGrp="1"/>
          </p:cNvSpPr>
          <p:nvPr/>
        </p:nvSpPr>
        <p:spPr>
          <a:xfrm>
            <a:off x="6807463" y="535967"/>
            <a:ext cx="4673060" cy="801909"/>
          </a:xfrm>
          <a:custGeom>
            <a:avLst/>
            <a:gdLst/>
            <a:ahLst/>
            <a:cxnLst/>
            <a:rect l="l" t="t" r="r" b="b"/>
            <a:pathLst>
              <a:path w="6230747" h="1069213">
                <a:moveTo>
                  <a:pt x="0" y="534543"/>
                </a:moveTo>
                <a:cubicBezTo>
                  <a:pt x="0" y="239395"/>
                  <a:pt x="239395" y="0"/>
                  <a:pt x="534543" y="0"/>
                </a:cubicBezTo>
                <a:lnTo>
                  <a:pt x="5696204" y="0"/>
                </a:lnTo>
                <a:cubicBezTo>
                  <a:pt x="5991479" y="0"/>
                  <a:pt x="6230747" y="239395"/>
                  <a:pt x="6230747" y="534543"/>
                </a:cubicBezTo>
                <a:cubicBezTo>
                  <a:pt x="6230747" y="829691"/>
                  <a:pt x="5991352" y="1069086"/>
                  <a:pt x="5696204" y="1069086"/>
                </a:cubicBezTo>
                <a:lnTo>
                  <a:pt x="534543" y="1069086"/>
                </a:lnTo>
                <a:cubicBezTo>
                  <a:pt x="239395" y="1069213"/>
                  <a:pt x="0" y="829818"/>
                  <a:pt x="0" y="53454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7" name="Google Shape;227;p4">
            <a:extLst>
              <a:ext uri="{FF2B5EF4-FFF2-40B4-BE49-F238E27FC236}">
                <a16:creationId xmlns:a16="http://schemas.microsoft.com/office/drawing/2014/main" id="{7DFEB014-466A-45CA-83FE-661B86B482D2}"/>
              </a:ext>
            </a:extLst>
          </p:cNvPr>
          <p:cNvSpPr>
            <a:spLocks noGrp="1"/>
          </p:cNvSpPr>
          <p:nvPr/>
        </p:nvSpPr>
        <p:spPr>
          <a:xfrm>
            <a:off x="9436446" y="362541"/>
            <a:ext cx="1163307" cy="1152591"/>
          </a:xfrm>
          <a:custGeom>
            <a:avLst/>
            <a:gdLst/>
            <a:ahLst/>
            <a:cxnLst/>
            <a:rect l="l" t="t" r="r" b="b"/>
            <a:pathLst>
              <a:path w="1163307" h="1152591">
                <a:moveTo>
                  <a:pt x="0" y="0"/>
                </a:moveTo>
                <a:lnTo>
                  <a:pt x="1163307" y="0"/>
                </a:lnTo>
                <a:lnTo>
                  <a:pt x="1163307" y="1152591"/>
                </a:lnTo>
                <a:lnTo>
                  <a:pt x="0" y="11525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73" r="-72"/>
            </a:stretch>
          </a:blip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8" name="Google Shape;228;p4">
            <a:extLst>
              <a:ext uri="{FF2B5EF4-FFF2-40B4-BE49-F238E27FC236}">
                <a16:creationId xmlns:a16="http://schemas.microsoft.com/office/drawing/2014/main" id="{289A243A-8F3B-4B03-9910-2B3E213D59F3}"/>
              </a:ext>
            </a:extLst>
          </p:cNvPr>
          <p:cNvSpPr>
            <a:spLocks noGrp="1"/>
          </p:cNvSpPr>
          <p:nvPr/>
        </p:nvSpPr>
        <p:spPr>
          <a:xfrm>
            <a:off x="7688248" y="398076"/>
            <a:ext cx="1307514" cy="1081521"/>
          </a:xfrm>
          <a:custGeom>
            <a:avLst/>
            <a:gdLst/>
            <a:ahLst/>
            <a:cxnLst/>
            <a:rect l="l" t="t" r="r" b="b"/>
            <a:pathLst>
              <a:path w="1307514" h="1081521">
                <a:moveTo>
                  <a:pt x="0" y="0"/>
                </a:moveTo>
                <a:lnTo>
                  <a:pt x="1307514" y="0"/>
                </a:lnTo>
                <a:lnTo>
                  <a:pt x="1307514" y="1081521"/>
                </a:lnTo>
                <a:lnTo>
                  <a:pt x="0" y="10815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t="-74" b="-73"/>
            </a:stretch>
          </a:blip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" name="Title 1">
            <a:extLst>
              <a:ext uri="{FF2B5EF4-FFF2-40B4-BE49-F238E27FC236}">
                <a16:creationId xmlns:a16="http://schemas.microsoft.com/office/drawing/2014/main" id="{3F9E7DED-0DB0-4282-BF4D-FC26645BBC22}"/>
              </a:ext>
            </a:extLst>
          </p:cNvPr>
          <p:cNvSpPr txBox="1">
            <a:spLocks/>
          </p:cNvSpPr>
          <p:nvPr/>
        </p:nvSpPr>
        <p:spPr>
          <a:xfrm>
            <a:off x="1145654" y="1357009"/>
            <a:ext cx="4398079" cy="890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4400" b="1" kern="120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kumimoji="0" lang="en-VN" sz="44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029676">
                        <a:lumMod val="75000"/>
                      </a:srgbClr>
                    </a:gs>
                    <a:gs pos="100000">
                      <a:srgbClr val="38EF7D">
                        <a:lumMod val="75000"/>
                      </a:srgbClr>
                    </a:gs>
                  </a:gsLst>
                  <a:lin ang="16200000" scaled="1"/>
                  <a:tileRect/>
                </a:gradFill>
                <a:effectLst/>
                <a:uLnTx/>
                <a:uFillTx/>
                <a:latin typeface="Times New Roman" panose="02020603050405020304"/>
                <a:ea typeface="+mj-ea"/>
                <a:cs typeface="+mj-cs"/>
              </a:rPr>
              <a:t>Nội dung báo cáo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5B01CDE-233D-47EB-ADD5-F4635C030367}"/>
              </a:ext>
            </a:extLst>
          </p:cNvPr>
          <p:cNvGrpSpPr/>
          <p:nvPr/>
        </p:nvGrpSpPr>
        <p:grpSpPr>
          <a:xfrm>
            <a:off x="2369697" y="2322023"/>
            <a:ext cx="10637101" cy="1240553"/>
            <a:chOff x="1033164" y="2094865"/>
            <a:chExt cx="8368546" cy="948373"/>
          </a:xfrm>
        </p:grpSpPr>
        <p:sp>
          <p:nvSpPr>
            <p:cNvPr id="38" name="Rounded Rectangle 6">
              <a:extLst>
                <a:ext uri="{FF2B5EF4-FFF2-40B4-BE49-F238E27FC236}">
                  <a16:creationId xmlns:a16="http://schemas.microsoft.com/office/drawing/2014/main" id="{5A81827F-8D8C-4A4F-A583-25727C93D84F}"/>
                </a:ext>
              </a:extLst>
            </p:cNvPr>
            <p:cNvSpPr/>
            <p:nvPr/>
          </p:nvSpPr>
          <p:spPr>
            <a:xfrm>
              <a:off x="1033164" y="2094865"/>
              <a:ext cx="8368546" cy="948373"/>
            </a:xfrm>
            <a:prstGeom prst="roundRect">
              <a:avLst>
                <a:gd name="adj" fmla="val 6767"/>
              </a:avLst>
            </a:prstGeom>
            <a:solidFill>
              <a:srgbClr val="FFFFFF"/>
            </a:solidFill>
            <a:ln w="19050" cap="flat" cmpd="sng" algn="ctr">
              <a:solidFill>
                <a:srgbClr val="029676">
                  <a:lumMod val="75000"/>
                </a:srgbClr>
              </a:solidFill>
              <a:prstDash val="solid"/>
              <a:miter lim="800000"/>
            </a:ln>
            <a:effectLst>
              <a:glow rad="63500">
                <a:srgbClr val="38EF7D">
                  <a:satMod val="175000"/>
                  <a:alpha val="40000"/>
                </a:srgbClr>
              </a:glow>
            </a:effectLst>
          </p:spPr>
          <p:txBody>
            <a:bodyPr rtlCol="0" anchor="ctr"/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+mn-cs"/>
              </a:endParaRP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ED49AE86-094A-4598-894E-1881F097F434}"/>
                </a:ext>
              </a:extLst>
            </p:cNvPr>
            <p:cNvSpPr/>
            <p:nvPr/>
          </p:nvSpPr>
          <p:spPr>
            <a:xfrm>
              <a:off x="1193006" y="2265441"/>
              <a:ext cx="607219" cy="607219"/>
            </a:xfrm>
            <a:prstGeom prst="ellipse">
              <a:avLst/>
            </a:prstGeom>
            <a:solidFill>
              <a:srgbClr val="38EF7D">
                <a:lumMod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VN" sz="2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3D8C522E-BE00-4BE2-AA5C-F7AB0B9506F2}"/>
                </a:ext>
              </a:extLst>
            </p:cNvPr>
            <p:cNvSpPr txBox="1"/>
            <p:nvPr/>
          </p:nvSpPr>
          <p:spPr>
            <a:xfrm>
              <a:off x="1862399" y="2333763"/>
              <a:ext cx="6940941" cy="4705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4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/>
                </a:rPr>
                <a:t>Tổng</a:t>
              </a:r>
              <a:r>
                <a:rPr kumimoji="0" lang="en-US" sz="3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/>
                </a:rPr>
                <a:t> </a:t>
              </a:r>
              <a:r>
                <a:rPr kumimoji="0" lang="en-US" sz="34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/>
                </a:rPr>
                <a:t>quan</a:t>
              </a:r>
              <a:r>
                <a:rPr kumimoji="0" lang="en-US" sz="3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/>
                </a:rPr>
                <a:t> </a:t>
              </a:r>
              <a:r>
                <a:rPr kumimoji="0" lang="en-US" sz="34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/>
                </a:rPr>
                <a:t>đề</a:t>
              </a:r>
              <a:r>
                <a:rPr kumimoji="0" lang="en-US" sz="3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/>
                </a:rPr>
                <a:t> </a:t>
              </a:r>
              <a:r>
                <a:rPr kumimoji="0" lang="en-US" sz="34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/>
                </a:rPr>
                <a:t>tài</a:t>
              </a:r>
              <a:endParaRPr kumimoji="0" lang="en-VN" sz="3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56A9963-4073-4282-BC0C-DFF858B5E968}"/>
              </a:ext>
            </a:extLst>
          </p:cNvPr>
          <p:cNvGrpSpPr/>
          <p:nvPr/>
        </p:nvGrpSpPr>
        <p:grpSpPr>
          <a:xfrm>
            <a:off x="2369697" y="3896711"/>
            <a:ext cx="10637101" cy="1172924"/>
            <a:chOff x="1033164" y="3239499"/>
            <a:chExt cx="8368546" cy="948373"/>
          </a:xfrm>
        </p:grpSpPr>
        <p:sp>
          <p:nvSpPr>
            <p:cNvPr id="42" name="Rounded Rectangle 10">
              <a:extLst>
                <a:ext uri="{FF2B5EF4-FFF2-40B4-BE49-F238E27FC236}">
                  <a16:creationId xmlns:a16="http://schemas.microsoft.com/office/drawing/2014/main" id="{972E0192-B3B0-4B3E-ABF4-AF60CB824401}"/>
                </a:ext>
              </a:extLst>
            </p:cNvPr>
            <p:cNvSpPr/>
            <p:nvPr/>
          </p:nvSpPr>
          <p:spPr>
            <a:xfrm>
              <a:off x="1033164" y="3239499"/>
              <a:ext cx="8368546" cy="948373"/>
            </a:xfrm>
            <a:prstGeom prst="roundRect">
              <a:avLst>
                <a:gd name="adj" fmla="val 6767"/>
              </a:avLst>
            </a:prstGeom>
            <a:solidFill>
              <a:srgbClr val="029676">
                <a:lumMod val="75000"/>
              </a:srgbClr>
            </a:solidFill>
            <a:ln w="19050" cap="flat" cmpd="sng" algn="ctr">
              <a:solidFill>
                <a:srgbClr val="029676">
                  <a:lumMod val="75000"/>
                </a:srgbClr>
              </a:solidFill>
              <a:prstDash val="solid"/>
              <a:miter lim="800000"/>
            </a:ln>
            <a:effectLst>
              <a:glow rad="63500">
                <a:srgbClr val="38EF7D">
                  <a:satMod val="175000"/>
                  <a:alpha val="40000"/>
                </a:srgbClr>
              </a:glow>
            </a:effectLst>
          </p:spPr>
          <p:txBody>
            <a:bodyPr rtlCol="0" anchor="ctr"/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2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+mn-cs"/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53EBFC7A-2D58-44DD-9A5C-CA25837E82EB}"/>
                </a:ext>
              </a:extLst>
            </p:cNvPr>
            <p:cNvSpPr/>
            <p:nvPr/>
          </p:nvSpPr>
          <p:spPr>
            <a:xfrm>
              <a:off x="1193005" y="3410075"/>
              <a:ext cx="607219" cy="607219"/>
            </a:xfrm>
            <a:prstGeom prst="ellipse">
              <a:avLst/>
            </a:prstGeom>
            <a:solidFill>
              <a:srgbClr val="38EF7D">
                <a:lumMod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VN" sz="2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0B3D791-7213-40CB-89BB-FA855C1C357D}"/>
                </a:ext>
              </a:extLst>
            </p:cNvPr>
            <p:cNvSpPr txBox="1"/>
            <p:nvPr/>
          </p:nvSpPr>
          <p:spPr>
            <a:xfrm>
              <a:off x="1862399" y="3464830"/>
              <a:ext cx="6609248" cy="49770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4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</a:rPr>
                <a:t>Mục</a:t>
              </a:r>
              <a:r>
                <a:rPr kumimoji="0" lang="en-US" sz="3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</a:rPr>
                <a:t> </a:t>
              </a:r>
              <a:r>
                <a:rPr kumimoji="0" lang="en-US" sz="34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</a:rPr>
                <a:t>tiêu</a:t>
              </a:r>
              <a:r>
                <a:rPr kumimoji="0" lang="en-US" sz="3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</a:rPr>
                <a:t> </a:t>
              </a:r>
              <a:r>
                <a:rPr kumimoji="0" lang="en-US" sz="34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</a:rPr>
                <a:t>đề</a:t>
              </a:r>
              <a:r>
                <a:rPr kumimoji="0" lang="en-US" sz="3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</a:rPr>
                <a:t> </a:t>
              </a:r>
              <a:r>
                <a:rPr kumimoji="0" lang="en-US" sz="34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</a:rPr>
                <a:t>tài</a:t>
              </a:r>
              <a:endParaRPr kumimoji="0" lang="en-VN" sz="3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195A474-40DF-40EA-807E-5393B4F826F1}"/>
              </a:ext>
            </a:extLst>
          </p:cNvPr>
          <p:cNvGrpSpPr/>
          <p:nvPr/>
        </p:nvGrpSpPr>
        <p:grpSpPr>
          <a:xfrm>
            <a:off x="2369697" y="5403770"/>
            <a:ext cx="10637101" cy="1152591"/>
            <a:chOff x="1033164" y="4431224"/>
            <a:chExt cx="8368546" cy="948373"/>
          </a:xfrm>
        </p:grpSpPr>
        <p:sp>
          <p:nvSpPr>
            <p:cNvPr id="46" name="Rounded Rectangle 6">
              <a:extLst>
                <a:ext uri="{FF2B5EF4-FFF2-40B4-BE49-F238E27FC236}">
                  <a16:creationId xmlns:a16="http://schemas.microsoft.com/office/drawing/2014/main" id="{1A6B4BE4-3DBB-4973-BC86-E5129EB257E6}"/>
                </a:ext>
              </a:extLst>
            </p:cNvPr>
            <p:cNvSpPr/>
            <p:nvPr/>
          </p:nvSpPr>
          <p:spPr>
            <a:xfrm>
              <a:off x="1033164" y="4431224"/>
              <a:ext cx="8368546" cy="948373"/>
            </a:xfrm>
            <a:prstGeom prst="roundRect">
              <a:avLst>
                <a:gd name="adj" fmla="val 6767"/>
              </a:avLst>
            </a:prstGeom>
            <a:solidFill>
              <a:srgbClr val="FFFFFF"/>
            </a:solidFill>
            <a:ln w="19050" cap="flat" cmpd="sng" algn="ctr">
              <a:solidFill>
                <a:srgbClr val="029676">
                  <a:lumMod val="75000"/>
                </a:srgbClr>
              </a:solidFill>
              <a:prstDash val="solid"/>
              <a:miter lim="800000"/>
            </a:ln>
            <a:effectLst>
              <a:glow rad="63500">
                <a:srgbClr val="38EF7D">
                  <a:satMod val="175000"/>
                  <a:alpha val="40000"/>
                </a:srgbClr>
              </a:glow>
            </a:effectLst>
          </p:spPr>
          <p:txBody>
            <a:bodyPr rtlCol="0" anchor="ctr"/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+mn-cs"/>
              </a:endParaRP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A52A2C4E-CB8C-4734-9438-E52F27CD25D5}"/>
                </a:ext>
              </a:extLst>
            </p:cNvPr>
            <p:cNvSpPr/>
            <p:nvPr/>
          </p:nvSpPr>
          <p:spPr>
            <a:xfrm>
              <a:off x="1193006" y="4601800"/>
              <a:ext cx="607219" cy="607219"/>
            </a:xfrm>
            <a:prstGeom prst="ellipse">
              <a:avLst/>
            </a:prstGeom>
            <a:solidFill>
              <a:srgbClr val="38EF7D">
                <a:lumMod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Times New Roman" panose="02020603050405020304" pitchFamily="18" charset="0"/>
                </a:rPr>
                <a:t>3</a:t>
              </a:r>
              <a:endParaRPr kumimoji="0" lang="en-VN" sz="2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622F57C2-FEB9-4C43-A8D0-211DC93049B6}"/>
                </a:ext>
              </a:extLst>
            </p:cNvPr>
            <p:cNvSpPr txBox="1"/>
            <p:nvPr/>
          </p:nvSpPr>
          <p:spPr>
            <a:xfrm>
              <a:off x="1862400" y="4652166"/>
              <a:ext cx="6609248" cy="50648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3400" kern="0" dirty="0" err="1">
                  <a:solidFill>
                    <a:srgbClr val="000000"/>
                  </a:solidFill>
                  <a:latin typeface="Times New Roman" panose="02020603050405020304"/>
                </a:rPr>
                <a:t>Nội</a:t>
              </a:r>
              <a:r>
                <a:rPr lang="en-US" sz="3400" kern="0" dirty="0">
                  <a:solidFill>
                    <a:srgbClr val="000000"/>
                  </a:solidFill>
                  <a:latin typeface="Times New Roman" panose="02020603050405020304"/>
                </a:rPr>
                <a:t> dung </a:t>
              </a:r>
              <a:r>
                <a:rPr lang="en-US" sz="3400" kern="0" dirty="0" err="1">
                  <a:solidFill>
                    <a:srgbClr val="000000"/>
                  </a:solidFill>
                  <a:latin typeface="Times New Roman" panose="02020603050405020304"/>
                </a:rPr>
                <a:t>và</a:t>
              </a:r>
              <a:r>
                <a:rPr lang="en-US" sz="3400" kern="0" dirty="0">
                  <a:solidFill>
                    <a:srgbClr val="000000"/>
                  </a:solidFill>
                  <a:latin typeface="Times New Roman" panose="02020603050405020304"/>
                </a:rPr>
                <a:t> p</a:t>
              </a:r>
              <a:r>
                <a:rPr kumimoji="0" lang="en-US" sz="34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/>
                </a:rPr>
                <a:t>hương</a:t>
              </a:r>
              <a:r>
                <a:rPr kumimoji="0" lang="en-US" sz="3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/>
                </a:rPr>
                <a:t> </a:t>
              </a:r>
              <a:r>
                <a:rPr kumimoji="0" lang="en-US" sz="34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/>
                </a:rPr>
                <a:t>pháp</a:t>
              </a:r>
              <a:r>
                <a:rPr kumimoji="0" lang="en-US" sz="3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/>
                </a:rPr>
                <a:t> </a:t>
              </a:r>
              <a:r>
                <a:rPr kumimoji="0" lang="en-US" sz="34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/>
                </a:rPr>
                <a:t>thực</a:t>
              </a:r>
              <a:r>
                <a:rPr kumimoji="0" lang="en-US" sz="3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/>
                </a:rPr>
                <a:t> </a:t>
              </a:r>
              <a:r>
                <a:rPr kumimoji="0" lang="en-US" sz="34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/>
                </a:rPr>
                <a:t>hiện</a:t>
              </a:r>
              <a:endParaRPr kumimoji="0" lang="en-VN" sz="3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01F66DAF-57FC-4BEC-9E8E-BD8C7AB06DE5}"/>
              </a:ext>
            </a:extLst>
          </p:cNvPr>
          <p:cNvGrpSpPr/>
          <p:nvPr/>
        </p:nvGrpSpPr>
        <p:grpSpPr>
          <a:xfrm>
            <a:off x="2392680" y="6902319"/>
            <a:ext cx="10637100" cy="1152591"/>
            <a:chOff x="1033164" y="5575858"/>
            <a:chExt cx="8368545" cy="948373"/>
          </a:xfrm>
        </p:grpSpPr>
        <p:sp>
          <p:nvSpPr>
            <p:cNvPr id="50" name="Rounded Rectangle 9">
              <a:extLst>
                <a:ext uri="{FF2B5EF4-FFF2-40B4-BE49-F238E27FC236}">
                  <a16:creationId xmlns:a16="http://schemas.microsoft.com/office/drawing/2014/main" id="{254058AA-0EA3-4F69-8D71-FAFFDCF3EAA3}"/>
                </a:ext>
              </a:extLst>
            </p:cNvPr>
            <p:cNvSpPr/>
            <p:nvPr/>
          </p:nvSpPr>
          <p:spPr>
            <a:xfrm>
              <a:off x="1033164" y="5575858"/>
              <a:ext cx="8368545" cy="948373"/>
            </a:xfrm>
            <a:prstGeom prst="roundRect">
              <a:avLst>
                <a:gd name="adj" fmla="val 6767"/>
              </a:avLst>
            </a:prstGeom>
            <a:solidFill>
              <a:srgbClr val="029676">
                <a:lumMod val="75000"/>
              </a:srgbClr>
            </a:solidFill>
            <a:ln w="19050" cap="flat" cmpd="sng" algn="ctr">
              <a:solidFill>
                <a:srgbClr val="029676">
                  <a:lumMod val="75000"/>
                </a:srgbClr>
              </a:solidFill>
              <a:prstDash val="solid"/>
              <a:miter lim="800000"/>
            </a:ln>
            <a:effectLst>
              <a:glow rad="63500">
                <a:srgbClr val="38EF7D">
                  <a:satMod val="175000"/>
                  <a:alpha val="40000"/>
                </a:srgbClr>
              </a:glow>
            </a:effectLst>
          </p:spPr>
          <p:txBody>
            <a:bodyPr rtlCol="0" anchor="ctr"/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2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+mn-cs"/>
              </a:endParaRP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11476B86-3994-4A27-B67C-D2C3B14FC39F}"/>
                </a:ext>
              </a:extLst>
            </p:cNvPr>
            <p:cNvSpPr/>
            <p:nvPr/>
          </p:nvSpPr>
          <p:spPr>
            <a:xfrm>
              <a:off x="1193005" y="5746434"/>
              <a:ext cx="607219" cy="607219"/>
            </a:xfrm>
            <a:prstGeom prst="ellipse">
              <a:avLst/>
            </a:prstGeom>
            <a:solidFill>
              <a:srgbClr val="38EF7D">
                <a:lumMod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Times New Roman" panose="02020603050405020304" pitchFamily="18" charset="0"/>
                </a:rPr>
                <a:t>4</a:t>
              </a:r>
              <a:endParaRPr kumimoji="0" lang="en-VN" sz="2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7704DA40-76A7-4487-8749-F8C82DEFA9C6}"/>
                </a:ext>
              </a:extLst>
            </p:cNvPr>
            <p:cNvSpPr txBox="1"/>
            <p:nvPr/>
          </p:nvSpPr>
          <p:spPr>
            <a:xfrm>
              <a:off x="1862399" y="5796801"/>
              <a:ext cx="6609248" cy="50648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lvl="0" defTabSz="457200"/>
              <a:r>
                <a:rPr lang="en-US" sz="3400" kern="0" dirty="0" err="1">
                  <a:solidFill>
                    <a:srgbClr val="FFFFFF"/>
                  </a:solidFill>
                  <a:latin typeface="Times New Roman" panose="02020603050405020304"/>
                </a:rPr>
                <a:t>Kế</a:t>
              </a:r>
              <a:r>
                <a:rPr lang="en-US" sz="3400" kern="0" dirty="0">
                  <a:solidFill>
                    <a:srgbClr val="FFFFFF"/>
                  </a:solidFill>
                  <a:latin typeface="Times New Roman" panose="02020603050405020304"/>
                </a:rPr>
                <a:t> </a:t>
              </a:r>
              <a:r>
                <a:rPr lang="en-US" sz="3400" kern="0" dirty="0" err="1">
                  <a:solidFill>
                    <a:srgbClr val="FFFFFF"/>
                  </a:solidFill>
                  <a:latin typeface="Times New Roman" panose="02020603050405020304"/>
                </a:rPr>
                <a:t>hoạch</a:t>
              </a:r>
              <a:r>
                <a:rPr lang="en-US" sz="3400" kern="0" dirty="0">
                  <a:solidFill>
                    <a:srgbClr val="FFFFFF"/>
                  </a:solidFill>
                  <a:latin typeface="Times New Roman" panose="02020603050405020304"/>
                </a:rPr>
                <a:t> </a:t>
              </a:r>
              <a:r>
                <a:rPr lang="en-US" sz="3400" kern="0" dirty="0" err="1">
                  <a:solidFill>
                    <a:srgbClr val="FFFFFF"/>
                  </a:solidFill>
                  <a:latin typeface="Times New Roman" panose="02020603050405020304"/>
                </a:rPr>
                <a:t>thực</a:t>
              </a:r>
              <a:r>
                <a:rPr lang="en-US" sz="3400" kern="0" dirty="0">
                  <a:solidFill>
                    <a:srgbClr val="FFFFFF"/>
                  </a:solidFill>
                  <a:latin typeface="Times New Roman" panose="02020603050405020304"/>
                </a:rPr>
                <a:t> </a:t>
              </a:r>
              <a:r>
                <a:rPr lang="en-US" sz="3400" kern="0" dirty="0" err="1">
                  <a:solidFill>
                    <a:srgbClr val="FFFFFF"/>
                  </a:solidFill>
                  <a:latin typeface="Times New Roman" panose="02020603050405020304"/>
                </a:rPr>
                <a:t>hiện</a:t>
              </a:r>
              <a:r>
                <a:rPr lang="en-US" sz="3400" kern="0" dirty="0">
                  <a:solidFill>
                    <a:srgbClr val="FFFFFF"/>
                  </a:solidFill>
                  <a:latin typeface="Times New Roman" panose="02020603050405020304"/>
                </a:rPr>
                <a:t> </a:t>
              </a:r>
              <a:r>
                <a:rPr lang="en-US" sz="3400" kern="0" dirty="0" err="1">
                  <a:solidFill>
                    <a:srgbClr val="FFFFFF"/>
                  </a:solidFill>
                  <a:latin typeface="Times New Roman" panose="02020603050405020304"/>
                </a:rPr>
                <a:t>và</a:t>
              </a:r>
              <a:r>
                <a:rPr lang="en-US" sz="3400" kern="0" dirty="0">
                  <a:solidFill>
                    <a:srgbClr val="FFFFFF"/>
                  </a:solidFill>
                  <a:latin typeface="Times New Roman" panose="02020603050405020304"/>
                </a:rPr>
                <a:t> </a:t>
              </a:r>
              <a:r>
                <a:rPr lang="en-US" sz="3400" kern="0" dirty="0" err="1">
                  <a:solidFill>
                    <a:srgbClr val="FFFFFF"/>
                  </a:solidFill>
                  <a:latin typeface="Times New Roman" panose="02020603050405020304"/>
                </a:rPr>
                <a:t>tiêu</a:t>
              </a:r>
              <a:r>
                <a:rPr lang="en-US" sz="3400" kern="0" dirty="0">
                  <a:solidFill>
                    <a:srgbClr val="FFFFFF"/>
                  </a:solidFill>
                  <a:latin typeface="Times New Roman" panose="02020603050405020304"/>
                </a:rPr>
                <a:t> </a:t>
              </a:r>
              <a:r>
                <a:rPr lang="en-US" sz="3400" kern="0" dirty="0" err="1">
                  <a:solidFill>
                    <a:srgbClr val="FFFFFF"/>
                  </a:solidFill>
                  <a:latin typeface="Times New Roman" panose="02020603050405020304"/>
                </a:rPr>
                <a:t>chí</a:t>
              </a:r>
              <a:r>
                <a:rPr lang="en-US" sz="3400" kern="0" dirty="0">
                  <a:solidFill>
                    <a:srgbClr val="FFFFFF"/>
                  </a:solidFill>
                  <a:latin typeface="Times New Roman" panose="02020603050405020304"/>
                </a:rPr>
                <a:t> </a:t>
              </a:r>
              <a:r>
                <a:rPr lang="en-US" sz="3400" kern="0" dirty="0" err="1">
                  <a:solidFill>
                    <a:srgbClr val="FFFFFF"/>
                  </a:solidFill>
                  <a:latin typeface="Times New Roman" panose="02020603050405020304"/>
                </a:rPr>
                <a:t>đánh</a:t>
              </a:r>
              <a:r>
                <a:rPr lang="en-US" sz="3400" kern="0" dirty="0">
                  <a:solidFill>
                    <a:srgbClr val="FFFFFF"/>
                  </a:solidFill>
                  <a:latin typeface="Times New Roman" panose="02020603050405020304"/>
                </a:rPr>
                <a:t> </a:t>
              </a:r>
              <a:r>
                <a:rPr lang="en-US" sz="3400" kern="0" dirty="0" err="1">
                  <a:solidFill>
                    <a:srgbClr val="FFFFFF"/>
                  </a:solidFill>
                  <a:latin typeface="Times New Roman" panose="02020603050405020304"/>
                </a:rPr>
                <a:t>giá</a:t>
              </a:r>
              <a:endParaRPr kumimoji="0" lang="en-VN" sz="3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</a:endParaRPr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53A9-F482-46F8-9F3D-C0741D9FAA4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24E019C-4380-41EE-A725-C4A31E319CF3}" type="datetime1">
              <a:rPr lang="en-US" smtClean="0"/>
              <a:t>9/18/2026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E6DAFD-E820-40AC-AEC6-340ED92FE1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5541A48-D19D-4DA4-9658-B442FEBEBF2A}"/>
              </a:ext>
            </a:extLst>
          </p:cNvPr>
          <p:cNvGrpSpPr/>
          <p:nvPr/>
        </p:nvGrpSpPr>
        <p:grpSpPr>
          <a:xfrm>
            <a:off x="2392680" y="8354696"/>
            <a:ext cx="10637101" cy="1152591"/>
            <a:chOff x="1033164" y="4431224"/>
            <a:chExt cx="8368546" cy="948373"/>
          </a:xfrm>
        </p:grpSpPr>
        <p:sp>
          <p:nvSpPr>
            <p:cNvPr id="33" name="Rounded Rectangle 6">
              <a:extLst>
                <a:ext uri="{FF2B5EF4-FFF2-40B4-BE49-F238E27FC236}">
                  <a16:creationId xmlns:a16="http://schemas.microsoft.com/office/drawing/2014/main" id="{4A2FF9E1-8AF2-4628-84B9-29A1DF23C61D}"/>
                </a:ext>
              </a:extLst>
            </p:cNvPr>
            <p:cNvSpPr/>
            <p:nvPr/>
          </p:nvSpPr>
          <p:spPr>
            <a:xfrm>
              <a:off x="1033164" y="4431224"/>
              <a:ext cx="8368546" cy="948373"/>
            </a:xfrm>
            <a:prstGeom prst="roundRect">
              <a:avLst>
                <a:gd name="adj" fmla="val 6767"/>
              </a:avLst>
            </a:prstGeom>
            <a:solidFill>
              <a:srgbClr val="FFFFFF"/>
            </a:solidFill>
            <a:ln w="19050" cap="flat" cmpd="sng" algn="ctr">
              <a:solidFill>
                <a:srgbClr val="029676">
                  <a:lumMod val="75000"/>
                </a:srgbClr>
              </a:solidFill>
              <a:prstDash val="solid"/>
              <a:miter lim="800000"/>
            </a:ln>
            <a:effectLst>
              <a:glow rad="63500">
                <a:srgbClr val="38EF7D">
                  <a:satMod val="175000"/>
                  <a:alpha val="40000"/>
                </a:srgbClr>
              </a:glow>
            </a:effectLst>
          </p:spPr>
          <p:txBody>
            <a:bodyPr rtlCol="0" anchor="ctr"/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+mn-cs"/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2994C0CE-24A4-432A-A4A2-27F8A80292C0}"/>
                </a:ext>
              </a:extLst>
            </p:cNvPr>
            <p:cNvSpPr/>
            <p:nvPr/>
          </p:nvSpPr>
          <p:spPr>
            <a:xfrm>
              <a:off x="1193006" y="4601800"/>
              <a:ext cx="607219" cy="607219"/>
            </a:xfrm>
            <a:prstGeom prst="ellipse">
              <a:avLst/>
            </a:prstGeom>
            <a:solidFill>
              <a:srgbClr val="38EF7D">
                <a:lumMod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800" b="1" kern="0" dirty="0">
                  <a:solidFill>
                    <a:srgbClr val="FFFFFF"/>
                  </a:solidFill>
                  <a:latin typeface="Times New Roman" panose="02020603050405020304"/>
                  <a:cs typeface="Times New Roman" panose="02020603050405020304" pitchFamily="18" charset="0"/>
                </a:rPr>
                <a:t>5</a:t>
              </a:r>
              <a:endParaRPr kumimoji="0" lang="en-VN" sz="2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EA11615-EA15-4AF2-9A16-36D1AE72296F}"/>
                </a:ext>
              </a:extLst>
            </p:cNvPr>
            <p:cNvSpPr txBox="1"/>
            <p:nvPr/>
          </p:nvSpPr>
          <p:spPr>
            <a:xfrm>
              <a:off x="1862400" y="4652166"/>
              <a:ext cx="6609248" cy="50648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4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/>
                </a:rPr>
                <a:t>Hỏi</a:t>
              </a:r>
              <a:r>
                <a:rPr kumimoji="0" lang="en-US" sz="3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/>
                </a:rPr>
                <a:t> &amp; </a:t>
              </a:r>
              <a:r>
                <a:rPr kumimoji="0" lang="en-US" sz="34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/>
                </a:rPr>
                <a:t>Đáp</a:t>
              </a:r>
              <a:endParaRPr kumimoji="0" lang="en-VN" sz="3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874168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 Hands-On Look at RISC-V Verification for Next-Gen Designs Using Synopsys'  Flow - RISC-V International">
            <a:extLst>
              <a:ext uri="{FF2B5EF4-FFF2-40B4-BE49-F238E27FC236}">
                <a16:creationId xmlns:a16="http://schemas.microsoft.com/office/drawing/2014/main" id="{B3D7B1B6-C86A-4AF3-A965-356A1B03BA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849"/>
          <a:stretch/>
        </p:blipFill>
        <p:spPr bwMode="auto">
          <a:xfrm>
            <a:off x="160394" y="2397344"/>
            <a:ext cx="10054072" cy="7491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0" name="Google Shape;220;p4">
            <a:extLst>
              <a:ext uri="{FF2B5EF4-FFF2-40B4-BE49-F238E27FC236}">
                <a16:creationId xmlns:a16="http://schemas.microsoft.com/office/drawing/2014/main" id="{7AEA612B-45BA-42C5-AE75-58FDD9A8B251}"/>
              </a:ext>
            </a:extLst>
          </p:cNvPr>
          <p:cNvSpPr>
            <a:spLocks noGrp="1"/>
          </p:cNvSpPr>
          <p:nvPr/>
        </p:nvSpPr>
        <p:spPr>
          <a:xfrm rot="5400000">
            <a:off x="8670767" y="-8672351"/>
            <a:ext cx="942755" cy="18291714"/>
          </a:xfrm>
          <a:custGeom>
            <a:avLst/>
            <a:gdLst/>
            <a:ahLst/>
            <a:cxnLst/>
            <a:rect l="l" t="t" r="r" b="b"/>
            <a:pathLst>
              <a:path w="1263142" h="24388953">
                <a:moveTo>
                  <a:pt x="0" y="0"/>
                </a:moveTo>
                <a:lnTo>
                  <a:pt x="1263142" y="0"/>
                </a:lnTo>
                <a:lnTo>
                  <a:pt x="1263142" y="24388953"/>
                </a:lnTo>
                <a:lnTo>
                  <a:pt x="0" y="24388953"/>
                </a:lnTo>
                <a:close/>
              </a:path>
            </a:pathLst>
          </a:custGeom>
          <a:gradFill>
            <a:gsLst>
              <a:gs pos="0">
                <a:srgbClr val="10CD57"/>
              </a:gs>
              <a:gs pos="100000">
                <a:srgbClr val="02715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1" name="Google Shape;221;p4">
            <a:extLst>
              <a:ext uri="{FF2B5EF4-FFF2-40B4-BE49-F238E27FC236}">
                <a16:creationId xmlns:a16="http://schemas.microsoft.com/office/drawing/2014/main" id="{9AD8E415-E544-4CB2-8F44-62CD80C8C3BA}"/>
              </a:ext>
            </a:extLst>
          </p:cNvPr>
          <p:cNvSpPr>
            <a:spLocks noGrp="1"/>
          </p:cNvSpPr>
          <p:nvPr/>
        </p:nvSpPr>
        <p:spPr>
          <a:xfrm rot="-5400000" flipH="1">
            <a:off x="8672625" y="-8674476"/>
            <a:ext cx="942756" cy="18291714"/>
          </a:xfrm>
          <a:custGeom>
            <a:avLst/>
            <a:gdLst/>
            <a:ahLst/>
            <a:cxnLst/>
            <a:rect l="l" t="t" r="r" b="b"/>
            <a:pathLst>
              <a:path w="1263142" h="24388953">
                <a:moveTo>
                  <a:pt x="0" y="0"/>
                </a:moveTo>
                <a:lnTo>
                  <a:pt x="1263142" y="0"/>
                </a:lnTo>
                <a:lnTo>
                  <a:pt x="1263142" y="24388953"/>
                </a:lnTo>
                <a:lnTo>
                  <a:pt x="0" y="24388953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35090" r="-35085"/>
            </a:stretch>
          </a:blip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3" name="Google Shape;223;p4">
            <a:extLst>
              <a:ext uri="{FF2B5EF4-FFF2-40B4-BE49-F238E27FC236}">
                <a16:creationId xmlns:a16="http://schemas.microsoft.com/office/drawing/2014/main" id="{9C7B45FF-4167-47FB-9008-4175EA763FD8}"/>
              </a:ext>
            </a:extLst>
          </p:cNvPr>
          <p:cNvSpPr>
            <a:spLocks noGrp="1"/>
          </p:cNvSpPr>
          <p:nvPr/>
        </p:nvSpPr>
        <p:spPr>
          <a:xfrm>
            <a:off x="360422" y="212133"/>
            <a:ext cx="11130437" cy="506075"/>
          </a:xfrm>
          <a:custGeom>
            <a:avLst/>
            <a:gdLst/>
            <a:ahLst/>
            <a:cxnLst/>
            <a:rect l="l" t="t" r="r" b="b"/>
            <a:pathLst>
              <a:path w="14840583" h="674766">
                <a:moveTo>
                  <a:pt x="0" y="0"/>
                </a:moveTo>
                <a:lnTo>
                  <a:pt x="14840583" y="0"/>
                </a:lnTo>
                <a:lnTo>
                  <a:pt x="14840583" y="674766"/>
                </a:lnTo>
                <a:lnTo>
                  <a:pt x="0" y="67476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4" name="Google Shape;224;p4">
            <a:extLst>
              <a:ext uri="{FF2B5EF4-FFF2-40B4-BE49-F238E27FC236}">
                <a16:creationId xmlns:a16="http://schemas.microsoft.com/office/drawing/2014/main" id="{72D3D682-CDAE-4CD3-BB7D-D9AA273088FD}"/>
              </a:ext>
            </a:extLst>
          </p:cNvPr>
          <p:cNvSpPr>
            <a:spLocks noGrp="1"/>
          </p:cNvSpPr>
          <p:nvPr/>
        </p:nvSpPr>
        <p:spPr>
          <a:xfrm>
            <a:off x="360422" y="176415"/>
            <a:ext cx="11130436" cy="541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FACULTY OF COMPUTER ENGINEERING</a:t>
            </a:r>
            <a:endParaRPr/>
          </a:p>
        </p:txBody>
      </p:sp>
      <p:sp>
        <p:nvSpPr>
          <p:cNvPr id="225" name="Google Shape;225;p4">
            <a:extLst>
              <a:ext uri="{FF2B5EF4-FFF2-40B4-BE49-F238E27FC236}">
                <a16:creationId xmlns:a16="http://schemas.microsoft.com/office/drawing/2014/main" id="{84FAB926-91D1-4266-8A21-D6D460278E4D}"/>
              </a:ext>
            </a:extLst>
          </p:cNvPr>
          <p:cNvSpPr>
            <a:spLocks noGrp="1"/>
          </p:cNvSpPr>
          <p:nvPr/>
        </p:nvSpPr>
        <p:spPr>
          <a:xfrm>
            <a:off x="6719978" y="457932"/>
            <a:ext cx="4848130" cy="958025"/>
          </a:xfrm>
          <a:custGeom>
            <a:avLst/>
            <a:gdLst/>
            <a:ahLst/>
            <a:cxnLst/>
            <a:rect l="l" t="t" r="r" b="b"/>
            <a:pathLst>
              <a:path w="6464173" h="1277366">
                <a:moveTo>
                  <a:pt x="0" y="638683"/>
                </a:moveTo>
                <a:cubicBezTo>
                  <a:pt x="0" y="285877"/>
                  <a:pt x="285877" y="0"/>
                  <a:pt x="638683" y="0"/>
                </a:cubicBezTo>
                <a:lnTo>
                  <a:pt x="5825490" y="0"/>
                </a:lnTo>
                <a:cubicBezTo>
                  <a:pt x="6178169" y="0"/>
                  <a:pt x="6464173" y="285877"/>
                  <a:pt x="6464173" y="638683"/>
                </a:cubicBezTo>
                <a:cubicBezTo>
                  <a:pt x="6464173" y="991489"/>
                  <a:pt x="6178296" y="1277366"/>
                  <a:pt x="5825490" y="1277366"/>
                </a:cubicBezTo>
                <a:lnTo>
                  <a:pt x="638683" y="1277366"/>
                </a:lnTo>
                <a:cubicBezTo>
                  <a:pt x="285877" y="1277239"/>
                  <a:pt x="0" y="991362"/>
                  <a:pt x="0" y="638683"/>
                </a:cubicBezTo>
                <a:close/>
              </a:path>
            </a:pathLst>
          </a:custGeom>
          <a:gradFill>
            <a:gsLst>
              <a:gs pos="0">
                <a:srgbClr val="38EF7D"/>
              </a:gs>
              <a:gs pos="100000">
                <a:srgbClr val="752AFF"/>
              </a:gs>
            </a:gsLst>
            <a:lin ang="4729360" scaled="0"/>
          </a:gra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6" name="Google Shape;226;p4">
            <a:extLst>
              <a:ext uri="{FF2B5EF4-FFF2-40B4-BE49-F238E27FC236}">
                <a16:creationId xmlns:a16="http://schemas.microsoft.com/office/drawing/2014/main" id="{6AC07224-92D1-499D-8694-BFA17889782B}"/>
              </a:ext>
            </a:extLst>
          </p:cNvPr>
          <p:cNvSpPr>
            <a:spLocks noGrp="1"/>
          </p:cNvSpPr>
          <p:nvPr/>
        </p:nvSpPr>
        <p:spPr>
          <a:xfrm>
            <a:off x="6807463" y="535967"/>
            <a:ext cx="4673060" cy="801909"/>
          </a:xfrm>
          <a:custGeom>
            <a:avLst/>
            <a:gdLst/>
            <a:ahLst/>
            <a:cxnLst/>
            <a:rect l="l" t="t" r="r" b="b"/>
            <a:pathLst>
              <a:path w="6230747" h="1069213">
                <a:moveTo>
                  <a:pt x="0" y="534543"/>
                </a:moveTo>
                <a:cubicBezTo>
                  <a:pt x="0" y="239395"/>
                  <a:pt x="239395" y="0"/>
                  <a:pt x="534543" y="0"/>
                </a:cubicBezTo>
                <a:lnTo>
                  <a:pt x="5696204" y="0"/>
                </a:lnTo>
                <a:cubicBezTo>
                  <a:pt x="5991479" y="0"/>
                  <a:pt x="6230747" y="239395"/>
                  <a:pt x="6230747" y="534543"/>
                </a:cubicBezTo>
                <a:cubicBezTo>
                  <a:pt x="6230747" y="829691"/>
                  <a:pt x="5991352" y="1069086"/>
                  <a:pt x="5696204" y="1069086"/>
                </a:cubicBezTo>
                <a:lnTo>
                  <a:pt x="534543" y="1069086"/>
                </a:lnTo>
                <a:cubicBezTo>
                  <a:pt x="239395" y="1069213"/>
                  <a:pt x="0" y="829818"/>
                  <a:pt x="0" y="53454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7" name="Google Shape;227;p4">
            <a:extLst>
              <a:ext uri="{FF2B5EF4-FFF2-40B4-BE49-F238E27FC236}">
                <a16:creationId xmlns:a16="http://schemas.microsoft.com/office/drawing/2014/main" id="{7DFEB014-466A-45CA-83FE-661B86B482D2}"/>
              </a:ext>
            </a:extLst>
          </p:cNvPr>
          <p:cNvSpPr>
            <a:spLocks noGrp="1"/>
          </p:cNvSpPr>
          <p:nvPr/>
        </p:nvSpPr>
        <p:spPr>
          <a:xfrm>
            <a:off x="9436446" y="362541"/>
            <a:ext cx="1163307" cy="1152591"/>
          </a:xfrm>
          <a:custGeom>
            <a:avLst/>
            <a:gdLst/>
            <a:ahLst/>
            <a:cxnLst/>
            <a:rect l="l" t="t" r="r" b="b"/>
            <a:pathLst>
              <a:path w="1163307" h="1152591">
                <a:moveTo>
                  <a:pt x="0" y="0"/>
                </a:moveTo>
                <a:lnTo>
                  <a:pt x="1163307" y="0"/>
                </a:lnTo>
                <a:lnTo>
                  <a:pt x="1163307" y="1152591"/>
                </a:lnTo>
                <a:lnTo>
                  <a:pt x="0" y="11525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l="-73" r="-72"/>
            </a:stretch>
          </a:blip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8" name="Google Shape;228;p4">
            <a:extLst>
              <a:ext uri="{FF2B5EF4-FFF2-40B4-BE49-F238E27FC236}">
                <a16:creationId xmlns:a16="http://schemas.microsoft.com/office/drawing/2014/main" id="{289A243A-8F3B-4B03-9910-2B3E213D59F3}"/>
              </a:ext>
            </a:extLst>
          </p:cNvPr>
          <p:cNvSpPr>
            <a:spLocks noGrp="1"/>
          </p:cNvSpPr>
          <p:nvPr/>
        </p:nvSpPr>
        <p:spPr>
          <a:xfrm>
            <a:off x="7688248" y="398076"/>
            <a:ext cx="1307514" cy="1081521"/>
          </a:xfrm>
          <a:custGeom>
            <a:avLst/>
            <a:gdLst/>
            <a:ahLst/>
            <a:cxnLst/>
            <a:rect l="l" t="t" r="r" b="b"/>
            <a:pathLst>
              <a:path w="1307514" h="1081521">
                <a:moveTo>
                  <a:pt x="0" y="0"/>
                </a:moveTo>
                <a:lnTo>
                  <a:pt x="1307514" y="0"/>
                </a:lnTo>
                <a:lnTo>
                  <a:pt x="1307514" y="1081521"/>
                </a:lnTo>
                <a:lnTo>
                  <a:pt x="0" y="10815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t="-74" b="-73"/>
            </a:stretch>
          </a:blip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0" name="1. Tổng quan đề tài">
            <a:extLst>
              <a:ext uri="{FF2B5EF4-FFF2-40B4-BE49-F238E27FC236}">
                <a16:creationId xmlns:a16="http://schemas.microsoft.com/office/drawing/2014/main" id="{B75A9023-DE66-48E4-9BFD-D7E9B9CE75D1}"/>
              </a:ext>
            </a:extLst>
          </p:cNvPr>
          <p:cNvSpPr>
            <a:spLocks noGrp="1"/>
          </p:cNvSpPr>
          <p:nvPr/>
        </p:nvSpPr>
        <p:spPr>
          <a:xfrm>
            <a:off x="628650" y="1657350"/>
            <a:ext cx="16954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36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1. </a:t>
            </a:r>
            <a:r>
              <a:rPr sz="36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Tổng</a:t>
            </a:r>
            <a:r>
              <a:rPr sz="36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quan</a:t>
            </a:r>
            <a:r>
              <a:rPr sz="36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đề</a:t>
            </a:r>
            <a:r>
              <a:rPr sz="36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tài</a:t>
            </a:r>
            <a:endParaRPr sz="3600" b="1" dirty="0">
              <a:solidFill>
                <a:srgbClr val="007A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1" name="Nhu cầu xử lý nhiều tác vụ đồng thời">
            <a:extLst>
              <a:ext uri="{FF2B5EF4-FFF2-40B4-BE49-F238E27FC236}">
                <a16:creationId xmlns:a16="http://schemas.microsoft.com/office/drawing/2014/main" id="{E19DA171-279E-4422-A328-81138E73E782}"/>
              </a:ext>
            </a:extLst>
          </p:cNvPr>
          <p:cNvSpPr>
            <a:spLocks noGrp="1"/>
          </p:cNvSpPr>
          <p:nvPr/>
        </p:nvSpPr>
        <p:spPr>
          <a:xfrm>
            <a:off x="9746210" y="2518694"/>
            <a:ext cx="6862763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000" b="1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Nhu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cầu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xử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lý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nhiều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tác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vụ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đồng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thời</a:t>
            </a:r>
            <a:endParaRPr sz="3000" b="1" dirty="0">
              <a:solidFill>
                <a:srgbClr val="007A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2" name="Các hệ thống nhúng như khối điều khiển bay UAV đặt ra nhu cầu xử lý dữ">
            <a:extLst>
              <a:ext uri="{FF2B5EF4-FFF2-40B4-BE49-F238E27FC236}">
                <a16:creationId xmlns:a16="http://schemas.microsoft.com/office/drawing/2014/main" id="{1ED24323-0BEC-43F8-95D1-986ACFB7C194}"/>
              </a:ext>
            </a:extLst>
          </p:cNvPr>
          <p:cNvSpPr>
            <a:spLocks noGrp="1"/>
          </p:cNvSpPr>
          <p:nvPr/>
        </p:nvSpPr>
        <p:spPr>
          <a:xfrm>
            <a:off x="9910762" y="3097622"/>
            <a:ext cx="7234238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just">
              <a:defRPr sz="3000" b="0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Các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hệ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thống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nhúng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như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khối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điều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khiển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bay UAV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đặt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ra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nhu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cầu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xử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lý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dữ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liệu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cảm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biến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,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điều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khiển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và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giao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tiếp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cùng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lúc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233" name="Lựa chọn kiến trúc RISC-V">
            <a:extLst>
              <a:ext uri="{FF2B5EF4-FFF2-40B4-BE49-F238E27FC236}">
                <a16:creationId xmlns:a16="http://schemas.microsoft.com/office/drawing/2014/main" id="{18A9DD79-4549-45C1-9630-F9419F0701E5}"/>
              </a:ext>
            </a:extLst>
          </p:cNvPr>
          <p:cNvSpPr>
            <a:spLocks noGrp="1"/>
          </p:cNvSpPr>
          <p:nvPr/>
        </p:nvSpPr>
        <p:spPr>
          <a:xfrm>
            <a:off x="9746210" y="4848882"/>
            <a:ext cx="501967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000" b="1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Lựa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chọn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kiến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trúc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RISC-V</a:t>
            </a:r>
          </a:p>
        </p:txBody>
      </p:sp>
      <p:sp>
        <p:nvSpPr>
          <p:cNvPr id="234" name="Kiến trúc tập lệnh mở cho phép nhóm chủ động thiết kế và tùy biến bộ x">
            <a:extLst>
              <a:ext uri="{FF2B5EF4-FFF2-40B4-BE49-F238E27FC236}">
                <a16:creationId xmlns:a16="http://schemas.microsoft.com/office/drawing/2014/main" id="{1524C8C5-54ED-4CEF-81F8-2598B62EC25B}"/>
              </a:ext>
            </a:extLst>
          </p:cNvPr>
          <p:cNvSpPr>
            <a:spLocks noGrp="1"/>
          </p:cNvSpPr>
          <p:nvPr/>
        </p:nvSpPr>
        <p:spPr>
          <a:xfrm>
            <a:off x="9910762" y="5436126"/>
            <a:ext cx="7905750" cy="153483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just">
              <a:defRPr sz="3000" b="0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Kiến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trúc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tập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lệnh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mở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cho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phép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nhóm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chủ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động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thiết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kế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và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tùy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biến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bộ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xử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lý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ở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mức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RTL,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phù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hợp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với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mục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tiêu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nghiên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cứu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phần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cứng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235" name="Bài toán của khóa luận">
            <a:extLst>
              <a:ext uri="{FF2B5EF4-FFF2-40B4-BE49-F238E27FC236}">
                <a16:creationId xmlns:a16="http://schemas.microsoft.com/office/drawing/2014/main" id="{F17D9D4B-CC26-458D-BB42-425576631617}"/>
              </a:ext>
            </a:extLst>
          </p:cNvPr>
          <p:cNvSpPr>
            <a:spLocks noGrp="1"/>
          </p:cNvSpPr>
          <p:nvPr/>
        </p:nvSpPr>
        <p:spPr>
          <a:xfrm>
            <a:off x="9746210" y="7287547"/>
            <a:ext cx="4348163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000" b="1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Bài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toán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của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khóa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luận</a:t>
            </a:r>
            <a:endParaRPr sz="3000" b="1" dirty="0">
              <a:solidFill>
                <a:srgbClr val="007A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6" name="Xây dựng hệ 4 lõi RV32IMA có bộ nhớ đệm và quản lý bộ nhớ, bảo đảm dữ ">
            <a:extLst>
              <a:ext uri="{FF2B5EF4-FFF2-40B4-BE49-F238E27FC236}">
                <a16:creationId xmlns:a16="http://schemas.microsoft.com/office/drawing/2014/main" id="{F3ADFCFD-1820-40E6-9AEE-F28C15914468}"/>
              </a:ext>
            </a:extLst>
          </p:cNvPr>
          <p:cNvSpPr>
            <a:spLocks noGrp="1"/>
          </p:cNvSpPr>
          <p:nvPr/>
        </p:nvSpPr>
        <p:spPr>
          <a:xfrm>
            <a:off x="9910762" y="7837078"/>
            <a:ext cx="7519988" cy="1123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just">
              <a:defRPr sz="3000" b="0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Xây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dựng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hệ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4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lõi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RV32IMA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có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bộ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nhớ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đệm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và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quản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lý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bộ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nhớ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,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bảo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đảm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dữ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liệu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chia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sẻ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nhất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quán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và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kiểm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chứng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trên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FPGA.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5494D-3B50-4896-87E4-1D6EFA956CB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ABC7831-7635-497D-8662-DA04D7BFC41D}" type="datetime1">
              <a:rPr lang="en-US" smtClean="0"/>
              <a:t>9/18/2026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EBDEBD-31CC-4230-B22D-66BA1C7703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850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">
            <a:extLst>
              <a:ext uri="{FF2B5EF4-FFF2-40B4-BE49-F238E27FC236}">
                <a16:creationId xmlns:a16="http://schemas.microsoft.com/office/drawing/2014/main" id="{E77E43C7-69BA-DFDE-40C8-CDD7988E47AB}"/>
              </a:ext>
            </a:extLst>
          </p:cNvPr>
          <p:cNvSpPr>
            <a:spLocks noGrp="1"/>
          </p:cNvSpPr>
          <p:nvPr/>
        </p:nvSpPr>
        <p:spPr>
          <a:xfrm rot="5400000">
            <a:off x="8670767" y="-8672351"/>
            <a:ext cx="942755" cy="18291714"/>
          </a:xfrm>
          <a:custGeom>
            <a:avLst/>
            <a:gdLst/>
            <a:ahLst/>
            <a:cxnLst/>
            <a:rect l="l" t="t" r="r" b="b"/>
            <a:pathLst>
              <a:path w="1263142" h="24388953">
                <a:moveTo>
                  <a:pt x="0" y="0"/>
                </a:moveTo>
                <a:lnTo>
                  <a:pt x="1263142" y="0"/>
                </a:lnTo>
                <a:lnTo>
                  <a:pt x="1263142" y="24388953"/>
                </a:lnTo>
                <a:lnTo>
                  <a:pt x="0" y="24388953"/>
                </a:lnTo>
                <a:close/>
              </a:path>
            </a:pathLst>
          </a:custGeom>
          <a:gradFill>
            <a:gsLst>
              <a:gs pos="0">
                <a:srgbClr val="10CD57"/>
              </a:gs>
              <a:gs pos="100000">
                <a:srgbClr val="02715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1" name="Google Shape;221;p4">
            <a:extLst>
              <a:ext uri="{FF2B5EF4-FFF2-40B4-BE49-F238E27FC236}">
                <a16:creationId xmlns:a16="http://schemas.microsoft.com/office/drawing/2014/main" id="{3858341C-4BB0-7398-4010-0EEC237CB81B}"/>
              </a:ext>
            </a:extLst>
          </p:cNvPr>
          <p:cNvSpPr>
            <a:spLocks noGrp="1"/>
          </p:cNvSpPr>
          <p:nvPr/>
        </p:nvSpPr>
        <p:spPr>
          <a:xfrm rot="-5400000" flipH="1">
            <a:off x="8672625" y="-8674476"/>
            <a:ext cx="942756" cy="18291714"/>
          </a:xfrm>
          <a:custGeom>
            <a:avLst/>
            <a:gdLst/>
            <a:ahLst/>
            <a:cxnLst/>
            <a:rect l="l" t="t" r="r" b="b"/>
            <a:pathLst>
              <a:path w="1263142" h="24388953">
                <a:moveTo>
                  <a:pt x="0" y="0"/>
                </a:moveTo>
                <a:lnTo>
                  <a:pt x="1263142" y="0"/>
                </a:lnTo>
                <a:lnTo>
                  <a:pt x="1263142" y="24388953"/>
                </a:lnTo>
                <a:lnTo>
                  <a:pt x="0" y="24388953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35090" r="-35085"/>
            </a:stretch>
          </a:blip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3" name="Google Shape;223;p4">
            <a:extLst>
              <a:ext uri="{FF2B5EF4-FFF2-40B4-BE49-F238E27FC236}">
                <a16:creationId xmlns:a16="http://schemas.microsoft.com/office/drawing/2014/main" id="{1F275C04-1EA7-EFB2-58EC-EB3F6A551830}"/>
              </a:ext>
            </a:extLst>
          </p:cNvPr>
          <p:cNvSpPr>
            <a:spLocks noGrp="1"/>
          </p:cNvSpPr>
          <p:nvPr/>
        </p:nvSpPr>
        <p:spPr>
          <a:xfrm>
            <a:off x="360422" y="212133"/>
            <a:ext cx="11130437" cy="506075"/>
          </a:xfrm>
          <a:custGeom>
            <a:avLst/>
            <a:gdLst/>
            <a:ahLst/>
            <a:cxnLst/>
            <a:rect l="l" t="t" r="r" b="b"/>
            <a:pathLst>
              <a:path w="14840583" h="674766">
                <a:moveTo>
                  <a:pt x="0" y="0"/>
                </a:moveTo>
                <a:lnTo>
                  <a:pt x="14840583" y="0"/>
                </a:lnTo>
                <a:lnTo>
                  <a:pt x="14840583" y="674766"/>
                </a:lnTo>
                <a:lnTo>
                  <a:pt x="0" y="67476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4" name="Google Shape;224;p4">
            <a:extLst>
              <a:ext uri="{FF2B5EF4-FFF2-40B4-BE49-F238E27FC236}">
                <a16:creationId xmlns:a16="http://schemas.microsoft.com/office/drawing/2014/main" id="{88AAF152-00AC-C496-7743-14F4BCDBCAF2}"/>
              </a:ext>
            </a:extLst>
          </p:cNvPr>
          <p:cNvSpPr>
            <a:spLocks noGrp="1"/>
          </p:cNvSpPr>
          <p:nvPr/>
        </p:nvSpPr>
        <p:spPr>
          <a:xfrm>
            <a:off x="360422" y="176415"/>
            <a:ext cx="11130436" cy="541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FACULTY OF COMPUTER ENGINEERING</a:t>
            </a:r>
            <a:endParaRPr/>
          </a:p>
        </p:txBody>
      </p:sp>
      <p:sp>
        <p:nvSpPr>
          <p:cNvPr id="225" name="Google Shape;225;p4">
            <a:extLst>
              <a:ext uri="{FF2B5EF4-FFF2-40B4-BE49-F238E27FC236}">
                <a16:creationId xmlns:a16="http://schemas.microsoft.com/office/drawing/2014/main" id="{EEEA4F8F-6835-8996-9F20-2C578FEEB049}"/>
              </a:ext>
            </a:extLst>
          </p:cNvPr>
          <p:cNvSpPr>
            <a:spLocks noGrp="1"/>
          </p:cNvSpPr>
          <p:nvPr/>
        </p:nvSpPr>
        <p:spPr>
          <a:xfrm>
            <a:off x="6719978" y="457932"/>
            <a:ext cx="4848130" cy="958025"/>
          </a:xfrm>
          <a:custGeom>
            <a:avLst/>
            <a:gdLst/>
            <a:ahLst/>
            <a:cxnLst/>
            <a:rect l="l" t="t" r="r" b="b"/>
            <a:pathLst>
              <a:path w="6464173" h="1277366">
                <a:moveTo>
                  <a:pt x="0" y="638683"/>
                </a:moveTo>
                <a:cubicBezTo>
                  <a:pt x="0" y="285877"/>
                  <a:pt x="285877" y="0"/>
                  <a:pt x="638683" y="0"/>
                </a:cubicBezTo>
                <a:lnTo>
                  <a:pt x="5825490" y="0"/>
                </a:lnTo>
                <a:cubicBezTo>
                  <a:pt x="6178169" y="0"/>
                  <a:pt x="6464173" y="285877"/>
                  <a:pt x="6464173" y="638683"/>
                </a:cubicBezTo>
                <a:cubicBezTo>
                  <a:pt x="6464173" y="991489"/>
                  <a:pt x="6178296" y="1277366"/>
                  <a:pt x="5825490" y="1277366"/>
                </a:cubicBezTo>
                <a:lnTo>
                  <a:pt x="638683" y="1277366"/>
                </a:lnTo>
                <a:cubicBezTo>
                  <a:pt x="285877" y="1277239"/>
                  <a:pt x="0" y="991362"/>
                  <a:pt x="0" y="638683"/>
                </a:cubicBezTo>
                <a:close/>
              </a:path>
            </a:pathLst>
          </a:custGeom>
          <a:gradFill>
            <a:gsLst>
              <a:gs pos="0">
                <a:srgbClr val="38EF7D"/>
              </a:gs>
              <a:gs pos="100000">
                <a:srgbClr val="752AFF"/>
              </a:gs>
            </a:gsLst>
            <a:lin ang="4729360" scaled="0"/>
          </a:gra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6" name="Google Shape;226;p4">
            <a:extLst>
              <a:ext uri="{FF2B5EF4-FFF2-40B4-BE49-F238E27FC236}">
                <a16:creationId xmlns:a16="http://schemas.microsoft.com/office/drawing/2014/main" id="{BA904E38-0A5D-E2E4-703B-94B49FA2E199}"/>
              </a:ext>
            </a:extLst>
          </p:cNvPr>
          <p:cNvSpPr>
            <a:spLocks noGrp="1"/>
          </p:cNvSpPr>
          <p:nvPr/>
        </p:nvSpPr>
        <p:spPr>
          <a:xfrm>
            <a:off x="6807463" y="535967"/>
            <a:ext cx="4673060" cy="801909"/>
          </a:xfrm>
          <a:custGeom>
            <a:avLst/>
            <a:gdLst/>
            <a:ahLst/>
            <a:cxnLst/>
            <a:rect l="l" t="t" r="r" b="b"/>
            <a:pathLst>
              <a:path w="6230747" h="1069213">
                <a:moveTo>
                  <a:pt x="0" y="534543"/>
                </a:moveTo>
                <a:cubicBezTo>
                  <a:pt x="0" y="239395"/>
                  <a:pt x="239395" y="0"/>
                  <a:pt x="534543" y="0"/>
                </a:cubicBezTo>
                <a:lnTo>
                  <a:pt x="5696204" y="0"/>
                </a:lnTo>
                <a:cubicBezTo>
                  <a:pt x="5991479" y="0"/>
                  <a:pt x="6230747" y="239395"/>
                  <a:pt x="6230747" y="534543"/>
                </a:cubicBezTo>
                <a:cubicBezTo>
                  <a:pt x="6230747" y="829691"/>
                  <a:pt x="5991352" y="1069086"/>
                  <a:pt x="5696204" y="1069086"/>
                </a:cubicBezTo>
                <a:lnTo>
                  <a:pt x="534543" y="1069086"/>
                </a:lnTo>
                <a:cubicBezTo>
                  <a:pt x="239395" y="1069213"/>
                  <a:pt x="0" y="829818"/>
                  <a:pt x="0" y="53454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7" name="Google Shape;227;p4">
            <a:extLst>
              <a:ext uri="{FF2B5EF4-FFF2-40B4-BE49-F238E27FC236}">
                <a16:creationId xmlns:a16="http://schemas.microsoft.com/office/drawing/2014/main" id="{9836EA18-ECAC-F1C8-A57F-0D5108695454}"/>
              </a:ext>
            </a:extLst>
          </p:cNvPr>
          <p:cNvSpPr>
            <a:spLocks noGrp="1"/>
          </p:cNvSpPr>
          <p:nvPr/>
        </p:nvSpPr>
        <p:spPr>
          <a:xfrm>
            <a:off x="9436446" y="362541"/>
            <a:ext cx="1163307" cy="1152591"/>
          </a:xfrm>
          <a:custGeom>
            <a:avLst/>
            <a:gdLst/>
            <a:ahLst/>
            <a:cxnLst/>
            <a:rect l="l" t="t" r="r" b="b"/>
            <a:pathLst>
              <a:path w="1163307" h="1152591">
                <a:moveTo>
                  <a:pt x="0" y="0"/>
                </a:moveTo>
                <a:lnTo>
                  <a:pt x="1163307" y="0"/>
                </a:lnTo>
                <a:lnTo>
                  <a:pt x="1163307" y="1152591"/>
                </a:lnTo>
                <a:lnTo>
                  <a:pt x="0" y="11525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73" r="-72"/>
            </a:stretch>
          </a:blip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8" name="Google Shape;228;p4">
            <a:extLst>
              <a:ext uri="{FF2B5EF4-FFF2-40B4-BE49-F238E27FC236}">
                <a16:creationId xmlns:a16="http://schemas.microsoft.com/office/drawing/2014/main" id="{0F196DA8-72BC-39DF-74B8-CB7AA6E11558}"/>
              </a:ext>
            </a:extLst>
          </p:cNvPr>
          <p:cNvSpPr>
            <a:spLocks noGrp="1"/>
          </p:cNvSpPr>
          <p:nvPr/>
        </p:nvSpPr>
        <p:spPr>
          <a:xfrm>
            <a:off x="7688248" y="398076"/>
            <a:ext cx="1307514" cy="1081521"/>
          </a:xfrm>
          <a:custGeom>
            <a:avLst/>
            <a:gdLst/>
            <a:ahLst/>
            <a:cxnLst/>
            <a:rect l="l" t="t" r="r" b="b"/>
            <a:pathLst>
              <a:path w="1307514" h="1081521">
                <a:moveTo>
                  <a:pt x="0" y="0"/>
                </a:moveTo>
                <a:lnTo>
                  <a:pt x="1307514" y="0"/>
                </a:lnTo>
                <a:lnTo>
                  <a:pt x="1307514" y="1081521"/>
                </a:lnTo>
                <a:lnTo>
                  <a:pt x="0" y="10815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t="-74" b="-73"/>
            </a:stretch>
          </a:blip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0" name="2. Mục tiêu đề tài">
            <a:extLst>
              <a:ext uri="{FF2B5EF4-FFF2-40B4-BE49-F238E27FC236}">
                <a16:creationId xmlns:a16="http://schemas.microsoft.com/office/drawing/2014/main" id="{9E292DB8-D387-43FA-8466-B7B22383E2CF}"/>
              </a:ext>
            </a:extLst>
          </p:cNvPr>
          <p:cNvSpPr>
            <a:spLocks noGrp="1"/>
          </p:cNvSpPr>
          <p:nvPr/>
        </p:nvSpPr>
        <p:spPr>
          <a:xfrm>
            <a:off x="518512" y="1768498"/>
            <a:ext cx="16954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2. Mục tiêu đề tài</a:t>
            </a:r>
          </a:p>
        </p:txBody>
      </p:sp>
      <p:sp>
        <p:nvSpPr>
          <p:cNvPr id="231" name="Mục tiêu 1  Thiết kế và hiện thực hệ vi xử lý 4 lõi">
            <a:extLst>
              <a:ext uri="{FF2B5EF4-FFF2-40B4-BE49-F238E27FC236}">
                <a16:creationId xmlns:a16="http://schemas.microsoft.com/office/drawing/2014/main" id="{7133C2D2-1B19-4DDD-BDF1-629A196D593F}"/>
              </a:ext>
            </a:extLst>
          </p:cNvPr>
          <p:cNvSpPr>
            <a:spLocks noGrp="1"/>
          </p:cNvSpPr>
          <p:nvPr/>
        </p:nvSpPr>
        <p:spPr>
          <a:xfrm>
            <a:off x="952500" y="2781300"/>
            <a:ext cx="16383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000" b="1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Mục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tiêu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1</a:t>
            </a:r>
            <a:r>
              <a:rPr lang="en-US"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: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Thiết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kế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và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hiện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thực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hệ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vi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xử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lý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4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lõi</a:t>
            </a:r>
            <a:endParaRPr sz="3000" b="1" dirty="0">
              <a:solidFill>
                <a:srgbClr val="007A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2" name="Lõi RV32IMA, cache L1 riêng và L2 dùng chung, cơ chế nhất quán dữ liệu">
            <a:extLst>
              <a:ext uri="{FF2B5EF4-FFF2-40B4-BE49-F238E27FC236}">
                <a16:creationId xmlns:a16="http://schemas.microsoft.com/office/drawing/2014/main" id="{630B98C8-ADEA-4B78-9182-A332DA81D0AF}"/>
              </a:ext>
            </a:extLst>
          </p:cNvPr>
          <p:cNvSpPr>
            <a:spLocks noGrp="1"/>
          </p:cNvSpPr>
          <p:nvPr/>
        </p:nvSpPr>
        <p:spPr>
          <a:xfrm>
            <a:off x="952500" y="3476625"/>
            <a:ext cx="16383000" cy="1238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000" b="0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Lõi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RV32IMA, cache L1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riêng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và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L2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dùng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chung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,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cơ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chế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nhất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quán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dữ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liệu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MSI</a:t>
            </a:r>
            <a:r>
              <a:rPr lang="en-US"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cho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từng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lõi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,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giao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tiếp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bus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và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DMA.</a:t>
            </a:r>
          </a:p>
        </p:txBody>
      </p:sp>
      <p:sp>
        <p:nvSpPr>
          <p:cNvPr id="233" name="Mục tiêu 2  Kiểm chứng, đánh giá và triển khai trên FPGA">
            <a:extLst>
              <a:ext uri="{FF2B5EF4-FFF2-40B4-BE49-F238E27FC236}">
                <a16:creationId xmlns:a16="http://schemas.microsoft.com/office/drawing/2014/main" id="{FB2B2FEB-A3C7-4F64-9A5D-4362BC4FEFF6}"/>
              </a:ext>
            </a:extLst>
          </p:cNvPr>
          <p:cNvSpPr>
            <a:spLocks noGrp="1"/>
          </p:cNvSpPr>
          <p:nvPr/>
        </p:nvSpPr>
        <p:spPr>
          <a:xfrm>
            <a:off x="952500" y="5124450"/>
            <a:ext cx="16383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000" b="1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Mục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tiêu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2</a:t>
            </a:r>
            <a:r>
              <a:rPr lang="en-US"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: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Kiểm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chứng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,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đánh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giá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và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triển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khai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trên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FPGA</a:t>
            </a:r>
          </a:p>
        </p:txBody>
      </p:sp>
      <p:sp>
        <p:nvSpPr>
          <p:cNvPr id="234" name="Kiểm tra đúng chức năng bằng mô phỏng RTL và demo tự động trên FPGA. Đ">
            <a:extLst>
              <a:ext uri="{FF2B5EF4-FFF2-40B4-BE49-F238E27FC236}">
                <a16:creationId xmlns:a16="http://schemas.microsoft.com/office/drawing/2014/main" id="{6CD00D4E-C77F-486A-9CBA-BF6BF6F474FC}"/>
              </a:ext>
            </a:extLst>
          </p:cNvPr>
          <p:cNvSpPr>
            <a:spLocks noGrp="1"/>
          </p:cNvSpPr>
          <p:nvPr/>
        </p:nvSpPr>
        <p:spPr>
          <a:xfrm>
            <a:off x="952500" y="5829300"/>
            <a:ext cx="16383000" cy="1238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000" b="0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Kiểm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tra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đúng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chức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năng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bằng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mô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phỏng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RTL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và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demo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tự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động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trên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FPGA.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Đánh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giá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hiệu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năng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,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tài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nguyên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, timing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và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công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suất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ước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tính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235" name="Phạm vi thực hiện">
            <a:extLst>
              <a:ext uri="{FF2B5EF4-FFF2-40B4-BE49-F238E27FC236}">
                <a16:creationId xmlns:a16="http://schemas.microsoft.com/office/drawing/2014/main" id="{93A5E84E-0002-439B-838C-695786116AEF}"/>
              </a:ext>
            </a:extLst>
          </p:cNvPr>
          <p:cNvSpPr>
            <a:spLocks noGrp="1"/>
          </p:cNvSpPr>
          <p:nvPr/>
        </p:nvSpPr>
        <p:spPr>
          <a:xfrm>
            <a:off x="952500" y="7572375"/>
            <a:ext cx="16383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000" b="1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Phạm vi thực hiện</a:t>
            </a:r>
          </a:p>
        </p:txBody>
      </p:sp>
      <p:sp>
        <p:nvSpPr>
          <p:cNvPr id="236" name="4 lõi, tập lệnh RV32I/M/A. Không mở rộng F/D hoặc C. MMU giới hạn tran">
            <a:extLst>
              <a:ext uri="{FF2B5EF4-FFF2-40B4-BE49-F238E27FC236}">
                <a16:creationId xmlns:a16="http://schemas.microsoft.com/office/drawing/2014/main" id="{510ED214-9775-472C-93DF-0A76C05F3842}"/>
              </a:ext>
            </a:extLst>
          </p:cNvPr>
          <p:cNvSpPr>
            <a:spLocks noGrp="1"/>
          </p:cNvSpPr>
          <p:nvPr/>
        </p:nvSpPr>
        <p:spPr>
          <a:xfrm>
            <a:off x="952500" y="8191500"/>
            <a:ext cx="163830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625" b="0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4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lõi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,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tập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lệnh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RV32I/M/A.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Không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mở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rộng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F/D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hoặc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C; CSR/trap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ngoài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phạm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vi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đề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cương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B292D-05DE-4357-8C69-8B40F71B3CD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0802FC0-F575-4165-B427-C1726B77AF04}" type="datetime1">
              <a:rPr lang="en-US" smtClean="0"/>
              <a:t>9/18/2026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E756C5-4F6E-4029-903D-0B99FF90476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252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">
            <a:extLst>
              <a:ext uri="{FF2B5EF4-FFF2-40B4-BE49-F238E27FC236}">
                <a16:creationId xmlns:a16="http://schemas.microsoft.com/office/drawing/2014/main" id="{D7860EAB-80CD-B3CD-26E9-786331497CEA}"/>
              </a:ext>
            </a:extLst>
          </p:cNvPr>
          <p:cNvSpPr>
            <a:spLocks noGrp="1"/>
          </p:cNvSpPr>
          <p:nvPr/>
        </p:nvSpPr>
        <p:spPr>
          <a:xfrm rot="5400000">
            <a:off x="8670767" y="-8672351"/>
            <a:ext cx="942755" cy="18291714"/>
          </a:xfrm>
          <a:custGeom>
            <a:avLst/>
            <a:gdLst/>
            <a:ahLst/>
            <a:cxnLst/>
            <a:rect l="l" t="t" r="r" b="b"/>
            <a:pathLst>
              <a:path w="1263142" h="24388953">
                <a:moveTo>
                  <a:pt x="0" y="0"/>
                </a:moveTo>
                <a:lnTo>
                  <a:pt x="1263142" y="0"/>
                </a:lnTo>
                <a:lnTo>
                  <a:pt x="1263142" y="24388953"/>
                </a:lnTo>
                <a:lnTo>
                  <a:pt x="0" y="24388953"/>
                </a:lnTo>
                <a:close/>
              </a:path>
            </a:pathLst>
          </a:custGeom>
          <a:gradFill>
            <a:gsLst>
              <a:gs pos="0">
                <a:srgbClr val="10CD57"/>
              </a:gs>
              <a:gs pos="100000">
                <a:srgbClr val="02715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1" name="Google Shape;221;p4">
            <a:extLst>
              <a:ext uri="{FF2B5EF4-FFF2-40B4-BE49-F238E27FC236}">
                <a16:creationId xmlns:a16="http://schemas.microsoft.com/office/drawing/2014/main" id="{DC1937D5-981D-491E-C851-A8C0ADF66CBC}"/>
              </a:ext>
            </a:extLst>
          </p:cNvPr>
          <p:cNvSpPr>
            <a:spLocks noGrp="1"/>
          </p:cNvSpPr>
          <p:nvPr/>
        </p:nvSpPr>
        <p:spPr>
          <a:xfrm rot="-5400000" flipH="1">
            <a:off x="8672625" y="-8674476"/>
            <a:ext cx="942756" cy="18291714"/>
          </a:xfrm>
          <a:custGeom>
            <a:avLst/>
            <a:gdLst/>
            <a:ahLst/>
            <a:cxnLst/>
            <a:rect l="l" t="t" r="r" b="b"/>
            <a:pathLst>
              <a:path w="1263142" h="24388953">
                <a:moveTo>
                  <a:pt x="0" y="0"/>
                </a:moveTo>
                <a:lnTo>
                  <a:pt x="1263142" y="0"/>
                </a:lnTo>
                <a:lnTo>
                  <a:pt x="1263142" y="24388953"/>
                </a:lnTo>
                <a:lnTo>
                  <a:pt x="0" y="24388953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35090" r="-35085"/>
            </a:stretch>
          </a:blip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3" name="Google Shape;223;p4">
            <a:extLst>
              <a:ext uri="{FF2B5EF4-FFF2-40B4-BE49-F238E27FC236}">
                <a16:creationId xmlns:a16="http://schemas.microsoft.com/office/drawing/2014/main" id="{57F404DD-C029-6714-6DFB-9274C55C8F52}"/>
              </a:ext>
            </a:extLst>
          </p:cNvPr>
          <p:cNvSpPr>
            <a:spLocks noGrp="1"/>
          </p:cNvSpPr>
          <p:nvPr/>
        </p:nvSpPr>
        <p:spPr>
          <a:xfrm>
            <a:off x="360422" y="212133"/>
            <a:ext cx="11130437" cy="506075"/>
          </a:xfrm>
          <a:custGeom>
            <a:avLst/>
            <a:gdLst/>
            <a:ahLst/>
            <a:cxnLst/>
            <a:rect l="l" t="t" r="r" b="b"/>
            <a:pathLst>
              <a:path w="14840583" h="674766">
                <a:moveTo>
                  <a:pt x="0" y="0"/>
                </a:moveTo>
                <a:lnTo>
                  <a:pt x="14840583" y="0"/>
                </a:lnTo>
                <a:lnTo>
                  <a:pt x="14840583" y="674766"/>
                </a:lnTo>
                <a:lnTo>
                  <a:pt x="0" y="67476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4" name="Google Shape;224;p4">
            <a:extLst>
              <a:ext uri="{FF2B5EF4-FFF2-40B4-BE49-F238E27FC236}">
                <a16:creationId xmlns:a16="http://schemas.microsoft.com/office/drawing/2014/main" id="{197D2A85-3385-63ED-A5CC-5D4AFA4CB27D}"/>
              </a:ext>
            </a:extLst>
          </p:cNvPr>
          <p:cNvSpPr>
            <a:spLocks noGrp="1"/>
          </p:cNvSpPr>
          <p:nvPr/>
        </p:nvSpPr>
        <p:spPr>
          <a:xfrm>
            <a:off x="360422" y="176415"/>
            <a:ext cx="11130436" cy="541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FACULTY OF COMPUTER ENGINEERING</a:t>
            </a:r>
            <a:endParaRPr/>
          </a:p>
        </p:txBody>
      </p:sp>
      <p:sp>
        <p:nvSpPr>
          <p:cNvPr id="225" name="Google Shape;225;p4">
            <a:extLst>
              <a:ext uri="{FF2B5EF4-FFF2-40B4-BE49-F238E27FC236}">
                <a16:creationId xmlns:a16="http://schemas.microsoft.com/office/drawing/2014/main" id="{ED874408-6986-1FE4-6E13-758C05084726}"/>
              </a:ext>
            </a:extLst>
          </p:cNvPr>
          <p:cNvSpPr>
            <a:spLocks noGrp="1"/>
          </p:cNvSpPr>
          <p:nvPr/>
        </p:nvSpPr>
        <p:spPr>
          <a:xfrm>
            <a:off x="6719978" y="457932"/>
            <a:ext cx="4848130" cy="958025"/>
          </a:xfrm>
          <a:custGeom>
            <a:avLst/>
            <a:gdLst/>
            <a:ahLst/>
            <a:cxnLst/>
            <a:rect l="l" t="t" r="r" b="b"/>
            <a:pathLst>
              <a:path w="6464173" h="1277366">
                <a:moveTo>
                  <a:pt x="0" y="638683"/>
                </a:moveTo>
                <a:cubicBezTo>
                  <a:pt x="0" y="285877"/>
                  <a:pt x="285877" y="0"/>
                  <a:pt x="638683" y="0"/>
                </a:cubicBezTo>
                <a:lnTo>
                  <a:pt x="5825490" y="0"/>
                </a:lnTo>
                <a:cubicBezTo>
                  <a:pt x="6178169" y="0"/>
                  <a:pt x="6464173" y="285877"/>
                  <a:pt x="6464173" y="638683"/>
                </a:cubicBezTo>
                <a:cubicBezTo>
                  <a:pt x="6464173" y="991489"/>
                  <a:pt x="6178296" y="1277366"/>
                  <a:pt x="5825490" y="1277366"/>
                </a:cubicBezTo>
                <a:lnTo>
                  <a:pt x="638683" y="1277366"/>
                </a:lnTo>
                <a:cubicBezTo>
                  <a:pt x="285877" y="1277239"/>
                  <a:pt x="0" y="991362"/>
                  <a:pt x="0" y="638683"/>
                </a:cubicBezTo>
                <a:close/>
              </a:path>
            </a:pathLst>
          </a:custGeom>
          <a:gradFill>
            <a:gsLst>
              <a:gs pos="0">
                <a:srgbClr val="38EF7D"/>
              </a:gs>
              <a:gs pos="100000">
                <a:srgbClr val="752AFF"/>
              </a:gs>
            </a:gsLst>
            <a:lin ang="4729360" scaled="0"/>
          </a:gra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6" name="Google Shape;226;p4">
            <a:extLst>
              <a:ext uri="{FF2B5EF4-FFF2-40B4-BE49-F238E27FC236}">
                <a16:creationId xmlns:a16="http://schemas.microsoft.com/office/drawing/2014/main" id="{04894B58-CC3F-7A85-88A1-7B099995B9F1}"/>
              </a:ext>
            </a:extLst>
          </p:cNvPr>
          <p:cNvSpPr>
            <a:spLocks noGrp="1"/>
          </p:cNvSpPr>
          <p:nvPr/>
        </p:nvSpPr>
        <p:spPr>
          <a:xfrm>
            <a:off x="6807463" y="535967"/>
            <a:ext cx="4673060" cy="801909"/>
          </a:xfrm>
          <a:custGeom>
            <a:avLst/>
            <a:gdLst/>
            <a:ahLst/>
            <a:cxnLst/>
            <a:rect l="l" t="t" r="r" b="b"/>
            <a:pathLst>
              <a:path w="6230747" h="1069213">
                <a:moveTo>
                  <a:pt x="0" y="534543"/>
                </a:moveTo>
                <a:cubicBezTo>
                  <a:pt x="0" y="239395"/>
                  <a:pt x="239395" y="0"/>
                  <a:pt x="534543" y="0"/>
                </a:cubicBezTo>
                <a:lnTo>
                  <a:pt x="5696204" y="0"/>
                </a:lnTo>
                <a:cubicBezTo>
                  <a:pt x="5991479" y="0"/>
                  <a:pt x="6230747" y="239395"/>
                  <a:pt x="6230747" y="534543"/>
                </a:cubicBezTo>
                <a:cubicBezTo>
                  <a:pt x="6230747" y="829691"/>
                  <a:pt x="5991352" y="1069086"/>
                  <a:pt x="5696204" y="1069086"/>
                </a:cubicBezTo>
                <a:lnTo>
                  <a:pt x="534543" y="1069086"/>
                </a:lnTo>
                <a:cubicBezTo>
                  <a:pt x="239395" y="1069213"/>
                  <a:pt x="0" y="829818"/>
                  <a:pt x="0" y="53454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7" name="Google Shape;227;p4">
            <a:extLst>
              <a:ext uri="{FF2B5EF4-FFF2-40B4-BE49-F238E27FC236}">
                <a16:creationId xmlns:a16="http://schemas.microsoft.com/office/drawing/2014/main" id="{8F8F9C0E-7CEA-DCA0-7581-BCC2CB234D7D}"/>
              </a:ext>
            </a:extLst>
          </p:cNvPr>
          <p:cNvSpPr>
            <a:spLocks noGrp="1"/>
          </p:cNvSpPr>
          <p:nvPr/>
        </p:nvSpPr>
        <p:spPr>
          <a:xfrm>
            <a:off x="9436446" y="362541"/>
            <a:ext cx="1163307" cy="1152591"/>
          </a:xfrm>
          <a:custGeom>
            <a:avLst/>
            <a:gdLst/>
            <a:ahLst/>
            <a:cxnLst/>
            <a:rect l="l" t="t" r="r" b="b"/>
            <a:pathLst>
              <a:path w="1163307" h="1152591">
                <a:moveTo>
                  <a:pt x="0" y="0"/>
                </a:moveTo>
                <a:lnTo>
                  <a:pt x="1163307" y="0"/>
                </a:lnTo>
                <a:lnTo>
                  <a:pt x="1163307" y="1152591"/>
                </a:lnTo>
                <a:lnTo>
                  <a:pt x="0" y="11525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73" r="-72"/>
            </a:stretch>
          </a:blip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8" name="Google Shape;228;p4">
            <a:extLst>
              <a:ext uri="{FF2B5EF4-FFF2-40B4-BE49-F238E27FC236}">
                <a16:creationId xmlns:a16="http://schemas.microsoft.com/office/drawing/2014/main" id="{B96425F5-9567-4B65-E61C-4D7184A08B4A}"/>
              </a:ext>
            </a:extLst>
          </p:cNvPr>
          <p:cNvSpPr>
            <a:spLocks noGrp="1"/>
          </p:cNvSpPr>
          <p:nvPr/>
        </p:nvSpPr>
        <p:spPr>
          <a:xfrm>
            <a:off x="7688248" y="398076"/>
            <a:ext cx="1307514" cy="1081521"/>
          </a:xfrm>
          <a:custGeom>
            <a:avLst/>
            <a:gdLst/>
            <a:ahLst/>
            <a:cxnLst/>
            <a:rect l="l" t="t" r="r" b="b"/>
            <a:pathLst>
              <a:path w="1307514" h="1081521">
                <a:moveTo>
                  <a:pt x="0" y="0"/>
                </a:moveTo>
                <a:lnTo>
                  <a:pt x="1307514" y="0"/>
                </a:lnTo>
                <a:lnTo>
                  <a:pt x="1307514" y="1081521"/>
                </a:lnTo>
                <a:lnTo>
                  <a:pt x="0" y="10815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t="-74" b="-73"/>
            </a:stretch>
          </a:blip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0" name="3. Nội dung và phương pháp thực hiện">
            <a:extLst>
              <a:ext uri="{FF2B5EF4-FFF2-40B4-BE49-F238E27FC236}">
                <a16:creationId xmlns:a16="http://schemas.microsoft.com/office/drawing/2014/main" id="{6B76308F-EAF1-45A4-A869-46D30DD8C112}"/>
              </a:ext>
            </a:extLst>
          </p:cNvPr>
          <p:cNvSpPr>
            <a:spLocks noGrp="1"/>
          </p:cNvSpPr>
          <p:nvPr/>
        </p:nvSpPr>
        <p:spPr>
          <a:xfrm>
            <a:off x="523875" y="1761233"/>
            <a:ext cx="16954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3. Nội dung và phương pháp thực hiện</a:t>
            </a:r>
          </a:p>
        </p:txBody>
      </p:sp>
      <p:graphicFrame>
        <p:nvGraphicFramePr>
          <p:cNvPr id="242" name="Table 241"/>
          <p:cNvGraphicFramePr/>
          <p:nvPr>
            <p:extLst>
              <p:ext uri="{D42A27DB-BD31-4B8C-83A1-F6EECF244321}">
                <p14:modId xmlns:p14="http://schemas.microsoft.com/office/powerpoint/2010/main" val="2453050782"/>
              </p:ext>
            </p:extLst>
          </p:nvPr>
        </p:nvGraphicFramePr>
        <p:xfrm>
          <a:off x="809625" y="2857500"/>
          <a:ext cx="16668750" cy="5953125"/>
        </p:xfrm>
        <a:graphic>
          <a:graphicData uri="http://schemas.openxmlformats.org/drawingml/2006/table">
            <a:tbl>
              <a:tblPr/>
              <a:tblGrid>
                <a:gridCol w="495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7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90625">
                <a:tc>
                  <a:txBody>
                    <a:bodyPr/>
                    <a:lstStyle/>
                    <a:p>
                      <a:pPr algn="l"/>
                      <a:r>
                        <a:rPr sz="25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Nội dung chính</a:t>
                      </a:r>
                    </a:p>
                  </a:txBody>
                  <a:tcPr anchor="ctr">
                    <a:solidFill>
                      <a:srgbClr val="007A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5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Phương pháp thực hiện</a:t>
                      </a:r>
                    </a:p>
                  </a:txBody>
                  <a:tcPr anchor="ctr">
                    <a:solidFill>
                      <a:srgbClr val="007A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5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Kết quả dự kiến</a:t>
                      </a:r>
                    </a:p>
                  </a:txBody>
                  <a:tcPr anchor="ctr">
                    <a:solidFill>
                      <a:srgbClr val="007A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0625">
                <a:tc>
                  <a:txBody>
                    <a:bodyPr/>
                    <a:lstStyle/>
                    <a:p>
                      <a:pPr algn="l"/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1. Khảo sát và lựa chọn kiến trúc</a:t>
                      </a:r>
                    </a:p>
                  </a:txBody>
                  <a:tcPr anchor="ctr">
                    <a:solidFill>
                      <a:srgbClr val="ED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Nghiên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cứu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ISA,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đa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lõi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và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tổ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chức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bộ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nhớ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.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Đối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chiếu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các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thiết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kế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tham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khảo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.</a:t>
                      </a:r>
                    </a:p>
                  </a:txBody>
                  <a:tcPr anchor="ctr">
                    <a:solidFill>
                      <a:srgbClr val="ED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Đặc tả và kiến trúc tổng thể</a:t>
                      </a:r>
                    </a:p>
                  </a:txBody>
                  <a:tcPr anchor="ctr">
                    <a:solidFill>
                      <a:srgbClr val="ED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0625">
                <a:tc>
                  <a:txBody>
                    <a:bodyPr/>
                    <a:lstStyle/>
                    <a:p>
                      <a:pPr algn="l"/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2.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Xây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dựng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lõi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đơn</a:t>
                      </a:r>
                      <a:endParaRPr sz="2550" b="0" dirty="0">
                        <a:solidFill>
                          <a:srgbClr val="172A2A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Hiện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thực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lõi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RV32IMA</a:t>
                      </a:r>
                      <a:r>
                        <a:rPr lang="en-US"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lang="en-US"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và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cache L1.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Kiểm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tra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theo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từng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khối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Lõi đơn hoạt động đúng chức năng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90625">
                <a:tc>
                  <a:txBody>
                    <a:bodyPr/>
                    <a:lstStyle/>
                    <a:p>
                      <a:pPr algn="l"/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3. Tích hợp hệ 4 lõi</a:t>
                      </a:r>
                    </a:p>
                  </a:txBody>
                  <a:tcPr anchor="ctr">
                    <a:solidFill>
                      <a:srgbClr val="ED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Ghép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4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lõi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, L2</a:t>
                      </a: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, MSI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và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bus AHB/AXI4</a:t>
                      </a:r>
                      <a:r>
                        <a:rPr lang="en-US"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lang="en-US"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và</a:t>
                      </a:r>
                      <a:r>
                        <a:rPr lang="en-US"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lang="en-US"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t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ích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hợp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DMA.</a:t>
                      </a:r>
                    </a:p>
                  </a:txBody>
                  <a:tcPr anchor="ctr">
                    <a:solidFill>
                      <a:srgbClr val="ED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Các lõi chia sẻ dữ liệu nhất quán</a:t>
                      </a:r>
                    </a:p>
                  </a:txBody>
                  <a:tcPr anchor="ctr">
                    <a:solidFill>
                      <a:srgbClr val="ED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90625">
                <a:tc>
                  <a:txBody>
                    <a:bodyPr/>
                    <a:lstStyle/>
                    <a:p>
                      <a:pPr algn="l"/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4. Đánh giá và hoàn thiện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RTL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và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lang="en-US"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testbench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cho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cache/coherence;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tổng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hợp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Vivado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, demo FPGA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và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đo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hiệu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năng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Demo,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báo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cáo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và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kết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quả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đánh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giá</a:t>
                      </a:r>
                      <a:endParaRPr sz="2550" b="0" dirty="0">
                        <a:solidFill>
                          <a:srgbClr val="172A2A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D4D879-49B6-48F9-8C60-EB973495724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CA499EF-0ED2-4AAF-B015-E130981A751A}" type="datetime1">
              <a:rPr lang="en-US" smtClean="0"/>
              <a:t>9/18/2026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ED5E06-02BA-443F-8F5A-A90EFD23513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621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">
            <a:extLst>
              <a:ext uri="{FF2B5EF4-FFF2-40B4-BE49-F238E27FC236}">
                <a16:creationId xmlns:a16="http://schemas.microsoft.com/office/drawing/2014/main" id="{1E52C618-F875-1443-64BA-C58F421DF579}"/>
              </a:ext>
            </a:extLst>
          </p:cNvPr>
          <p:cNvSpPr>
            <a:spLocks noGrp="1"/>
          </p:cNvSpPr>
          <p:nvPr/>
        </p:nvSpPr>
        <p:spPr>
          <a:xfrm rot="5400000">
            <a:off x="8670767" y="-8672351"/>
            <a:ext cx="942755" cy="18291714"/>
          </a:xfrm>
          <a:custGeom>
            <a:avLst/>
            <a:gdLst/>
            <a:ahLst/>
            <a:cxnLst/>
            <a:rect l="l" t="t" r="r" b="b"/>
            <a:pathLst>
              <a:path w="1263142" h="24388953">
                <a:moveTo>
                  <a:pt x="0" y="0"/>
                </a:moveTo>
                <a:lnTo>
                  <a:pt x="1263142" y="0"/>
                </a:lnTo>
                <a:lnTo>
                  <a:pt x="1263142" y="24388953"/>
                </a:lnTo>
                <a:lnTo>
                  <a:pt x="0" y="24388953"/>
                </a:lnTo>
                <a:close/>
              </a:path>
            </a:pathLst>
          </a:custGeom>
          <a:gradFill>
            <a:gsLst>
              <a:gs pos="0">
                <a:srgbClr val="10CD57"/>
              </a:gs>
              <a:gs pos="100000">
                <a:srgbClr val="02715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1" name="Google Shape;221;p4">
            <a:extLst>
              <a:ext uri="{FF2B5EF4-FFF2-40B4-BE49-F238E27FC236}">
                <a16:creationId xmlns:a16="http://schemas.microsoft.com/office/drawing/2014/main" id="{038795DC-7AAE-E472-E8BA-730CCEEFB3FA}"/>
              </a:ext>
            </a:extLst>
          </p:cNvPr>
          <p:cNvSpPr>
            <a:spLocks noGrp="1"/>
          </p:cNvSpPr>
          <p:nvPr/>
        </p:nvSpPr>
        <p:spPr>
          <a:xfrm rot="-5400000" flipH="1">
            <a:off x="8672625" y="-8674476"/>
            <a:ext cx="942756" cy="18291714"/>
          </a:xfrm>
          <a:custGeom>
            <a:avLst/>
            <a:gdLst/>
            <a:ahLst/>
            <a:cxnLst/>
            <a:rect l="l" t="t" r="r" b="b"/>
            <a:pathLst>
              <a:path w="1263142" h="24388953">
                <a:moveTo>
                  <a:pt x="0" y="0"/>
                </a:moveTo>
                <a:lnTo>
                  <a:pt x="1263142" y="0"/>
                </a:lnTo>
                <a:lnTo>
                  <a:pt x="1263142" y="24388953"/>
                </a:lnTo>
                <a:lnTo>
                  <a:pt x="0" y="24388953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35090" r="-35085"/>
            </a:stretch>
          </a:blip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3" name="Google Shape;223;p4">
            <a:extLst>
              <a:ext uri="{FF2B5EF4-FFF2-40B4-BE49-F238E27FC236}">
                <a16:creationId xmlns:a16="http://schemas.microsoft.com/office/drawing/2014/main" id="{5E4B0504-2DDF-65FA-3D44-D48110D62434}"/>
              </a:ext>
            </a:extLst>
          </p:cNvPr>
          <p:cNvSpPr>
            <a:spLocks noGrp="1"/>
          </p:cNvSpPr>
          <p:nvPr/>
        </p:nvSpPr>
        <p:spPr>
          <a:xfrm>
            <a:off x="360422" y="212133"/>
            <a:ext cx="11130437" cy="506075"/>
          </a:xfrm>
          <a:custGeom>
            <a:avLst/>
            <a:gdLst/>
            <a:ahLst/>
            <a:cxnLst/>
            <a:rect l="l" t="t" r="r" b="b"/>
            <a:pathLst>
              <a:path w="14840583" h="674766">
                <a:moveTo>
                  <a:pt x="0" y="0"/>
                </a:moveTo>
                <a:lnTo>
                  <a:pt x="14840583" y="0"/>
                </a:lnTo>
                <a:lnTo>
                  <a:pt x="14840583" y="674766"/>
                </a:lnTo>
                <a:lnTo>
                  <a:pt x="0" y="67476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4" name="Google Shape;224;p4">
            <a:extLst>
              <a:ext uri="{FF2B5EF4-FFF2-40B4-BE49-F238E27FC236}">
                <a16:creationId xmlns:a16="http://schemas.microsoft.com/office/drawing/2014/main" id="{B06BFB91-F606-B659-25E6-2C29A9A32F10}"/>
              </a:ext>
            </a:extLst>
          </p:cNvPr>
          <p:cNvSpPr>
            <a:spLocks noGrp="1"/>
          </p:cNvSpPr>
          <p:nvPr/>
        </p:nvSpPr>
        <p:spPr>
          <a:xfrm>
            <a:off x="360422" y="176415"/>
            <a:ext cx="11130436" cy="541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</a:defRPr>
            </a:pPr>
            <a:r>
              <a:rPr sz="24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FA</a:t>
            </a:r>
            <a:r>
              <a:rPr lang="en-US" sz="24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</a:t>
            </a:r>
            <a:r>
              <a:rPr sz="24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ULTY OF COMPUTER ENGINEERING</a:t>
            </a:r>
            <a:endParaRPr dirty="0"/>
          </a:p>
        </p:txBody>
      </p:sp>
      <p:sp>
        <p:nvSpPr>
          <p:cNvPr id="225" name="Google Shape;225;p4">
            <a:extLst>
              <a:ext uri="{FF2B5EF4-FFF2-40B4-BE49-F238E27FC236}">
                <a16:creationId xmlns:a16="http://schemas.microsoft.com/office/drawing/2014/main" id="{CA841D89-D962-D472-5C78-26E705C30FC1}"/>
              </a:ext>
            </a:extLst>
          </p:cNvPr>
          <p:cNvSpPr>
            <a:spLocks noGrp="1"/>
          </p:cNvSpPr>
          <p:nvPr/>
        </p:nvSpPr>
        <p:spPr>
          <a:xfrm>
            <a:off x="6719978" y="457932"/>
            <a:ext cx="4848130" cy="958025"/>
          </a:xfrm>
          <a:custGeom>
            <a:avLst/>
            <a:gdLst/>
            <a:ahLst/>
            <a:cxnLst/>
            <a:rect l="l" t="t" r="r" b="b"/>
            <a:pathLst>
              <a:path w="6464173" h="1277366">
                <a:moveTo>
                  <a:pt x="0" y="638683"/>
                </a:moveTo>
                <a:cubicBezTo>
                  <a:pt x="0" y="285877"/>
                  <a:pt x="285877" y="0"/>
                  <a:pt x="638683" y="0"/>
                </a:cubicBezTo>
                <a:lnTo>
                  <a:pt x="5825490" y="0"/>
                </a:lnTo>
                <a:cubicBezTo>
                  <a:pt x="6178169" y="0"/>
                  <a:pt x="6464173" y="285877"/>
                  <a:pt x="6464173" y="638683"/>
                </a:cubicBezTo>
                <a:cubicBezTo>
                  <a:pt x="6464173" y="991489"/>
                  <a:pt x="6178296" y="1277366"/>
                  <a:pt x="5825490" y="1277366"/>
                </a:cubicBezTo>
                <a:lnTo>
                  <a:pt x="638683" y="1277366"/>
                </a:lnTo>
                <a:cubicBezTo>
                  <a:pt x="285877" y="1277239"/>
                  <a:pt x="0" y="991362"/>
                  <a:pt x="0" y="638683"/>
                </a:cubicBezTo>
                <a:close/>
              </a:path>
            </a:pathLst>
          </a:custGeom>
          <a:gradFill>
            <a:gsLst>
              <a:gs pos="0">
                <a:srgbClr val="38EF7D"/>
              </a:gs>
              <a:gs pos="100000">
                <a:srgbClr val="752AFF"/>
              </a:gs>
            </a:gsLst>
            <a:lin ang="4729360" scaled="0"/>
          </a:gra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6" name="Google Shape;226;p4">
            <a:extLst>
              <a:ext uri="{FF2B5EF4-FFF2-40B4-BE49-F238E27FC236}">
                <a16:creationId xmlns:a16="http://schemas.microsoft.com/office/drawing/2014/main" id="{E5A1C7D4-C516-302E-7FA6-1B375E2D0DDE}"/>
              </a:ext>
            </a:extLst>
          </p:cNvPr>
          <p:cNvSpPr>
            <a:spLocks noGrp="1"/>
          </p:cNvSpPr>
          <p:nvPr/>
        </p:nvSpPr>
        <p:spPr>
          <a:xfrm>
            <a:off x="6807463" y="535967"/>
            <a:ext cx="4673060" cy="801909"/>
          </a:xfrm>
          <a:custGeom>
            <a:avLst/>
            <a:gdLst/>
            <a:ahLst/>
            <a:cxnLst/>
            <a:rect l="l" t="t" r="r" b="b"/>
            <a:pathLst>
              <a:path w="6230747" h="1069213">
                <a:moveTo>
                  <a:pt x="0" y="534543"/>
                </a:moveTo>
                <a:cubicBezTo>
                  <a:pt x="0" y="239395"/>
                  <a:pt x="239395" y="0"/>
                  <a:pt x="534543" y="0"/>
                </a:cubicBezTo>
                <a:lnTo>
                  <a:pt x="5696204" y="0"/>
                </a:lnTo>
                <a:cubicBezTo>
                  <a:pt x="5991479" y="0"/>
                  <a:pt x="6230747" y="239395"/>
                  <a:pt x="6230747" y="534543"/>
                </a:cubicBezTo>
                <a:cubicBezTo>
                  <a:pt x="6230747" y="829691"/>
                  <a:pt x="5991352" y="1069086"/>
                  <a:pt x="5696204" y="1069086"/>
                </a:cubicBezTo>
                <a:lnTo>
                  <a:pt x="534543" y="1069086"/>
                </a:lnTo>
                <a:cubicBezTo>
                  <a:pt x="239395" y="1069213"/>
                  <a:pt x="0" y="829818"/>
                  <a:pt x="0" y="53454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7" name="Google Shape;227;p4">
            <a:extLst>
              <a:ext uri="{FF2B5EF4-FFF2-40B4-BE49-F238E27FC236}">
                <a16:creationId xmlns:a16="http://schemas.microsoft.com/office/drawing/2014/main" id="{50A2744F-E543-77FD-B6C0-9CA16EA10EA7}"/>
              </a:ext>
            </a:extLst>
          </p:cNvPr>
          <p:cNvSpPr>
            <a:spLocks noGrp="1"/>
          </p:cNvSpPr>
          <p:nvPr/>
        </p:nvSpPr>
        <p:spPr>
          <a:xfrm>
            <a:off x="9436446" y="362541"/>
            <a:ext cx="1163307" cy="1152591"/>
          </a:xfrm>
          <a:custGeom>
            <a:avLst/>
            <a:gdLst/>
            <a:ahLst/>
            <a:cxnLst/>
            <a:rect l="l" t="t" r="r" b="b"/>
            <a:pathLst>
              <a:path w="1163307" h="1152591">
                <a:moveTo>
                  <a:pt x="0" y="0"/>
                </a:moveTo>
                <a:lnTo>
                  <a:pt x="1163307" y="0"/>
                </a:lnTo>
                <a:lnTo>
                  <a:pt x="1163307" y="1152591"/>
                </a:lnTo>
                <a:lnTo>
                  <a:pt x="0" y="11525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73" r="-72"/>
            </a:stretch>
          </a:blip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8" name="Google Shape;228;p4">
            <a:extLst>
              <a:ext uri="{FF2B5EF4-FFF2-40B4-BE49-F238E27FC236}">
                <a16:creationId xmlns:a16="http://schemas.microsoft.com/office/drawing/2014/main" id="{B3BB28D9-0572-CD5B-DCAD-D077D329E8B7}"/>
              </a:ext>
            </a:extLst>
          </p:cNvPr>
          <p:cNvSpPr>
            <a:spLocks noGrp="1"/>
          </p:cNvSpPr>
          <p:nvPr/>
        </p:nvSpPr>
        <p:spPr>
          <a:xfrm>
            <a:off x="7688248" y="398076"/>
            <a:ext cx="1307514" cy="1081521"/>
          </a:xfrm>
          <a:custGeom>
            <a:avLst/>
            <a:gdLst/>
            <a:ahLst/>
            <a:cxnLst/>
            <a:rect l="l" t="t" r="r" b="b"/>
            <a:pathLst>
              <a:path w="1307514" h="1081521">
                <a:moveTo>
                  <a:pt x="0" y="0"/>
                </a:moveTo>
                <a:lnTo>
                  <a:pt x="1307514" y="0"/>
                </a:lnTo>
                <a:lnTo>
                  <a:pt x="1307514" y="1081521"/>
                </a:lnTo>
                <a:lnTo>
                  <a:pt x="0" y="10815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t="-74" b="-73"/>
            </a:stretch>
          </a:blip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0" name="3. Kiểm chứng và demo hệ thống">
            <a:extLst>
              <a:ext uri="{FF2B5EF4-FFF2-40B4-BE49-F238E27FC236}">
                <a16:creationId xmlns:a16="http://schemas.microsoft.com/office/drawing/2014/main" id="{0914514E-40A9-46FD-BF7E-DBFB40B7D9DE}"/>
              </a:ext>
            </a:extLst>
          </p:cNvPr>
          <p:cNvSpPr>
            <a:spLocks noGrp="1"/>
          </p:cNvSpPr>
          <p:nvPr/>
        </p:nvSpPr>
        <p:spPr>
          <a:xfrm>
            <a:off x="530099" y="1188558"/>
            <a:ext cx="3832991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lang="en-US" sz="36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Kiến</a:t>
            </a:r>
            <a:r>
              <a:rPr lang="en-US" sz="36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36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trúc</a:t>
            </a:r>
            <a:r>
              <a:rPr lang="en-US" sz="36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36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đề</a:t>
            </a:r>
            <a:r>
              <a:rPr lang="en-US" sz="36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36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xuất</a:t>
            </a:r>
            <a:endParaRPr sz="3600" b="1" dirty="0">
              <a:solidFill>
                <a:srgbClr val="007A6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8F5118-073A-4D11-B53F-48DCD42E56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3006" y="1725396"/>
            <a:ext cx="12385512" cy="8473698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BD58721-D1CF-406C-A3C8-26E9D52A357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31B7747-A7E9-487E-91FD-4060E5C9C4F3}" type="datetime1">
              <a:rPr lang="en-US" smtClean="0"/>
              <a:t>9/18/2026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040139-B1BB-4EAE-B4FB-4973FB8CCB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652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">
            <a:extLst>
              <a:ext uri="{FF2B5EF4-FFF2-40B4-BE49-F238E27FC236}">
                <a16:creationId xmlns:a16="http://schemas.microsoft.com/office/drawing/2014/main" id="{1E52C618-F875-1443-64BA-C58F421DF579}"/>
              </a:ext>
            </a:extLst>
          </p:cNvPr>
          <p:cNvSpPr>
            <a:spLocks noGrp="1"/>
          </p:cNvSpPr>
          <p:nvPr/>
        </p:nvSpPr>
        <p:spPr>
          <a:xfrm rot="5400000">
            <a:off x="8670767" y="-8672351"/>
            <a:ext cx="942755" cy="18291714"/>
          </a:xfrm>
          <a:custGeom>
            <a:avLst/>
            <a:gdLst/>
            <a:ahLst/>
            <a:cxnLst/>
            <a:rect l="l" t="t" r="r" b="b"/>
            <a:pathLst>
              <a:path w="1263142" h="24388953">
                <a:moveTo>
                  <a:pt x="0" y="0"/>
                </a:moveTo>
                <a:lnTo>
                  <a:pt x="1263142" y="0"/>
                </a:lnTo>
                <a:lnTo>
                  <a:pt x="1263142" y="24388953"/>
                </a:lnTo>
                <a:lnTo>
                  <a:pt x="0" y="24388953"/>
                </a:lnTo>
                <a:close/>
              </a:path>
            </a:pathLst>
          </a:custGeom>
          <a:gradFill>
            <a:gsLst>
              <a:gs pos="0">
                <a:srgbClr val="10CD57"/>
              </a:gs>
              <a:gs pos="100000">
                <a:srgbClr val="02715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1" name="Google Shape;221;p4">
            <a:extLst>
              <a:ext uri="{FF2B5EF4-FFF2-40B4-BE49-F238E27FC236}">
                <a16:creationId xmlns:a16="http://schemas.microsoft.com/office/drawing/2014/main" id="{038795DC-7AAE-E472-E8BA-730CCEEFB3FA}"/>
              </a:ext>
            </a:extLst>
          </p:cNvPr>
          <p:cNvSpPr>
            <a:spLocks noGrp="1"/>
          </p:cNvSpPr>
          <p:nvPr/>
        </p:nvSpPr>
        <p:spPr>
          <a:xfrm rot="-5400000" flipH="1">
            <a:off x="8672625" y="-8674476"/>
            <a:ext cx="942756" cy="18291714"/>
          </a:xfrm>
          <a:custGeom>
            <a:avLst/>
            <a:gdLst/>
            <a:ahLst/>
            <a:cxnLst/>
            <a:rect l="l" t="t" r="r" b="b"/>
            <a:pathLst>
              <a:path w="1263142" h="24388953">
                <a:moveTo>
                  <a:pt x="0" y="0"/>
                </a:moveTo>
                <a:lnTo>
                  <a:pt x="1263142" y="0"/>
                </a:lnTo>
                <a:lnTo>
                  <a:pt x="1263142" y="24388953"/>
                </a:lnTo>
                <a:lnTo>
                  <a:pt x="0" y="24388953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35090" r="-35085"/>
            </a:stretch>
          </a:blip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3" name="Google Shape;223;p4">
            <a:extLst>
              <a:ext uri="{FF2B5EF4-FFF2-40B4-BE49-F238E27FC236}">
                <a16:creationId xmlns:a16="http://schemas.microsoft.com/office/drawing/2014/main" id="{5E4B0504-2DDF-65FA-3D44-D48110D62434}"/>
              </a:ext>
            </a:extLst>
          </p:cNvPr>
          <p:cNvSpPr>
            <a:spLocks noGrp="1"/>
          </p:cNvSpPr>
          <p:nvPr/>
        </p:nvSpPr>
        <p:spPr>
          <a:xfrm>
            <a:off x="360422" y="212133"/>
            <a:ext cx="11130437" cy="506075"/>
          </a:xfrm>
          <a:custGeom>
            <a:avLst/>
            <a:gdLst/>
            <a:ahLst/>
            <a:cxnLst/>
            <a:rect l="l" t="t" r="r" b="b"/>
            <a:pathLst>
              <a:path w="14840583" h="674766">
                <a:moveTo>
                  <a:pt x="0" y="0"/>
                </a:moveTo>
                <a:lnTo>
                  <a:pt x="14840583" y="0"/>
                </a:lnTo>
                <a:lnTo>
                  <a:pt x="14840583" y="674766"/>
                </a:lnTo>
                <a:lnTo>
                  <a:pt x="0" y="67476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4" name="Google Shape;224;p4">
            <a:extLst>
              <a:ext uri="{FF2B5EF4-FFF2-40B4-BE49-F238E27FC236}">
                <a16:creationId xmlns:a16="http://schemas.microsoft.com/office/drawing/2014/main" id="{B06BFB91-F606-B659-25E6-2C29A9A32F10}"/>
              </a:ext>
            </a:extLst>
          </p:cNvPr>
          <p:cNvSpPr>
            <a:spLocks noGrp="1"/>
          </p:cNvSpPr>
          <p:nvPr/>
        </p:nvSpPr>
        <p:spPr>
          <a:xfrm>
            <a:off x="360422" y="176415"/>
            <a:ext cx="11130436" cy="541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FACULTY OF COMPUTER ENGINEERING</a:t>
            </a:r>
            <a:endParaRPr/>
          </a:p>
        </p:txBody>
      </p:sp>
      <p:sp>
        <p:nvSpPr>
          <p:cNvPr id="225" name="Google Shape;225;p4">
            <a:extLst>
              <a:ext uri="{FF2B5EF4-FFF2-40B4-BE49-F238E27FC236}">
                <a16:creationId xmlns:a16="http://schemas.microsoft.com/office/drawing/2014/main" id="{CA841D89-D962-D472-5C78-26E705C30FC1}"/>
              </a:ext>
            </a:extLst>
          </p:cNvPr>
          <p:cNvSpPr>
            <a:spLocks noGrp="1"/>
          </p:cNvSpPr>
          <p:nvPr/>
        </p:nvSpPr>
        <p:spPr>
          <a:xfrm>
            <a:off x="6719978" y="457932"/>
            <a:ext cx="4848130" cy="958025"/>
          </a:xfrm>
          <a:custGeom>
            <a:avLst/>
            <a:gdLst/>
            <a:ahLst/>
            <a:cxnLst/>
            <a:rect l="l" t="t" r="r" b="b"/>
            <a:pathLst>
              <a:path w="6464173" h="1277366">
                <a:moveTo>
                  <a:pt x="0" y="638683"/>
                </a:moveTo>
                <a:cubicBezTo>
                  <a:pt x="0" y="285877"/>
                  <a:pt x="285877" y="0"/>
                  <a:pt x="638683" y="0"/>
                </a:cubicBezTo>
                <a:lnTo>
                  <a:pt x="5825490" y="0"/>
                </a:lnTo>
                <a:cubicBezTo>
                  <a:pt x="6178169" y="0"/>
                  <a:pt x="6464173" y="285877"/>
                  <a:pt x="6464173" y="638683"/>
                </a:cubicBezTo>
                <a:cubicBezTo>
                  <a:pt x="6464173" y="991489"/>
                  <a:pt x="6178296" y="1277366"/>
                  <a:pt x="5825490" y="1277366"/>
                </a:cubicBezTo>
                <a:lnTo>
                  <a:pt x="638683" y="1277366"/>
                </a:lnTo>
                <a:cubicBezTo>
                  <a:pt x="285877" y="1277239"/>
                  <a:pt x="0" y="991362"/>
                  <a:pt x="0" y="638683"/>
                </a:cubicBezTo>
                <a:close/>
              </a:path>
            </a:pathLst>
          </a:custGeom>
          <a:gradFill>
            <a:gsLst>
              <a:gs pos="0">
                <a:srgbClr val="38EF7D"/>
              </a:gs>
              <a:gs pos="100000">
                <a:srgbClr val="752AFF"/>
              </a:gs>
            </a:gsLst>
            <a:lin ang="4729360" scaled="0"/>
          </a:gra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6" name="Google Shape;226;p4">
            <a:extLst>
              <a:ext uri="{FF2B5EF4-FFF2-40B4-BE49-F238E27FC236}">
                <a16:creationId xmlns:a16="http://schemas.microsoft.com/office/drawing/2014/main" id="{E5A1C7D4-C516-302E-7FA6-1B375E2D0DDE}"/>
              </a:ext>
            </a:extLst>
          </p:cNvPr>
          <p:cNvSpPr>
            <a:spLocks noGrp="1"/>
          </p:cNvSpPr>
          <p:nvPr/>
        </p:nvSpPr>
        <p:spPr>
          <a:xfrm>
            <a:off x="6807463" y="535967"/>
            <a:ext cx="4673060" cy="801909"/>
          </a:xfrm>
          <a:custGeom>
            <a:avLst/>
            <a:gdLst/>
            <a:ahLst/>
            <a:cxnLst/>
            <a:rect l="l" t="t" r="r" b="b"/>
            <a:pathLst>
              <a:path w="6230747" h="1069213">
                <a:moveTo>
                  <a:pt x="0" y="534543"/>
                </a:moveTo>
                <a:cubicBezTo>
                  <a:pt x="0" y="239395"/>
                  <a:pt x="239395" y="0"/>
                  <a:pt x="534543" y="0"/>
                </a:cubicBezTo>
                <a:lnTo>
                  <a:pt x="5696204" y="0"/>
                </a:lnTo>
                <a:cubicBezTo>
                  <a:pt x="5991479" y="0"/>
                  <a:pt x="6230747" y="239395"/>
                  <a:pt x="6230747" y="534543"/>
                </a:cubicBezTo>
                <a:cubicBezTo>
                  <a:pt x="6230747" y="829691"/>
                  <a:pt x="5991352" y="1069086"/>
                  <a:pt x="5696204" y="1069086"/>
                </a:cubicBezTo>
                <a:lnTo>
                  <a:pt x="534543" y="1069086"/>
                </a:lnTo>
                <a:cubicBezTo>
                  <a:pt x="239395" y="1069213"/>
                  <a:pt x="0" y="829818"/>
                  <a:pt x="0" y="53454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7" name="Google Shape;227;p4">
            <a:extLst>
              <a:ext uri="{FF2B5EF4-FFF2-40B4-BE49-F238E27FC236}">
                <a16:creationId xmlns:a16="http://schemas.microsoft.com/office/drawing/2014/main" id="{50A2744F-E543-77FD-B6C0-9CA16EA10EA7}"/>
              </a:ext>
            </a:extLst>
          </p:cNvPr>
          <p:cNvSpPr>
            <a:spLocks noGrp="1"/>
          </p:cNvSpPr>
          <p:nvPr/>
        </p:nvSpPr>
        <p:spPr>
          <a:xfrm>
            <a:off x="9436446" y="362541"/>
            <a:ext cx="1163307" cy="1152591"/>
          </a:xfrm>
          <a:custGeom>
            <a:avLst/>
            <a:gdLst/>
            <a:ahLst/>
            <a:cxnLst/>
            <a:rect l="l" t="t" r="r" b="b"/>
            <a:pathLst>
              <a:path w="1163307" h="1152591">
                <a:moveTo>
                  <a:pt x="0" y="0"/>
                </a:moveTo>
                <a:lnTo>
                  <a:pt x="1163307" y="0"/>
                </a:lnTo>
                <a:lnTo>
                  <a:pt x="1163307" y="1152591"/>
                </a:lnTo>
                <a:lnTo>
                  <a:pt x="0" y="11525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73" r="-72"/>
            </a:stretch>
          </a:blip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8" name="Google Shape;228;p4">
            <a:extLst>
              <a:ext uri="{FF2B5EF4-FFF2-40B4-BE49-F238E27FC236}">
                <a16:creationId xmlns:a16="http://schemas.microsoft.com/office/drawing/2014/main" id="{B3BB28D9-0572-CD5B-DCAD-D077D329E8B7}"/>
              </a:ext>
            </a:extLst>
          </p:cNvPr>
          <p:cNvSpPr>
            <a:spLocks noGrp="1"/>
          </p:cNvSpPr>
          <p:nvPr/>
        </p:nvSpPr>
        <p:spPr>
          <a:xfrm>
            <a:off x="7688248" y="398076"/>
            <a:ext cx="1307514" cy="1081521"/>
          </a:xfrm>
          <a:custGeom>
            <a:avLst/>
            <a:gdLst/>
            <a:ahLst/>
            <a:cxnLst/>
            <a:rect l="l" t="t" r="r" b="b"/>
            <a:pathLst>
              <a:path w="1307514" h="1081521">
                <a:moveTo>
                  <a:pt x="0" y="0"/>
                </a:moveTo>
                <a:lnTo>
                  <a:pt x="1307514" y="0"/>
                </a:lnTo>
                <a:lnTo>
                  <a:pt x="1307514" y="1081521"/>
                </a:lnTo>
                <a:lnTo>
                  <a:pt x="0" y="10815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t="-74" b="-73"/>
            </a:stretch>
          </a:blip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0" name="3. Kiểm chứng và demo hệ thống">
            <a:extLst>
              <a:ext uri="{FF2B5EF4-FFF2-40B4-BE49-F238E27FC236}">
                <a16:creationId xmlns:a16="http://schemas.microsoft.com/office/drawing/2014/main" id="{0914514E-40A9-46FD-BF7E-DBFB40B7D9DE}"/>
              </a:ext>
            </a:extLst>
          </p:cNvPr>
          <p:cNvSpPr>
            <a:spLocks noGrp="1"/>
          </p:cNvSpPr>
          <p:nvPr/>
        </p:nvSpPr>
        <p:spPr>
          <a:xfrm>
            <a:off x="628650" y="1657350"/>
            <a:ext cx="16954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36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Kiểm</a:t>
            </a:r>
            <a:r>
              <a:rPr sz="36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chứng</a:t>
            </a:r>
            <a:r>
              <a:rPr sz="36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và</a:t>
            </a:r>
            <a:r>
              <a:rPr sz="36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demo </a:t>
            </a:r>
            <a:r>
              <a:rPr sz="36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hệ</a:t>
            </a:r>
            <a:r>
              <a:rPr sz="36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thống</a:t>
            </a:r>
            <a:endParaRPr sz="3600" b="1" dirty="0">
              <a:solidFill>
                <a:srgbClr val="007A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1" name="Khung sơ đồ">
            <a:extLst>
              <a:ext uri="{FF2B5EF4-FFF2-40B4-BE49-F238E27FC236}">
                <a16:creationId xmlns:a16="http://schemas.microsoft.com/office/drawing/2014/main" id="{5DC8E18C-75BC-4DB3-9968-C81DF6AB00E6}"/>
              </a:ext>
            </a:extLst>
          </p:cNvPr>
          <p:cNvSpPr>
            <a:spLocks noGrp="1"/>
          </p:cNvSpPr>
          <p:nvPr/>
        </p:nvSpPr>
        <p:spPr>
          <a:xfrm>
            <a:off x="809625" y="2762250"/>
            <a:ext cx="7524750" cy="6048375"/>
          </a:xfrm>
          <a:prstGeom prst="rect">
            <a:avLst/>
          </a:prstGeom>
          <a:noFill/>
          <a:ln w="11430">
            <a:solidFill>
              <a:srgbClr val="244E50"/>
            </a:solidFill>
          </a:ln>
        </p:spPr>
      </p:sp>
      <p:sp>
        <p:nvSpPr>
          <p:cNvPr id="232" name="Khung sơ đồ">
            <a:extLst>
              <a:ext uri="{FF2B5EF4-FFF2-40B4-BE49-F238E27FC236}">
                <a16:creationId xmlns:a16="http://schemas.microsoft.com/office/drawing/2014/main" id="{56DAD00F-9144-4FF1-8EA4-A06201F1876A}"/>
              </a:ext>
            </a:extLst>
          </p:cNvPr>
          <p:cNvSpPr>
            <a:spLocks noGrp="1"/>
          </p:cNvSpPr>
          <p:nvPr/>
        </p:nvSpPr>
        <p:spPr>
          <a:xfrm>
            <a:off x="9667875" y="2762250"/>
            <a:ext cx="7524750" cy="6048375"/>
          </a:xfrm>
          <a:prstGeom prst="rect">
            <a:avLst/>
          </a:prstGeom>
          <a:noFill/>
          <a:ln w="11430">
            <a:solidFill>
              <a:srgbClr val="244E50"/>
            </a:solidFill>
          </a:ln>
        </p:spPr>
      </p:sp>
      <p:sp>
        <p:nvSpPr>
          <p:cNvPr id="233" name="Quy trình kiểm chứng">
            <a:extLst>
              <a:ext uri="{FF2B5EF4-FFF2-40B4-BE49-F238E27FC236}">
                <a16:creationId xmlns:a16="http://schemas.microsoft.com/office/drawing/2014/main" id="{5A91B40A-3AA2-4C0D-8CEA-D2366B865D22}"/>
              </a:ext>
            </a:extLst>
          </p:cNvPr>
          <p:cNvSpPr>
            <a:spLocks noGrp="1"/>
          </p:cNvSpPr>
          <p:nvPr/>
        </p:nvSpPr>
        <p:spPr>
          <a:xfrm>
            <a:off x="1047750" y="2990850"/>
            <a:ext cx="7048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3150" b="1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A2A"/>
                </a:solidFill>
                <a:latin typeface="Arial"/>
                <a:ea typeface="Arial"/>
                <a:cs typeface="Arial"/>
              </a:rPr>
              <a:t>Quy trình kiểm chứng</a:t>
            </a:r>
          </a:p>
        </p:txBody>
      </p:sp>
      <p:sp>
        <p:nvSpPr>
          <p:cNvPr id="234" name="Demo dự kiến trên VCU129">
            <a:extLst>
              <a:ext uri="{FF2B5EF4-FFF2-40B4-BE49-F238E27FC236}">
                <a16:creationId xmlns:a16="http://schemas.microsoft.com/office/drawing/2014/main" id="{AE111731-21A9-46DA-8A66-6FF79E7BBCEB}"/>
              </a:ext>
            </a:extLst>
          </p:cNvPr>
          <p:cNvSpPr>
            <a:spLocks noGrp="1"/>
          </p:cNvSpPr>
          <p:nvPr/>
        </p:nvSpPr>
        <p:spPr>
          <a:xfrm>
            <a:off x="9906000" y="2990850"/>
            <a:ext cx="7048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3150" b="1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A2A"/>
                </a:solidFill>
                <a:latin typeface="Arial"/>
                <a:ea typeface="Arial"/>
                <a:cs typeface="Arial"/>
              </a:rPr>
              <a:t>Demo dự kiến trên VCU129</a:t>
            </a:r>
          </a:p>
        </p:txBody>
      </p:sp>
      <p:sp>
        <p:nvSpPr>
          <p:cNvPr id="235" name="Khối riêng">
            <a:extLst>
              <a:ext uri="{FF2B5EF4-FFF2-40B4-BE49-F238E27FC236}">
                <a16:creationId xmlns:a16="http://schemas.microsoft.com/office/drawing/2014/main" id="{14D7AD86-5668-480E-9BCC-41AB5396AE62}"/>
              </a:ext>
            </a:extLst>
          </p:cNvPr>
          <p:cNvSpPr>
            <a:spLocks noGrp="1"/>
          </p:cNvSpPr>
          <p:nvPr/>
        </p:nvSpPr>
        <p:spPr>
          <a:xfrm>
            <a:off x="2381250" y="3857625"/>
            <a:ext cx="4381500" cy="1143000"/>
          </a:xfrm>
          <a:prstGeom prst="rect">
            <a:avLst/>
          </a:prstGeom>
          <a:solidFill>
            <a:srgbClr val="EDF5F1"/>
          </a:solidFill>
          <a:ln w="11430">
            <a:solidFill>
              <a:srgbClr val="244E50"/>
            </a:solidFill>
          </a:ln>
        </p:spPr>
        <p:txBody>
          <a:bodyPr lIns="152400" tIns="114300" rIns="152400" bIns="114300" anchor="ctr">
            <a:noAutofit/>
          </a:bodyPr>
          <a:lstStyle/>
          <a:p>
            <a:pPr algn="ctr">
              <a:defRPr sz="2775" b="0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Khối riêng</a:t>
            </a:r>
          </a:p>
        </p:txBody>
      </p:sp>
      <p:sp>
        <p:nvSpPr>
          <p:cNvPr id="236" name="Lõi đơn">
            <a:extLst>
              <a:ext uri="{FF2B5EF4-FFF2-40B4-BE49-F238E27FC236}">
                <a16:creationId xmlns:a16="http://schemas.microsoft.com/office/drawing/2014/main" id="{AF4788A8-C749-4BEC-A3EF-9B2C6C8FCA82}"/>
              </a:ext>
            </a:extLst>
          </p:cNvPr>
          <p:cNvSpPr>
            <a:spLocks noGrp="1"/>
          </p:cNvSpPr>
          <p:nvPr/>
        </p:nvSpPr>
        <p:spPr>
          <a:xfrm>
            <a:off x="2381250" y="5667375"/>
            <a:ext cx="4381500" cy="1143000"/>
          </a:xfrm>
          <a:prstGeom prst="rect">
            <a:avLst/>
          </a:prstGeom>
          <a:solidFill>
            <a:srgbClr val="EDF5F1"/>
          </a:solidFill>
          <a:ln w="11430">
            <a:solidFill>
              <a:srgbClr val="244E50"/>
            </a:solidFill>
          </a:ln>
        </p:spPr>
        <p:txBody>
          <a:bodyPr lIns="152400" tIns="114300" rIns="152400" bIns="114300" anchor="ctr">
            <a:noAutofit/>
          </a:bodyPr>
          <a:lstStyle/>
          <a:p>
            <a:pPr algn="ctr">
              <a:defRPr sz="2775" b="0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Lõi đơn</a:t>
            </a:r>
          </a:p>
        </p:txBody>
      </p:sp>
      <p:sp>
        <p:nvSpPr>
          <p:cNvPr id="237" name="Hệ 4 lõi">
            <a:extLst>
              <a:ext uri="{FF2B5EF4-FFF2-40B4-BE49-F238E27FC236}">
                <a16:creationId xmlns:a16="http://schemas.microsoft.com/office/drawing/2014/main" id="{BF3F01E0-1CEA-4354-90DC-E747AC294D5E}"/>
              </a:ext>
            </a:extLst>
          </p:cNvPr>
          <p:cNvSpPr>
            <a:spLocks noGrp="1"/>
          </p:cNvSpPr>
          <p:nvPr/>
        </p:nvSpPr>
        <p:spPr>
          <a:xfrm>
            <a:off x="2381250" y="7477125"/>
            <a:ext cx="4381500" cy="1143000"/>
          </a:xfrm>
          <a:prstGeom prst="rect">
            <a:avLst/>
          </a:prstGeom>
          <a:solidFill>
            <a:srgbClr val="EDF5F1"/>
          </a:solidFill>
          <a:ln w="11430">
            <a:solidFill>
              <a:srgbClr val="244E50"/>
            </a:solidFill>
          </a:ln>
        </p:spPr>
        <p:txBody>
          <a:bodyPr lIns="152400" tIns="114300" rIns="152400" bIns="114300" anchor="ctr">
            <a:noAutofit/>
          </a:bodyPr>
          <a:lstStyle/>
          <a:p>
            <a:pPr algn="ctr">
              <a:defRPr sz="2775" b="0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Hệ 4 lõi</a:t>
            </a:r>
          </a:p>
        </p:txBody>
      </p:sp>
      <p:cxnSp>
        <p:nvCxnSpPr>
          <p:cNvPr id="277" name="Straight Arrow Connector 276"/>
          <p:cNvCxnSpPr>
            <a:stCxn id="235" idx="2"/>
            <a:endCxn id="236" idx="0"/>
          </p:cNvCxnSpPr>
          <p:nvPr/>
        </p:nvCxnSpPr>
        <p:spPr>
          <a:xfrm>
            <a:off x="4572000" y="5000625"/>
            <a:ext cx="0" cy="666750"/>
          </a:xfrm>
          <a:prstGeom prst="straightConnector1">
            <a:avLst/>
          </a:prstGeom>
          <a:ln w="16193">
            <a:solidFill>
              <a:srgbClr val="244E50"/>
            </a:solidFill>
            <a:tailEnd type="triangle" w="sm" len="sm"/>
          </a:ln>
        </p:spPr>
      </p:cxnSp>
      <p:cxnSp>
        <p:nvCxnSpPr>
          <p:cNvPr id="278" name="Straight Arrow Connector 277"/>
          <p:cNvCxnSpPr>
            <a:stCxn id="236" idx="2"/>
            <a:endCxn id="237" idx="0"/>
          </p:cNvCxnSpPr>
          <p:nvPr/>
        </p:nvCxnSpPr>
        <p:spPr>
          <a:xfrm>
            <a:off x="4572000" y="6810375"/>
            <a:ext cx="0" cy="666750"/>
          </a:xfrm>
          <a:prstGeom prst="straightConnector1">
            <a:avLst/>
          </a:prstGeom>
          <a:ln w="16193">
            <a:solidFill>
              <a:srgbClr val="244E50"/>
            </a:solidFill>
            <a:tailEnd type="triangle" w="sm" len="sm"/>
          </a:ln>
        </p:spPr>
      </p:cxnSp>
      <p:sp>
        <p:nvSpPr>
          <p:cNvPr id="240" name="PASS">
            <a:extLst>
              <a:ext uri="{FF2B5EF4-FFF2-40B4-BE49-F238E27FC236}">
                <a16:creationId xmlns:a16="http://schemas.microsoft.com/office/drawing/2014/main" id="{74F7A6A0-C8FA-4FF9-9358-6E3E3E8D4744}"/>
              </a:ext>
            </a:extLst>
          </p:cNvPr>
          <p:cNvSpPr>
            <a:spLocks noGrp="1"/>
          </p:cNvSpPr>
          <p:nvPr/>
        </p:nvSpPr>
        <p:spPr>
          <a:xfrm>
            <a:off x="4857750" y="5191125"/>
            <a:ext cx="1238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0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7A60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241" name="PASS">
            <a:extLst>
              <a:ext uri="{FF2B5EF4-FFF2-40B4-BE49-F238E27FC236}">
                <a16:creationId xmlns:a16="http://schemas.microsoft.com/office/drawing/2014/main" id="{8EC9EA5F-554B-4097-B10B-21C3CA292F66}"/>
              </a:ext>
            </a:extLst>
          </p:cNvPr>
          <p:cNvSpPr>
            <a:spLocks noGrp="1"/>
          </p:cNvSpPr>
          <p:nvPr/>
        </p:nvSpPr>
        <p:spPr>
          <a:xfrm>
            <a:off x="4857750" y="7000875"/>
            <a:ext cx="1238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0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7A60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242" name="Điểm nối nhánh kiểm tra lại">
            <a:extLst>
              <a:ext uri="{FF2B5EF4-FFF2-40B4-BE49-F238E27FC236}">
                <a16:creationId xmlns:a16="http://schemas.microsoft.com/office/drawing/2014/main" id="{98F65D08-BC4C-41C5-8825-77C89821C0CD}"/>
              </a:ext>
            </a:extLst>
          </p:cNvPr>
          <p:cNvSpPr>
            <a:spLocks noGrp="1"/>
          </p:cNvSpPr>
          <p:nvPr/>
        </p:nvSpPr>
        <p:spPr>
          <a:xfrm>
            <a:off x="1476375" y="6238875"/>
            <a:ext cx="953" cy="953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43" name="Điểm nối nhánh kiểm tra lại">
            <a:extLst>
              <a:ext uri="{FF2B5EF4-FFF2-40B4-BE49-F238E27FC236}">
                <a16:creationId xmlns:a16="http://schemas.microsoft.com/office/drawing/2014/main" id="{AA1477A7-B5C1-4FFC-980C-8F8D2973A69B}"/>
              </a:ext>
            </a:extLst>
          </p:cNvPr>
          <p:cNvSpPr>
            <a:spLocks noGrp="1"/>
          </p:cNvSpPr>
          <p:nvPr/>
        </p:nvSpPr>
        <p:spPr>
          <a:xfrm>
            <a:off x="1476375" y="4429125"/>
            <a:ext cx="953" cy="953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283" name="Straight Arrow Connector 282"/>
          <p:cNvCxnSpPr>
            <a:stCxn id="236" idx="1"/>
            <a:endCxn id="242" idx="3"/>
          </p:cNvCxnSpPr>
          <p:nvPr/>
        </p:nvCxnSpPr>
        <p:spPr>
          <a:xfrm flipH="1">
            <a:off x="1477328" y="6238875"/>
            <a:ext cx="903922" cy="477"/>
          </a:xfrm>
          <a:prstGeom prst="straightConnector1">
            <a:avLst/>
          </a:prstGeom>
          <a:ln w="16193">
            <a:solidFill>
              <a:srgbClr val="244E50"/>
            </a:solidFill>
            <a:tailEnd type="none" w="sm" len="sm"/>
          </a:ln>
        </p:spPr>
      </p:cxnSp>
      <p:cxnSp>
        <p:nvCxnSpPr>
          <p:cNvPr id="284" name="Straight Arrow Connector 283"/>
          <p:cNvCxnSpPr>
            <a:stCxn id="242" idx="0"/>
            <a:endCxn id="243" idx="2"/>
          </p:cNvCxnSpPr>
          <p:nvPr/>
        </p:nvCxnSpPr>
        <p:spPr>
          <a:xfrm flipV="1">
            <a:off x="1476852" y="4430078"/>
            <a:ext cx="0" cy="1808797"/>
          </a:xfrm>
          <a:prstGeom prst="straightConnector1">
            <a:avLst/>
          </a:prstGeom>
          <a:ln w="16193">
            <a:solidFill>
              <a:srgbClr val="244E50"/>
            </a:solidFill>
            <a:tailEnd type="none" w="sm" len="sm"/>
          </a:ln>
        </p:spPr>
      </p:cxnSp>
      <p:cxnSp>
        <p:nvCxnSpPr>
          <p:cNvPr id="285" name="Straight Arrow Connector 284"/>
          <p:cNvCxnSpPr>
            <a:stCxn id="243" idx="3"/>
            <a:endCxn id="235" idx="1"/>
          </p:cNvCxnSpPr>
          <p:nvPr/>
        </p:nvCxnSpPr>
        <p:spPr>
          <a:xfrm flipV="1">
            <a:off x="1477328" y="4429125"/>
            <a:ext cx="903922" cy="476"/>
          </a:xfrm>
          <a:prstGeom prst="straightConnector1">
            <a:avLst/>
          </a:prstGeom>
          <a:ln w="16193">
            <a:solidFill>
              <a:srgbClr val="244E50"/>
            </a:solidFill>
            <a:tailEnd type="triangle" w="sm" len="sm"/>
          </a:ln>
        </p:spPr>
      </p:cxnSp>
      <p:sp>
        <p:nvSpPr>
          <p:cNvPr id="247" name="FAIL">
            <a:extLst>
              <a:ext uri="{FF2B5EF4-FFF2-40B4-BE49-F238E27FC236}">
                <a16:creationId xmlns:a16="http://schemas.microsoft.com/office/drawing/2014/main" id="{B418EBB9-5DE2-4055-851F-A1E29662F607}"/>
              </a:ext>
            </a:extLst>
          </p:cNvPr>
          <p:cNvSpPr>
            <a:spLocks noGrp="1"/>
          </p:cNvSpPr>
          <p:nvPr/>
        </p:nvSpPr>
        <p:spPr>
          <a:xfrm>
            <a:off x="913206" y="5148500"/>
            <a:ext cx="58198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0">
                <a:solidFill>
                  <a:srgbClr val="52615E"/>
                </a:solidFill>
                <a:latin typeface="Arial"/>
                <a:ea typeface="Arial"/>
                <a:cs typeface="Arial"/>
              </a:defRPr>
            </a:pPr>
            <a:r>
              <a:rPr sz="2175" b="0" dirty="0">
                <a:solidFill>
                  <a:srgbClr val="52615E"/>
                </a:solidFill>
                <a:latin typeface="Arial"/>
                <a:ea typeface="Arial"/>
                <a:cs typeface="Arial"/>
              </a:rPr>
              <a:t>FAIL</a:t>
            </a:r>
          </a:p>
        </p:txBody>
      </p:sp>
      <p:sp>
        <p:nvSpPr>
          <p:cNvPr id="248" name="Điểm nối nhánh kiểm tra lại">
            <a:extLst>
              <a:ext uri="{FF2B5EF4-FFF2-40B4-BE49-F238E27FC236}">
                <a16:creationId xmlns:a16="http://schemas.microsoft.com/office/drawing/2014/main" id="{08BF6DCA-B61E-4E67-BDAC-4899F0CFE418}"/>
              </a:ext>
            </a:extLst>
          </p:cNvPr>
          <p:cNvSpPr>
            <a:spLocks noGrp="1"/>
          </p:cNvSpPr>
          <p:nvPr/>
        </p:nvSpPr>
        <p:spPr>
          <a:xfrm>
            <a:off x="7715250" y="8048625"/>
            <a:ext cx="953" cy="953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49" name="Điểm nối nhánh kiểm tra lại">
            <a:extLst>
              <a:ext uri="{FF2B5EF4-FFF2-40B4-BE49-F238E27FC236}">
                <a16:creationId xmlns:a16="http://schemas.microsoft.com/office/drawing/2014/main" id="{9A4D06B7-32DC-4DFB-BDDF-AE1B2366BB87}"/>
              </a:ext>
            </a:extLst>
          </p:cNvPr>
          <p:cNvSpPr>
            <a:spLocks noGrp="1"/>
          </p:cNvSpPr>
          <p:nvPr/>
        </p:nvSpPr>
        <p:spPr>
          <a:xfrm>
            <a:off x="7715250" y="4429125"/>
            <a:ext cx="953" cy="953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289" name="Straight Arrow Connector 288"/>
          <p:cNvCxnSpPr>
            <a:stCxn id="237" idx="3"/>
            <a:endCxn id="248" idx="1"/>
          </p:cNvCxnSpPr>
          <p:nvPr/>
        </p:nvCxnSpPr>
        <p:spPr>
          <a:xfrm>
            <a:off x="6762750" y="8048625"/>
            <a:ext cx="952500" cy="477"/>
          </a:xfrm>
          <a:prstGeom prst="straightConnector1">
            <a:avLst/>
          </a:prstGeom>
          <a:ln w="16193">
            <a:solidFill>
              <a:srgbClr val="244E50"/>
            </a:solidFill>
            <a:tailEnd type="none" w="sm" len="sm"/>
          </a:ln>
        </p:spPr>
      </p:cxnSp>
      <p:cxnSp>
        <p:nvCxnSpPr>
          <p:cNvPr id="290" name="Straight Arrow Connector 289"/>
          <p:cNvCxnSpPr>
            <a:stCxn id="248" idx="0"/>
            <a:endCxn id="249" idx="2"/>
          </p:cNvCxnSpPr>
          <p:nvPr/>
        </p:nvCxnSpPr>
        <p:spPr>
          <a:xfrm flipV="1">
            <a:off x="7715727" y="4430078"/>
            <a:ext cx="0" cy="3618547"/>
          </a:xfrm>
          <a:prstGeom prst="straightConnector1">
            <a:avLst/>
          </a:prstGeom>
          <a:ln w="16193">
            <a:solidFill>
              <a:srgbClr val="244E50"/>
            </a:solidFill>
            <a:tailEnd type="none" w="sm" len="sm"/>
          </a:ln>
        </p:spPr>
      </p:cxnSp>
      <p:cxnSp>
        <p:nvCxnSpPr>
          <p:cNvPr id="291" name="Straight Arrow Connector 290"/>
          <p:cNvCxnSpPr>
            <a:stCxn id="249" idx="1"/>
            <a:endCxn id="235" idx="3"/>
          </p:cNvCxnSpPr>
          <p:nvPr/>
        </p:nvCxnSpPr>
        <p:spPr>
          <a:xfrm flipH="1" flipV="1">
            <a:off x="6762750" y="4429125"/>
            <a:ext cx="952500" cy="476"/>
          </a:xfrm>
          <a:prstGeom prst="straightConnector1">
            <a:avLst/>
          </a:prstGeom>
          <a:ln w="16193">
            <a:solidFill>
              <a:srgbClr val="244E50"/>
            </a:solidFill>
            <a:tailEnd type="triangle" w="sm" len="sm"/>
          </a:ln>
        </p:spPr>
      </p:cxnSp>
      <p:sp>
        <p:nvSpPr>
          <p:cNvPr id="253" name="FAIL">
            <a:extLst>
              <a:ext uri="{FF2B5EF4-FFF2-40B4-BE49-F238E27FC236}">
                <a16:creationId xmlns:a16="http://schemas.microsoft.com/office/drawing/2014/main" id="{22EE04D5-DCB0-416F-9D0E-DF2DB51DE390}"/>
              </a:ext>
            </a:extLst>
          </p:cNvPr>
          <p:cNvSpPr>
            <a:spLocks noGrp="1"/>
          </p:cNvSpPr>
          <p:nvPr/>
        </p:nvSpPr>
        <p:spPr>
          <a:xfrm>
            <a:off x="7096603" y="6064317"/>
            <a:ext cx="665793" cy="4114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0">
                <a:solidFill>
                  <a:srgbClr val="52615E"/>
                </a:solidFill>
                <a:latin typeface="Arial"/>
                <a:ea typeface="Arial"/>
                <a:cs typeface="Arial"/>
              </a:defRPr>
            </a:pPr>
            <a:r>
              <a:rPr sz="2175" b="0" dirty="0">
                <a:solidFill>
                  <a:srgbClr val="52615E"/>
                </a:solidFill>
                <a:latin typeface="Arial"/>
                <a:ea typeface="Arial"/>
                <a:cs typeface="Arial"/>
              </a:rPr>
              <a:t>FAIL</a:t>
            </a:r>
          </a:p>
        </p:txBody>
      </p:sp>
      <p:sp>
        <p:nvSpPr>
          <p:cNvPr id="254" name="SD/SPI → DMA → DRAM">
            <a:extLst>
              <a:ext uri="{FF2B5EF4-FFF2-40B4-BE49-F238E27FC236}">
                <a16:creationId xmlns:a16="http://schemas.microsoft.com/office/drawing/2014/main" id="{E436E3E1-0B70-461E-9E58-99F54E680486}"/>
              </a:ext>
            </a:extLst>
          </p:cNvPr>
          <p:cNvSpPr>
            <a:spLocks noGrp="1"/>
          </p:cNvSpPr>
          <p:nvPr/>
        </p:nvSpPr>
        <p:spPr>
          <a:xfrm>
            <a:off x="11239500" y="3857625"/>
            <a:ext cx="4381500" cy="1143000"/>
          </a:xfrm>
          <a:prstGeom prst="rect">
            <a:avLst/>
          </a:prstGeom>
          <a:solidFill>
            <a:srgbClr val="EDF5F1"/>
          </a:solidFill>
          <a:ln w="11430">
            <a:solidFill>
              <a:srgbClr val="244E50"/>
            </a:solidFill>
          </a:ln>
        </p:spPr>
        <p:txBody>
          <a:bodyPr lIns="152400" tIns="114300" rIns="152400" bIns="114300" anchor="ctr">
            <a:noAutofit/>
          </a:bodyPr>
          <a:lstStyle/>
          <a:p>
            <a:pPr algn="ctr">
              <a:defRPr sz="2625" b="0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lang="en-US" sz="2625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Nạp</a:t>
            </a:r>
            <a:r>
              <a:rPr lang="en-US" sz="2625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625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ch</a:t>
            </a:r>
            <a:r>
              <a:rPr lang="vi-VN" sz="2625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ư</a:t>
            </a:r>
            <a:r>
              <a:rPr lang="en-US" sz="2625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ơng</a:t>
            </a:r>
            <a:r>
              <a:rPr lang="en-US" sz="2625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625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trình</a:t>
            </a:r>
            <a:r>
              <a:rPr lang="en-US" sz="2625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625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vào</a:t>
            </a:r>
            <a:r>
              <a:rPr lang="en-US" sz="2625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2625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DRAM</a:t>
            </a:r>
          </a:p>
        </p:txBody>
      </p:sp>
      <p:sp>
        <p:nvSpPr>
          <p:cNvPr id="255" name="CPU 4 lõi thực thi">
            <a:extLst>
              <a:ext uri="{FF2B5EF4-FFF2-40B4-BE49-F238E27FC236}">
                <a16:creationId xmlns:a16="http://schemas.microsoft.com/office/drawing/2014/main" id="{B956066B-3A21-46BD-9C2E-371875AFE4CA}"/>
              </a:ext>
            </a:extLst>
          </p:cNvPr>
          <p:cNvSpPr>
            <a:spLocks noGrp="1"/>
          </p:cNvSpPr>
          <p:nvPr/>
        </p:nvSpPr>
        <p:spPr>
          <a:xfrm>
            <a:off x="11239500" y="5667375"/>
            <a:ext cx="4381500" cy="1143000"/>
          </a:xfrm>
          <a:prstGeom prst="rect">
            <a:avLst/>
          </a:prstGeom>
          <a:solidFill>
            <a:srgbClr val="EDF5F1"/>
          </a:solidFill>
          <a:ln w="11430">
            <a:solidFill>
              <a:srgbClr val="244E50"/>
            </a:solidFill>
          </a:ln>
        </p:spPr>
        <p:txBody>
          <a:bodyPr lIns="152400" tIns="114300" rIns="152400" bIns="114300" anchor="ctr">
            <a:noAutofit/>
          </a:bodyPr>
          <a:lstStyle/>
          <a:p>
            <a:pPr algn="ctr">
              <a:defRPr sz="2775" b="0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CPU 4 lõi thực thi</a:t>
            </a:r>
          </a:p>
        </p:txBody>
      </p:sp>
      <p:sp>
        <p:nvSpPr>
          <p:cNvPr id="256" name="Ghi kết quả về SD">
            <a:extLst>
              <a:ext uri="{FF2B5EF4-FFF2-40B4-BE49-F238E27FC236}">
                <a16:creationId xmlns:a16="http://schemas.microsoft.com/office/drawing/2014/main" id="{18DBA602-FAC4-4900-AECB-62A89BFB8AB9}"/>
              </a:ext>
            </a:extLst>
          </p:cNvPr>
          <p:cNvSpPr>
            <a:spLocks noGrp="1"/>
          </p:cNvSpPr>
          <p:nvPr/>
        </p:nvSpPr>
        <p:spPr>
          <a:xfrm>
            <a:off x="11239500" y="7477125"/>
            <a:ext cx="4381500" cy="1143000"/>
          </a:xfrm>
          <a:prstGeom prst="rect">
            <a:avLst/>
          </a:prstGeom>
          <a:solidFill>
            <a:srgbClr val="EDF5F1"/>
          </a:solidFill>
          <a:ln w="11430">
            <a:solidFill>
              <a:srgbClr val="244E50"/>
            </a:solidFill>
          </a:ln>
        </p:spPr>
        <p:txBody>
          <a:bodyPr lIns="152400" tIns="114300" rIns="152400" bIns="114300" anchor="ctr">
            <a:noAutofit/>
          </a:bodyPr>
          <a:lstStyle/>
          <a:p>
            <a:pPr algn="ctr">
              <a:defRPr sz="2775" b="0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Ghi kết quả về SD</a:t>
            </a:r>
          </a:p>
        </p:txBody>
      </p:sp>
      <p:cxnSp>
        <p:nvCxnSpPr>
          <p:cNvPr id="296" name="Straight Arrow Connector 295"/>
          <p:cNvCxnSpPr>
            <a:stCxn id="254" idx="2"/>
            <a:endCxn id="255" idx="0"/>
          </p:cNvCxnSpPr>
          <p:nvPr/>
        </p:nvCxnSpPr>
        <p:spPr>
          <a:xfrm>
            <a:off x="13430250" y="5000625"/>
            <a:ext cx="0" cy="666750"/>
          </a:xfrm>
          <a:prstGeom prst="straightConnector1">
            <a:avLst/>
          </a:prstGeom>
          <a:ln w="16193">
            <a:solidFill>
              <a:srgbClr val="244E50"/>
            </a:solidFill>
            <a:tailEnd type="triangle" w="sm" len="sm"/>
          </a:ln>
        </p:spPr>
      </p:cxnSp>
      <p:cxnSp>
        <p:nvCxnSpPr>
          <p:cNvPr id="297" name="Straight Arrow Connector 296"/>
          <p:cNvCxnSpPr>
            <a:stCxn id="255" idx="2"/>
            <a:endCxn id="256" idx="0"/>
          </p:cNvCxnSpPr>
          <p:nvPr/>
        </p:nvCxnSpPr>
        <p:spPr>
          <a:xfrm>
            <a:off x="13430250" y="6810375"/>
            <a:ext cx="0" cy="666750"/>
          </a:xfrm>
          <a:prstGeom prst="straightConnector1">
            <a:avLst/>
          </a:prstGeom>
          <a:ln w="16193">
            <a:solidFill>
              <a:srgbClr val="244E50"/>
            </a:solidFill>
            <a:tailEnd type="triangle" w="sm" len="sm"/>
          </a:ln>
        </p:spPr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01C6C0-7A17-452B-ADCE-8393E0BB988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879618E-4D66-406E-9696-1C911641EF70}" type="datetime1">
              <a:rPr lang="en-US" smtClean="0"/>
              <a:t>9/18/2026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12E1-7CD2-4D72-BB10-6B68CC42617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4824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">
            <a:extLst>
              <a:ext uri="{FF2B5EF4-FFF2-40B4-BE49-F238E27FC236}">
                <a16:creationId xmlns:a16="http://schemas.microsoft.com/office/drawing/2014/main" id="{DC808253-1ED7-379A-C73C-599E83571A5A}"/>
              </a:ext>
            </a:extLst>
          </p:cNvPr>
          <p:cNvSpPr>
            <a:spLocks noGrp="1"/>
          </p:cNvSpPr>
          <p:nvPr/>
        </p:nvSpPr>
        <p:spPr>
          <a:xfrm rot="5400000">
            <a:off x="8670767" y="-8672351"/>
            <a:ext cx="942755" cy="18291714"/>
          </a:xfrm>
          <a:custGeom>
            <a:avLst/>
            <a:gdLst/>
            <a:ahLst/>
            <a:cxnLst/>
            <a:rect l="l" t="t" r="r" b="b"/>
            <a:pathLst>
              <a:path w="1263142" h="24388953">
                <a:moveTo>
                  <a:pt x="0" y="0"/>
                </a:moveTo>
                <a:lnTo>
                  <a:pt x="1263142" y="0"/>
                </a:lnTo>
                <a:lnTo>
                  <a:pt x="1263142" y="24388953"/>
                </a:lnTo>
                <a:lnTo>
                  <a:pt x="0" y="24388953"/>
                </a:lnTo>
                <a:close/>
              </a:path>
            </a:pathLst>
          </a:custGeom>
          <a:gradFill>
            <a:gsLst>
              <a:gs pos="0">
                <a:srgbClr val="10CD57"/>
              </a:gs>
              <a:gs pos="100000">
                <a:srgbClr val="02715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1" name="Google Shape;221;p4">
            <a:extLst>
              <a:ext uri="{FF2B5EF4-FFF2-40B4-BE49-F238E27FC236}">
                <a16:creationId xmlns:a16="http://schemas.microsoft.com/office/drawing/2014/main" id="{5912409C-2803-AB21-AE33-4169475CA97A}"/>
              </a:ext>
            </a:extLst>
          </p:cNvPr>
          <p:cNvSpPr>
            <a:spLocks noGrp="1"/>
          </p:cNvSpPr>
          <p:nvPr/>
        </p:nvSpPr>
        <p:spPr>
          <a:xfrm rot="-5400000" flipH="1">
            <a:off x="8672625" y="-8674476"/>
            <a:ext cx="942756" cy="18291714"/>
          </a:xfrm>
          <a:custGeom>
            <a:avLst/>
            <a:gdLst/>
            <a:ahLst/>
            <a:cxnLst/>
            <a:rect l="l" t="t" r="r" b="b"/>
            <a:pathLst>
              <a:path w="1263142" h="24388953">
                <a:moveTo>
                  <a:pt x="0" y="0"/>
                </a:moveTo>
                <a:lnTo>
                  <a:pt x="1263142" y="0"/>
                </a:lnTo>
                <a:lnTo>
                  <a:pt x="1263142" y="24388953"/>
                </a:lnTo>
                <a:lnTo>
                  <a:pt x="0" y="24388953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35090" r="-35085"/>
            </a:stretch>
          </a:blip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3" name="Google Shape;223;p4">
            <a:extLst>
              <a:ext uri="{FF2B5EF4-FFF2-40B4-BE49-F238E27FC236}">
                <a16:creationId xmlns:a16="http://schemas.microsoft.com/office/drawing/2014/main" id="{444CFF2D-3ED5-830B-27D7-43A8B350B698}"/>
              </a:ext>
            </a:extLst>
          </p:cNvPr>
          <p:cNvSpPr>
            <a:spLocks noGrp="1"/>
          </p:cNvSpPr>
          <p:nvPr/>
        </p:nvSpPr>
        <p:spPr>
          <a:xfrm>
            <a:off x="360422" y="212133"/>
            <a:ext cx="11130437" cy="506075"/>
          </a:xfrm>
          <a:custGeom>
            <a:avLst/>
            <a:gdLst/>
            <a:ahLst/>
            <a:cxnLst/>
            <a:rect l="l" t="t" r="r" b="b"/>
            <a:pathLst>
              <a:path w="14840583" h="674766">
                <a:moveTo>
                  <a:pt x="0" y="0"/>
                </a:moveTo>
                <a:lnTo>
                  <a:pt x="14840583" y="0"/>
                </a:lnTo>
                <a:lnTo>
                  <a:pt x="14840583" y="674766"/>
                </a:lnTo>
                <a:lnTo>
                  <a:pt x="0" y="67476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4" name="Google Shape;224;p4">
            <a:extLst>
              <a:ext uri="{FF2B5EF4-FFF2-40B4-BE49-F238E27FC236}">
                <a16:creationId xmlns:a16="http://schemas.microsoft.com/office/drawing/2014/main" id="{832DE0AF-E5FF-7DCD-B9BF-91CB90C0936F}"/>
              </a:ext>
            </a:extLst>
          </p:cNvPr>
          <p:cNvSpPr>
            <a:spLocks noGrp="1"/>
          </p:cNvSpPr>
          <p:nvPr/>
        </p:nvSpPr>
        <p:spPr>
          <a:xfrm>
            <a:off x="360422" y="176415"/>
            <a:ext cx="11130436" cy="541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FACULTY OF COMPUTER ENGINEERING</a:t>
            </a:r>
            <a:endParaRPr/>
          </a:p>
        </p:txBody>
      </p:sp>
      <p:sp>
        <p:nvSpPr>
          <p:cNvPr id="225" name="Google Shape;225;p4">
            <a:extLst>
              <a:ext uri="{FF2B5EF4-FFF2-40B4-BE49-F238E27FC236}">
                <a16:creationId xmlns:a16="http://schemas.microsoft.com/office/drawing/2014/main" id="{D44993FD-0D50-D839-6600-5F18159B93EE}"/>
              </a:ext>
            </a:extLst>
          </p:cNvPr>
          <p:cNvSpPr>
            <a:spLocks noGrp="1"/>
          </p:cNvSpPr>
          <p:nvPr/>
        </p:nvSpPr>
        <p:spPr>
          <a:xfrm>
            <a:off x="6719978" y="457932"/>
            <a:ext cx="4848130" cy="958025"/>
          </a:xfrm>
          <a:custGeom>
            <a:avLst/>
            <a:gdLst/>
            <a:ahLst/>
            <a:cxnLst/>
            <a:rect l="l" t="t" r="r" b="b"/>
            <a:pathLst>
              <a:path w="6464173" h="1277366">
                <a:moveTo>
                  <a:pt x="0" y="638683"/>
                </a:moveTo>
                <a:cubicBezTo>
                  <a:pt x="0" y="285877"/>
                  <a:pt x="285877" y="0"/>
                  <a:pt x="638683" y="0"/>
                </a:cubicBezTo>
                <a:lnTo>
                  <a:pt x="5825490" y="0"/>
                </a:lnTo>
                <a:cubicBezTo>
                  <a:pt x="6178169" y="0"/>
                  <a:pt x="6464173" y="285877"/>
                  <a:pt x="6464173" y="638683"/>
                </a:cubicBezTo>
                <a:cubicBezTo>
                  <a:pt x="6464173" y="991489"/>
                  <a:pt x="6178296" y="1277366"/>
                  <a:pt x="5825490" y="1277366"/>
                </a:cubicBezTo>
                <a:lnTo>
                  <a:pt x="638683" y="1277366"/>
                </a:lnTo>
                <a:cubicBezTo>
                  <a:pt x="285877" y="1277239"/>
                  <a:pt x="0" y="991362"/>
                  <a:pt x="0" y="638683"/>
                </a:cubicBezTo>
                <a:close/>
              </a:path>
            </a:pathLst>
          </a:custGeom>
          <a:gradFill>
            <a:gsLst>
              <a:gs pos="0">
                <a:srgbClr val="38EF7D"/>
              </a:gs>
              <a:gs pos="100000">
                <a:srgbClr val="752AFF"/>
              </a:gs>
            </a:gsLst>
            <a:lin ang="4729360" scaled="0"/>
          </a:gra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6" name="Google Shape;226;p4">
            <a:extLst>
              <a:ext uri="{FF2B5EF4-FFF2-40B4-BE49-F238E27FC236}">
                <a16:creationId xmlns:a16="http://schemas.microsoft.com/office/drawing/2014/main" id="{5AF7D653-61AF-F707-0E27-F8EA21E6B772}"/>
              </a:ext>
            </a:extLst>
          </p:cNvPr>
          <p:cNvSpPr>
            <a:spLocks noGrp="1"/>
          </p:cNvSpPr>
          <p:nvPr/>
        </p:nvSpPr>
        <p:spPr>
          <a:xfrm>
            <a:off x="6807463" y="535967"/>
            <a:ext cx="4673060" cy="801909"/>
          </a:xfrm>
          <a:custGeom>
            <a:avLst/>
            <a:gdLst/>
            <a:ahLst/>
            <a:cxnLst/>
            <a:rect l="l" t="t" r="r" b="b"/>
            <a:pathLst>
              <a:path w="6230747" h="1069213">
                <a:moveTo>
                  <a:pt x="0" y="534543"/>
                </a:moveTo>
                <a:cubicBezTo>
                  <a:pt x="0" y="239395"/>
                  <a:pt x="239395" y="0"/>
                  <a:pt x="534543" y="0"/>
                </a:cubicBezTo>
                <a:lnTo>
                  <a:pt x="5696204" y="0"/>
                </a:lnTo>
                <a:cubicBezTo>
                  <a:pt x="5991479" y="0"/>
                  <a:pt x="6230747" y="239395"/>
                  <a:pt x="6230747" y="534543"/>
                </a:cubicBezTo>
                <a:cubicBezTo>
                  <a:pt x="6230747" y="829691"/>
                  <a:pt x="5991352" y="1069086"/>
                  <a:pt x="5696204" y="1069086"/>
                </a:cubicBezTo>
                <a:lnTo>
                  <a:pt x="534543" y="1069086"/>
                </a:lnTo>
                <a:cubicBezTo>
                  <a:pt x="239395" y="1069213"/>
                  <a:pt x="0" y="829818"/>
                  <a:pt x="0" y="53454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7" name="Google Shape;227;p4">
            <a:extLst>
              <a:ext uri="{FF2B5EF4-FFF2-40B4-BE49-F238E27FC236}">
                <a16:creationId xmlns:a16="http://schemas.microsoft.com/office/drawing/2014/main" id="{289AB586-BB02-5F14-3C9F-C76D8DC740C8}"/>
              </a:ext>
            </a:extLst>
          </p:cNvPr>
          <p:cNvSpPr>
            <a:spLocks noGrp="1"/>
          </p:cNvSpPr>
          <p:nvPr/>
        </p:nvSpPr>
        <p:spPr>
          <a:xfrm>
            <a:off x="9436446" y="362541"/>
            <a:ext cx="1163307" cy="1152591"/>
          </a:xfrm>
          <a:custGeom>
            <a:avLst/>
            <a:gdLst/>
            <a:ahLst/>
            <a:cxnLst/>
            <a:rect l="l" t="t" r="r" b="b"/>
            <a:pathLst>
              <a:path w="1163307" h="1152591">
                <a:moveTo>
                  <a:pt x="0" y="0"/>
                </a:moveTo>
                <a:lnTo>
                  <a:pt x="1163307" y="0"/>
                </a:lnTo>
                <a:lnTo>
                  <a:pt x="1163307" y="1152591"/>
                </a:lnTo>
                <a:lnTo>
                  <a:pt x="0" y="11525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73" r="-72"/>
            </a:stretch>
          </a:blip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8" name="Google Shape;228;p4">
            <a:extLst>
              <a:ext uri="{FF2B5EF4-FFF2-40B4-BE49-F238E27FC236}">
                <a16:creationId xmlns:a16="http://schemas.microsoft.com/office/drawing/2014/main" id="{9D7A377B-BF97-AA94-CA09-9423DAE437F0}"/>
              </a:ext>
            </a:extLst>
          </p:cNvPr>
          <p:cNvSpPr>
            <a:spLocks noGrp="1"/>
          </p:cNvSpPr>
          <p:nvPr/>
        </p:nvSpPr>
        <p:spPr>
          <a:xfrm>
            <a:off x="7688248" y="398076"/>
            <a:ext cx="1307514" cy="1081521"/>
          </a:xfrm>
          <a:custGeom>
            <a:avLst/>
            <a:gdLst/>
            <a:ahLst/>
            <a:cxnLst/>
            <a:rect l="l" t="t" r="r" b="b"/>
            <a:pathLst>
              <a:path w="1307514" h="1081521">
                <a:moveTo>
                  <a:pt x="0" y="0"/>
                </a:moveTo>
                <a:lnTo>
                  <a:pt x="1307514" y="0"/>
                </a:lnTo>
                <a:lnTo>
                  <a:pt x="1307514" y="1081521"/>
                </a:lnTo>
                <a:lnTo>
                  <a:pt x="0" y="10815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t="-74" b="-73"/>
            </a:stretch>
          </a:blip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0" name="4. Kế hoạch thực hiện theo tháng">
            <a:extLst>
              <a:ext uri="{FF2B5EF4-FFF2-40B4-BE49-F238E27FC236}">
                <a16:creationId xmlns:a16="http://schemas.microsoft.com/office/drawing/2014/main" id="{FBF85D8C-C357-43E1-A7EE-C30E61891DE2}"/>
              </a:ext>
            </a:extLst>
          </p:cNvPr>
          <p:cNvSpPr>
            <a:spLocks noGrp="1"/>
          </p:cNvSpPr>
          <p:nvPr/>
        </p:nvSpPr>
        <p:spPr>
          <a:xfrm>
            <a:off x="628650" y="1657350"/>
            <a:ext cx="16954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36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4. </a:t>
            </a:r>
            <a:r>
              <a:rPr sz="36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Kế</a:t>
            </a:r>
            <a:r>
              <a:rPr sz="36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hoạch</a:t>
            </a:r>
            <a:r>
              <a:rPr sz="36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thực</a:t>
            </a:r>
            <a:r>
              <a:rPr sz="36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hiện</a:t>
            </a:r>
            <a:r>
              <a:rPr lang="en-US" sz="36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36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và</a:t>
            </a:r>
            <a:r>
              <a:rPr lang="en-US" sz="36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36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tiêu</a:t>
            </a:r>
            <a:r>
              <a:rPr lang="en-US" sz="36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36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chí</a:t>
            </a:r>
            <a:r>
              <a:rPr lang="en-US" sz="36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36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đánh</a:t>
            </a:r>
            <a:r>
              <a:rPr lang="en-US" sz="36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36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giá</a:t>
            </a:r>
            <a:endParaRPr sz="3600" b="1" dirty="0">
              <a:solidFill>
                <a:srgbClr val="007A60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246" name="Table 245"/>
          <p:cNvGraphicFramePr/>
          <p:nvPr>
            <p:extLst>
              <p:ext uri="{D42A27DB-BD31-4B8C-83A1-F6EECF244321}">
                <p14:modId xmlns:p14="http://schemas.microsoft.com/office/powerpoint/2010/main" val="2827473184"/>
              </p:ext>
            </p:extLst>
          </p:nvPr>
        </p:nvGraphicFramePr>
        <p:xfrm>
          <a:off x="952500" y="2622643"/>
          <a:ext cx="16668750" cy="4762500"/>
        </p:xfrm>
        <a:graphic>
          <a:graphicData uri="http://schemas.openxmlformats.org/drawingml/2006/table">
            <a:tbl>
              <a:tblPr/>
              <a:tblGrid>
                <a:gridCol w="7143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93750">
                <a:tc>
                  <a:txBody>
                    <a:bodyPr/>
                    <a:lstStyle/>
                    <a:p>
                      <a:pPr algn="l"/>
                      <a:r>
                        <a:rPr sz="2325" b="1" dirty="0" err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Công</a:t>
                      </a:r>
                      <a:r>
                        <a:rPr sz="2325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325" b="1" dirty="0" err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việc</a:t>
                      </a:r>
                      <a:endParaRPr sz="2325" b="1" dirty="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007A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T9</a:t>
                      </a:r>
                    </a:p>
                  </a:txBody>
                  <a:tcPr anchor="ctr">
                    <a:solidFill>
                      <a:srgbClr val="007A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T10</a:t>
                      </a:r>
                    </a:p>
                  </a:txBody>
                  <a:tcPr anchor="ctr">
                    <a:solidFill>
                      <a:srgbClr val="007A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T11</a:t>
                      </a:r>
                    </a:p>
                  </a:txBody>
                  <a:tcPr anchor="ctr">
                    <a:solidFill>
                      <a:srgbClr val="007A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T12</a:t>
                      </a:r>
                    </a:p>
                  </a:txBody>
                  <a:tcPr anchor="ctr">
                    <a:solidFill>
                      <a:srgbClr val="007A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T1/27</a:t>
                      </a:r>
                    </a:p>
                  </a:txBody>
                  <a:tcPr anchor="ctr">
                    <a:solidFill>
                      <a:srgbClr val="007A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3750">
                <a:tc>
                  <a:txBody>
                    <a:bodyPr/>
                    <a:lstStyle/>
                    <a:p>
                      <a:pPr algn="l"/>
                      <a:r>
                        <a:rPr sz="2325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Kiến trúc, lõi đơn, L1 và MMU</a:t>
                      </a:r>
                    </a:p>
                  </a:txBody>
                  <a:tcPr anchor="ctr">
                    <a:solidFill>
                      <a:srgbClr val="EDF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007A60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anchor="ctr">
                    <a:solidFill>
                      <a:srgbClr val="D0E8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007A60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anchor="ctr">
                    <a:solidFill>
                      <a:srgbClr val="D0E8D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EDF5F1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EDF5F1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ED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3750">
                <a:tc>
                  <a:txBody>
                    <a:bodyPr/>
                    <a:lstStyle/>
                    <a:p>
                      <a:pPr algn="l"/>
                      <a:r>
                        <a:rPr sz="2325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4 </a:t>
                      </a:r>
                      <a:r>
                        <a:rPr sz="2325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lõi</a:t>
                      </a:r>
                      <a:r>
                        <a:rPr sz="2325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, AHB/AXI4, L2</a:t>
                      </a:r>
                      <a:r>
                        <a:rPr lang="en-US" sz="2325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lang="en-US" sz="2325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và</a:t>
                      </a:r>
                      <a:r>
                        <a:rPr sz="2325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MESI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007A60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anchor="ctr">
                    <a:solidFill>
                      <a:srgbClr val="D0E8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007A60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anchor="ctr">
                    <a:solidFill>
                      <a:srgbClr val="D0E8D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3750">
                <a:tc>
                  <a:txBody>
                    <a:bodyPr/>
                    <a:lstStyle/>
                    <a:p>
                      <a:pPr algn="l"/>
                      <a:r>
                        <a:rPr sz="2325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DMA </a:t>
                      </a:r>
                      <a:r>
                        <a:rPr sz="2325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và</a:t>
                      </a:r>
                      <a:r>
                        <a:rPr sz="2325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325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tích</a:t>
                      </a:r>
                      <a:r>
                        <a:rPr sz="2325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325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hợp</a:t>
                      </a:r>
                      <a:r>
                        <a:rPr sz="2325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325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hệ</a:t>
                      </a:r>
                      <a:r>
                        <a:rPr sz="2325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325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thống</a:t>
                      </a:r>
                      <a:endParaRPr sz="2325" b="0" dirty="0">
                        <a:solidFill>
                          <a:srgbClr val="172A2A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EDF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325" b="1" dirty="0">
                        <a:solidFill>
                          <a:srgbClr val="007A6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325" b="1" dirty="0">
                        <a:solidFill>
                          <a:srgbClr val="007A6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007A60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anchor="ctr">
                    <a:solidFill>
                      <a:srgbClr val="D0E8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007A60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anchor="ctr">
                    <a:solidFill>
                      <a:srgbClr val="D0E8D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ED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3750">
                <a:tc>
                  <a:txBody>
                    <a:bodyPr/>
                    <a:lstStyle/>
                    <a:p>
                      <a:pPr algn="l"/>
                      <a:r>
                        <a:rPr sz="2325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RTL </a:t>
                      </a:r>
                      <a:r>
                        <a:rPr sz="2325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toàn</a:t>
                      </a:r>
                      <a:r>
                        <a:rPr sz="2325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325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hệ</a:t>
                      </a:r>
                      <a:r>
                        <a:rPr sz="2325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325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thống</a:t>
                      </a:r>
                      <a:r>
                        <a:rPr sz="2325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, </a:t>
                      </a:r>
                      <a:r>
                        <a:rPr sz="2325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tổng</a:t>
                      </a:r>
                      <a:r>
                        <a:rPr sz="2325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325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hợp</a:t>
                      </a:r>
                      <a:r>
                        <a:rPr sz="2325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325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và</a:t>
                      </a:r>
                      <a:r>
                        <a:rPr lang="en-US" sz="2325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lang="en-US" sz="2325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hiện</a:t>
                      </a:r>
                      <a:r>
                        <a:rPr lang="en-US" sz="2325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lang="en-US" sz="2325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thực</a:t>
                      </a:r>
                      <a:r>
                        <a:rPr lang="en-US" sz="2325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FPGA</a:t>
                      </a:r>
                      <a:endParaRPr sz="2325" b="0" dirty="0">
                        <a:solidFill>
                          <a:srgbClr val="172A2A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007A60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anchor="ctr">
                    <a:solidFill>
                      <a:srgbClr val="D0E8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007A60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anchor="ctr">
                    <a:solidFill>
                      <a:srgbClr val="D0E8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3750">
                <a:tc>
                  <a:txBody>
                    <a:bodyPr/>
                    <a:lstStyle/>
                    <a:p>
                      <a:pPr algn="l"/>
                      <a:r>
                        <a:rPr sz="2325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Đo</a:t>
                      </a:r>
                      <a:r>
                        <a:rPr sz="2325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325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hiệu</a:t>
                      </a:r>
                      <a:r>
                        <a:rPr sz="2325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325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năng</a:t>
                      </a:r>
                      <a:r>
                        <a:rPr sz="2325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, </a:t>
                      </a:r>
                      <a:r>
                        <a:rPr sz="2325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dự</a:t>
                      </a:r>
                      <a:r>
                        <a:rPr sz="2325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325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phòng</a:t>
                      </a:r>
                      <a:r>
                        <a:rPr sz="2325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325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và</a:t>
                      </a:r>
                      <a:r>
                        <a:rPr sz="2325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325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báo</a:t>
                      </a:r>
                      <a:r>
                        <a:rPr sz="2325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325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cáo</a:t>
                      </a:r>
                      <a:endParaRPr sz="2325" b="0" dirty="0">
                        <a:solidFill>
                          <a:srgbClr val="172A2A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EDF5F1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EDF5F1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EDF5F1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EDF5F1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EDF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1" dirty="0">
                          <a:solidFill>
                            <a:srgbClr val="007A60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anchor="ctr">
                    <a:solidFill>
                      <a:srgbClr val="D0E8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3" name="Lâm: lõi, L1, MMU/TLB, SD/SPI. Lam: bus, L2, MESI, DMA. Cả hai: kiểm c">
            <a:extLst>
              <a:ext uri="{FF2B5EF4-FFF2-40B4-BE49-F238E27FC236}">
                <a16:creationId xmlns:a16="http://schemas.microsoft.com/office/drawing/2014/main" id="{5108FF10-CFA0-4C1C-9CD2-7380DAE64FF5}"/>
              </a:ext>
            </a:extLst>
          </p:cNvPr>
          <p:cNvSpPr>
            <a:spLocks noGrp="1"/>
          </p:cNvSpPr>
          <p:nvPr/>
        </p:nvSpPr>
        <p:spPr>
          <a:xfrm>
            <a:off x="1218868" y="7582250"/>
            <a:ext cx="6469380" cy="216878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defRPr sz="2250" b="0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Lâm: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lõi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, L1, MMU/TLB. </a:t>
            </a:r>
            <a:endParaRPr lang="en-US" sz="3000" b="0" dirty="0">
              <a:solidFill>
                <a:srgbClr val="172A2A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50000"/>
              </a:lnSpc>
              <a:defRPr sz="2250" b="0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Lam: bus, L2, MESI, DMA. </a:t>
            </a:r>
            <a:endParaRPr lang="en-US" sz="3000" b="0" dirty="0">
              <a:solidFill>
                <a:srgbClr val="172A2A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50000"/>
              </a:lnSpc>
              <a:defRPr sz="2250" b="0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Cả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hai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: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kiểm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chứng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, demo,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báo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cáo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51346A-9EBC-4405-91B2-2B973A97C26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ED04911-03CD-4882-87FA-91FE1C11FA53}" type="datetime1">
              <a:rPr lang="en-US" smtClean="0"/>
              <a:t>9/18/2026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09AB2E-1F71-4606-8F00-FE9A4EA6981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6650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">
            <a:extLst>
              <a:ext uri="{FF2B5EF4-FFF2-40B4-BE49-F238E27FC236}">
                <a16:creationId xmlns:a16="http://schemas.microsoft.com/office/drawing/2014/main" id="{DC808253-1ED7-379A-C73C-599E83571A5A}"/>
              </a:ext>
            </a:extLst>
          </p:cNvPr>
          <p:cNvSpPr>
            <a:spLocks noGrp="1"/>
          </p:cNvSpPr>
          <p:nvPr/>
        </p:nvSpPr>
        <p:spPr>
          <a:xfrm rot="5400000">
            <a:off x="8670767" y="-8672351"/>
            <a:ext cx="942755" cy="18291714"/>
          </a:xfrm>
          <a:custGeom>
            <a:avLst/>
            <a:gdLst/>
            <a:ahLst/>
            <a:cxnLst/>
            <a:rect l="l" t="t" r="r" b="b"/>
            <a:pathLst>
              <a:path w="1263142" h="24388953">
                <a:moveTo>
                  <a:pt x="0" y="0"/>
                </a:moveTo>
                <a:lnTo>
                  <a:pt x="1263142" y="0"/>
                </a:lnTo>
                <a:lnTo>
                  <a:pt x="1263142" y="24388953"/>
                </a:lnTo>
                <a:lnTo>
                  <a:pt x="0" y="24388953"/>
                </a:lnTo>
                <a:close/>
              </a:path>
            </a:pathLst>
          </a:custGeom>
          <a:gradFill>
            <a:gsLst>
              <a:gs pos="0">
                <a:srgbClr val="10CD57"/>
              </a:gs>
              <a:gs pos="100000">
                <a:srgbClr val="02715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1" name="Google Shape;221;p4">
            <a:extLst>
              <a:ext uri="{FF2B5EF4-FFF2-40B4-BE49-F238E27FC236}">
                <a16:creationId xmlns:a16="http://schemas.microsoft.com/office/drawing/2014/main" id="{5912409C-2803-AB21-AE33-4169475CA97A}"/>
              </a:ext>
            </a:extLst>
          </p:cNvPr>
          <p:cNvSpPr>
            <a:spLocks noGrp="1"/>
          </p:cNvSpPr>
          <p:nvPr/>
        </p:nvSpPr>
        <p:spPr>
          <a:xfrm rot="-5400000" flipH="1">
            <a:off x="8672625" y="-8674476"/>
            <a:ext cx="942756" cy="18291714"/>
          </a:xfrm>
          <a:custGeom>
            <a:avLst/>
            <a:gdLst/>
            <a:ahLst/>
            <a:cxnLst/>
            <a:rect l="l" t="t" r="r" b="b"/>
            <a:pathLst>
              <a:path w="1263142" h="24388953">
                <a:moveTo>
                  <a:pt x="0" y="0"/>
                </a:moveTo>
                <a:lnTo>
                  <a:pt x="1263142" y="0"/>
                </a:lnTo>
                <a:lnTo>
                  <a:pt x="1263142" y="24388953"/>
                </a:lnTo>
                <a:lnTo>
                  <a:pt x="0" y="24388953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35090" r="-35085"/>
            </a:stretch>
          </a:blip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3" name="Google Shape;223;p4">
            <a:extLst>
              <a:ext uri="{FF2B5EF4-FFF2-40B4-BE49-F238E27FC236}">
                <a16:creationId xmlns:a16="http://schemas.microsoft.com/office/drawing/2014/main" id="{444CFF2D-3ED5-830B-27D7-43A8B350B698}"/>
              </a:ext>
            </a:extLst>
          </p:cNvPr>
          <p:cNvSpPr>
            <a:spLocks noGrp="1"/>
          </p:cNvSpPr>
          <p:nvPr/>
        </p:nvSpPr>
        <p:spPr>
          <a:xfrm>
            <a:off x="360422" y="212133"/>
            <a:ext cx="11130437" cy="506075"/>
          </a:xfrm>
          <a:custGeom>
            <a:avLst/>
            <a:gdLst/>
            <a:ahLst/>
            <a:cxnLst/>
            <a:rect l="l" t="t" r="r" b="b"/>
            <a:pathLst>
              <a:path w="14840583" h="674766">
                <a:moveTo>
                  <a:pt x="0" y="0"/>
                </a:moveTo>
                <a:lnTo>
                  <a:pt x="14840583" y="0"/>
                </a:lnTo>
                <a:lnTo>
                  <a:pt x="14840583" y="674766"/>
                </a:lnTo>
                <a:lnTo>
                  <a:pt x="0" y="67476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4" name="Google Shape;224;p4">
            <a:extLst>
              <a:ext uri="{FF2B5EF4-FFF2-40B4-BE49-F238E27FC236}">
                <a16:creationId xmlns:a16="http://schemas.microsoft.com/office/drawing/2014/main" id="{832DE0AF-E5FF-7DCD-B9BF-91CB90C0936F}"/>
              </a:ext>
            </a:extLst>
          </p:cNvPr>
          <p:cNvSpPr>
            <a:spLocks noGrp="1"/>
          </p:cNvSpPr>
          <p:nvPr/>
        </p:nvSpPr>
        <p:spPr>
          <a:xfrm>
            <a:off x="360422" y="176415"/>
            <a:ext cx="11130436" cy="541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FACULTY OF COMPUTER ENGINEERING</a:t>
            </a:r>
            <a:endParaRPr/>
          </a:p>
        </p:txBody>
      </p:sp>
      <p:sp>
        <p:nvSpPr>
          <p:cNvPr id="225" name="Google Shape;225;p4">
            <a:extLst>
              <a:ext uri="{FF2B5EF4-FFF2-40B4-BE49-F238E27FC236}">
                <a16:creationId xmlns:a16="http://schemas.microsoft.com/office/drawing/2014/main" id="{D44993FD-0D50-D839-6600-5F18159B93EE}"/>
              </a:ext>
            </a:extLst>
          </p:cNvPr>
          <p:cNvSpPr>
            <a:spLocks noGrp="1"/>
          </p:cNvSpPr>
          <p:nvPr/>
        </p:nvSpPr>
        <p:spPr>
          <a:xfrm>
            <a:off x="6719978" y="457932"/>
            <a:ext cx="4848130" cy="958025"/>
          </a:xfrm>
          <a:custGeom>
            <a:avLst/>
            <a:gdLst/>
            <a:ahLst/>
            <a:cxnLst/>
            <a:rect l="l" t="t" r="r" b="b"/>
            <a:pathLst>
              <a:path w="6464173" h="1277366">
                <a:moveTo>
                  <a:pt x="0" y="638683"/>
                </a:moveTo>
                <a:cubicBezTo>
                  <a:pt x="0" y="285877"/>
                  <a:pt x="285877" y="0"/>
                  <a:pt x="638683" y="0"/>
                </a:cubicBezTo>
                <a:lnTo>
                  <a:pt x="5825490" y="0"/>
                </a:lnTo>
                <a:cubicBezTo>
                  <a:pt x="6178169" y="0"/>
                  <a:pt x="6464173" y="285877"/>
                  <a:pt x="6464173" y="638683"/>
                </a:cubicBezTo>
                <a:cubicBezTo>
                  <a:pt x="6464173" y="991489"/>
                  <a:pt x="6178296" y="1277366"/>
                  <a:pt x="5825490" y="1277366"/>
                </a:cubicBezTo>
                <a:lnTo>
                  <a:pt x="638683" y="1277366"/>
                </a:lnTo>
                <a:cubicBezTo>
                  <a:pt x="285877" y="1277239"/>
                  <a:pt x="0" y="991362"/>
                  <a:pt x="0" y="638683"/>
                </a:cubicBezTo>
                <a:close/>
              </a:path>
            </a:pathLst>
          </a:custGeom>
          <a:gradFill>
            <a:gsLst>
              <a:gs pos="0">
                <a:srgbClr val="38EF7D"/>
              </a:gs>
              <a:gs pos="100000">
                <a:srgbClr val="752AFF"/>
              </a:gs>
            </a:gsLst>
            <a:lin ang="4729360" scaled="0"/>
          </a:gra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6" name="Google Shape;226;p4">
            <a:extLst>
              <a:ext uri="{FF2B5EF4-FFF2-40B4-BE49-F238E27FC236}">
                <a16:creationId xmlns:a16="http://schemas.microsoft.com/office/drawing/2014/main" id="{5AF7D653-61AF-F707-0E27-F8EA21E6B772}"/>
              </a:ext>
            </a:extLst>
          </p:cNvPr>
          <p:cNvSpPr>
            <a:spLocks noGrp="1"/>
          </p:cNvSpPr>
          <p:nvPr/>
        </p:nvSpPr>
        <p:spPr>
          <a:xfrm>
            <a:off x="6807463" y="535967"/>
            <a:ext cx="4673060" cy="801909"/>
          </a:xfrm>
          <a:custGeom>
            <a:avLst/>
            <a:gdLst/>
            <a:ahLst/>
            <a:cxnLst/>
            <a:rect l="l" t="t" r="r" b="b"/>
            <a:pathLst>
              <a:path w="6230747" h="1069213">
                <a:moveTo>
                  <a:pt x="0" y="534543"/>
                </a:moveTo>
                <a:cubicBezTo>
                  <a:pt x="0" y="239395"/>
                  <a:pt x="239395" y="0"/>
                  <a:pt x="534543" y="0"/>
                </a:cubicBezTo>
                <a:lnTo>
                  <a:pt x="5696204" y="0"/>
                </a:lnTo>
                <a:cubicBezTo>
                  <a:pt x="5991479" y="0"/>
                  <a:pt x="6230747" y="239395"/>
                  <a:pt x="6230747" y="534543"/>
                </a:cubicBezTo>
                <a:cubicBezTo>
                  <a:pt x="6230747" y="829691"/>
                  <a:pt x="5991352" y="1069086"/>
                  <a:pt x="5696204" y="1069086"/>
                </a:cubicBezTo>
                <a:lnTo>
                  <a:pt x="534543" y="1069086"/>
                </a:lnTo>
                <a:cubicBezTo>
                  <a:pt x="239395" y="1069213"/>
                  <a:pt x="0" y="829818"/>
                  <a:pt x="0" y="53454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7" name="Google Shape;227;p4">
            <a:extLst>
              <a:ext uri="{FF2B5EF4-FFF2-40B4-BE49-F238E27FC236}">
                <a16:creationId xmlns:a16="http://schemas.microsoft.com/office/drawing/2014/main" id="{289AB586-BB02-5F14-3C9F-C76D8DC740C8}"/>
              </a:ext>
            </a:extLst>
          </p:cNvPr>
          <p:cNvSpPr>
            <a:spLocks noGrp="1"/>
          </p:cNvSpPr>
          <p:nvPr/>
        </p:nvSpPr>
        <p:spPr>
          <a:xfrm>
            <a:off x="9436446" y="362541"/>
            <a:ext cx="1163307" cy="1152591"/>
          </a:xfrm>
          <a:custGeom>
            <a:avLst/>
            <a:gdLst/>
            <a:ahLst/>
            <a:cxnLst/>
            <a:rect l="l" t="t" r="r" b="b"/>
            <a:pathLst>
              <a:path w="1163307" h="1152591">
                <a:moveTo>
                  <a:pt x="0" y="0"/>
                </a:moveTo>
                <a:lnTo>
                  <a:pt x="1163307" y="0"/>
                </a:lnTo>
                <a:lnTo>
                  <a:pt x="1163307" y="1152591"/>
                </a:lnTo>
                <a:lnTo>
                  <a:pt x="0" y="11525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73" r="-72"/>
            </a:stretch>
          </a:blip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8" name="Google Shape;228;p4">
            <a:extLst>
              <a:ext uri="{FF2B5EF4-FFF2-40B4-BE49-F238E27FC236}">
                <a16:creationId xmlns:a16="http://schemas.microsoft.com/office/drawing/2014/main" id="{9D7A377B-BF97-AA94-CA09-9423DAE437F0}"/>
              </a:ext>
            </a:extLst>
          </p:cNvPr>
          <p:cNvSpPr>
            <a:spLocks noGrp="1"/>
          </p:cNvSpPr>
          <p:nvPr/>
        </p:nvSpPr>
        <p:spPr>
          <a:xfrm>
            <a:off x="7688248" y="398076"/>
            <a:ext cx="1307514" cy="1081521"/>
          </a:xfrm>
          <a:custGeom>
            <a:avLst/>
            <a:gdLst/>
            <a:ahLst/>
            <a:cxnLst/>
            <a:rect l="l" t="t" r="r" b="b"/>
            <a:pathLst>
              <a:path w="1307514" h="1081521">
                <a:moveTo>
                  <a:pt x="0" y="0"/>
                </a:moveTo>
                <a:lnTo>
                  <a:pt x="1307514" y="0"/>
                </a:lnTo>
                <a:lnTo>
                  <a:pt x="1307514" y="1081521"/>
                </a:lnTo>
                <a:lnTo>
                  <a:pt x="0" y="10815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t="-74" b="-73"/>
            </a:stretch>
          </a:blip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FE74FA-AD2F-4D53-BD91-9FA8225DE04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4399598-3BAF-47EA-89A9-AC4592B6CADF}" type="datetime1">
              <a:rPr lang="en-US" smtClean="0"/>
              <a:t>9/18/2026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B11FB-AB2D-47B6-A531-F4962EF2A51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19" name="Google Shape;484;p13">
            <a:extLst>
              <a:ext uri="{FF2B5EF4-FFF2-40B4-BE49-F238E27FC236}">
                <a16:creationId xmlns:a16="http://schemas.microsoft.com/office/drawing/2014/main" id="{70988E4E-08F2-4409-8441-141139A4BBC2}"/>
              </a:ext>
            </a:extLst>
          </p:cNvPr>
          <p:cNvSpPr txBox="1">
            <a:spLocks/>
          </p:cNvSpPr>
          <p:nvPr/>
        </p:nvSpPr>
        <p:spPr>
          <a:xfrm>
            <a:off x="416499" y="1509696"/>
            <a:ext cx="3952361" cy="890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7058"/>
              </a:buClr>
              <a:buSzPts val="4400"/>
              <a:buFont typeface="Times New Roman"/>
              <a:buNone/>
              <a:defRPr sz="4400" b="1" i="0" u="none" strike="noStrike" cap="none">
                <a:solidFill>
                  <a:srgbClr val="01705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7058"/>
              </a:buClr>
              <a:buSzPts val="4400"/>
              <a:buFont typeface="Times New Roman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srgbClr val="017058"/>
                </a:solidFill>
                <a:effectLst/>
                <a:uLnTx/>
                <a:uFillTx/>
                <a:latin typeface="+mj-lt"/>
                <a:cs typeface="Times New Roman"/>
                <a:sym typeface="Times New Roman"/>
              </a:rPr>
              <a:t>Tài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17058"/>
                </a:solidFill>
                <a:effectLst/>
                <a:uLnTx/>
                <a:uFillTx/>
                <a:latin typeface="+mj-lt"/>
                <a:cs typeface="Times New Roman"/>
                <a:sym typeface="Times New Roman"/>
              </a:rPr>
              <a:t> </a:t>
            </a: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srgbClr val="017058"/>
                </a:solidFill>
                <a:effectLst/>
                <a:uLnTx/>
                <a:uFillTx/>
                <a:latin typeface="+mj-lt"/>
                <a:cs typeface="Times New Roman"/>
                <a:sym typeface="Times New Roman"/>
              </a:rPr>
              <a:t>liệu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17058"/>
                </a:solidFill>
                <a:effectLst/>
                <a:uLnTx/>
                <a:uFillTx/>
                <a:latin typeface="+mj-lt"/>
                <a:cs typeface="Times New Roman"/>
                <a:sym typeface="Times New Roman"/>
              </a:rPr>
              <a:t> </a:t>
            </a: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srgbClr val="017058"/>
                </a:solidFill>
                <a:effectLst/>
                <a:uLnTx/>
                <a:uFillTx/>
                <a:latin typeface="+mj-lt"/>
                <a:cs typeface="Times New Roman"/>
                <a:sym typeface="Times New Roman"/>
              </a:rPr>
              <a:t>tham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17058"/>
                </a:solidFill>
                <a:effectLst/>
                <a:uLnTx/>
                <a:uFillTx/>
                <a:latin typeface="+mj-lt"/>
                <a:cs typeface="Times New Roman"/>
                <a:sym typeface="Times New Roman"/>
              </a:rPr>
              <a:t> </a:t>
            </a: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srgbClr val="017058"/>
                </a:solidFill>
                <a:effectLst/>
                <a:uLnTx/>
                <a:uFillTx/>
                <a:latin typeface="+mj-lt"/>
                <a:cs typeface="Times New Roman"/>
                <a:sym typeface="Times New Roman"/>
              </a:rPr>
              <a:t>khảo</a:t>
            </a:r>
            <a:endParaRPr kumimoji="0" lang="en-US" sz="3600" b="1" i="0" u="none" strike="noStrike" kern="0" cap="none" spc="0" normalizeH="0" baseline="0" noProof="0" dirty="0">
              <a:ln>
                <a:noFill/>
              </a:ln>
              <a:solidFill>
                <a:srgbClr val="017058"/>
              </a:solidFill>
              <a:effectLst/>
              <a:uLnTx/>
              <a:uFillTx/>
              <a:latin typeface="+mj-lt"/>
              <a:cs typeface="Times New Roman"/>
              <a:sym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A11C6E-6C5C-4A51-9AC2-7D036A0D9ECB}"/>
              </a:ext>
            </a:extLst>
          </p:cNvPr>
          <p:cNvSpPr txBox="1"/>
          <p:nvPr/>
        </p:nvSpPr>
        <p:spPr>
          <a:xfrm>
            <a:off x="571095" y="2306620"/>
            <a:ext cx="17243939" cy="7049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4000" indent="-127000" algn="just">
              <a:lnSpc>
                <a:spcPct val="125000"/>
              </a:lnSpc>
              <a:spcAft>
                <a:spcPts val="500"/>
              </a:spcAft>
            </a:pP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[1] M.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Solé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i="1" dirty="0">
                <a:ea typeface="Times New Roman" panose="02020603050405020304" pitchFamily="18" charset="0"/>
                <a:cs typeface="Arial" panose="020B0604020202020204" pitchFamily="34" charset="0"/>
              </a:rPr>
              <a:t>et al.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, "Evaluation of the Multicore Performance Capabilities of the Next Generation Flight Computers,"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trong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i="1" dirty="0">
                <a:ea typeface="Times New Roman" panose="02020603050405020304" pitchFamily="18" charset="0"/>
                <a:cs typeface="Arial" panose="020B0604020202020204" pitchFamily="34" charset="0"/>
              </a:rPr>
              <a:t>Proc. 2023 IEEE/AIAA 42nd Digital Avionics Systems Conference (DASC)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, 2023,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doi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: 10.1109/DASC58513.2023.10311151.</a:t>
            </a:r>
          </a:p>
          <a:p>
            <a:pPr marL="254000" indent="-127000" algn="just">
              <a:lnSpc>
                <a:spcPct val="125000"/>
              </a:lnSpc>
              <a:spcAft>
                <a:spcPts val="500"/>
              </a:spcAft>
            </a:pP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[2] B.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Kieu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-Do-Nguyen </a:t>
            </a:r>
            <a:r>
              <a:rPr lang="en-US" sz="2700" i="1" dirty="0">
                <a:ea typeface="Times New Roman" panose="02020603050405020304" pitchFamily="18" charset="0"/>
                <a:cs typeface="Arial" panose="020B0604020202020204" pitchFamily="34" charset="0"/>
              </a:rPr>
              <a:t>et al.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, "Hardware Software Co-design for Multi-threaded Computation on RISC-V-based Multicore System," </a:t>
            </a:r>
            <a:r>
              <a:rPr lang="en-US" sz="2700" i="1" dirty="0">
                <a:ea typeface="Times New Roman" panose="02020603050405020304" pitchFamily="18" charset="0"/>
                <a:cs typeface="Arial" panose="020B0604020202020204" pitchFamily="34" charset="0"/>
              </a:rPr>
              <a:t>IEEE Access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, vol. 12, pp. 177312-177326, 2024,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doi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: 10.1109/ACCESS.2024.3505940.</a:t>
            </a:r>
          </a:p>
          <a:p>
            <a:pPr marL="254000" indent="-127000" algn="just">
              <a:lnSpc>
                <a:spcPct val="125000"/>
              </a:lnSpc>
              <a:spcAft>
                <a:spcPts val="500"/>
              </a:spcAft>
            </a:pP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[3] S. Shukla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và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K. C. Ray, "A Low-Overhead Reconfigurable RISC-V Quad-Core Processor Architecture for Fault-Tolerant Applications," </a:t>
            </a:r>
            <a:r>
              <a:rPr lang="en-US" sz="2700" i="1" dirty="0">
                <a:ea typeface="Times New Roman" panose="02020603050405020304" pitchFamily="18" charset="0"/>
                <a:cs typeface="Arial" panose="020B0604020202020204" pitchFamily="34" charset="0"/>
              </a:rPr>
              <a:t>IEEE Access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, vol. 10, pp. 44136-44146, 2022,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doi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: 10.1109/ACCESS.2022.3168864.</a:t>
            </a:r>
          </a:p>
          <a:p>
            <a:pPr marL="254000" indent="-127000" algn="just">
              <a:lnSpc>
                <a:spcPct val="125000"/>
              </a:lnSpc>
              <a:spcAft>
                <a:spcPts val="500"/>
              </a:spcAft>
            </a:pP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[4] N. Đ. T.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Tuệ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, "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Thiết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kế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bộ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vi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xử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lý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2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lõi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RISC-V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dựa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trên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kiến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trúc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tập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lệnh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RV32IMFA," </a:t>
            </a:r>
            <a:r>
              <a:rPr lang="en-US" sz="2700" i="1" dirty="0" err="1">
                <a:ea typeface="Times New Roman" panose="02020603050405020304" pitchFamily="18" charset="0"/>
                <a:cs typeface="Arial" panose="020B0604020202020204" pitchFamily="34" charset="0"/>
              </a:rPr>
              <a:t>Khóa</a:t>
            </a:r>
            <a:r>
              <a:rPr lang="en-US" sz="2700" i="1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i="1" dirty="0" err="1">
                <a:ea typeface="Times New Roman" panose="02020603050405020304" pitchFamily="18" charset="0"/>
                <a:cs typeface="Arial" panose="020B0604020202020204" pitchFamily="34" charset="0"/>
              </a:rPr>
              <a:t>luận</a:t>
            </a:r>
            <a:r>
              <a:rPr lang="en-US" sz="2700" i="1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i="1" dirty="0" err="1">
                <a:ea typeface="Times New Roman" panose="02020603050405020304" pitchFamily="18" charset="0"/>
                <a:cs typeface="Arial" panose="020B0604020202020204" pitchFamily="34" charset="0"/>
              </a:rPr>
              <a:t>tốt</a:t>
            </a:r>
            <a:r>
              <a:rPr lang="en-US" sz="2700" i="1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i="1" dirty="0" err="1">
                <a:ea typeface="Times New Roman" panose="02020603050405020304" pitchFamily="18" charset="0"/>
                <a:cs typeface="Arial" panose="020B0604020202020204" pitchFamily="34" charset="0"/>
              </a:rPr>
              <a:t>nghiệp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, Khoa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Kỹ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thuật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Máy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tính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Trường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Đại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học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Công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nghệ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Thông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tin, ĐHQG TP.HCM, 2026.</a:t>
            </a:r>
          </a:p>
          <a:p>
            <a:pPr marL="254000" indent="-127000" algn="just">
              <a:lnSpc>
                <a:spcPct val="125000"/>
              </a:lnSpc>
              <a:spcAft>
                <a:spcPts val="500"/>
              </a:spcAft>
            </a:pP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[5] V. C. G.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Luật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và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L. M.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Hùng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, "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Thiết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kế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bộ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điều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khiển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đồng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bộ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cache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cho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các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hệ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thống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2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lõi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dựa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trên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kiến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trúc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tập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lệnh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RISC-V RV32IA," </a:t>
            </a:r>
            <a:r>
              <a:rPr lang="en-US" sz="2700" i="1" dirty="0" err="1">
                <a:ea typeface="Times New Roman" panose="02020603050405020304" pitchFamily="18" charset="0"/>
                <a:cs typeface="Arial" panose="020B0604020202020204" pitchFamily="34" charset="0"/>
              </a:rPr>
              <a:t>Khóa</a:t>
            </a:r>
            <a:r>
              <a:rPr lang="en-US" sz="2700" i="1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i="1" dirty="0" err="1">
                <a:ea typeface="Times New Roman" panose="02020603050405020304" pitchFamily="18" charset="0"/>
                <a:cs typeface="Arial" panose="020B0604020202020204" pitchFamily="34" charset="0"/>
              </a:rPr>
              <a:t>luận</a:t>
            </a:r>
            <a:r>
              <a:rPr lang="en-US" sz="2700" i="1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i="1" dirty="0" err="1">
                <a:ea typeface="Times New Roman" panose="02020603050405020304" pitchFamily="18" charset="0"/>
                <a:cs typeface="Arial" panose="020B0604020202020204" pitchFamily="34" charset="0"/>
              </a:rPr>
              <a:t>tốt</a:t>
            </a:r>
            <a:r>
              <a:rPr lang="en-US" sz="2700" i="1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i="1" dirty="0" err="1">
                <a:ea typeface="Times New Roman" panose="02020603050405020304" pitchFamily="18" charset="0"/>
                <a:cs typeface="Arial" panose="020B0604020202020204" pitchFamily="34" charset="0"/>
              </a:rPr>
              <a:t>nghiệp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, Khoa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Kỹ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thuật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Máy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tính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Trường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Đại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học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Công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nghệ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700" dirty="0" err="1">
                <a:ea typeface="Times New Roman" panose="02020603050405020304" pitchFamily="18" charset="0"/>
                <a:cs typeface="Arial" panose="020B0604020202020204" pitchFamily="34" charset="0"/>
              </a:rPr>
              <a:t>Thông</a:t>
            </a:r>
            <a:r>
              <a:rPr lang="en-US" sz="2700" dirty="0">
                <a:ea typeface="Times New Roman" panose="02020603050405020304" pitchFamily="18" charset="0"/>
                <a:cs typeface="Arial" panose="020B0604020202020204" pitchFamily="34" charset="0"/>
              </a:rPr>
              <a:t> tin, ĐHQG TP.HCM, 2026.</a:t>
            </a:r>
            <a:endParaRPr lang="en-US" sz="2700" dirty="0"/>
          </a:p>
        </p:txBody>
      </p:sp>
    </p:spTree>
    <p:extLst>
      <p:ext uri="{BB962C8B-B14F-4D97-AF65-F5344CB8AC3E}">
        <p14:creationId xmlns:p14="http://schemas.microsoft.com/office/powerpoint/2010/main" val="27726650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E5A67D-F1E3-E814-8051-6DF997316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614538" y="498427"/>
            <a:ext cx="4114800" cy="547688"/>
          </a:xfrm>
        </p:spPr>
        <p:txBody>
          <a:bodyPr/>
          <a:lstStyle/>
          <a:p>
            <a:pPr defTabSz="685800"/>
            <a:fld id="{48F63A3B-78C7-47BE-AE5E-E10140E04643}" type="slidenum">
              <a:rPr lang="en-US">
                <a:solidFill>
                  <a:srgbClr val="FFFFFF"/>
                </a:solidFill>
                <a:latin typeface="Arial" panose="020B0604020202020204"/>
              </a:rPr>
              <a:pPr defTabSz="685800"/>
              <a:t>9</a:t>
            </a:fld>
            <a:endParaRPr lang="en-US" dirty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9F7406D-4210-10C7-B19B-033A768DB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HỎI VÀ ĐÁP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88B07E-997D-5857-E9C5-29F28FD9964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196264" y="959168"/>
            <a:ext cx="3078956" cy="2678906"/>
          </a:xfrm>
        </p:spPr>
        <p:txBody>
          <a:bodyPr/>
          <a:lstStyle/>
          <a:p>
            <a:r>
              <a:rPr lang="en-VN" sz="9600" dirty="0"/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151421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FCE Green v2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549E39"/>
      </a:accent1>
      <a:accent2>
        <a:srgbClr val="0071FF"/>
      </a:accent2>
      <a:accent3>
        <a:srgbClr val="38EF7D"/>
      </a:accent3>
      <a:accent4>
        <a:srgbClr val="029676"/>
      </a:accent4>
      <a:accent5>
        <a:srgbClr val="F5AF19"/>
      </a:accent5>
      <a:accent6>
        <a:srgbClr val="F12711"/>
      </a:accent6>
      <a:hlink>
        <a:srgbClr val="6B9F25"/>
      </a:hlink>
      <a:folHlink>
        <a:srgbClr val="BA6906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3">
            <a:lumMod val="50000"/>
          </a:schemeClr>
        </a:solidFill>
        <a:ln>
          <a:noFill/>
        </a:ln>
      </a:spPr>
      <a:bodyPr rtlCol="0" anchor="ctr"/>
      <a:lstStyle>
        <a:defPPr algn="ctr">
          <a:defRPr dirty="0">
            <a:solidFill>
              <a:schemeClr val="accent4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2225" cap="rnd">
          <a:solidFill>
            <a:schemeClr val="accent3">
              <a:lumMod val="50000"/>
            </a:schemeClr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130000"/>
          </a:lnSpc>
          <a:spcBef>
            <a:spcPts val="300"/>
          </a:spcBef>
          <a:spcAft>
            <a:spcPts val="300"/>
          </a:spcAft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</TotalTime>
  <Words>1475</Words>
  <Application>Microsoft Office PowerPoint</Application>
  <DocSecurity>0</DocSecurity>
  <PresentationFormat>Custom</PresentationFormat>
  <Paragraphs>126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HỎI VÀ ĐÁP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Võ Lê Phước Lâm</cp:lastModifiedBy>
  <cp:revision>22</cp:revision>
  <dcterms:created xsi:type="dcterms:W3CDTF">2026-09-15T14:02:37Z</dcterms:created>
  <dcterms:modified xsi:type="dcterms:W3CDTF">2026-09-18T02:07:46Z</dcterms:modified>
</cp:coreProperties>
</file>