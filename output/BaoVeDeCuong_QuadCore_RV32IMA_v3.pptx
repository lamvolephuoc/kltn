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746b7d4a7c4982" /><Relationship Type="http://schemas.openxmlformats.org/officeDocument/2006/relationships/extended-properties" Target="/docProps/app.xml" Id="Rfee8282f375346b7" /><Relationship Type="http://schemas.openxmlformats.org/officeDocument/2006/relationships/officeDocument" Target="/ppt/presentation.xml" Id="Rc79b2b09a6fc418e"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93aa244d7f2c4666"/>
  </p:sldMasterIdLst>
  <p:notesMasterIdLst>
    <p:notesMasterId xmlns:r="http://schemas.openxmlformats.org/officeDocument/2006/relationships" r:id="Rca8e3d82d45148ab"/>
  </p:notesMasterIdLst>
  <p:sldIdLst>
    <p:sldId xmlns:r="http://schemas.openxmlformats.org/officeDocument/2006/relationships" id="256" r:id="R0d00652326f249e9"/>
    <p:sldId xmlns:r="http://schemas.openxmlformats.org/officeDocument/2006/relationships" id="257" r:id="R7d6cf7bca2bb48dc"/>
    <p:sldId xmlns:r="http://schemas.openxmlformats.org/officeDocument/2006/relationships" id="258" r:id="R7990d4fdb416472b"/>
    <p:sldId xmlns:r="http://schemas.openxmlformats.org/officeDocument/2006/relationships" id="259" r:id="R9e212b9ef9d24249"/>
    <p:sldId xmlns:r="http://schemas.openxmlformats.org/officeDocument/2006/relationships" id="260" r:id="R206dd31de67c4138"/>
    <p:sldId xmlns:r="http://schemas.openxmlformats.org/officeDocument/2006/relationships" id="261" r:id="Re55295df963a4e83"/>
    <p:sldId xmlns:r="http://schemas.openxmlformats.org/officeDocument/2006/relationships" id="262" r:id="Rd03160bfbfad46d8"/>
    <p:sldId xmlns:r="http://schemas.openxmlformats.org/officeDocument/2006/relationships" id="263" r:id="R745ccd256aea4592"/>
  </p:sldIdLst>
  <p:sldSz cx="18288000" cy="10287000"/>
  <p:notesSz cx="6858000" cy="9144000"/>
  <p:embeddedFontLst>
    <p:embeddedFont>
      <p:font typeface="Open Sans"/>
      <p:regular xmlns:r="http://schemas.openxmlformats.org/officeDocument/2006/relationships" r:id="R726ccb2557744f71"/>
      <p:bold xmlns:r="http://schemas.openxmlformats.org/officeDocument/2006/relationships" r:id="Rda9d8fbdd47b42e9"/>
      <p:italic xmlns:r="http://schemas.openxmlformats.org/officeDocument/2006/relationships" r:id="R2c1fb13983e8471e"/>
      <p:boldItalic xmlns:r="http://schemas.openxmlformats.org/officeDocument/2006/relationships" r:id="R73a41376aec4489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4eea8950d7042d7" /><Relationship Type="http://schemas.openxmlformats.org/officeDocument/2006/relationships/slideMaster" Target="/ppt/slideMasters/slideMaster1.xml" Id="R93aa244d7f2c4666" /><Relationship Type="http://schemas.openxmlformats.org/officeDocument/2006/relationships/notesMaster" Target="/ppt/notesMasters/notesMaster1.xml" Id="Rca8e3d82d45148ab" /><Relationship Type="http://schemas.openxmlformats.org/officeDocument/2006/relationships/presProps" Target="/ppt/presProps.xml" Id="Rbc06cb009c7c48b5" /><Relationship Type="http://schemas.openxmlformats.org/officeDocument/2006/relationships/viewProps" Target="/ppt/viewProps.xml" Id="R14763a77f592491b" /><Relationship Type="http://schemas.openxmlformats.org/officeDocument/2006/relationships/tableStyles" Target="/ppt/tableStyles.xml" Id="R0fc1d83249c8465b" /><Relationship Type="http://schemas.openxmlformats.org/officeDocument/2006/relationships/font" Target="/ppt/fonts/font.dat" Id="R726ccb2557744f71" /><Relationship Type="http://schemas.openxmlformats.org/officeDocument/2006/relationships/font" Target="/ppt/fonts/font2.dat" Id="Rda9d8fbdd47b42e9" /><Relationship Type="http://schemas.openxmlformats.org/officeDocument/2006/relationships/font" Target="/ppt/fonts/font3.dat" Id="R2c1fb13983e8471e" /><Relationship Type="http://schemas.openxmlformats.org/officeDocument/2006/relationships/font" Target="/ppt/fonts/font4.dat" Id="R73a41376aec44892" /><Relationship Type="http://schemas.openxmlformats.org/officeDocument/2006/relationships/slide" Target="/ppt/slides/slide1.xml" Id="R0d00652326f249e9" /><Relationship Type="http://schemas.openxmlformats.org/officeDocument/2006/relationships/slide" Target="/ppt/slides/slide2.xml" Id="R7d6cf7bca2bb48dc" /><Relationship Type="http://schemas.openxmlformats.org/officeDocument/2006/relationships/slide" Target="/ppt/slides/slide3.xml" Id="R7990d4fdb416472b" /><Relationship Type="http://schemas.openxmlformats.org/officeDocument/2006/relationships/slide" Target="/ppt/slides/slide4.xml" Id="R9e212b9ef9d24249" /><Relationship Type="http://schemas.openxmlformats.org/officeDocument/2006/relationships/slide" Target="/ppt/slides/slide5.xml" Id="R206dd31de67c4138" /><Relationship Type="http://schemas.openxmlformats.org/officeDocument/2006/relationships/slide" Target="/ppt/slides/slide6.xml" Id="Re55295df963a4e83" /><Relationship Type="http://schemas.openxmlformats.org/officeDocument/2006/relationships/slide" Target="/ppt/slides/slide7.xml" Id="Rd03160bfbfad46d8" /><Relationship Type="http://schemas.openxmlformats.org/officeDocument/2006/relationships/slide" Target="/ppt/slides/slide8.xml" Id="R745ccd256aea45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611f30b45641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ea7131996645af" /><Relationship Type="http://schemas.openxmlformats.org/officeDocument/2006/relationships/notesMaster" Target="/ppt/notesMasters/notesMaster1.xml" Id="Rb98c94b08e1245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f8e3f96a5d46f7" /><Relationship Type="http://schemas.openxmlformats.org/officeDocument/2006/relationships/notesMaster" Target="/ppt/notesMasters/notesMaster1.xml" Id="Raf26ef8e2ad641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f6cd3b38b642ee" /><Relationship Type="http://schemas.openxmlformats.org/officeDocument/2006/relationships/notesMaster" Target="/ppt/notesMasters/notesMaster1.xml" Id="R4e7e9d55d2e145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736fe192414bb0" /><Relationship Type="http://schemas.openxmlformats.org/officeDocument/2006/relationships/notesMaster" Target="/ppt/notesMasters/notesMaster1.xml" Id="R637b9337d41d4b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43d691b92740fd" /><Relationship Type="http://schemas.openxmlformats.org/officeDocument/2006/relationships/notesMaster" Target="/ppt/notesMasters/notesMaster1.xml" Id="R84c21e7881044e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3bc6013c224c27" /><Relationship Type="http://schemas.openxmlformats.org/officeDocument/2006/relationships/notesMaster" Target="/ppt/notesMasters/notesMaster1.xml" Id="R45e54c08d5874d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62b778a6544f31" /><Relationship Type="http://schemas.openxmlformats.org/officeDocument/2006/relationships/notesMaster" Target="/ppt/notesMasters/notesMaster1.xml" Id="Rf966a1a0c00047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ab26aa87e54e8d" /><Relationship Type="http://schemas.openxmlformats.org/officeDocument/2006/relationships/notesMaster" Target="/ppt/notesMasters/notesMaster1.xml" Id="R9925e18dbe974a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Nhóm trình bày đề cương thiết kế bộ vi xử lý RISC-V 4 lõi RV32IMA. Báo cáo gồm tổng quan đề tài, mục tiêu, nội dung và phương pháp thực hiện, kế hoạch thực hiện.</a:t>
            </a:r>
            <a:endParaRPr/>
          </a:p>
          <a:p xmlns:a="http://schemas.openxmlformats.org/drawingml/2006/main">
            <a:pPr marL="0" lvl="0" indent="0" algn="l">
              <a:spcBef>
                <a:spcPts val="0"/>
              </a:spcBef>
              <a:spcAft>
                <a:spcPts val="0"/>
              </a:spcAft>
              <a:buNone/>
            </a:pPr>
            <a:r>
              <a:t>Nguồn: 23520840_23520838_DeCuongKLTN.docx, tên đề tài và thông tin nhóm.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Mở đầu bằng nhu cầu ứng dụng thực tế. UAV chỉ là ví dụ tạo động lực, khóa luận không cam kết xây dựng hoặc chứng nhận hệ điều khiển bay. Nền tảng tham khảo trong khoa gồm hệ 2 lõi RV32IMFA và hệ 2 lõi RV32IA có cache/coherence. Đóng góp nhóm hướng tới là tích hợp hệ 4 lõi RV32IMA với L1/L2, coherence và MMU theo từng lõi, rồi đánh giá bằng mô phỏng và FPGA. Tránh khẳng định mọi nghiên cứu quốc tế đều chưa giải quyết cache.</a:t>
            </a:r>
            <a:endParaRPr/>
          </a:p>
          <a:p xmlns:a="http://schemas.openxmlformats.org/drawingml/2006/main">
            <a:pPr marL="0" lvl="0" indent="0" algn="l">
              <a:spcBef>
                <a:spcPts val="0"/>
              </a:spcBef>
              <a:spcAft>
                <a:spcPts val="0"/>
              </a:spcAft>
              <a:buNone/>
            </a:pPr>
            <a:r>
              <a:t>Nguồn: 23520840_23520838_DeCuongKLTN.docx, Tổng quan đề tài và tài liệu [4], [5]. README.md, mục Cấu trúc repo và Các thư mục tham khảo.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RV32I là tập lệnh số nguyên cơ sở, M bổ sung nhân/chia, A bổ sung thao tác nguyên tử phục vụ chia sẻ dữ liệu giữa các lõi. Hai mục tiêu bao quát phần thiết kế và phần chứng minh thiết kế hoạt động. RTL hiện có chủ yếu là Verilog .v, đề cương định hướng Verilog/SystemVerilog và môi trường kiểm chứng. MMU hiện thực theo cấu trúc Sv32 2 cấp nhưng dùng định dạng PTE/PA tùy biến 32 bit, không tuyên bố tuân thủ đầy đủ Sv32. Không có superpage, không tự cập nhật A/D, không áp dụng đầy đủ phân quyền truy cập trang S/U. Các CSR và chuyển chế độ M/S/U mới có RTL và chưa mô phỏng; không cam kết chạy hệ điều hành. Công suất là ước tính từ công cụ, cần dữ liệu hoạt động thích hợp để đánh giá.</a:t>
            </a:r>
            <a:endParaRPr/>
          </a:p>
          <a:p xmlns:a="http://schemas.openxmlformats.org/drawingml/2006/main">
            <a:pPr marL="0" lvl="0" indent="0" algn="l">
              <a:spcBef>
                <a:spcPts val="0"/>
              </a:spcBef>
              <a:spcAft>
                <a:spcPts val="0"/>
              </a:spcAft>
              <a:buNone/>
            </a:pPr>
            <a:r>
              <a:t>Nguồn: 23520840_23520838_DeCuongKLTN.docx, Mục tiêu và Giới hạn. Risc_V_new/Risc_V/rtl/RV32IMA.v, memory_stage.v, mmu_ptw.v, csr_trap_unit.v.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Thiết kế tăng dần độ phức tạp để cô lập lỗi: kiểm tra khối riêng, ghép lõi đơn, tích hợp nhiều lõi, cuối cùng chạy toàn hệ thống. Vai trò các thành phần: L1 giảm truy cập bộ nhớ cho từng lõi, L2 là bộ nhớ đệm dùng chung, MESI quản lý bản sao dữ liệu giữa các cache, MMU dịch địa chỉ. AHB-Lite ở biên L1 và khối coherence, AXI4 nối phía hệ thống. RTL hiện tại có các liên kết AHB-Lite điểm nối điểm và bus snoop riêng, trọng tài nằm trong coherence_manager; không trình bày là một crossbar AHB nhiều master hoàn chỉnh. DMA hiện chọn IP axi_cdma trong Tcl, công việc nhóm là cấu hình, tích hợp và kiểm chứng.</a:t>
            </a:r>
            <a:endParaRPr/>
          </a:p>
          <a:p xmlns:a="http://schemas.openxmlformats.org/drawingml/2006/main">
            <a:pPr marL="0" lvl="0" indent="0" algn="l">
              <a:spcBef>
                <a:spcPts val="0"/>
              </a:spcBef>
              <a:spcAft>
                <a:spcPts val="0"/>
              </a:spcAft>
              <a:buNone/>
            </a:pPr>
            <a:r>
              <a:t>Nguồn: đề cương, Nội dung 1–4. Risc_V_new/README.md, quyết định kiến trúc. rtl/core_l1_wrapper.v, quad_core_soc_ahb.v, coherence_manager.v và scripts/build_soc_4core_trial.tcl.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Quy trình bên trái: kiểm chứng khối riêng gồm pipeline, MMU/TLB, cache và bus; sau đó tích hợp lõi đơn, cuối cùng hệ 4 lõi. Chỉ chuyển sang mức tiếp theo khi các kiểm tra bắt buộc PASS; FAIL quay lại khối liên quan để sửa và chạy lại. Hai vòng phản hồi trên sơ đồ minh họa quy trình debug, không ngụ ý lỗi nào cũng nằm ở cùng một module. UVM dùng cho cache/coherence trọng yếu, bổ sung testbench RTL; Spike chỉ đối chiếu kết quả thanh ghi/bộ nhớ I/M/A, không đối chiếu toàn bộ CSR/trap, MMU hay hệ đa lõi. Demo bên phải là luồng dự kiến theo DOCX: đọc chương trình từ SD qua SPI, DMA nạp vào DRAM, CPU thực thi từ DRAM và ghi kết quả về SD; có kiểm tra tự động PASS/FAIL và đo thời gian thực thi. FPGA đích VCU129 theo đề cương. Đường SD/SPI, DMA, DRAM và bring-up FPGA chưa hoàn tất trong repo; cần chốt phần cứng SD ngoài và tích hợp bộ điều khiển DDR. Không sử dụng nội dung CNN–LSTM hoặc KV260 từ ảnh tham khảo vì thuộc đề tài khác. Nguồn: 23520840_23520838_DeCuongKLTN.docx, Nội dung 2–4 và Demo dự kiến; Risc_V_new/README.md.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Tiến độ phản ánh mã nguồn trên đĩa và tracker Risc_V_new/README.md, không suy ra đã chạy đúng chỉ vì có module hay testbench. Nền tảng 2 lõi từng chạy FPGA là kết quả kế thừa được README ghi nhận; mã nguồn core dùng chung đã thay đổi sau đó, nên cần chạy regression nếu build lại. Hệ mới instantiate 4 core_l1_wrapper, mỗi lõi có MMU và I/D cache riêng. L1 hiện 32 KB I-cache và 32 KB D-cache mỗi lõi, L2 dùng chung 512 KB theo các tham số RTL. Coherence chưa có kết quả mô phỏng xác nhận. Testbench hiện ưu tiên một số chuyển trạng thái dữ liệu và chưa bao phủ hết eviction/writeback, traffic I-cache, atomic và toàn bộ pipeline. Kịch bản boot/DMA/DDR/SD còn cần tích hợp thực tế.</a:t>
            </a:r>
            <a:endParaRPr/>
          </a:p>
          <a:p xmlns:a="http://schemas.openxmlformats.org/drawingml/2006/main">
            <a:pPr marL="0" lvl="0" indent="0" algn="l">
              <a:spcBef>
                <a:spcPts val="0"/>
              </a:spcBef>
              <a:spcAft>
                <a:spcPts val="0"/>
              </a:spcAft>
              <a:buNone/>
            </a:pPr>
            <a:r>
              <a:t>Nguồn: Risc_V_new/README.md, mục 0, mục 4, mục 5 và mục 9. rtl/quad_core_soc_ahb.v, l1_icache.v, l1_dcache.v, l2_cache.v. sim/tb_coherence.v, tb_coherence_ahb.v, tb_csr_trap.v, tb_csr_priv.v, tb_mmu_core.v.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Bản theo tháng được quy đổi từ chính bảng 20 tuần của DOCX mới để so sánh với slide 8 trên cùng một kế hoạch. Tuần 5 hoàn tất lõi đơn, tuần 10 coherence PASS, tuần 12 đường SD–DMA–DRAM mô phỏng, tuần 14 toàn hệ thống RTL PASS, tuần 18 FPGA PASS, tuần 19 dự phòng và tuần 20 báo cáo. Đây là kế hoạch dự kiến, không phải kết quả đã đạt. DOCX có mâu thuẫn giữa hạn 27/12/2026 ở đầu và bảng tuần nộp 25/01/2027; cần GVHD xác nhận. Các giai đoạn chồng lấn do hai thành viên triển khai song song.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bổ sung theo bố cục ảnh tham khảo: tiêu chí đánh giá bên trái, kế hoạch theo tuần bên phải. Các nhóm tuần được gộp từ bảng tuần chính trong DOCX mới, không dùng nội dung huấn luyện mô hình của ảnh mẫu. Tiêu chí PASS/FAIL là đúng chức năng; không dùng MAE/ME/SD vì đề tài là bộ xử lý. Timing và phép so sánh 1–4 lõi là cách đánh giá đề xuất, chưa có ngưỡng hoặc kết quả cam kết; đo cùng workload, thuật toán, dữ liệu và điều kiện clock, tách thời gian I/O SD khỏi thời gian tính toán. Vivado cung cấp ước tính công suất, không phải đo năng lượng thực tế. Tuần 19 được giữ dự phòng. Khi chốt báo cáo chỉ giữ một trong hai slide 7 và 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0fcd0a745548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1001862cf94d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94197ca36745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f089587fe214d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5b2573d2a444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a9f4d4f4856485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821a5120b6f4af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d3c41970fc449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9a12761e257475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06a90b29d4d414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4a84f6dec5041c0"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65">
            <a:extLst xmlns:a="http://schemas.openxmlformats.org/drawingml/2006/main">
              <a:ext uri="{FF2B5EF4-FFF2-40B4-BE49-F238E27FC236}">
                <a16:creationId xmlns:a16="http://schemas.microsoft.com/office/drawing/2014/main" id="{FA54456C-8550-4C89-AE19-D7E575124C2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13" name="Google Shape;13;p65">
            <a:extLst xmlns:a="http://schemas.openxmlformats.org/drawingml/2006/main">
              <a:ext uri="{FF2B5EF4-FFF2-40B4-BE49-F238E27FC236}">
                <a16:creationId xmlns:a16="http://schemas.microsoft.com/office/drawing/2014/main" id="{F010EC8C-A05B-4154-BA71-910BA8AFF0ED}"/>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14" name="Google Shape;14;p65">
            <a:extLst xmlns:a="http://schemas.openxmlformats.org/drawingml/2006/main">
              <a:ext uri="{FF2B5EF4-FFF2-40B4-BE49-F238E27FC236}">
                <a16:creationId xmlns:a16="http://schemas.microsoft.com/office/drawing/2014/main" id="{251CAEB3-CDEA-4E29-966C-3641EE2154C0}"/>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66">
            <a:extLst xmlns:a="http://schemas.openxmlformats.org/drawingml/2006/main">
              <a:ext uri="{FF2B5EF4-FFF2-40B4-BE49-F238E27FC236}">
                <a16:creationId xmlns:a16="http://schemas.microsoft.com/office/drawing/2014/main" id="{A2AB1CEE-65D8-4C65-873E-B06C5C90A890}"/>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17" name="Google Shape;17;p66">
            <a:extLst xmlns:a="http://schemas.openxmlformats.org/drawingml/2006/main">
              <a:ext uri="{FF2B5EF4-FFF2-40B4-BE49-F238E27FC236}">
                <a16:creationId xmlns:a16="http://schemas.microsoft.com/office/drawing/2014/main" id="{74E8CD3A-5D12-41BE-9C64-E7FED37B31E1}"/>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a:endParaRPr/>
          </a:p>
        </p:txBody>
      </p:sp>
      <p:sp>
        <p:nvSpPr>
          <p:cNvPr id="18" name="Google Shape;18;p66">
            <a:extLst xmlns:a="http://schemas.openxmlformats.org/drawingml/2006/main">
              <a:ext uri="{FF2B5EF4-FFF2-40B4-BE49-F238E27FC236}">
                <a16:creationId xmlns:a16="http://schemas.microsoft.com/office/drawing/2014/main" id="{2D4B7E51-26AE-4275-AAE5-33B8A4DD3F7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19" name="Google Shape;19;p66">
            <a:extLst xmlns:a="http://schemas.openxmlformats.org/drawingml/2006/main">
              <a:ext uri="{FF2B5EF4-FFF2-40B4-BE49-F238E27FC236}">
                <a16:creationId xmlns:a16="http://schemas.microsoft.com/office/drawing/2014/main" id="{BD9AB2AC-ECBE-4D7B-BE76-8401A931A441}"/>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20" name="Google Shape;20;p66">
            <a:extLst xmlns:a="http://schemas.openxmlformats.org/drawingml/2006/main">
              <a:ext uri="{FF2B5EF4-FFF2-40B4-BE49-F238E27FC236}">
                <a16:creationId xmlns:a16="http://schemas.microsoft.com/office/drawing/2014/main" id="{9BAA3E83-952B-4326-9404-C37BE91D522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67">
            <a:extLst xmlns:a="http://schemas.openxmlformats.org/drawingml/2006/main">
              <a:ext uri="{FF2B5EF4-FFF2-40B4-BE49-F238E27FC236}">
                <a16:creationId xmlns:a16="http://schemas.microsoft.com/office/drawing/2014/main" id="{EDE5F04A-B779-4007-82B6-D6838C90999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23" name="Google Shape;23;p67">
            <a:extLst xmlns:a="http://schemas.openxmlformats.org/drawingml/2006/main">
              <a:ext uri="{FF2B5EF4-FFF2-40B4-BE49-F238E27FC236}">
                <a16:creationId xmlns:a16="http://schemas.microsoft.com/office/drawing/2014/main" id="{73EC3A68-2090-444F-8E9B-04F9AEF8C141}"/>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a:endParaRPr/>
          </a:p>
        </p:txBody>
      </p:sp>
      <p:sp>
        <p:nvSpPr>
          <p:cNvPr id="24" name="Google Shape;24;p67">
            <a:extLst xmlns:a="http://schemas.openxmlformats.org/drawingml/2006/main">
              <a:ext uri="{FF2B5EF4-FFF2-40B4-BE49-F238E27FC236}">
                <a16:creationId xmlns:a16="http://schemas.microsoft.com/office/drawing/2014/main" id="{175881D0-442E-4006-8F86-2DE5928F2283}"/>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25" name="Google Shape;25;p67">
            <a:extLst xmlns:a="http://schemas.openxmlformats.org/drawingml/2006/main">
              <a:ext uri="{FF2B5EF4-FFF2-40B4-BE49-F238E27FC236}">
                <a16:creationId xmlns:a16="http://schemas.microsoft.com/office/drawing/2014/main" id="{7B187EAF-4077-4C88-9A7F-E172F08617EE}"/>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26" name="Google Shape;26;p67">
            <a:extLst xmlns:a="http://schemas.openxmlformats.org/drawingml/2006/main">
              <a:ext uri="{FF2B5EF4-FFF2-40B4-BE49-F238E27FC236}">
                <a16:creationId xmlns:a16="http://schemas.microsoft.com/office/drawing/2014/main" id="{CEDC2449-ECCF-4BFD-ABD2-87705ABF7239}"/>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68">
            <a:extLst xmlns:a="http://schemas.openxmlformats.org/drawingml/2006/main">
              <a:ext uri="{FF2B5EF4-FFF2-40B4-BE49-F238E27FC236}">
                <a16:creationId xmlns:a16="http://schemas.microsoft.com/office/drawing/2014/main" id="{39543298-D029-40BC-9AC0-57D1559077A2}"/>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Calibri"/>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29" name="Google Shape;29;p68">
            <a:extLst xmlns:a="http://schemas.openxmlformats.org/drawingml/2006/main">
              <a:ext uri="{FF2B5EF4-FFF2-40B4-BE49-F238E27FC236}">
                <a16:creationId xmlns:a16="http://schemas.microsoft.com/office/drawing/2014/main" id="{45371E3C-63F5-49C3-AE6E-3AC20DBE293D}"/>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a:endParaRPr/>
          </a:p>
        </p:txBody>
      </p:sp>
      <p:sp>
        <p:nvSpPr>
          <p:cNvPr id="30" name="Google Shape;30;p68">
            <a:extLst xmlns:a="http://schemas.openxmlformats.org/drawingml/2006/main">
              <a:ext uri="{FF2B5EF4-FFF2-40B4-BE49-F238E27FC236}">
                <a16:creationId xmlns:a16="http://schemas.microsoft.com/office/drawing/2014/main" id="{88BF43C6-DCAC-4F5F-833B-FEA088692C04}"/>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1" name="Google Shape;31;p68">
            <a:extLst xmlns:a="http://schemas.openxmlformats.org/drawingml/2006/main">
              <a:ext uri="{FF2B5EF4-FFF2-40B4-BE49-F238E27FC236}">
                <a16:creationId xmlns:a16="http://schemas.microsoft.com/office/drawing/2014/main" id="{1F748CBF-51E6-4C91-85C2-E80C07F2849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2" name="Google Shape;32;p68">
            <a:extLst xmlns:a="http://schemas.openxmlformats.org/drawingml/2006/main">
              <a:ext uri="{FF2B5EF4-FFF2-40B4-BE49-F238E27FC236}">
                <a16:creationId xmlns:a16="http://schemas.microsoft.com/office/drawing/2014/main" id="{FE3EBB87-DD90-4159-A8F2-74DCC7561DEC}"/>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69">
            <a:extLst xmlns:a="http://schemas.openxmlformats.org/drawingml/2006/main">
              <a:ext uri="{FF2B5EF4-FFF2-40B4-BE49-F238E27FC236}">
                <a16:creationId xmlns:a16="http://schemas.microsoft.com/office/drawing/2014/main" id="{4B1C09DA-BEE7-4B97-AC5B-50C31FFC9CB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35" name="Google Shape;35;p69">
            <a:extLst xmlns:a="http://schemas.openxmlformats.org/drawingml/2006/main">
              <a:ext uri="{FF2B5EF4-FFF2-40B4-BE49-F238E27FC236}">
                <a16:creationId xmlns:a16="http://schemas.microsoft.com/office/drawing/2014/main" id="{6A82E1F6-DD64-4500-B1E1-D4D2CB5A78F2}"/>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a:endParaRPr/>
          </a:p>
        </p:txBody>
      </p:sp>
      <p:sp>
        <p:nvSpPr>
          <p:cNvPr id="36" name="Google Shape;36;p69">
            <a:extLst xmlns:a="http://schemas.openxmlformats.org/drawingml/2006/main">
              <a:ext uri="{FF2B5EF4-FFF2-40B4-BE49-F238E27FC236}">
                <a16:creationId xmlns:a16="http://schemas.microsoft.com/office/drawing/2014/main" id="{4B8A2F0A-7C75-4176-8B02-CD8875804F6B}"/>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a:endParaRPr/>
          </a:p>
        </p:txBody>
      </p:sp>
      <p:sp>
        <p:nvSpPr>
          <p:cNvPr id="37" name="Google Shape;37;p69">
            <a:extLst xmlns:a="http://schemas.openxmlformats.org/drawingml/2006/main">
              <a:ext uri="{FF2B5EF4-FFF2-40B4-BE49-F238E27FC236}">
                <a16:creationId xmlns:a16="http://schemas.microsoft.com/office/drawing/2014/main" id="{10BE3A14-9C6A-4CE9-8CB0-963689B7E9B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8" name="Google Shape;38;p69">
            <a:extLst xmlns:a="http://schemas.openxmlformats.org/drawingml/2006/main">
              <a:ext uri="{FF2B5EF4-FFF2-40B4-BE49-F238E27FC236}">
                <a16:creationId xmlns:a16="http://schemas.microsoft.com/office/drawing/2014/main" id="{DADA46B8-1C9F-47DF-B7CD-71D2077B8549}"/>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9" name="Google Shape;39;p69">
            <a:extLst xmlns:a="http://schemas.openxmlformats.org/drawingml/2006/main">
              <a:ext uri="{FF2B5EF4-FFF2-40B4-BE49-F238E27FC236}">
                <a16:creationId xmlns:a16="http://schemas.microsoft.com/office/drawing/2014/main" id="{EBC00089-FF27-4D43-BBAC-EE2AAC46067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70">
            <a:extLst xmlns:a="http://schemas.openxmlformats.org/drawingml/2006/main">
              <a:ext uri="{FF2B5EF4-FFF2-40B4-BE49-F238E27FC236}">
                <a16:creationId xmlns:a16="http://schemas.microsoft.com/office/drawing/2014/main" id="{49FEFD83-1CB5-41A2-8496-D2E2135561E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Calibri"/>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42" name="Google Shape;42;p70">
            <a:extLst xmlns:a="http://schemas.openxmlformats.org/drawingml/2006/main">
              <a:ext uri="{FF2B5EF4-FFF2-40B4-BE49-F238E27FC236}">
                <a16:creationId xmlns:a16="http://schemas.microsoft.com/office/drawing/2014/main" id="{B13EE55A-F764-45CE-9022-060D267D96F6}"/>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a:endParaRPr/>
          </a:p>
        </p:txBody>
      </p:sp>
      <p:sp>
        <p:nvSpPr>
          <p:cNvPr id="43" name="Google Shape;43;p70">
            <a:extLst xmlns:a="http://schemas.openxmlformats.org/drawingml/2006/main">
              <a:ext uri="{FF2B5EF4-FFF2-40B4-BE49-F238E27FC236}">
                <a16:creationId xmlns:a16="http://schemas.microsoft.com/office/drawing/2014/main" id="{606B6972-7A4C-4360-A16F-E286DFDDE4FD}"/>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a:endParaRPr/>
          </a:p>
        </p:txBody>
      </p:sp>
      <p:sp>
        <p:nvSpPr>
          <p:cNvPr id="44" name="Google Shape;44;p70">
            <a:extLst xmlns:a="http://schemas.openxmlformats.org/drawingml/2006/main">
              <a:ext uri="{FF2B5EF4-FFF2-40B4-BE49-F238E27FC236}">
                <a16:creationId xmlns:a16="http://schemas.microsoft.com/office/drawing/2014/main" id="{14782B83-F944-4DC5-AA60-2F4866E3F98C}"/>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a:endParaRPr/>
          </a:p>
        </p:txBody>
      </p:sp>
      <p:sp>
        <p:nvSpPr>
          <p:cNvPr id="45" name="Google Shape;45;p70">
            <a:extLst xmlns:a="http://schemas.openxmlformats.org/drawingml/2006/main">
              <a:ext uri="{FF2B5EF4-FFF2-40B4-BE49-F238E27FC236}">
                <a16:creationId xmlns:a16="http://schemas.microsoft.com/office/drawing/2014/main" id="{06E8CA71-48BA-4377-9EFE-DDF4E8CAD8ED}"/>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a:endParaRPr/>
          </a:p>
        </p:txBody>
      </p:sp>
      <p:sp>
        <p:nvSpPr>
          <p:cNvPr id="46" name="Google Shape;46;p70">
            <a:extLst xmlns:a="http://schemas.openxmlformats.org/drawingml/2006/main">
              <a:ext uri="{FF2B5EF4-FFF2-40B4-BE49-F238E27FC236}">
                <a16:creationId xmlns:a16="http://schemas.microsoft.com/office/drawing/2014/main" id="{C90E8B73-895C-4D78-83F8-F74FD8644937}"/>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47" name="Google Shape;47;p70">
            <a:extLst xmlns:a="http://schemas.openxmlformats.org/drawingml/2006/main">
              <a:ext uri="{FF2B5EF4-FFF2-40B4-BE49-F238E27FC236}">
                <a16:creationId xmlns:a16="http://schemas.microsoft.com/office/drawing/2014/main" id="{39209452-399C-4749-AF08-EA2A5E26B210}"/>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48" name="Google Shape;48;p70">
            <a:extLst xmlns:a="http://schemas.openxmlformats.org/drawingml/2006/main">
              <a:ext uri="{FF2B5EF4-FFF2-40B4-BE49-F238E27FC236}">
                <a16:creationId xmlns:a16="http://schemas.microsoft.com/office/drawing/2014/main" id="{67370597-BACF-4DED-8988-EF4235FB1780}"/>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71">
            <a:extLst xmlns:a="http://schemas.openxmlformats.org/drawingml/2006/main">
              <a:ext uri="{FF2B5EF4-FFF2-40B4-BE49-F238E27FC236}">
                <a16:creationId xmlns:a16="http://schemas.microsoft.com/office/drawing/2014/main" id="{A8F8CF65-B6F6-4C41-BA6D-49FF9A69C67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51" name="Google Shape;51;p71">
            <a:extLst xmlns:a="http://schemas.openxmlformats.org/drawingml/2006/main">
              <a:ext uri="{FF2B5EF4-FFF2-40B4-BE49-F238E27FC236}">
                <a16:creationId xmlns:a16="http://schemas.microsoft.com/office/drawing/2014/main" id="{B02247DE-0C1A-4C1C-A907-26F06819383E}"/>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2" name="Google Shape;52;p71">
            <a:extLst xmlns:a="http://schemas.openxmlformats.org/drawingml/2006/main">
              <a:ext uri="{FF2B5EF4-FFF2-40B4-BE49-F238E27FC236}">
                <a16:creationId xmlns:a16="http://schemas.microsoft.com/office/drawing/2014/main" id="{678EA383-8B1F-4B66-B7DD-8281628684A5}"/>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3" name="Google Shape;53;p71">
            <a:extLst xmlns:a="http://schemas.openxmlformats.org/drawingml/2006/main">
              <a:ext uri="{FF2B5EF4-FFF2-40B4-BE49-F238E27FC236}">
                <a16:creationId xmlns:a16="http://schemas.microsoft.com/office/drawing/2014/main" id="{34BD90CD-BB0E-4686-998B-0D44A9734FC2}"/>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72">
            <a:extLst xmlns:a="http://schemas.openxmlformats.org/drawingml/2006/main">
              <a:ext uri="{FF2B5EF4-FFF2-40B4-BE49-F238E27FC236}">
                <a16:creationId xmlns:a16="http://schemas.microsoft.com/office/drawing/2014/main" id="{FDF31B29-54CA-423A-B65D-C7B2614D7838}"/>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56" name="Google Shape;56;p72">
            <a:extLst xmlns:a="http://schemas.openxmlformats.org/drawingml/2006/main">
              <a:ext uri="{FF2B5EF4-FFF2-40B4-BE49-F238E27FC236}">
                <a16:creationId xmlns:a16="http://schemas.microsoft.com/office/drawing/2014/main" id="{30BDDD0D-CEDC-40E7-9517-371B4422E154}"/>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a:endParaRPr/>
          </a:p>
        </p:txBody>
      </p:sp>
      <p:sp>
        <p:nvSpPr>
          <p:cNvPr id="57" name="Google Shape;57;p72">
            <a:extLst xmlns:a="http://schemas.openxmlformats.org/drawingml/2006/main">
              <a:ext uri="{FF2B5EF4-FFF2-40B4-BE49-F238E27FC236}">
                <a16:creationId xmlns:a16="http://schemas.microsoft.com/office/drawing/2014/main" id="{F851DA2B-0B69-4A5C-AF01-9565A496E9AF}"/>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a:endParaRPr/>
          </a:p>
        </p:txBody>
      </p:sp>
      <p:sp>
        <p:nvSpPr>
          <p:cNvPr id="58" name="Google Shape;58;p72">
            <a:extLst xmlns:a="http://schemas.openxmlformats.org/drawingml/2006/main">
              <a:ext uri="{FF2B5EF4-FFF2-40B4-BE49-F238E27FC236}">
                <a16:creationId xmlns:a16="http://schemas.microsoft.com/office/drawing/2014/main" id="{7203CD84-8021-44D5-8D34-896628F16F06}"/>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9" name="Google Shape;59;p72">
            <a:extLst xmlns:a="http://schemas.openxmlformats.org/drawingml/2006/main">
              <a:ext uri="{FF2B5EF4-FFF2-40B4-BE49-F238E27FC236}">
                <a16:creationId xmlns:a16="http://schemas.microsoft.com/office/drawing/2014/main" id="{BF4ED17E-10F0-4B1D-A6EB-7DE8DED9EF81}"/>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0" name="Google Shape;60;p72">
            <a:extLst xmlns:a="http://schemas.openxmlformats.org/drawingml/2006/main">
              <a:ext uri="{FF2B5EF4-FFF2-40B4-BE49-F238E27FC236}">
                <a16:creationId xmlns:a16="http://schemas.microsoft.com/office/drawing/2014/main" id="{CCBFAE3D-E741-4F1E-9177-9E731B5360F3}"/>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73">
            <a:extLst xmlns:a="http://schemas.openxmlformats.org/drawingml/2006/main">
              <a:ext uri="{FF2B5EF4-FFF2-40B4-BE49-F238E27FC236}">
                <a16:creationId xmlns:a16="http://schemas.microsoft.com/office/drawing/2014/main" id="{FB552947-CCC3-4E56-88A7-FB4E5CDD3027}"/>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63" name="Google Shape;63;p73">
            <a:extLst xmlns:a="http://schemas.openxmlformats.org/drawingml/2006/main">
              <a:ext uri="{FF2B5EF4-FFF2-40B4-BE49-F238E27FC236}">
                <a16:creationId xmlns:a16="http://schemas.microsoft.com/office/drawing/2014/main" id="{CDFF8378-3E22-4A11-B540-A58B38001FE0}"/>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64" name="Google Shape;64;p73">
            <a:extLst xmlns:a="http://schemas.openxmlformats.org/drawingml/2006/main">
              <a:ext uri="{FF2B5EF4-FFF2-40B4-BE49-F238E27FC236}">
                <a16:creationId xmlns:a16="http://schemas.microsoft.com/office/drawing/2014/main" id="{57ED1E57-856B-4EDF-9C63-43CE3DB6E716}"/>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a:endParaRPr/>
          </a:p>
        </p:txBody>
      </p:sp>
      <p:sp>
        <p:nvSpPr>
          <p:cNvPr id="65" name="Google Shape;65;p73">
            <a:extLst xmlns:a="http://schemas.openxmlformats.org/drawingml/2006/main">
              <a:ext uri="{FF2B5EF4-FFF2-40B4-BE49-F238E27FC236}">
                <a16:creationId xmlns:a16="http://schemas.microsoft.com/office/drawing/2014/main" id="{922307C9-911A-4ADC-B59C-B0185DD64C94}"/>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6" name="Google Shape;66;p73">
            <a:extLst xmlns:a="http://schemas.openxmlformats.org/drawingml/2006/main">
              <a:ext uri="{FF2B5EF4-FFF2-40B4-BE49-F238E27FC236}">
                <a16:creationId xmlns:a16="http://schemas.microsoft.com/office/drawing/2014/main" id="{CECAA26C-419F-488A-AC29-DC168781A00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7" name="Google Shape;67;p73">
            <a:extLst xmlns:a="http://schemas.openxmlformats.org/drawingml/2006/main">
              <a:ext uri="{FF2B5EF4-FFF2-40B4-BE49-F238E27FC236}">
                <a16:creationId xmlns:a16="http://schemas.microsoft.com/office/drawing/2014/main" id="{FE66FDD0-E2F3-4F89-AAF9-42B22FF655F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74">
            <a:extLst xmlns:a="http://schemas.openxmlformats.org/drawingml/2006/main">
              <a:ext uri="{FF2B5EF4-FFF2-40B4-BE49-F238E27FC236}">
                <a16:creationId xmlns:a16="http://schemas.microsoft.com/office/drawing/2014/main" id="{206C9F70-E344-4EF7-8D18-D413659D809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70" name="Google Shape;70;p74">
            <a:extLst xmlns:a="http://schemas.openxmlformats.org/drawingml/2006/main">
              <a:ext uri="{FF2B5EF4-FFF2-40B4-BE49-F238E27FC236}">
                <a16:creationId xmlns:a16="http://schemas.microsoft.com/office/drawing/2014/main" id="{9C2CC0A4-CB76-4659-B966-9D955B369844}"/>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a:endParaRPr/>
          </a:p>
        </p:txBody>
      </p:sp>
      <p:sp>
        <p:nvSpPr>
          <p:cNvPr id="71" name="Google Shape;71;p74">
            <a:extLst xmlns:a="http://schemas.openxmlformats.org/drawingml/2006/main">
              <a:ext uri="{FF2B5EF4-FFF2-40B4-BE49-F238E27FC236}">
                <a16:creationId xmlns:a16="http://schemas.microsoft.com/office/drawing/2014/main" id="{C613E60A-2B07-43F9-960A-015FE59C8B64}"/>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2" name="Google Shape;72;p74">
            <a:extLst xmlns:a="http://schemas.openxmlformats.org/drawingml/2006/main">
              <a:ext uri="{FF2B5EF4-FFF2-40B4-BE49-F238E27FC236}">
                <a16:creationId xmlns:a16="http://schemas.microsoft.com/office/drawing/2014/main" id="{4EFFEC70-5B95-43FE-9957-AF65E3C9772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3" name="Google Shape;73;p74">
            <a:extLst xmlns:a="http://schemas.openxmlformats.org/drawingml/2006/main">
              <a:ext uri="{FF2B5EF4-FFF2-40B4-BE49-F238E27FC236}">
                <a16:creationId xmlns:a16="http://schemas.microsoft.com/office/drawing/2014/main" id="{C1C46521-29AF-47E5-AA2D-002CD1364057}"/>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75">
            <a:extLst xmlns:a="http://schemas.openxmlformats.org/drawingml/2006/main">
              <a:ext uri="{FF2B5EF4-FFF2-40B4-BE49-F238E27FC236}">
                <a16:creationId xmlns:a16="http://schemas.microsoft.com/office/drawing/2014/main" id="{CF2AFF12-EAE0-4BD4-85EB-A2F406C5F161}"/>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76" name="Google Shape;76;p75">
            <a:extLst xmlns:a="http://schemas.openxmlformats.org/drawingml/2006/main">
              <a:ext uri="{FF2B5EF4-FFF2-40B4-BE49-F238E27FC236}">
                <a16:creationId xmlns:a16="http://schemas.microsoft.com/office/drawing/2014/main" id="{99ADAD9F-D8A5-48E4-B986-59FA317AE1C0}"/>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a:endParaRPr/>
          </a:p>
        </p:txBody>
      </p:sp>
      <p:sp>
        <p:nvSpPr>
          <p:cNvPr id="77" name="Google Shape;77;p75">
            <a:extLst xmlns:a="http://schemas.openxmlformats.org/drawingml/2006/main">
              <a:ext uri="{FF2B5EF4-FFF2-40B4-BE49-F238E27FC236}">
                <a16:creationId xmlns:a16="http://schemas.microsoft.com/office/drawing/2014/main" id="{40908EA2-6A28-4DD3-A135-60133BB43AF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8" name="Google Shape;78;p75">
            <a:extLst xmlns:a="http://schemas.openxmlformats.org/drawingml/2006/main">
              <a:ext uri="{FF2B5EF4-FFF2-40B4-BE49-F238E27FC236}">
                <a16:creationId xmlns:a16="http://schemas.microsoft.com/office/drawing/2014/main" id="{09D57CE3-7521-4B2E-969C-A42354570920}"/>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9" name="Google Shape;79;p75">
            <a:extLst xmlns:a="http://schemas.openxmlformats.org/drawingml/2006/main">
              <a:ext uri="{FF2B5EF4-FFF2-40B4-BE49-F238E27FC236}">
                <a16:creationId xmlns:a16="http://schemas.microsoft.com/office/drawing/2014/main" id="{F94B74F0-D4F5-46D6-A113-2E55826D9159}"/>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e62c69e6254d0d" /><Relationship Type="http://schemas.openxmlformats.org/officeDocument/2006/relationships/slideLayout" Target="/ppt/slideLayouts/slideLayout1.xml" Id="R6ca6927ead9e4aa4" /><Relationship Type="http://schemas.openxmlformats.org/officeDocument/2006/relationships/slideLayout" Target="/ppt/slideLayouts/slideLayout2.xml" Id="Rd96cc544c13d45ee" /><Relationship Type="http://schemas.openxmlformats.org/officeDocument/2006/relationships/slideLayout" Target="/ppt/slideLayouts/slideLayout3.xml" Id="Rcbc4d16e6913421e" /><Relationship Type="http://schemas.openxmlformats.org/officeDocument/2006/relationships/slideLayout" Target="/ppt/slideLayouts/slideLayout4.xml" Id="R420ab0f079654a43" /><Relationship Type="http://schemas.openxmlformats.org/officeDocument/2006/relationships/slideLayout" Target="/ppt/slideLayouts/slideLayout5.xml" Id="Rb00bd1de43a74283" /><Relationship Type="http://schemas.openxmlformats.org/officeDocument/2006/relationships/slideLayout" Target="/ppt/slideLayouts/slideLayout6.xml" Id="R8a88160062964349" /><Relationship Type="http://schemas.openxmlformats.org/officeDocument/2006/relationships/slideLayout" Target="/ppt/slideLayouts/slideLayout7.xml" Id="Rb54ffad943774ced" /><Relationship Type="http://schemas.openxmlformats.org/officeDocument/2006/relationships/slideLayout" Target="/ppt/slideLayouts/slideLayout8.xml" Id="Rdfddbdfd00eb4f5f" /><Relationship Type="http://schemas.openxmlformats.org/officeDocument/2006/relationships/slideLayout" Target="/ppt/slideLayouts/slideLayout9.xml" Id="R9f9203e42f9040ae" /><Relationship Type="http://schemas.openxmlformats.org/officeDocument/2006/relationships/slideLayout" Target="/ppt/slideLayouts/slideLayout10.xml" Id="R46f3710354cd4371" /><Relationship Type="http://schemas.openxmlformats.org/officeDocument/2006/relationships/slideLayout" Target="/ppt/slideLayouts/slideLayout11.xml" Id="R2353a33e007941e1"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64">
            <a:extLst xmlns:a="http://schemas.openxmlformats.org/drawingml/2006/main">
              <a:ext uri="{FF2B5EF4-FFF2-40B4-BE49-F238E27FC236}">
                <a16:creationId xmlns:a16="http://schemas.microsoft.com/office/drawing/2014/main" id="{35BA3B71-C0A3-4A25-AAB6-290D645F62E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Calibri"/>
              <a:buNone/>
              <a:defRPr sz="4400" b="0" i="0" u="none" cap="none">
                <a:solidFill>
                  <a:schemeClr val="dk1"/>
                </a:solidFill>
                <a:latin typeface="Calibri"/>
                <a:ea typeface="Calibri"/>
                <a:cs typeface="Calibri"/>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a:endParaRPr/>
          </a:p>
        </p:txBody>
      </p:sp>
      <p:sp>
        <p:nvSpPr>
          <p:cNvPr id="7" name="Google Shape;7;p64">
            <a:extLst xmlns:a="http://schemas.openxmlformats.org/drawingml/2006/main">
              <a:ext uri="{FF2B5EF4-FFF2-40B4-BE49-F238E27FC236}">
                <a16:creationId xmlns:a16="http://schemas.microsoft.com/office/drawing/2014/main" id="{290082CB-3A37-4F58-AA71-C43F3C1E1D69}"/>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cap="none">
                <a:solidFill>
                  <a:schemeClr val="dk1"/>
                </a:solidFill>
                <a:latin typeface="Calibri"/>
                <a:ea typeface="Calibri"/>
                <a:cs typeface="Calibri"/>
              </a:defRPr>
            </a:lvl1pPr>
            <a:lvl2pPr marL="914400" marR="0" indent="-406400" algn="l">
              <a:spcBef>
                <a:spcPts val="560"/>
              </a:spcBef>
              <a:spcAft>
                <a:spcPts val="0"/>
              </a:spcAft>
              <a:buClr>
                <a:schemeClr val="dk1"/>
              </a:buClr>
              <a:buSzPts val="2800"/>
              <a:buFont typeface="Arial"/>
              <a:buChar char="–"/>
              <a:defRPr sz="2800" b="0" i="0" u="none" cap="none">
                <a:solidFill>
                  <a:schemeClr val="dk1"/>
                </a:solidFill>
                <a:latin typeface="Calibri"/>
                <a:ea typeface="Calibri"/>
                <a:cs typeface="Calibri"/>
              </a:defRPr>
            </a:lvl2pPr>
            <a:lvl3pPr marL="1371600" marR="0" indent="-381000" algn="l">
              <a:spcBef>
                <a:spcPts val="480"/>
              </a:spcBef>
              <a:spcAft>
                <a:spcPts val="0"/>
              </a:spcAft>
              <a:buClr>
                <a:schemeClr val="dk1"/>
              </a:buClr>
              <a:buSzPts val="2400"/>
              <a:buFont typeface="Arial"/>
              <a:buChar char="•"/>
              <a:defRPr sz="2400" b="0" i="0" u="none" cap="none">
                <a:solidFill>
                  <a:schemeClr val="dk1"/>
                </a:solidFill>
                <a:latin typeface="Calibri"/>
                <a:ea typeface="Calibri"/>
                <a:cs typeface="Calibri"/>
              </a:defRPr>
            </a:lvl3pPr>
            <a:lvl4pPr marL="1828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4pPr>
            <a:lvl5pPr marL="22860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xmlns:a="http://schemas.openxmlformats.org/drawingml/2006/main">
            <a:endParaRPr/>
          </a:p>
        </p:txBody>
      </p:sp>
      <p:sp>
        <p:nvSpPr>
          <p:cNvPr id="8" name="Google Shape;8;p64">
            <a:extLst xmlns:a="http://schemas.openxmlformats.org/drawingml/2006/main">
              <a:ext uri="{FF2B5EF4-FFF2-40B4-BE49-F238E27FC236}">
                <a16:creationId xmlns:a16="http://schemas.microsoft.com/office/drawing/2014/main" id="{633478DE-5CCD-4A9B-AFC8-0B34F92D08E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a:endParaRPr/>
          </a:p>
        </p:txBody>
      </p:sp>
      <p:sp>
        <p:nvSpPr>
          <p:cNvPr id="9" name="Google Shape;9;p64">
            <a:extLst xmlns:a="http://schemas.openxmlformats.org/drawingml/2006/main">
              <a:ext uri="{FF2B5EF4-FFF2-40B4-BE49-F238E27FC236}">
                <a16:creationId xmlns:a16="http://schemas.microsoft.com/office/drawing/2014/main" id="{D934D771-4311-40E8-9ED5-220A19F1D56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a:endParaRPr/>
          </a:p>
        </p:txBody>
      </p:sp>
      <p:sp>
        <p:nvSpPr>
          <p:cNvPr id="10" name="Google Shape;10;p64">
            <a:extLst xmlns:a="http://schemas.openxmlformats.org/drawingml/2006/main">
              <a:ext uri="{FF2B5EF4-FFF2-40B4-BE49-F238E27FC236}">
                <a16:creationId xmlns:a16="http://schemas.microsoft.com/office/drawing/2014/main" id="{57E2BBF9-EBB1-4AA1-A4BE-4CCF0391E23A}"/>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cap="none">
                <a:solidFill>
                  <a:srgbClr val="888888"/>
                </a:solidFill>
                <a:latin typeface="Calibri"/>
                <a:ea typeface="Calibri"/>
                <a:cs typeface="Calibri"/>
              </a:defRPr>
            </a:lvl1pPr>
            <a:lvl2pPr marL="0" marR="0" indent="0" algn="r">
              <a:spcBef>
                <a:spcPts val="0"/>
              </a:spcBef>
              <a:buNone/>
              <a:defRPr sz="1200" b="0" i="0" u="none" cap="none">
                <a:solidFill>
                  <a:srgbClr val="888888"/>
                </a:solidFill>
                <a:latin typeface="Calibri"/>
                <a:ea typeface="Calibri"/>
                <a:cs typeface="Calibri"/>
              </a:defRPr>
            </a:lvl2pPr>
            <a:lvl3pPr marL="0" marR="0" indent="0" algn="r">
              <a:spcBef>
                <a:spcPts val="0"/>
              </a:spcBef>
              <a:buNone/>
              <a:defRPr sz="1200" b="0" i="0" u="none" cap="none">
                <a:solidFill>
                  <a:srgbClr val="888888"/>
                </a:solidFill>
                <a:latin typeface="Calibri"/>
                <a:ea typeface="Calibri"/>
                <a:cs typeface="Calibri"/>
              </a:defRPr>
            </a:lvl3pPr>
            <a:lvl4pPr marL="0" marR="0" indent="0" algn="r">
              <a:spcBef>
                <a:spcPts val="0"/>
              </a:spcBef>
              <a:buNone/>
              <a:defRPr sz="1200" b="0" i="0" u="none" cap="none">
                <a:solidFill>
                  <a:srgbClr val="888888"/>
                </a:solidFill>
                <a:latin typeface="Calibri"/>
                <a:ea typeface="Calibri"/>
                <a:cs typeface="Calibri"/>
              </a:defRPr>
            </a:lvl4pPr>
            <a:lvl5pPr marL="0" marR="0" indent="0" algn="r">
              <a:spcBef>
                <a:spcPts val="0"/>
              </a:spcBef>
              <a:buNone/>
              <a:defRPr sz="1200" b="0" i="0" u="none" cap="none">
                <a:solidFill>
                  <a:srgbClr val="888888"/>
                </a:solidFill>
                <a:latin typeface="Calibri"/>
                <a:ea typeface="Calibri"/>
                <a:cs typeface="Calibri"/>
              </a:defRPr>
            </a:lvl5pPr>
            <a:lvl6pPr marL="0" marR="0" indent="0" algn="r">
              <a:spcBef>
                <a:spcPts val="0"/>
              </a:spcBef>
              <a:buNone/>
              <a:defRPr sz="1200" b="0" i="0" u="none" cap="none">
                <a:solidFill>
                  <a:srgbClr val="888888"/>
                </a:solidFill>
                <a:latin typeface="Calibri"/>
                <a:ea typeface="Calibri"/>
                <a:cs typeface="Calibri"/>
              </a:defRPr>
            </a:lvl6pPr>
            <a:lvl7pPr marL="0" marR="0" indent="0" algn="r">
              <a:spcBef>
                <a:spcPts val="0"/>
              </a:spcBef>
              <a:buNone/>
              <a:defRPr sz="1200" b="0" i="0" u="none" cap="none">
                <a:solidFill>
                  <a:srgbClr val="888888"/>
                </a:solidFill>
                <a:latin typeface="Calibri"/>
                <a:ea typeface="Calibri"/>
                <a:cs typeface="Calibri"/>
              </a:defRPr>
            </a:lvl7pPr>
            <a:lvl8pPr marL="0" marR="0" indent="0" algn="r">
              <a:spcBef>
                <a:spcPts val="0"/>
              </a:spcBef>
              <a:buNone/>
              <a:defRPr sz="1200" b="0" i="0" u="none" cap="none">
                <a:solidFill>
                  <a:srgbClr val="888888"/>
                </a:solidFill>
                <a:latin typeface="Calibri"/>
                <a:ea typeface="Calibri"/>
                <a:cs typeface="Calibri"/>
              </a:defRPr>
            </a:lvl8pPr>
            <a:lvl9pPr marL="0" marR="0" indent="0" algn="r">
              <a:spcBef>
                <a:spcPts val="0"/>
              </a:spcBef>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ca6927ead9e4aa4"/>
    <p:sldLayoutId xmlns:r="http://schemas.openxmlformats.org/officeDocument/2006/relationships" id="2147483650" r:id="Rd96cc544c13d45ee"/>
    <p:sldLayoutId xmlns:r="http://schemas.openxmlformats.org/officeDocument/2006/relationships" id="2147483651" r:id="Rcbc4d16e6913421e"/>
    <p:sldLayoutId xmlns:r="http://schemas.openxmlformats.org/officeDocument/2006/relationships" id="2147483652" r:id="R420ab0f079654a43"/>
    <p:sldLayoutId xmlns:r="http://schemas.openxmlformats.org/officeDocument/2006/relationships" id="2147483653" r:id="Rb00bd1de43a74283"/>
    <p:sldLayoutId xmlns:r="http://schemas.openxmlformats.org/officeDocument/2006/relationships" id="2147483654" r:id="R8a88160062964349"/>
    <p:sldLayoutId xmlns:r="http://schemas.openxmlformats.org/officeDocument/2006/relationships" id="2147483655" r:id="Rb54ffad943774ced"/>
    <p:sldLayoutId xmlns:r="http://schemas.openxmlformats.org/officeDocument/2006/relationships" id="2147483656" r:id="Rdfddbdfd00eb4f5f"/>
    <p:sldLayoutId xmlns:r="http://schemas.openxmlformats.org/officeDocument/2006/relationships" id="2147483657" r:id="R9f9203e42f9040ae"/>
    <p:sldLayoutId xmlns:r="http://schemas.openxmlformats.org/officeDocument/2006/relationships" id="2147483658" r:id="R46f3710354cd4371"/>
    <p:sldLayoutId xmlns:r="http://schemas.openxmlformats.org/officeDocument/2006/relationships" id="2147483659" r:id="R2353a33e007941e1"/>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25992ed297a48ad" /><Relationship Type="http://schemas.openxmlformats.org/officeDocument/2006/relationships/image" Target="/ppt/media/image.png" Id="R1af4e3e15c53499a" /><Relationship Type="http://schemas.openxmlformats.org/officeDocument/2006/relationships/image" Target="/ppt/media/image2.png" Id="R08c4a0428f574225" /><Relationship Type="http://schemas.openxmlformats.org/officeDocument/2006/relationships/image" Target="/ppt/media/image3.png" Id="Rdd1748529be248ff" /><Relationship Type="http://schemas.openxmlformats.org/officeDocument/2006/relationships/notesSlide" Target="/ppt/notesSlides/notesSlide1.xml" Id="R524c063fe83941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343a5c1ed34dc7" /><Relationship Type="http://schemas.openxmlformats.org/officeDocument/2006/relationships/image" Target="/ppt/media/image4.png" Id="R9c0f3e826c274c80" /><Relationship Type="http://schemas.openxmlformats.org/officeDocument/2006/relationships/image" Target="/ppt/media/image2.png" Id="R8e137c1b4e8b4a96" /><Relationship Type="http://schemas.openxmlformats.org/officeDocument/2006/relationships/image" Target="/ppt/media/image3.png" Id="R7bfcf9254cf24e11" /><Relationship Type="http://schemas.openxmlformats.org/officeDocument/2006/relationships/notesSlide" Target="/ppt/notesSlides/notesSlide2.xml" Id="Rea9147aef9264e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56f8a93ca64ea6" /><Relationship Type="http://schemas.openxmlformats.org/officeDocument/2006/relationships/image" Target="/ppt/media/image4.png" Id="Rf7c3686275d0433b" /><Relationship Type="http://schemas.openxmlformats.org/officeDocument/2006/relationships/image" Target="/ppt/media/image2.png" Id="R5b6452d7036d4085" /><Relationship Type="http://schemas.openxmlformats.org/officeDocument/2006/relationships/image" Target="/ppt/media/image3.png" Id="R5a2c6d38e9424bae" /><Relationship Type="http://schemas.openxmlformats.org/officeDocument/2006/relationships/notesSlide" Target="/ppt/notesSlides/notesSlide3.xml" Id="Ra04b7a1b8bbc4d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5ac9927c0d94acf" /><Relationship Type="http://schemas.openxmlformats.org/officeDocument/2006/relationships/image" Target="/ppt/media/image4.png" Id="R3485d23cb7c24e75" /><Relationship Type="http://schemas.openxmlformats.org/officeDocument/2006/relationships/image" Target="/ppt/media/image2.png" Id="R1602b351aa9e44eb" /><Relationship Type="http://schemas.openxmlformats.org/officeDocument/2006/relationships/image" Target="/ppt/media/image3.png" Id="R50d0ce2ed60d4716" /><Relationship Type="http://schemas.openxmlformats.org/officeDocument/2006/relationships/notesSlide" Target="/ppt/notesSlides/notesSlide4.xml" Id="R342f5f3dda6841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5d6ecc35f75487a" /><Relationship Type="http://schemas.openxmlformats.org/officeDocument/2006/relationships/image" Target="/ppt/media/image4.png" Id="Re625b7247f024af1" /><Relationship Type="http://schemas.openxmlformats.org/officeDocument/2006/relationships/image" Target="/ppt/media/image2.png" Id="Ra74dd5c7be9c4910" /><Relationship Type="http://schemas.openxmlformats.org/officeDocument/2006/relationships/image" Target="/ppt/media/image3.png" Id="R5f554eec673f427d" /><Relationship Type="http://schemas.openxmlformats.org/officeDocument/2006/relationships/notesSlide" Target="/ppt/notesSlides/notesSlide5.xml" Id="Reb4af659724b46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f8f6e9ce174683" /><Relationship Type="http://schemas.openxmlformats.org/officeDocument/2006/relationships/image" Target="/ppt/media/image4.png" Id="Rd660f5626de24ff8" /><Relationship Type="http://schemas.openxmlformats.org/officeDocument/2006/relationships/image" Target="/ppt/media/image2.png" Id="R34e3b2abce5c4241" /><Relationship Type="http://schemas.openxmlformats.org/officeDocument/2006/relationships/image" Target="/ppt/media/image3.png" Id="R41cbd50418b24044" /><Relationship Type="http://schemas.openxmlformats.org/officeDocument/2006/relationships/notesSlide" Target="/ppt/notesSlides/notesSlide6.xml" Id="Rcf569b019d5647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9372ab32844cbe" /><Relationship Type="http://schemas.openxmlformats.org/officeDocument/2006/relationships/image" Target="/ppt/media/image4.png" Id="R8eaad85faf6e45bf" /><Relationship Type="http://schemas.openxmlformats.org/officeDocument/2006/relationships/image" Target="/ppt/media/image2.png" Id="R49e7b62ebdef4c4a" /><Relationship Type="http://schemas.openxmlformats.org/officeDocument/2006/relationships/image" Target="/ppt/media/image3.png" Id="Rf898f4e608c64a44" /><Relationship Type="http://schemas.openxmlformats.org/officeDocument/2006/relationships/notesSlide" Target="/ppt/notesSlides/notesSlide7.xml" Id="R14a67e286f544e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70ed047f1d47b3" /><Relationship Type="http://schemas.openxmlformats.org/officeDocument/2006/relationships/image" Target="/ppt/media/image4.png" Id="R986b9c17a47e4f31" /><Relationship Type="http://schemas.openxmlformats.org/officeDocument/2006/relationships/image" Target="/ppt/media/image2.png" Id="Rab93f5f9a6834966" /><Relationship Type="http://schemas.openxmlformats.org/officeDocument/2006/relationships/image" Target="/ppt/media/image3.png" Id="R4ebd7a56a88b43a4" /><Relationship Type="http://schemas.openxmlformats.org/officeDocument/2006/relationships/notesSlide" Target="/ppt/notesSlides/notesSlide8.xml" Id="Ra95735e95a2844c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8" name="Google Shape;88;p1">
            <a:extLst xmlns:a="http://schemas.openxmlformats.org/drawingml/2006/main">
              <a:ext uri="{FF2B5EF4-FFF2-40B4-BE49-F238E27FC236}">
                <a16:creationId xmlns:a16="http://schemas.microsoft.com/office/drawing/2014/main" id="{B2DCE872-5EC7-FDE7-A471-67B7338CD750}"/>
              </a:ext>
            </a:extLst>
          </p:cNvPr>
          <p:cNvSpPr>
            <a:spLocks xmlns:a="http://schemas.openxmlformats.org/drawingml/2006/main" noGrp="1"/>
          </p:cNvSpPr>
          <p:nvPr/>
        </p:nvSpPr>
        <p:spPr>
          <a:xfrm xmlns:a="http://schemas.openxmlformats.org/drawingml/2006/main">
            <a:off x="-36213" y="0"/>
            <a:ext cx="789388" cy="10287000"/>
          </a:xfrm>
          <a:custGeom xmlns:a="http://schemas.openxmlformats.org/drawingml/2006/main">
            <a:rect l="l" t="t" r="r" b="b"/>
            <a:pathLst>
              <a:path w="1267460" h="13716000">
                <a:moveTo>
                  <a:pt x="0" y="0"/>
                </a:moveTo>
                <a:lnTo>
                  <a:pt x="1267460" y="0"/>
                </a:lnTo>
                <a:lnTo>
                  <a:pt x="1267460" y="13716000"/>
                </a:lnTo>
                <a:lnTo>
                  <a:pt x="0" y="13716000"/>
                </a:lnTo>
                <a:close/>
              </a:path>
            </a:pathLst>
          </a:custGeom>
          <a:gradFill xmlns:a="http://schemas.openxmlformats.org/drawingml/2006/main">
            <a:gsLst>
              <a:gs pos="0">
                <a:srgbClr val="10CD57"/>
              </a:gs>
              <a:gs pos="100000">
                <a:srgbClr val="027159"/>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89" name="Google Shape;89;p1">
            <a:extLst xmlns:a="http://schemas.openxmlformats.org/drawingml/2006/main">
              <a:ext uri="{FF2B5EF4-FFF2-40B4-BE49-F238E27FC236}">
                <a16:creationId xmlns:a16="http://schemas.microsoft.com/office/drawing/2014/main" id="{F209E95F-FC29-42FA-0AB7-934A412D145F}"/>
              </a:ext>
            </a:extLst>
          </p:cNvPr>
          <p:cNvSpPr>
            <a:spLocks xmlns:a="http://schemas.openxmlformats.org/drawingml/2006/main" noGrp="1"/>
          </p:cNvSpPr>
          <p:nvPr/>
        </p:nvSpPr>
        <p:spPr>
          <a:xfrm xmlns:a="http://schemas.openxmlformats.org/drawingml/2006/main" rot="10800000" flipH="1">
            <a:off x="-46871" y="0"/>
            <a:ext cx="714044" cy="10287000"/>
          </a:xfrm>
          <a:custGeom xmlns:a="http://schemas.openxmlformats.org/drawingml/2006/main">
            <a:rect l="l" t="t" r="r" b="b"/>
            <a:pathLst>
              <a:path w="1267460" h="13716000">
                <a:moveTo>
                  <a:pt x="0" y="0"/>
                </a:moveTo>
                <a:lnTo>
                  <a:pt x="1267460" y="0"/>
                </a:lnTo>
                <a:lnTo>
                  <a:pt x="1267460" y="13716000"/>
                </a:lnTo>
                <a:lnTo>
                  <a:pt x="0" y="13716000"/>
                </a:lnTo>
                <a:close/>
              </a:path>
            </a:pathLst>
          </a:custGeom>
          <a:blipFill xmlns:a="http://schemas.openxmlformats.org/drawingml/2006/main" rotWithShape="1">
            <a:blip xmlns:r="http://schemas.openxmlformats.org/officeDocument/2006/relationships" r:embed="R1af4e3e15c53499a">
              <a:alphaModFix/>
            </a:blip>
            <a:stretch>
              <a:fillRect l="-2950" t="0" r="-2951"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2" name="Google Shape;92;p1">
            <a:extLst xmlns:a="http://schemas.openxmlformats.org/drawingml/2006/main">
              <a:ext uri="{FF2B5EF4-FFF2-40B4-BE49-F238E27FC236}">
                <a16:creationId xmlns:a16="http://schemas.microsoft.com/office/drawing/2014/main" id="{97421035-DF72-0EE9-42AB-BB512D0EACCC}"/>
              </a:ext>
            </a:extLst>
          </p:cNvPr>
          <p:cNvSpPr>
            <a:spLocks xmlns:a="http://schemas.openxmlformats.org/drawingml/2006/main" noGrp="1"/>
          </p:cNvSpPr>
          <p:nvPr/>
        </p:nvSpPr>
        <p:spPr>
          <a:xfrm xmlns:a="http://schemas.openxmlformats.org/drawingml/2006/main" rot="16200000">
            <a:off x="-2734402" y="6615396"/>
            <a:ext cx="6259599" cy="543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200" b="1">
                <a:solidFill>
                  <a:srgbClr val="FFFFFF"/>
                </a:solidFill>
                <a:latin typeface="Arial"/>
                <a:ea typeface="Arial"/>
                <a:cs typeface="Arial"/>
              </a:rPr>
              <a:t>FACULTY OF COMPUTER ENGINEERING</a:t>
            </a:r>
            <a:endParaRPr sz="2200"/>
          </a:p>
        </p:txBody>
      </p:sp>
      <p:sp>
        <p:nvSpPr>
          <p:cNvPr id="94" name="Google Shape;94;p1">
            <a:extLst xmlns:a="http://schemas.openxmlformats.org/drawingml/2006/main">
              <a:ext uri="{FF2B5EF4-FFF2-40B4-BE49-F238E27FC236}">
                <a16:creationId xmlns:a16="http://schemas.microsoft.com/office/drawing/2014/main" id="{2865E276-16FB-9F77-A512-ABE50A4B8220}"/>
              </a:ext>
            </a:extLst>
          </p:cNvPr>
          <p:cNvSpPr>
            <a:spLocks xmlns:a="http://schemas.openxmlformats.org/drawingml/2006/main" noGrp="1"/>
          </p:cNvSpPr>
          <p:nvPr/>
        </p:nvSpPr>
        <p:spPr>
          <a:xfrm xmlns:a="http://schemas.openxmlformats.org/drawingml/2006/main">
            <a:off x="6719978" y="445698"/>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5" name="Google Shape;95;p1">
            <a:extLst xmlns:a="http://schemas.openxmlformats.org/drawingml/2006/main">
              <a:ext uri="{FF2B5EF4-FFF2-40B4-BE49-F238E27FC236}">
                <a16:creationId xmlns:a16="http://schemas.microsoft.com/office/drawing/2014/main" id="{0495937E-9E77-B490-2BE5-AEDF4E6CB720}"/>
              </a:ext>
            </a:extLst>
          </p:cNvPr>
          <p:cNvSpPr>
            <a:spLocks xmlns:a="http://schemas.openxmlformats.org/drawingml/2006/main" noGrp="1"/>
          </p:cNvSpPr>
          <p:nvPr/>
        </p:nvSpPr>
        <p:spPr>
          <a:xfrm xmlns:a="http://schemas.openxmlformats.org/drawingml/2006/main">
            <a:off x="6807463" y="523733"/>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6" name="Google Shape;96;p1">
            <a:extLst xmlns:a="http://schemas.openxmlformats.org/drawingml/2006/main">
              <a:ext uri="{FF2B5EF4-FFF2-40B4-BE49-F238E27FC236}">
                <a16:creationId xmlns:a16="http://schemas.microsoft.com/office/drawing/2014/main" id="{087584D7-002B-886B-5EB8-D820F4F91E63}"/>
              </a:ext>
            </a:extLst>
          </p:cNvPr>
          <p:cNvSpPr>
            <a:spLocks xmlns:a="http://schemas.openxmlformats.org/drawingml/2006/main" noGrp="1"/>
          </p:cNvSpPr>
          <p:nvPr/>
        </p:nvSpPr>
        <p:spPr>
          <a:xfrm xmlns:a="http://schemas.openxmlformats.org/drawingml/2006/main">
            <a:off x="9436446" y="350307"/>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08c4a0428f574225">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7" name="Google Shape;97;p1">
            <a:extLst xmlns:a="http://schemas.openxmlformats.org/drawingml/2006/main">
              <a:ext uri="{FF2B5EF4-FFF2-40B4-BE49-F238E27FC236}">
                <a16:creationId xmlns:a16="http://schemas.microsoft.com/office/drawing/2014/main" id="{46003153-ED0F-8790-E89B-1E619EE381FE}"/>
              </a:ext>
            </a:extLst>
          </p:cNvPr>
          <p:cNvSpPr>
            <a:spLocks xmlns:a="http://schemas.openxmlformats.org/drawingml/2006/main" noGrp="1"/>
          </p:cNvSpPr>
          <p:nvPr/>
        </p:nvSpPr>
        <p:spPr>
          <a:xfrm xmlns:a="http://schemas.openxmlformats.org/drawingml/2006/main">
            <a:off x="7688248" y="385842"/>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dd1748529be248ff">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8" name="BẢO VỆ ĐỀ CƯƠNG KHÓA LUẬN TỐT NGHIỆP">
            <a:extLst xmlns:a="http://schemas.openxmlformats.org/drawingml/2006/main">
              <a:ext uri="{FF2B5EF4-FFF2-40B4-BE49-F238E27FC236}">
                <a16:creationId xmlns:a16="http://schemas.microsoft.com/office/drawing/2014/main" id="{C12E3A6F-AF49-4304-9C68-BDF28BF1486D}"/>
              </a:ext>
            </a:extLst>
          </p:cNvPr>
          <p:cNvSpPr>
            <a:spLocks xmlns:a="http://schemas.openxmlformats.org/drawingml/2006/main" noGrp="1"/>
          </p:cNvSpPr>
          <p:nvPr/>
        </p:nvSpPr>
        <p:spPr>
          <a:xfrm xmlns:a="http://schemas.openxmlformats.org/drawingml/2006/main">
            <a:off x="2047875" y="2571750"/>
            <a:ext cx="1466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079D93"/>
                </a:solidFill>
                <a:latin typeface="Arial"/>
                <a:ea typeface="Arial"/>
                <a:cs typeface="Arial"/>
              </a:defRPr>
            </a:pPr>
            <a:r>
              <a:rPr sz="3600" b="1">
                <a:solidFill>
                  <a:srgbClr val="079D93"/>
                </a:solidFill>
                <a:latin typeface="Arial"/>
                <a:ea typeface="Arial"/>
                <a:cs typeface="Arial"/>
              </a:rPr>
              <a:t>BẢO VỆ ĐỀ CƯƠNG KHÓA LUẬN TỐT NGHIỆP</a:t>
            </a:r>
          </a:p>
        </p:txBody>
      </p:sp>
      <p:sp>
        <p:nvSpPr>
          <p:cNvPr id="99" name="THIẾT KẾ BỘ VI XỬ LÝ 4 LÕI RISC-V&#10;DỰA TRÊN KIẾN TRÚC TẬP LỆNH RV32IMA">
            <a:extLst xmlns:a="http://schemas.openxmlformats.org/drawingml/2006/main">
              <a:ext uri="{FF2B5EF4-FFF2-40B4-BE49-F238E27FC236}">
                <a16:creationId xmlns:a16="http://schemas.microsoft.com/office/drawing/2014/main" id="{35028464-C920-405A-AA03-69F46B59C178}"/>
              </a:ext>
            </a:extLst>
          </p:cNvPr>
          <p:cNvSpPr>
            <a:spLocks xmlns:a="http://schemas.openxmlformats.org/drawingml/2006/main" noGrp="1"/>
          </p:cNvSpPr>
          <p:nvPr/>
        </p:nvSpPr>
        <p:spPr>
          <a:xfrm xmlns:a="http://schemas.openxmlformats.org/drawingml/2006/main">
            <a:off x="1714500" y="3857625"/>
            <a:ext cx="15240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050" b="1">
                <a:solidFill>
                  <a:srgbClr val="007A60"/>
                </a:solidFill>
                <a:latin typeface="Arial"/>
                <a:ea typeface="Arial"/>
                <a:cs typeface="Arial"/>
              </a:defRPr>
            </a:pPr>
            <a:r>
              <a:rPr sz="4050" b="1">
                <a:solidFill>
                  <a:srgbClr val="007A60"/>
                </a:solidFill>
                <a:latin typeface="Arial"/>
                <a:ea typeface="Arial"/>
                <a:cs typeface="Arial"/>
              </a:rPr>
              <a:t>THIẾT KẾ BỘ VI XỬ LÝ 4 LÕI RISC-V</a:t>
            </a:r>
          </a:p>
          <a:p xmlns:a="http://schemas.openxmlformats.org/drawingml/2006/main">
            <a:pPr algn="ctr">
              <a:defRPr sz="4050" b="1">
                <a:solidFill>
                  <a:srgbClr val="007A60"/>
                </a:solidFill>
                <a:latin typeface="Arial"/>
                <a:ea typeface="Arial"/>
                <a:cs typeface="Arial"/>
              </a:defRPr>
            </a:pPr>
            <a:r>
              <a:rPr sz="4050" b="1">
                <a:solidFill>
                  <a:srgbClr val="007A60"/>
                </a:solidFill>
                <a:latin typeface="Arial"/>
                <a:ea typeface="Arial"/>
                <a:cs typeface="Arial"/>
              </a:rPr>
              <a:t>DỰA TRÊN KIẾN TRÚC TẬP LỆNH RV32IMA</a:t>
            </a:r>
          </a:p>
        </p:txBody>
      </p:sp>
      <p:sp>
        <p:nvSpPr>
          <p:cNvPr id="100" name="GVHD: TS. Nguyễn Minh Sơn">
            <a:extLst xmlns:a="http://schemas.openxmlformats.org/drawingml/2006/main">
              <a:ext uri="{FF2B5EF4-FFF2-40B4-BE49-F238E27FC236}">
                <a16:creationId xmlns:a16="http://schemas.microsoft.com/office/drawing/2014/main" id="{9C17DECD-248F-4D17-BD1D-444930893586}"/>
              </a:ext>
            </a:extLst>
          </p:cNvPr>
          <p:cNvSpPr>
            <a:spLocks xmlns:a="http://schemas.openxmlformats.org/drawingml/2006/main" noGrp="1"/>
          </p:cNvSpPr>
          <p:nvPr/>
        </p:nvSpPr>
        <p:spPr>
          <a:xfrm xmlns:a="http://schemas.openxmlformats.org/drawingml/2006/main">
            <a:off x="2190750" y="6191250"/>
            <a:ext cx="1419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007A60"/>
                </a:solidFill>
                <a:latin typeface="Arial"/>
                <a:ea typeface="Arial"/>
                <a:cs typeface="Arial"/>
              </a:defRPr>
            </a:pPr>
            <a:r>
              <a:rPr sz="3150" b="1">
                <a:solidFill>
                  <a:srgbClr val="007A60"/>
                </a:solidFill>
                <a:latin typeface="Arial"/>
                <a:ea typeface="Arial"/>
                <a:cs typeface="Arial"/>
              </a:rPr>
              <a:t>GVHD: TS. Nguyễn Minh Sơn</a:t>
            </a:r>
          </a:p>
        </p:txBody>
      </p:sp>
      <p:sp>
        <p:nvSpPr>
          <p:cNvPr id="101" name="Vũ Thành Lam">
            <a:extLst xmlns:a="http://schemas.openxmlformats.org/drawingml/2006/main">
              <a:ext uri="{FF2B5EF4-FFF2-40B4-BE49-F238E27FC236}">
                <a16:creationId xmlns:a16="http://schemas.microsoft.com/office/drawing/2014/main" id="{430D15EA-730D-4261-B47F-C0DCBAADE3F1}"/>
              </a:ext>
            </a:extLst>
          </p:cNvPr>
          <p:cNvSpPr>
            <a:spLocks xmlns:a="http://schemas.openxmlformats.org/drawingml/2006/main" noGrp="1"/>
          </p:cNvSpPr>
          <p:nvPr/>
        </p:nvSpPr>
        <p:spPr>
          <a:xfrm xmlns:a="http://schemas.openxmlformats.org/drawingml/2006/main">
            <a:off x="2190750" y="706755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A2A"/>
                </a:solidFill>
                <a:latin typeface="Arial"/>
                <a:ea typeface="Arial"/>
                <a:cs typeface="Arial"/>
              </a:defRPr>
            </a:pPr>
            <a:r>
              <a:rPr sz="3000" b="1">
                <a:solidFill>
                  <a:srgbClr val="172A2A"/>
                </a:solidFill>
                <a:latin typeface="Arial"/>
                <a:ea typeface="Arial"/>
                <a:cs typeface="Arial"/>
              </a:rPr>
              <a:t>Vũ Thành Lam</a:t>
            </a:r>
          </a:p>
        </p:txBody>
      </p:sp>
      <p:sp>
        <p:nvSpPr>
          <p:cNvPr id="102" name="23520840">
            <a:extLst xmlns:a="http://schemas.openxmlformats.org/drawingml/2006/main">
              <a:ext uri="{FF2B5EF4-FFF2-40B4-BE49-F238E27FC236}">
                <a16:creationId xmlns:a16="http://schemas.microsoft.com/office/drawing/2014/main" id="{3006882E-3423-464A-8FA8-CBD619C1B925}"/>
              </a:ext>
            </a:extLst>
          </p:cNvPr>
          <p:cNvSpPr>
            <a:spLocks xmlns:a="http://schemas.openxmlformats.org/drawingml/2006/main" noGrp="1"/>
          </p:cNvSpPr>
          <p:nvPr/>
        </p:nvSpPr>
        <p:spPr>
          <a:xfrm xmlns:a="http://schemas.openxmlformats.org/drawingml/2006/main">
            <a:off x="8763000" y="70675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23520840</a:t>
            </a:r>
          </a:p>
        </p:txBody>
      </p:sp>
      <p:sp>
        <p:nvSpPr>
          <p:cNvPr id="103" name="Võ Lê Phước Lâm">
            <a:extLst xmlns:a="http://schemas.openxmlformats.org/drawingml/2006/main">
              <a:ext uri="{FF2B5EF4-FFF2-40B4-BE49-F238E27FC236}">
                <a16:creationId xmlns:a16="http://schemas.microsoft.com/office/drawing/2014/main" id="{097B0B00-7C72-472C-A86C-F220E12E18C9}"/>
              </a:ext>
            </a:extLst>
          </p:cNvPr>
          <p:cNvSpPr>
            <a:spLocks xmlns:a="http://schemas.openxmlformats.org/drawingml/2006/main" noGrp="1"/>
          </p:cNvSpPr>
          <p:nvPr/>
        </p:nvSpPr>
        <p:spPr>
          <a:xfrm xmlns:a="http://schemas.openxmlformats.org/drawingml/2006/main">
            <a:off x="2190750" y="782955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A2A"/>
                </a:solidFill>
                <a:latin typeface="Arial"/>
                <a:ea typeface="Arial"/>
                <a:cs typeface="Arial"/>
              </a:defRPr>
            </a:pPr>
            <a:r>
              <a:rPr sz="3000" b="1">
                <a:solidFill>
                  <a:srgbClr val="172A2A"/>
                </a:solidFill>
                <a:latin typeface="Arial"/>
                <a:ea typeface="Arial"/>
                <a:cs typeface="Arial"/>
              </a:rPr>
              <a:t>Võ Lê Phước Lâm</a:t>
            </a:r>
          </a:p>
        </p:txBody>
      </p:sp>
      <p:sp>
        <p:nvSpPr>
          <p:cNvPr id="104" name="23520838">
            <a:extLst xmlns:a="http://schemas.openxmlformats.org/drawingml/2006/main">
              <a:ext uri="{FF2B5EF4-FFF2-40B4-BE49-F238E27FC236}">
                <a16:creationId xmlns:a16="http://schemas.microsoft.com/office/drawing/2014/main" id="{C51DFE67-CD7A-4C04-AD60-14B12B3DA7BE}"/>
              </a:ext>
            </a:extLst>
          </p:cNvPr>
          <p:cNvSpPr>
            <a:spLocks xmlns:a="http://schemas.openxmlformats.org/drawingml/2006/main" noGrp="1"/>
          </p:cNvSpPr>
          <p:nvPr/>
        </p:nvSpPr>
        <p:spPr>
          <a:xfrm xmlns:a="http://schemas.openxmlformats.org/drawingml/2006/main">
            <a:off x="8763000" y="78295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23520838</a:t>
            </a:r>
          </a:p>
        </p:txBody>
      </p:sp>
      <p:sp>
        <p:nvSpPr>
          <p:cNvPr id="105" name="TP. Hồ Chí Minh, tháng 9 năm 2026">
            <a:extLst xmlns:a="http://schemas.openxmlformats.org/drawingml/2006/main">
              <a:ext uri="{FF2B5EF4-FFF2-40B4-BE49-F238E27FC236}">
                <a16:creationId xmlns:a16="http://schemas.microsoft.com/office/drawing/2014/main" id="{B61F1587-F558-478A-B736-9593EDA745A3}"/>
              </a:ext>
            </a:extLst>
          </p:cNvPr>
          <p:cNvSpPr>
            <a:spLocks xmlns:a="http://schemas.openxmlformats.org/drawingml/2006/main" noGrp="1"/>
          </p:cNvSpPr>
          <p:nvPr/>
        </p:nvSpPr>
        <p:spPr>
          <a:xfrm xmlns:a="http://schemas.openxmlformats.org/drawingml/2006/main">
            <a:off x="2190750" y="9220200"/>
            <a:ext cx="1419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0">
                <a:solidFill>
                  <a:srgbClr val="52615E"/>
                </a:solidFill>
                <a:latin typeface="Arial"/>
                <a:ea typeface="Arial"/>
                <a:cs typeface="Arial"/>
              </a:defRPr>
            </a:pPr>
            <a:r>
              <a:rPr sz="2400" b="0">
                <a:solidFill>
                  <a:srgbClr val="52615E"/>
                </a:solidFill>
                <a:latin typeface="Arial"/>
                <a:ea typeface="Arial"/>
                <a:cs typeface="Arial"/>
              </a:rPr>
              <a:t>TP. Hồ Chí Minh, tháng 9 năm 2026</a:t>
            </a:r>
          </a:p>
        </p:txBody>
      </p:sp>
    </p:spTree>
    <p:extLst>
      <p:ext uri="{BB962C8B-B14F-4D97-AF65-F5344CB8AC3E}">
        <p14:creationId xmlns:p14="http://schemas.microsoft.com/office/powerpoint/2010/main" val="328728393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D8FD664B-4F28-46DB-A6B7-369064BBC01F}"/>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4867FDF0-3F69-443D-AC86-88A6F93D5EA0}"/>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9c0f3e826c274c80">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43826393-F3C5-419E-9065-227D358A3D59}"/>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92D22167-62B3-407F-9C9D-782E2A85C335}"/>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152DA5FF-29E6-46E6-B02C-D13121AE3E36}"/>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4C3090E3-0F35-459F-A80E-880E0953CFED}"/>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303936C3-AB3A-4B2F-B1BB-4FC79693A4E3}"/>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8e137c1b4e8b4a96">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14A71F34-95F7-47A5-B441-7917FFDB5279}"/>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7bfcf9254cf24e11">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2">
            <a:extLst xmlns:a="http://schemas.openxmlformats.org/drawingml/2006/main">
              <a:ext uri="{FF2B5EF4-FFF2-40B4-BE49-F238E27FC236}">
                <a16:creationId xmlns:a16="http://schemas.microsoft.com/office/drawing/2014/main" id="{8E6B7466-7391-4BE3-81C5-C19A7619453C}"/>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2</a:t>
            </a:r>
          </a:p>
        </p:txBody>
      </p:sp>
      <p:sp>
        <p:nvSpPr>
          <p:cNvPr id="230" name="1. Tổng quan đề tài">
            <a:extLst xmlns:a="http://schemas.openxmlformats.org/drawingml/2006/main">
              <a:ext uri="{FF2B5EF4-FFF2-40B4-BE49-F238E27FC236}">
                <a16:creationId xmlns:a16="http://schemas.microsoft.com/office/drawing/2014/main" id="{A0C47B69-D882-4EFA-967F-6EA213C74AB5}"/>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1. Tổng quan đề tài</a:t>
            </a:r>
          </a:p>
        </p:txBody>
      </p:sp>
      <p:sp>
        <p:nvSpPr>
          <p:cNvPr id="231" name="Nhu cầu xử lý nhiều tác vụ đồng thời">
            <a:extLst xmlns:a="http://schemas.openxmlformats.org/drawingml/2006/main">
              <a:ext uri="{FF2B5EF4-FFF2-40B4-BE49-F238E27FC236}">
                <a16:creationId xmlns:a16="http://schemas.microsoft.com/office/drawing/2014/main" id="{F380C01C-A035-4414-BB2D-5CBE375A5379}"/>
              </a:ext>
            </a:extLst>
          </p:cNvPr>
          <p:cNvSpPr>
            <a:spLocks xmlns:a="http://schemas.openxmlformats.org/drawingml/2006/main" noGrp="1"/>
          </p:cNvSpPr>
          <p:nvPr/>
        </p:nvSpPr>
        <p:spPr>
          <a:xfrm xmlns:a="http://schemas.openxmlformats.org/drawingml/2006/main">
            <a:off x="952500" y="278130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Nhu cầu xử lý nhiều tác vụ đồng thời</a:t>
            </a:r>
          </a:p>
        </p:txBody>
      </p:sp>
      <p:sp>
        <p:nvSpPr>
          <p:cNvPr id="232" name="Các hệ thống nhúng như khối điều khiển bay UAV đặt ra nhu cầu xử lý dữ">
            <a:extLst xmlns:a="http://schemas.openxmlformats.org/drawingml/2006/main">
              <a:ext uri="{FF2B5EF4-FFF2-40B4-BE49-F238E27FC236}">
                <a16:creationId xmlns:a16="http://schemas.microsoft.com/office/drawing/2014/main" id="{78107E93-F709-4A00-828B-708B1DCA4B72}"/>
              </a:ext>
            </a:extLst>
          </p:cNvPr>
          <p:cNvSpPr>
            <a:spLocks xmlns:a="http://schemas.openxmlformats.org/drawingml/2006/main" noGrp="1"/>
          </p:cNvSpPr>
          <p:nvPr/>
        </p:nvSpPr>
        <p:spPr>
          <a:xfrm xmlns:a="http://schemas.openxmlformats.org/drawingml/2006/main">
            <a:off x="952500" y="33813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Các hệ thống nhúng như khối điều khiển bay UAV đặt ra nhu cầu xử lý dữ liệu cảm biến, điều khiển và giao tiếp cùng lúc.</a:t>
            </a:r>
          </a:p>
        </p:txBody>
      </p:sp>
      <p:sp>
        <p:nvSpPr>
          <p:cNvPr id="233" name="Lựa chọn kiến trúc RISC-V">
            <a:extLst xmlns:a="http://schemas.openxmlformats.org/drawingml/2006/main">
              <a:ext uri="{FF2B5EF4-FFF2-40B4-BE49-F238E27FC236}">
                <a16:creationId xmlns:a16="http://schemas.microsoft.com/office/drawing/2014/main" id="{345BD65F-CC2C-4C63-8357-01AFD9B213E1}"/>
              </a:ext>
            </a:extLst>
          </p:cNvPr>
          <p:cNvSpPr>
            <a:spLocks xmlns:a="http://schemas.openxmlformats.org/drawingml/2006/main" noGrp="1"/>
          </p:cNvSpPr>
          <p:nvPr/>
        </p:nvSpPr>
        <p:spPr>
          <a:xfrm xmlns:a="http://schemas.openxmlformats.org/drawingml/2006/main">
            <a:off x="952500" y="483870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Lựa chọn kiến trúc RISC-V</a:t>
            </a:r>
          </a:p>
        </p:txBody>
      </p:sp>
      <p:sp>
        <p:nvSpPr>
          <p:cNvPr id="234" name="Kiến trúc tập lệnh mở cho phép nhóm chủ động thiết kế và tùy biến bộ x">
            <a:extLst xmlns:a="http://schemas.openxmlformats.org/drawingml/2006/main">
              <a:ext uri="{FF2B5EF4-FFF2-40B4-BE49-F238E27FC236}">
                <a16:creationId xmlns:a16="http://schemas.microsoft.com/office/drawing/2014/main" id="{B18143FD-24D8-4ADC-9E30-ED30D8A1AC9F}"/>
              </a:ext>
            </a:extLst>
          </p:cNvPr>
          <p:cNvSpPr>
            <a:spLocks xmlns:a="http://schemas.openxmlformats.org/drawingml/2006/main" noGrp="1"/>
          </p:cNvSpPr>
          <p:nvPr/>
        </p:nvSpPr>
        <p:spPr>
          <a:xfrm xmlns:a="http://schemas.openxmlformats.org/drawingml/2006/main">
            <a:off x="952500" y="54483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Kiến trúc tập lệnh mở cho phép nhóm chủ động thiết kế và tùy biến bộ xử lý ở mức RTL, phù hợp với mục tiêu nghiên cứu phần cứng.</a:t>
            </a:r>
          </a:p>
        </p:txBody>
      </p:sp>
      <p:sp>
        <p:nvSpPr>
          <p:cNvPr id="235" name="Bài toán của khóa luận">
            <a:extLst xmlns:a="http://schemas.openxmlformats.org/drawingml/2006/main">
              <a:ext uri="{FF2B5EF4-FFF2-40B4-BE49-F238E27FC236}">
                <a16:creationId xmlns:a16="http://schemas.microsoft.com/office/drawing/2014/main" id="{629DBEA9-20CB-40CC-937F-0D2D5C4F8BB6}"/>
              </a:ext>
            </a:extLst>
          </p:cNvPr>
          <p:cNvSpPr>
            <a:spLocks xmlns:a="http://schemas.openxmlformats.org/drawingml/2006/main" noGrp="1"/>
          </p:cNvSpPr>
          <p:nvPr/>
        </p:nvSpPr>
        <p:spPr>
          <a:xfrm xmlns:a="http://schemas.openxmlformats.org/drawingml/2006/main">
            <a:off x="952500" y="6905625"/>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Bài toán của khóa luận</a:t>
            </a:r>
          </a:p>
        </p:txBody>
      </p:sp>
      <p:sp>
        <p:nvSpPr>
          <p:cNvPr id="236" name="Xây dựng hệ 4 lõi RV32IMA có bộ nhớ đệm và quản lý bộ nhớ, bảo đảm dữ ">
            <a:extLst xmlns:a="http://schemas.openxmlformats.org/drawingml/2006/main">
              <a:ext uri="{FF2B5EF4-FFF2-40B4-BE49-F238E27FC236}">
                <a16:creationId xmlns:a16="http://schemas.microsoft.com/office/drawing/2014/main" id="{7BF54A22-86DC-4549-9C44-C9B43EF3AE01}"/>
              </a:ext>
            </a:extLst>
          </p:cNvPr>
          <p:cNvSpPr>
            <a:spLocks xmlns:a="http://schemas.openxmlformats.org/drawingml/2006/main" noGrp="1"/>
          </p:cNvSpPr>
          <p:nvPr/>
        </p:nvSpPr>
        <p:spPr>
          <a:xfrm xmlns:a="http://schemas.openxmlformats.org/drawingml/2006/main">
            <a:off x="952500" y="7515225"/>
            <a:ext cx="16383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Xây dựng hệ 4 lõi RV32IMA có bộ nhớ đệm và quản lý bộ nhớ, bảo đảm dữ liệu chia sẻ nhất quán và kiểm chứng trên FPGA.</a:t>
            </a:r>
          </a:p>
        </p:txBody>
      </p:sp>
    </p:spTree>
    <p:extLst>
      <p:ext uri="{BB962C8B-B14F-4D97-AF65-F5344CB8AC3E}">
        <p14:creationId xmlns:p14="http://schemas.microsoft.com/office/powerpoint/2010/main" val="127342597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E77E43C7-69BA-DFDE-40C8-CDD7988E47AB}"/>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3858341C-4BB0-7398-4010-0EEC237CB81B}"/>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f7c3686275d0433b">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1F275C04-1EA7-EFB2-58EC-EB3F6A551830}"/>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88AAF152-00AC-C496-7743-14F4BCDBCAF2}"/>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EEEA4F8F-6835-8996-9F20-2C578FEEB049}"/>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BA904E38-0A5D-E2E4-703B-94B49FA2E199}"/>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9836EA18-ECAC-F1C8-A57F-0D5108695454}"/>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5b6452d7036d4085">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0F196DA8-72BC-39DF-74B8-CB7AA6E11558}"/>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5a2c6d38e9424bae">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3">
            <a:extLst xmlns:a="http://schemas.openxmlformats.org/drawingml/2006/main">
              <a:ext uri="{FF2B5EF4-FFF2-40B4-BE49-F238E27FC236}">
                <a16:creationId xmlns:a16="http://schemas.microsoft.com/office/drawing/2014/main" id="{99B99613-BCDA-497E-AB8D-9CC0E14AC2F7}"/>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3</a:t>
            </a:r>
          </a:p>
        </p:txBody>
      </p:sp>
      <p:sp>
        <p:nvSpPr>
          <p:cNvPr id="230" name="2. Mục tiêu đề tài">
            <a:extLst xmlns:a="http://schemas.openxmlformats.org/drawingml/2006/main">
              <a:ext uri="{FF2B5EF4-FFF2-40B4-BE49-F238E27FC236}">
                <a16:creationId xmlns:a16="http://schemas.microsoft.com/office/drawing/2014/main" id="{26ADDA89-34DA-4EEE-B735-080DD6195FE5}"/>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2. Mục tiêu đề tài</a:t>
            </a:r>
          </a:p>
        </p:txBody>
      </p:sp>
      <p:sp>
        <p:nvSpPr>
          <p:cNvPr id="231" name="Mục tiêu 1  Thiết kế và hiện thực hệ vi xử lý 4 lõi">
            <a:extLst xmlns:a="http://schemas.openxmlformats.org/drawingml/2006/main">
              <a:ext uri="{FF2B5EF4-FFF2-40B4-BE49-F238E27FC236}">
                <a16:creationId xmlns:a16="http://schemas.microsoft.com/office/drawing/2014/main" id="{9742D171-1208-416D-AF99-F96028E20DC9}"/>
              </a:ext>
            </a:extLst>
          </p:cNvPr>
          <p:cNvSpPr>
            <a:spLocks xmlns:a="http://schemas.openxmlformats.org/drawingml/2006/main" noGrp="1"/>
          </p:cNvSpPr>
          <p:nvPr/>
        </p:nvSpPr>
        <p:spPr>
          <a:xfrm xmlns:a="http://schemas.openxmlformats.org/drawingml/2006/main">
            <a:off x="952500" y="278130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Mục tiêu 1  Thiết kế và hiện thực hệ vi xử lý 4 lõi</a:t>
            </a:r>
          </a:p>
        </p:txBody>
      </p:sp>
      <p:sp>
        <p:nvSpPr>
          <p:cNvPr id="232" name="Lõi RV32IMA, cache L1 riêng và L2 dùng chung, cơ chế nhất quán dữ liệu">
            <a:extLst xmlns:a="http://schemas.openxmlformats.org/drawingml/2006/main">
              <a:ext uri="{FF2B5EF4-FFF2-40B4-BE49-F238E27FC236}">
                <a16:creationId xmlns:a16="http://schemas.microsoft.com/office/drawing/2014/main" id="{7F1847F6-A967-4475-B031-360C83A6C95C}"/>
              </a:ext>
            </a:extLst>
          </p:cNvPr>
          <p:cNvSpPr>
            <a:spLocks xmlns:a="http://schemas.openxmlformats.org/drawingml/2006/main" noGrp="1"/>
          </p:cNvSpPr>
          <p:nvPr/>
        </p:nvSpPr>
        <p:spPr>
          <a:xfrm xmlns:a="http://schemas.openxmlformats.org/drawingml/2006/main">
            <a:off x="952500" y="3476625"/>
            <a:ext cx="1638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Lõi RV32IMA, cache L1 riêng và L2 dùng chung, cơ chế nhất quán dữ liệu MESI, MMU/TLB cho từng lõi, giao tiếp bus và DMA.</a:t>
            </a:r>
          </a:p>
        </p:txBody>
      </p:sp>
      <p:sp>
        <p:nvSpPr>
          <p:cNvPr id="233" name="Mục tiêu 2  Kiểm chứng, đánh giá và triển khai trên FPGA">
            <a:extLst xmlns:a="http://schemas.openxmlformats.org/drawingml/2006/main">
              <a:ext uri="{FF2B5EF4-FFF2-40B4-BE49-F238E27FC236}">
                <a16:creationId xmlns:a16="http://schemas.microsoft.com/office/drawing/2014/main" id="{0B2BB340-C64F-4929-A3DE-E80CA09E802C}"/>
              </a:ext>
            </a:extLst>
          </p:cNvPr>
          <p:cNvSpPr>
            <a:spLocks xmlns:a="http://schemas.openxmlformats.org/drawingml/2006/main" noGrp="1"/>
          </p:cNvSpPr>
          <p:nvPr/>
        </p:nvSpPr>
        <p:spPr>
          <a:xfrm xmlns:a="http://schemas.openxmlformats.org/drawingml/2006/main">
            <a:off x="952500" y="512445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Mục tiêu 2  Kiểm chứng, đánh giá và triển khai trên FPGA</a:t>
            </a:r>
          </a:p>
        </p:txBody>
      </p:sp>
      <p:sp>
        <p:nvSpPr>
          <p:cNvPr id="234" name="Kiểm tra đúng chức năng bằng mô phỏng RTL và demo tự động trên FPGA. Đ">
            <a:extLst xmlns:a="http://schemas.openxmlformats.org/drawingml/2006/main">
              <a:ext uri="{FF2B5EF4-FFF2-40B4-BE49-F238E27FC236}">
                <a16:creationId xmlns:a16="http://schemas.microsoft.com/office/drawing/2014/main" id="{36099735-AC0C-4E35-9A57-F922F75EAF92}"/>
              </a:ext>
            </a:extLst>
          </p:cNvPr>
          <p:cNvSpPr>
            <a:spLocks xmlns:a="http://schemas.openxmlformats.org/drawingml/2006/main" noGrp="1"/>
          </p:cNvSpPr>
          <p:nvPr/>
        </p:nvSpPr>
        <p:spPr>
          <a:xfrm xmlns:a="http://schemas.openxmlformats.org/drawingml/2006/main">
            <a:off x="952500" y="5829300"/>
            <a:ext cx="1638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Kiểm tra đúng chức năng bằng mô phỏng RTL và demo tự động trên FPGA. Đánh giá hiệu năng, tài nguyên, timing và công suất ước tính.</a:t>
            </a:r>
          </a:p>
        </p:txBody>
      </p:sp>
      <p:sp>
        <p:nvSpPr>
          <p:cNvPr id="235" name="Phạm vi thực hiện">
            <a:extLst xmlns:a="http://schemas.openxmlformats.org/drawingml/2006/main">
              <a:ext uri="{FF2B5EF4-FFF2-40B4-BE49-F238E27FC236}">
                <a16:creationId xmlns:a16="http://schemas.microsoft.com/office/drawing/2014/main" id="{1B4F3894-E185-4C34-B7FF-5A9F42E3A0E1}"/>
              </a:ext>
            </a:extLst>
          </p:cNvPr>
          <p:cNvSpPr>
            <a:spLocks xmlns:a="http://schemas.openxmlformats.org/drawingml/2006/main" noGrp="1"/>
          </p:cNvSpPr>
          <p:nvPr/>
        </p:nvSpPr>
        <p:spPr>
          <a:xfrm xmlns:a="http://schemas.openxmlformats.org/drawingml/2006/main">
            <a:off x="952500" y="7572375"/>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Phạm vi thực hiện</a:t>
            </a:r>
          </a:p>
        </p:txBody>
      </p:sp>
      <p:sp>
        <p:nvSpPr>
          <p:cNvPr id="236" name="4 lõi, tập lệnh RV32I/M/A. Không mở rộng F/D hoặc C. MMU giới hạn tran">
            <a:extLst xmlns:a="http://schemas.openxmlformats.org/drawingml/2006/main">
              <a:ext uri="{FF2B5EF4-FFF2-40B4-BE49-F238E27FC236}">
                <a16:creationId xmlns:a16="http://schemas.microsoft.com/office/drawing/2014/main" id="{3D9D0D52-73E9-4336-8D29-CFE5432D2557}"/>
              </a:ext>
            </a:extLst>
          </p:cNvPr>
          <p:cNvSpPr>
            <a:spLocks xmlns:a="http://schemas.openxmlformats.org/drawingml/2006/main" noGrp="1"/>
          </p:cNvSpPr>
          <p:nvPr/>
        </p:nvSpPr>
        <p:spPr>
          <a:xfrm xmlns:a="http://schemas.openxmlformats.org/drawingml/2006/main">
            <a:off x="952500" y="8191500"/>
            <a:ext cx="1638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72A2A"/>
                </a:solidFill>
                <a:latin typeface="Arial"/>
                <a:ea typeface="Arial"/>
                <a:cs typeface="Arial"/>
              </a:defRPr>
            </a:pPr>
            <a:r>
              <a:rPr sz="2625" b="0">
                <a:solidFill>
                  <a:srgbClr val="172A2A"/>
                </a:solidFill>
                <a:latin typeface="Arial"/>
                <a:ea typeface="Arial"/>
                <a:cs typeface="Arial"/>
              </a:rPr>
              <a:t>4 lõi, tập lệnh RV32I/M/A. Không mở rộng F/D hoặc C. MMU giới hạn trang 4 KB. Kiểm chứng UVM cho cache/coherence; CSR/trap ngoài phạm vi đề cương.</a:t>
            </a:r>
          </a:p>
        </p:txBody>
      </p:sp>
    </p:spTree>
    <p:extLst>
      <p:ext uri="{BB962C8B-B14F-4D97-AF65-F5344CB8AC3E}">
        <p14:creationId xmlns:p14="http://schemas.microsoft.com/office/powerpoint/2010/main" val="291625292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D7860EAB-80CD-B3CD-26E9-786331497CEA}"/>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DC1937D5-981D-491E-C851-A8C0ADF66CBC}"/>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3485d23cb7c24e75">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57F404DD-C029-6714-6DFB-9274C55C8F52}"/>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197D2A85-3385-63ED-A5CC-5D4AFA4CB27D}"/>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ED874408-6986-1FE4-6E13-758C05084726}"/>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04894B58-CC3F-7A85-88A1-7B099995B9F1}"/>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8F8F9C0E-7CEA-DCA0-7581-BCC2CB234D7D}"/>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1602b351aa9e44eb">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B96425F5-9567-4B65-E61C-4D7184A08B4A}"/>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50d0ce2ed60d4716">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4">
            <a:extLst xmlns:a="http://schemas.openxmlformats.org/drawingml/2006/main">
              <a:ext uri="{FF2B5EF4-FFF2-40B4-BE49-F238E27FC236}">
                <a16:creationId xmlns:a16="http://schemas.microsoft.com/office/drawing/2014/main" id="{B26126E3-E8AD-45E1-A7D2-F3013F1BDBCF}"/>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4</a:t>
            </a:r>
          </a:p>
        </p:txBody>
      </p:sp>
      <p:sp>
        <p:nvSpPr>
          <p:cNvPr id="230" name="3. Nội dung và phương pháp thực hiện">
            <a:extLst xmlns:a="http://schemas.openxmlformats.org/drawingml/2006/main">
              <a:ext uri="{FF2B5EF4-FFF2-40B4-BE49-F238E27FC236}">
                <a16:creationId xmlns:a16="http://schemas.microsoft.com/office/drawing/2014/main" id="{AE201028-A534-4591-A1A1-D8C0FAE20EC5}"/>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3. Nội dung và phương pháp thực hiện</a:t>
            </a:r>
          </a:p>
        </p:txBody>
      </p:sp>
      <p:graphicFrame>
        <p:nvGraphicFramePr>
          <p:cNvPr id="242" name=""/>
          <p:cNvGraphicFramePr/>
          <p:nvPr/>
        </p:nvGraphicFramePr>
        <p:xfrm>
          <a:off xmlns:a="http://schemas.openxmlformats.org/drawingml/2006/main" x="809625" y="2857500"/>
          <a:ext xmlns:a="http://schemas.openxmlformats.org/drawingml/2006/main" cx="16668750" cy="5953125"/>
        </p:xfrm>
        <a:graphic xmlns:a="http://schemas.openxmlformats.org/drawingml/2006/main">
          <a:graphicData uri="http://schemas.openxmlformats.org/drawingml/2006/table">
            <a:tbl>
              <a:tblPr firstRow="0" bandRow="0"/>
              <a:tblGrid>
                <a:gridCol w="4953000"/>
                <a:gridCol w="7239000"/>
                <a:gridCol w="4476750"/>
              </a:tblGrid>
              <a:tr h="1190625">
                <a:tc>
                  <a:txBody>
                    <a:bodyPr lIns="190500" tIns="114300" rIns="171450" bIns="114300">
                      <a:noAutofit/>
                    </a:bodyPr>
                    <a:lstStyle/>
                    <a:p>
                      <a:pPr algn="l"/>
                      <a:r>
                        <a:rPr sz="2550" b="1">
                          <a:solidFill>
                            <a:srgbClr val="FFFFFF"/>
                          </a:solidFill>
                          <a:latin typeface="Arial"/>
                          <a:ea typeface="Arial"/>
                          <a:cs typeface="Arial"/>
                        </a:rPr>
                        <a:t>Nội dung chính</a:t>
                      </a:r>
                    </a:p>
                  </a:txBody>
                  <a:tcPr marL="91440" marR="91440" marT="45720" marB="45720" anchor="ctr">
                    <a:solidFill>
                      <a:srgbClr val="007A60"/>
                    </a:solidFill>
                  </a:tcPr>
                </a:tc>
                <a:tc>
                  <a:txBody>
                    <a:bodyPr lIns="190500" tIns="114300" rIns="171450" bIns="114300">
                      <a:noAutofit/>
                    </a:bodyPr>
                    <a:lstStyle/>
                    <a:p>
                      <a:pPr algn="l"/>
                      <a:r>
                        <a:rPr sz="2550" b="1">
                          <a:solidFill>
                            <a:srgbClr val="FFFFFF"/>
                          </a:solidFill>
                          <a:latin typeface="Arial"/>
                          <a:ea typeface="Arial"/>
                          <a:cs typeface="Arial"/>
                        </a:rPr>
                        <a:t>Phương pháp thực hiện</a:t>
                      </a:r>
                    </a:p>
                  </a:txBody>
                  <a:tcPr marL="91440" marR="91440" marT="45720" marB="45720" anchor="ctr">
                    <a:solidFill>
                      <a:srgbClr val="007A60"/>
                    </a:solidFill>
                  </a:tcPr>
                </a:tc>
                <a:tc>
                  <a:txBody>
                    <a:bodyPr lIns="190500" tIns="114300" rIns="171450" bIns="114300">
                      <a:noAutofit/>
                    </a:bodyPr>
                    <a:lstStyle/>
                    <a:p>
                      <a:pPr algn="l"/>
                      <a:r>
                        <a:rPr sz="2550" b="1">
                          <a:solidFill>
                            <a:srgbClr val="FFFFFF"/>
                          </a:solidFill>
                          <a:latin typeface="Arial"/>
                          <a:ea typeface="Arial"/>
                          <a:cs typeface="Arial"/>
                        </a:rPr>
                        <a:t>Kết quả dự kiến</a:t>
                      </a:r>
                    </a:p>
                  </a:txBody>
                  <a:tcPr marL="91440" marR="91440" marT="45720" marB="45720" anchor="ctr">
                    <a:solidFill>
                      <a:srgbClr val="007A60"/>
                    </a:solidFill>
                  </a:tcPr>
                </a:tc>
              </a:tr>
              <a:tr h="1190625">
                <a:tc>
                  <a:txBody>
                    <a:bodyPr lIns="190500" tIns="114300" rIns="171450" bIns="114300">
                      <a:noAutofit/>
                    </a:bodyPr>
                    <a:lstStyle/>
                    <a:p>
                      <a:pPr algn="l"/>
                      <a:r>
                        <a:rPr sz="2550" b="0">
                          <a:solidFill>
                            <a:srgbClr val="172A2A"/>
                          </a:solidFill>
                          <a:latin typeface="Arial"/>
                          <a:ea typeface="Arial"/>
                          <a:cs typeface="Arial"/>
                        </a:rPr>
                        <a:t>1. Khảo sát và lựa chọn kiến trúc</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Nghiên cứu ISA, đa lõi và tổ chức bộ nhớ. Đối chiếu các thiết kế tham khảo.</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Đặc tả và kiến trúc tổng thể</a:t>
                      </a:r>
                    </a:p>
                  </a:txBody>
                  <a:tcPr marL="91440" marR="91440" marT="45720" marB="45720" anchor="ctr">
                    <a:solidFill>
                      <a:srgbClr val="EDF5F1"/>
                    </a:solidFill>
                  </a:tcPr>
                </a:tc>
              </a:tr>
              <a:tr h="1190625">
                <a:tc>
                  <a:txBody>
                    <a:bodyPr lIns="190500" tIns="114300" rIns="171450" bIns="114300">
                      <a:noAutofit/>
                    </a:bodyPr>
                    <a:lstStyle/>
                    <a:p>
                      <a:pPr algn="l"/>
                      <a:r>
                        <a:rPr sz="2550" b="0">
                          <a:solidFill>
                            <a:srgbClr val="172A2A"/>
                          </a:solidFill>
                          <a:latin typeface="Arial"/>
                          <a:ea typeface="Arial"/>
                          <a:cs typeface="Arial"/>
                        </a:rPr>
                        <a:t>2. Xây dựng lõi đơn</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Hiện thực lõi RV32IMA, cache L1 và MMU. Kiểm tra theo từng khối.</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Lõi đơn hoạt động đúng chức năng</a:t>
                      </a:r>
                    </a:p>
                  </a:txBody>
                  <a:tcPr marL="91440" marR="91440" marT="45720" marB="45720" anchor="ctr">
                    <a:solidFill>
                      <a:srgbClr val="FFFFFF"/>
                    </a:solidFill>
                  </a:tcPr>
                </a:tc>
              </a:tr>
              <a:tr h="1190625">
                <a:tc>
                  <a:txBody>
                    <a:bodyPr lIns="190500" tIns="114300" rIns="171450" bIns="114300">
                      <a:noAutofit/>
                    </a:bodyPr>
                    <a:lstStyle/>
                    <a:p>
                      <a:pPr algn="l"/>
                      <a:r>
                        <a:rPr sz="2550" b="0">
                          <a:solidFill>
                            <a:srgbClr val="172A2A"/>
                          </a:solidFill>
                          <a:latin typeface="Arial"/>
                          <a:ea typeface="Arial"/>
                          <a:cs typeface="Arial"/>
                        </a:rPr>
                        <a:t>3. Tích hợp hệ 4 lõi</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Ghép 4 lõi, L2, MESI và bus AHB/AXI4. Tích hợp DMA, giao tiếp SD/SPI.</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Các lõi chia sẻ dữ liệu nhất quán</a:t>
                      </a:r>
                    </a:p>
                  </a:txBody>
                  <a:tcPr marL="91440" marR="91440" marT="45720" marB="45720" anchor="ctr">
                    <a:solidFill>
                      <a:srgbClr val="EDF5F1"/>
                    </a:solidFill>
                  </a:tcPr>
                </a:tc>
              </a:tr>
              <a:tr h="1190625">
                <a:tc>
                  <a:txBody>
                    <a:bodyPr lIns="190500" tIns="114300" rIns="171450" bIns="114300">
                      <a:noAutofit/>
                    </a:bodyPr>
                    <a:lstStyle/>
                    <a:p>
                      <a:pPr algn="l"/>
                      <a:r>
                        <a:rPr sz="2550" b="0">
                          <a:solidFill>
                            <a:srgbClr val="172A2A"/>
                          </a:solidFill>
                          <a:latin typeface="Arial"/>
                          <a:ea typeface="Arial"/>
                          <a:cs typeface="Arial"/>
                        </a:rPr>
                        <a:t>4. Đánh giá và hoàn thiện</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RTL và UVM cho cache/coherence; tổng hợp Vivado, demo FPGA và đo hiệu năng.</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Demo, báo cáo và kết quả đánh giá</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16162147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1E52C618-F875-1443-64BA-C58F421DF579}"/>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038795DC-7AAE-E472-E8BA-730CCEEFB3FA}"/>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e625b7247f024af1">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5E4B0504-2DDF-65FA-3D44-D48110D62434}"/>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B06BFB91-F606-B659-25E6-2C29A9A32F10}"/>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CA841D89-D962-D472-5C78-26E705C30FC1}"/>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E5A1C7D4-C516-302E-7FA6-1B375E2D0DDE}"/>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50A2744F-E543-77FD-B6C0-9CA16EA10EA7}"/>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a74dd5c7be9c4910">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B3BB28D9-0572-CD5B-DCAD-D077D329E8B7}"/>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5f554eec673f427d">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5">
            <a:extLst xmlns:a="http://schemas.openxmlformats.org/drawingml/2006/main">
              <a:ext uri="{FF2B5EF4-FFF2-40B4-BE49-F238E27FC236}">
                <a16:creationId xmlns:a16="http://schemas.microsoft.com/office/drawing/2014/main" id="{BE0C8041-CAA5-4D04-B057-F4B3E44CF524}"/>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5</a:t>
            </a:r>
          </a:p>
        </p:txBody>
      </p:sp>
      <p:sp>
        <p:nvSpPr>
          <p:cNvPr id="230" name="3. Kiểm chứng và demo hệ thống">
            <a:extLst xmlns:a="http://schemas.openxmlformats.org/drawingml/2006/main">
              <a:ext uri="{FF2B5EF4-FFF2-40B4-BE49-F238E27FC236}">
                <a16:creationId xmlns:a16="http://schemas.microsoft.com/office/drawing/2014/main" id="{FFA52A29-DEC6-455C-9205-B77547CD2501}"/>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3. Kiểm chứng và demo hệ thống</a:t>
            </a:r>
          </a:p>
        </p:txBody>
      </p:sp>
      <p:sp>
        <p:nvSpPr>
          <p:cNvPr id="231" name="Khung sơ đồ">
            <a:extLst xmlns:a="http://schemas.openxmlformats.org/drawingml/2006/main">
              <a:ext uri="{FF2B5EF4-FFF2-40B4-BE49-F238E27FC236}">
                <a16:creationId xmlns:a16="http://schemas.microsoft.com/office/drawing/2014/main" id="{BAB19BE0-ED70-4313-8D36-BB73084F9405}"/>
              </a:ext>
            </a:extLst>
          </p:cNvPr>
          <p:cNvSpPr>
            <a:spLocks xmlns:a="http://schemas.openxmlformats.org/drawingml/2006/main" noGrp="1"/>
          </p:cNvSpPr>
          <p:nvPr/>
        </p:nvSpPr>
        <p:spPr>
          <a:xfrm xmlns:a="http://schemas.openxmlformats.org/drawingml/2006/main">
            <a:off x="809625" y="2762250"/>
            <a:ext cx="7524750" cy="6048375"/>
          </a:xfrm>
          <a:prstGeom xmlns:a="http://schemas.openxmlformats.org/drawingml/2006/main" prst="rect">
            <a:avLst/>
          </a:prstGeom>
          <a:noFill xmlns:a="http://schemas.openxmlformats.org/drawingml/2006/main"/>
          <a:ln xmlns:a="http://schemas.openxmlformats.org/drawingml/2006/main" w="11430">
            <a:solidFill>
              <a:srgbClr val="244E50"/>
            </a:solidFill>
          </a:ln>
        </p:spPr>
      </p:sp>
      <p:sp>
        <p:nvSpPr>
          <p:cNvPr id="232" name="Khung sơ đồ">
            <a:extLst xmlns:a="http://schemas.openxmlformats.org/drawingml/2006/main">
              <a:ext uri="{FF2B5EF4-FFF2-40B4-BE49-F238E27FC236}">
                <a16:creationId xmlns:a16="http://schemas.microsoft.com/office/drawing/2014/main" id="{D48B148E-8502-4B26-BE15-ECEFBB5C3C2F}"/>
              </a:ext>
            </a:extLst>
          </p:cNvPr>
          <p:cNvSpPr>
            <a:spLocks xmlns:a="http://schemas.openxmlformats.org/drawingml/2006/main" noGrp="1"/>
          </p:cNvSpPr>
          <p:nvPr/>
        </p:nvSpPr>
        <p:spPr>
          <a:xfrm xmlns:a="http://schemas.openxmlformats.org/drawingml/2006/main">
            <a:off x="9667875" y="2762250"/>
            <a:ext cx="7524750" cy="6048375"/>
          </a:xfrm>
          <a:prstGeom xmlns:a="http://schemas.openxmlformats.org/drawingml/2006/main" prst="rect">
            <a:avLst/>
          </a:prstGeom>
          <a:noFill xmlns:a="http://schemas.openxmlformats.org/drawingml/2006/main"/>
          <a:ln xmlns:a="http://schemas.openxmlformats.org/drawingml/2006/main" w="11430">
            <a:solidFill>
              <a:srgbClr val="244E50"/>
            </a:solidFill>
          </a:ln>
        </p:spPr>
      </p:sp>
      <p:sp>
        <p:nvSpPr>
          <p:cNvPr id="233" name="Quy trình kiểm chứng">
            <a:extLst xmlns:a="http://schemas.openxmlformats.org/drawingml/2006/main">
              <a:ext uri="{FF2B5EF4-FFF2-40B4-BE49-F238E27FC236}">
                <a16:creationId xmlns:a16="http://schemas.microsoft.com/office/drawing/2014/main" id="{D2C53D73-ED1B-496E-983B-6ECD13F86C1B}"/>
              </a:ext>
            </a:extLst>
          </p:cNvPr>
          <p:cNvSpPr>
            <a:spLocks xmlns:a="http://schemas.openxmlformats.org/drawingml/2006/main" noGrp="1"/>
          </p:cNvSpPr>
          <p:nvPr/>
        </p:nvSpPr>
        <p:spPr>
          <a:xfrm xmlns:a="http://schemas.openxmlformats.org/drawingml/2006/main">
            <a:off x="1047750" y="2990850"/>
            <a:ext cx="704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a:solidFill>
                  <a:srgbClr val="172A2A"/>
                </a:solidFill>
                <a:latin typeface="Arial"/>
                <a:ea typeface="Arial"/>
                <a:cs typeface="Arial"/>
              </a:defRPr>
            </a:pPr>
            <a:r>
              <a:rPr sz="3150" b="1">
                <a:solidFill>
                  <a:srgbClr val="172A2A"/>
                </a:solidFill>
                <a:latin typeface="Arial"/>
                <a:ea typeface="Arial"/>
                <a:cs typeface="Arial"/>
              </a:rPr>
              <a:t>Quy trình kiểm chứng</a:t>
            </a:r>
          </a:p>
        </p:txBody>
      </p:sp>
      <p:sp>
        <p:nvSpPr>
          <p:cNvPr id="234" name="Demo dự kiến trên VCU129">
            <a:extLst xmlns:a="http://schemas.openxmlformats.org/drawingml/2006/main">
              <a:ext uri="{FF2B5EF4-FFF2-40B4-BE49-F238E27FC236}">
                <a16:creationId xmlns:a16="http://schemas.microsoft.com/office/drawing/2014/main" id="{29816292-916C-45EB-941C-08278CCD696E}"/>
              </a:ext>
            </a:extLst>
          </p:cNvPr>
          <p:cNvSpPr>
            <a:spLocks xmlns:a="http://schemas.openxmlformats.org/drawingml/2006/main" noGrp="1"/>
          </p:cNvSpPr>
          <p:nvPr/>
        </p:nvSpPr>
        <p:spPr>
          <a:xfrm xmlns:a="http://schemas.openxmlformats.org/drawingml/2006/main">
            <a:off x="9906000" y="2990850"/>
            <a:ext cx="704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a:solidFill>
                  <a:srgbClr val="172A2A"/>
                </a:solidFill>
                <a:latin typeface="Arial"/>
                <a:ea typeface="Arial"/>
                <a:cs typeface="Arial"/>
              </a:defRPr>
            </a:pPr>
            <a:r>
              <a:rPr sz="3150" b="1">
                <a:solidFill>
                  <a:srgbClr val="172A2A"/>
                </a:solidFill>
                <a:latin typeface="Arial"/>
                <a:ea typeface="Arial"/>
                <a:cs typeface="Arial"/>
              </a:rPr>
              <a:t>Demo dự kiến trên VCU129</a:t>
            </a:r>
          </a:p>
        </p:txBody>
      </p:sp>
      <p:sp>
        <p:nvSpPr>
          <p:cNvPr id="235" name="Khối riêng">
            <a:extLst xmlns:a="http://schemas.openxmlformats.org/drawingml/2006/main">
              <a:ext uri="{FF2B5EF4-FFF2-40B4-BE49-F238E27FC236}">
                <a16:creationId xmlns:a16="http://schemas.microsoft.com/office/drawing/2014/main" id="{FC94ACD2-A76F-4523-B472-5BC13D5FBEBA}"/>
              </a:ext>
            </a:extLst>
          </p:cNvPr>
          <p:cNvSpPr>
            <a:spLocks xmlns:a="http://schemas.openxmlformats.org/drawingml/2006/main" noGrp="1"/>
          </p:cNvSpPr>
          <p:nvPr/>
        </p:nvSpPr>
        <p:spPr>
          <a:xfrm xmlns:a="http://schemas.openxmlformats.org/drawingml/2006/main">
            <a:off x="2381250" y="3857625"/>
            <a:ext cx="4381500" cy="1143000"/>
          </a:xfrm>
          <a:prstGeom xmlns:a="http://schemas.openxmlformats.org/drawingml/2006/main" prst="rect">
            <a:avLst/>
          </a:prstGeom>
          <a:solidFill xmlns:a="http://schemas.openxmlformats.org/drawingml/2006/main">
            <a:srgbClr val="EDF5F1"/>
          </a:solidFill>
          <a:ln xmlns:a="http://schemas.openxmlformats.org/drawingml/2006/main" w="11430">
            <a:solidFill>
              <a:srgbClr val="244E50"/>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775" b="0">
                <a:solidFill>
                  <a:srgbClr val="172A2A"/>
                </a:solidFill>
                <a:latin typeface="Arial"/>
                <a:ea typeface="Arial"/>
                <a:cs typeface="Arial"/>
              </a:defRPr>
            </a:pPr>
            <a:r>
              <a:rPr sz="2775" b="0">
                <a:solidFill>
                  <a:srgbClr val="172A2A"/>
                </a:solidFill>
                <a:latin typeface="Arial"/>
                <a:ea typeface="Arial"/>
                <a:cs typeface="Arial"/>
              </a:rPr>
              <a:t>Khối riêng</a:t>
            </a:r>
          </a:p>
        </p:txBody>
      </p:sp>
      <p:sp>
        <p:nvSpPr>
          <p:cNvPr id="236" name="Lõi đơn">
            <a:extLst xmlns:a="http://schemas.openxmlformats.org/drawingml/2006/main">
              <a:ext uri="{FF2B5EF4-FFF2-40B4-BE49-F238E27FC236}">
                <a16:creationId xmlns:a16="http://schemas.microsoft.com/office/drawing/2014/main" id="{23DD3685-EC45-4C3A-91E3-E1C5A1B4C3C1}"/>
              </a:ext>
            </a:extLst>
          </p:cNvPr>
          <p:cNvSpPr>
            <a:spLocks xmlns:a="http://schemas.openxmlformats.org/drawingml/2006/main" noGrp="1"/>
          </p:cNvSpPr>
          <p:nvPr/>
        </p:nvSpPr>
        <p:spPr>
          <a:xfrm xmlns:a="http://schemas.openxmlformats.org/drawingml/2006/main">
            <a:off x="2381250" y="5667375"/>
            <a:ext cx="4381500" cy="1143000"/>
          </a:xfrm>
          <a:prstGeom xmlns:a="http://schemas.openxmlformats.org/drawingml/2006/main" prst="rect">
            <a:avLst/>
          </a:prstGeom>
          <a:solidFill xmlns:a="http://schemas.openxmlformats.org/drawingml/2006/main">
            <a:srgbClr val="EDF5F1"/>
          </a:solidFill>
          <a:ln xmlns:a="http://schemas.openxmlformats.org/drawingml/2006/main" w="11430">
            <a:solidFill>
              <a:srgbClr val="244E50"/>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775" b="0">
                <a:solidFill>
                  <a:srgbClr val="172A2A"/>
                </a:solidFill>
                <a:latin typeface="Arial"/>
                <a:ea typeface="Arial"/>
                <a:cs typeface="Arial"/>
              </a:defRPr>
            </a:pPr>
            <a:r>
              <a:rPr sz="2775" b="0">
                <a:solidFill>
                  <a:srgbClr val="172A2A"/>
                </a:solidFill>
                <a:latin typeface="Arial"/>
                <a:ea typeface="Arial"/>
                <a:cs typeface="Arial"/>
              </a:rPr>
              <a:t>Lõi đơn</a:t>
            </a:r>
          </a:p>
        </p:txBody>
      </p:sp>
      <p:sp>
        <p:nvSpPr>
          <p:cNvPr id="237" name="Hệ 4 lõi">
            <a:extLst xmlns:a="http://schemas.openxmlformats.org/drawingml/2006/main">
              <a:ext uri="{FF2B5EF4-FFF2-40B4-BE49-F238E27FC236}">
                <a16:creationId xmlns:a16="http://schemas.microsoft.com/office/drawing/2014/main" id="{0574405B-BD76-4A02-8D9A-91E75004F20C}"/>
              </a:ext>
            </a:extLst>
          </p:cNvPr>
          <p:cNvSpPr>
            <a:spLocks xmlns:a="http://schemas.openxmlformats.org/drawingml/2006/main" noGrp="1"/>
          </p:cNvSpPr>
          <p:nvPr/>
        </p:nvSpPr>
        <p:spPr>
          <a:xfrm xmlns:a="http://schemas.openxmlformats.org/drawingml/2006/main">
            <a:off x="2381250" y="7477125"/>
            <a:ext cx="4381500" cy="1143000"/>
          </a:xfrm>
          <a:prstGeom xmlns:a="http://schemas.openxmlformats.org/drawingml/2006/main" prst="rect">
            <a:avLst/>
          </a:prstGeom>
          <a:solidFill xmlns:a="http://schemas.openxmlformats.org/drawingml/2006/main">
            <a:srgbClr val="EDF5F1"/>
          </a:solidFill>
          <a:ln xmlns:a="http://schemas.openxmlformats.org/drawingml/2006/main" w="11430">
            <a:solidFill>
              <a:srgbClr val="244E50"/>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775" b="0">
                <a:solidFill>
                  <a:srgbClr val="172A2A"/>
                </a:solidFill>
                <a:latin typeface="Arial"/>
                <a:ea typeface="Arial"/>
                <a:cs typeface="Arial"/>
              </a:defRPr>
            </a:pPr>
            <a:r>
              <a:rPr sz="2775" b="0">
                <a:solidFill>
                  <a:srgbClr val="172A2A"/>
                </a:solidFill>
                <a:latin typeface="Arial"/>
                <a:ea typeface="Arial"/>
                <a:cs typeface="Arial"/>
              </a:rPr>
              <a:t>Hệ 4 lõi</a:t>
            </a:r>
          </a:p>
        </p:txBody>
      </p:sp>
      <p:cxnSp>
        <p:nvCxnSpPr>
          <p:cNvPr id="277" name=""/>
          <p:cNvCxnSpPr>
            <a:stCxn xmlns:a="http://schemas.openxmlformats.org/drawingml/2006/main" id="235" idx="2"/>
            <a:endCxn xmlns:a="http://schemas.openxmlformats.org/drawingml/2006/main" id="236" idx="0"/>
          </p:cNvCxnSpPr>
          <p:nvPr/>
        </p:nvCxnSpPr>
        <p:spPr>
          <a:xfrm xmlns:a="http://schemas.openxmlformats.org/drawingml/2006/main">
            <a:off x="4572000" y="5000625"/>
            <a:ext cx="0" cy="666750"/>
          </a:xfrm>
          <a:prstGeom xmlns:a="http://schemas.openxmlformats.org/drawingml/2006/main" prst="straightConnector1">
            <a:avLst/>
          </a:prstGeom>
          <a:ln xmlns:a="http://schemas.openxmlformats.org/drawingml/2006/main" w="16193">
            <a:solidFill>
              <a:srgbClr val="244E50"/>
            </a:solidFill>
            <a:headEnd type="triangle" w="sm" len="sm"/>
          </a:ln>
        </p:spPr>
      </p:cxnSp>
      <p:cxnSp>
        <p:nvCxnSpPr>
          <p:cNvPr id="278" name=""/>
          <p:cNvCxnSpPr>
            <a:stCxn xmlns:a="http://schemas.openxmlformats.org/drawingml/2006/main" id="236" idx="2"/>
            <a:endCxn xmlns:a="http://schemas.openxmlformats.org/drawingml/2006/main" id="237" idx="0"/>
          </p:cNvCxnSpPr>
          <p:nvPr/>
        </p:nvCxnSpPr>
        <p:spPr>
          <a:xfrm xmlns:a="http://schemas.openxmlformats.org/drawingml/2006/main">
            <a:off x="4572000" y="6810375"/>
            <a:ext cx="0" cy="666750"/>
          </a:xfrm>
          <a:prstGeom xmlns:a="http://schemas.openxmlformats.org/drawingml/2006/main" prst="straightConnector1">
            <a:avLst/>
          </a:prstGeom>
          <a:ln xmlns:a="http://schemas.openxmlformats.org/drawingml/2006/main" w="16193">
            <a:solidFill>
              <a:srgbClr val="244E50"/>
            </a:solidFill>
            <a:headEnd type="triangle" w="sm" len="sm"/>
          </a:ln>
        </p:spPr>
      </p:cxnSp>
      <p:sp>
        <p:nvSpPr>
          <p:cNvPr id="240" name="PASS">
            <a:extLst xmlns:a="http://schemas.openxmlformats.org/drawingml/2006/main">
              <a:ext uri="{FF2B5EF4-FFF2-40B4-BE49-F238E27FC236}">
                <a16:creationId xmlns:a16="http://schemas.microsoft.com/office/drawing/2014/main" id="{E774E51E-1A28-402D-8779-4B660C8036E0}"/>
              </a:ext>
            </a:extLst>
          </p:cNvPr>
          <p:cNvSpPr>
            <a:spLocks xmlns:a="http://schemas.openxmlformats.org/drawingml/2006/main" noGrp="1"/>
          </p:cNvSpPr>
          <p:nvPr/>
        </p:nvSpPr>
        <p:spPr>
          <a:xfrm xmlns:a="http://schemas.openxmlformats.org/drawingml/2006/main">
            <a:off x="4857750" y="5191125"/>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007A60"/>
                </a:solidFill>
                <a:latin typeface="Arial"/>
                <a:ea typeface="Arial"/>
                <a:cs typeface="Arial"/>
              </a:defRPr>
            </a:pPr>
            <a:r>
              <a:rPr sz="2175" b="0">
                <a:solidFill>
                  <a:srgbClr val="007A60"/>
                </a:solidFill>
                <a:latin typeface="Arial"/>
                <a:ea typeface="Arial"/>
                <a:cs typeface="Arial"/>
              </a:rPr>
              <a:t>PASS</a:t>
            </a:r>
          </a:p>
        </p:txBody>
      </p:sp>
      <p:sp>
        <p:nvSpPr>
          <p:cNvPr id="241" name="PASS">
            <a:extLst xmlns:a="http://schemas.openxmlformats.org/drawingml/2006/main">
              <a:ext uri="{FF2B5EF4-FFF2-40B4-BE49-F238E27FC236}">
                <a16:creationId xmlns:a16="http://schemas.microsoft.com/office/drawing/2014/main" id="{3DCDC2F5-3243-4CF6-84A9-F6E888497E23}"/>
              </a:ext>
            </a:extLst>
          </p:cNvPr>
          <p:cNvSpPr>
            <a:spLocks xmlns:a="http://schemas.openxmlformats.org/drawingml/2006/main" noGrp="1"/>
          </p:cNvSpPr>
          <p:nvPr/>
        </p:nvSpPr>
        <p:spPr>
          <a:xfrm xmlns:a="http://schemas.openxmlformats.org/drawingml/2006/main">
            <a:off x="4857750" y="7000875"/>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007A60"/>
                </a:solidFill>
                <a:latin typeface="Arial"/>
                <a:ea typeface="Arial"/>
                <a:cs typeface="Arial"/>
              </a:defRPr>
            </a:pPr>
            <a:r>
              <a:rPr sz="2175" b="0">
                <a:solidFill>
                  <a:srgbClr val="007A60"/>
                </a:solidFill>
                <a:latin typeface="Arial"/>
                <a:ea typeface="Arial"/>
                <a:cs typeface="Arial"/>
              </a:rPr>
              <a:t>PASS</a:t>
            </a:r>
          </a:p>
        </p:txBody>
      </p:sp>
      <p:sp>
        <p:nvSpPr>
          <p:cNvPr id="242" name="Điểm nối nhánh kiểm tra lại">
            <a:extLst xmlns:a="http://schemas.openxmlformats.org/drawingml/2006/main">
              <a:ext uri="{FF2B5EF4-FFF2-40B4-BE49-F238E27FC236}">
                <a16:creationId xmlns:a16="http://schemas.microsoft.com/office/drawing/2014/main" id="{CF4FC70D-6832-487D-BB68-B83C5ABA6E3F}"/>
              </a:ext>
            </a:extLst>
          </p:cNvPr>
          <p:cNvSpPr>
            <a:spLocks xmlns:a="http://schemas.openxmlformats.org/drawingml/2006/main" noGrp="1"/>
          </p:cNvSpPr>
          <p:nvPr/>
        </p:nvSpPr>
        <p:spPr>
          <a:xfrm xmlns:a="http://schemas.openxmlformats.org/drawingml/2006/main">
            <a:off x="1476375" y="6238875"/>
            <a:ext cx="953" cy="953"/>
          </a:xfrm>
          <a:prstGeom xmlns:a="http://schemas.openxmlformats.org/drawingml/2006/main" prst="rect">
            <a:avLst/>
          </a:prstGeom>
          <a:noFill xmlns:a="http://schemas.openxmlformats.org/drawingml/2006/main"/>
          <a:ln xmlns:a="http://schemas.openxmlformats.org/drawingml/2006/main" w="0">
            <a:noFill/>
          </a:ln>
        </p:spPr>
      </p:sp>
      <p:sp>
        <p:nvSpPr>
          <p:cNvPr id="243" name="Điểm nối nhánh kiểm tra lại">
            <a:extLst xmlns:a="http://schemas.openxmlformats.org/drawingml/2006/main">
              <a:ext uri="{FF2B5EF4-FFF2-40B4-BE49-F238E27FC236}">
                <a16:creationId xmlns:a16="http://schemas.microsoft.com/office/drawing/2014/main" id="{2DC18796-1CB1-44E4-881C-E7812A82EEA7}"/>
              </a:ext>
            </a:extLst>
          </p:cNvPr>
          <p:cNvSpPr>
            <a:spLocks xmlns:a="http://schemas.openxmlformats.org/drawingml/2006/main" noGrp="1"/>
          </p:cNvSpPr>
          <p:nvPr/>
        </p:nvSpPr>
        <p:spPr>
          <a:xfrm xmlns:a="http://schemas.openxmlformats.org/drawingml/2006/main">
            <a:off x="1476375" y="44291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83" name=""/>
          <p:cNvCxnSpPr>
            <a:stCxn xmlns:a="http://schemas.openxmlformats.org/drawingml/2006/main" id="236" idx="1"/>
            <a:endCxn xmlns:a="http://schemas.openxmlformats.org/drawingml/2006/main" id="242" idx="3"/>
          </p:cNvCxnSpPr>
          <p:nvPr/>
        </p:nvCxnSpPr>
        <p:spPr>
          <a:xfrm xmlns:a="http://schemas.openxmlformats.org/drawingml/2006/main" flipH="1">
            <a:off x="1477328" y="6238875"/>
            <a:ext cx="903922" cy="477"/>
          </a:xfrm>
          <a:prstGeom xmlns:a="http://schemas.openxmlformats.org/drawingml/2006/main" prst="straightConnector1">
            <a:avLst/>
          </a:prstGeom>
          <a:ln xmlns:a="http://schemas.openxmlformats.org/drawingml/2006/main" w="16193">
            <a:solidFill>
              <a:srgbClr val="244E50"/>
            </a:solidFill>
            <a:headEnd type="none" w="sm" len="sm"/>
          </a:ln>
        </p:spPr>
      </p:cxnSp>
      <p:cxnSp>
        <p:nvCxnSpPr>
          <p:cNvPr id="284" name=""/>
          <p:cNvCxnSpPr>
            <a:stCxn xmlns:a="http://schemas.openxmlformats.org/drawingml/2006/main" id="242" idx="0"/>
            <a:endCxn xmlns:a="http://schemas.openxmlformats.org/drawingml/2006/main" id="243" idx="2"/>
          </p:cNvCxnSpPr>
          <p:nvPr/>
        </p:nvCxnSpPr>
        <p:spPr>
          <a:xfrm xmlns:a="http://schemas.openxmlformats.org/drawingml/2006/main" flipV="1">
            <a:off x="1476852" y="4430078"/>
            <a:ext cx="0" cy="1808797"/>
          </a:xfrm>
          <a:prstGeom xmlns:a="http://schemas.openxmlformats.org/drawingml/2006/main" prst="straightConnector1">
            <a:avLst/>
          </a:prstGeom>
          <a:ln xmlns:a="http://schemas.openxmlformats.org/drawingml/2006/main" w="16193">
            <a:solidFill>
              <a:srgbClr val="244E50"/>
            </a:solidFill>
            <a:headEnd type="none" w="sm" len="sm"/>
          </a:ln>
        </p:spPr>
      </p:cxnSp>
      <p:cxnSp>
        <p:nvCxnSpPr>
          <p:cNvPr id="285" name=""/>
          <p:cNvCxnSpPr>
            <a:stCxn xmlns:a="http://schemas.openxmlformats.org/drawingml/2006/main" id="243" idx="3"/>
            <a:endCxn xmlns:a="http://schemas.openxmlformats.org/drawingml/2006/main" id="235" idx="1"/>
          </p:cNvCxnSpPr>
          <p:nvPr/>
        </p:nvCxnSpPr>
        <p:spPr>
          <a:xfrm xmlns:a="http://schemas.openxmlformats.org/drawingml/2006/main" flipV="1">
            <a:off x="1477328" y="4429125"/>
            <a:ext cx="903922" cy="476"/>
          </a:xfrm>
          <a:prstGeom xmlns:a="http://schemas.openxmlformats.org/drawingml/2006/main" prst="straightConnector1">
            <a:avLst/>
          </a:prstGeom>
          <a:ln xmlns:a="http://schemas.openxmlformats.org/drawingml/2006/main" w="16193">
            <a:solidFill>
              <a:srgbClr val="244E50"/>
            </a:solidFill>
            <a:headEnd type="triangle" w="sm" len="sm"/>
          </a:ln>
        </p:spPr>
      </p:cxnSp>
      <p:sp>
        <p:nvSpPr>
          <p:cNvPr id="247" name="FAIL">
            <a:extLst xmlns:a="http://schemas.openxmlformats.org/drawingml/2006/main">
              <a:ext uri="{FF2B5EF4-FFF2-40B4-BE49-F238E27FC236}">
                <a16:creationId xmlns:a16="http://schemas.microsoft.com/office/drawing/2014/main" id="{C2F262E6-5152-4B4E-8F1B-9EBC81553277}"/>
              </a:ext>
            </a:extLst>
          </p:cNvPr>
          <p:cNvSpPr>
            <a:spLocks xmlns:a="http://schemas.openxmlformats.org/drawingml/2006/main" noGrp="1"/>
          </p:cNvSpPr>
          <p:nvPr/>
        </p:nvSpPr>
        <p:spPr>
          <a:xfrm xmlns:a="http://schemas.openxmlformats.org/drawingml/2006/main">
            <a:off x="1000125" y="5219700"/>
            <a:ext cx="119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15E"/>
                </a:solidFill>
                <a:latin typeface="Arial"/>
                <a:ea typeface="Arial"/>
                <a:cs typeface="Arial"/>
              </a:defRPr>
            </a:pPr>
            <a:r>
              <a:rPr sz="2175" b="0">
                <a:solidFill>
                  <a:srgbClr val="52615E"/>
                </a:solidFill>
                <a:latin typeface="Arial"/>
                <a:ea typeface="Arial"/>
                <a:cs typeface="Arial"/>
              </a:rPr>
              <a:t>FAIL</a:t>
            </a:r>
          </a:p>
        </p:txBody>
      </p:sp>
      <p:sp>
        <p:nvSpPr>
          <p:cNvPr id="248" name="Điểm nối nhánh kiểm tra lại">
            <a:extLst xmlns:a="http://schemas.openxmlformats.org/drawingml/2006/main">
              <a:ext uri="{FF2B5EF4-FFF2-40B4-BE49-F238E27FC236}">
                <a16:creationId xmlns:a16="http://schemas.microsoft.com/office/drawing/2014/main" id="{D0D7C881-5360-4C16-8DA5-FF1BBB872341}"/>
              </a:ext>
            </a:extLst>
          </p:cNvPr>
          <p:cNvSpPr>
            <a:spLocks xmlns:a="http://schemas.openxmlformats.org/drawingml/2006/main" noGrp="1"/>
          </p:cNvSpPr>
          <p:nvPr/>
        </p:nvSpPr>
        <p:spPr>
          <a:xfrm xmlns:a="http://schemas.openxmlformats.org/drawingml/2006/main">
            <a:off x="7715250" y="8048625"/>
            <a:ext cx="953" cy="953"/>
          </a:xfrm>
          <a:prstGeom xmlns:a="http://schemas.openxmlformats.org/drawingml/2006/main" prst="rect">
            <a:avLst/>
          </a:prstGeom>
          <a:noFill xmlns:a="http://schemas.openxmlformats.org/drawingml/2006/main"/>
          <a:ln xmlns:a="http://schemas.openxmlformats.org/drawingml/2006/main" w="0">
            <a:noFill/>
          </a:ln>
        </p:spPr>
      </p:sp>
      <p:sp>
        <p:nvSpPr>
          <p:cNvPr id="249" name="Điểm nối nhánh kiểm tra lại">
            <a:extLst xmlns:a="http://schemas.openxmlformats.org/drawingml/2006/main">
              <a:ext uri="{FF2B5EF4-FFF2-40B4-BE49-F238E27FC236}">
                <a16:creationId xmlns:a16="http://schemas.microsoft.com/office/drawing/2014/main" id="{FCBA8F99-53CE-4C3E-9289-FA90A3782621}"/>
              </a:ext>
            </a:extLst>
          </p:cNvPr>
          <p:cNvSpPr>
            <a:spLocks xmlns:a="http://schemas.openxmlformats.org/drawingml/2006/main" noGrp="1"/>
          </p:cNvSpPr>
          <p:nvPr/>
        </p:nvSpPr>
        <p:spPr>
          <a:xfrm xmlns:a="http://schemas.openxmlformats.org/drawingml/2006/main">
            <a:off x="7715250" y="44291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89" name=""/>
          <p:cNvCxnSpPr>
            <a:stCxn xmlns:a="http://schemas.openxmlformats.org/drawingml/2006/main" id="237" idx="3"/>
            <a:endCxn xmlns:a="http://schemas.openxmlformats.org/drawingml/2006/main" id="248" idx="1"/>
          </p:cNvCxnSpPr>
          <p:nvPr/>
        </p:nvCxnSpPr>
        <p:spPr>
          <a:xfrm xmlns:a="http://schemas.openxmlformats.org/drawingml/2006/main">
            <a:off x="6762750" y="8048625"/>
            <a:ext cx="952500" cy="477"/>
          </a:xfrm>
          <a:prstGeom xmlns:a="http://schemas.openxmlformats.org/drawingml/2006/main" prst="straightConnector1">
            <a:avLst/>
          </a:prstGeom>
          <a:ln xmlns:a="http://schemas.openxmlformats.org/drawingml/2006/main" w="16193">
            <a:solidFill>
              <a:srgbClr val="244E50"/>
            </a:solidFill>
            <a:headEnd type="none" w="sm" len="sm"/>
          </a:ln>
        </p:spPr>
      </p:cxnSp>
      <p:cxnSp>
        <p:nvCxnSpPr>
          <p:cNvPr id="290" name=""/>
          <p:cNvCxnSpPr>
            <a:stCxn xmlns:a="http://schemas.openxmlformats.org/drawingml/2006/main" id="248" idx="0"/>
            <a:endCxn xmlns:a="http://schemas.openxmlformats.org/drawingml/2006/main" id="249" idx="2"/>
          </p:cNvCxnSpPr>
          <p:nvPr/>
        </p:nvCxnSpPr>
        <p:spPr>
          <a:xfrm xmlns:a="http://schemas.openxmlformats.org/drawingml/2006/main" flipV="1">
            <a:off x="7715727" y="4430078"/>
            <a:ext cx="0" cy="3618547"/>
          </a:xfrm>
          <a:prstGeom xmlns:a="http://schemas.openxmlformats.org/drawingml/2006/main" prst="straightConnector1">
            <a:avLst/>
          </a:prstGeom>
          <a:ln xmlns:a="http://schemas.openxmlformats.org/drawingml/2006/main" w="16193">
            <a:solidFill>
              <a:srgbClr val="244E50"/>
            </a:solidFill>
            <a:headEnd type="none" w="sm" len="sm"/>
          </a:ln>
        </p:spPr>
      </p:cxnSp>
      <p:cxnSp>
        <p:nvCxnSpPr>
          <p:cNvPr id="291" name=""/>
          <p:cNvCxnSpPr>
            <a:stCxn xmlns:a="http://schemas.openxmlformats.org/drawingml/2006/main" id="249" idx="1"/>
            <a:endCxn xmlns:a="http://schemas.openxmlformats.org/drawingml/2006/main" id="235" idx="3"/>
          </p:cNvCxnSpPr>
          <p:nvPr/>
        </p:nvCxnSpPr>
        <p:spPr>
          <a:xfrm xmlns:a="http://schemas.openxmlformats.org/drawingml/2006/main" flipH="1" flipV="1">
            <a:off x="6762750" y="4429125"/>
            <a:ext cx="952500" cy="476"/>
          </a:xfrm>
          <a:prstGeom xmlns:a="http://schemas.openxmlformats.org/drawingml/2006/main" prst="straightConnector1">
            <a:avLst/>
          </a:prstGeom>
          <a:ln xmlns:a="http://schemas.openxmlformats.org/drawingml/2006/main" w="16193">
            <a:solidFill>
              <a:srgbClr val="244E50"/>
            </a:solidFill>
            <a:headEnd type="triangle" w="sm" len="sm"/>
          </a:ln>
        </p:spPr>
      </p:cxnSp>
      <p:sp>
        <p:nvSpPr>
          <p:cNvPr id="253" name="FAIL">
            <a:extLst xmlns:a="http://schemas.openxmlformats.org/drawingml/2006/main">
              <a:ext uri="{FF2B5EF4-FFF2-40B4-BE49-F238E27FC236}">
                <a16:creationId xmlns:a16="http://schemas.microsoft.com/office/drawing/2014/main" id="{06209AA2-3DA5-4095-9906-C0CB8D625056}"/>
              </a:ext>
            </a:extLst>
          </p:cNvPr>
          <p:cNvSpPr>
            <a:spLocks xmlns:a="http://schemas.openxmlformats.org/drawingml/2006/main" noGrp="1"/>
          </p:cNvSpPr>
          <p:nvPr/>
        </p:nvSpPr>
        <p:spPr>
          <a:xfrm xmlns:a="http://schemas.openxmlformats.org/drawingml/2006/main">
            <a:off x="7000875" y="615315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15E"/>
                </a:solidFill>
                <a:latin typeface="Arial"/>
                <a:ea typeface="Arial"/>
                <a:cs typeface="Arial"/>
              </a:defRPr>
            </a:pPr>
            <a:r>
              <a:rPr sz="2175" b="0">
                <a:solidFill>
                  <a:srgbClr val="52615E"/>
                </a:solidFill>
                <a:latin typeface="Arial"/>
                <a:ea typeface="Arial"/>
                <a:cs typeface="Arial"/>
              </a:rPr>
              <a:t>FAIL</a:t>
            </a:r>
          </a:p>
        </p:txBody>
      </p:sp>
      <p:sp>
        <p:nvSpPr>
          <p:cNvPr id="254" name="SD/SPI → DMA → DRAM">
            <a:extLst xmlns:a="http://schemas.openxmlformats.org/drawingml/2006/main">
              <a:ext uri="{FF2B5EF4-FFF2-40B4-BE49-F238E27FC236}">
                <a16:creationId xmlns:a16="http://schemas.microsoft.com/office/drawing/2014/main" id="{1E8ABE25-DEB5-4974-9232-C56CEFE717F1}"/>
              </a:ext>
            </a:extLst>
          </p:cNvPr>
          <p:cNvSpPr>
            <a:spLocks xmlns:a="http://schemas.openxmlformats.org/drawingml/2006/main" noGrp="1"/>
          </p:cNvSpPr>
          <p:nvPr/>
        </p:nvSpPr>
        <p:spPr>
          <a:xfrm xmlns:a="http://schemas.openxmlformats.org/drawingml/2006/main">
            <a:off x="11239500" y="3857625"/>
            <a:ext cx="4381500" cy="1143000"/>
          </a:xfrm>
          <a:prstGeom xmlns:a="http://schemas.openxmlformats.org/drawingml/2006/main" prst="rect">
            <a:avLst/>
          </a:prstGeom>
          <a:solidFill xmlns:a="http://schemas.openxmlformats.org/drawingml/2006/main">
            <a:srgbClr val="EDF5F1"/>
          </a:solidFill>
          <a:ln xmlns:a="http://schemas.openxmlformats.org/drawingml/2006/main" w="11430">
            <a:solidFill>
              <a:srgbClr val="244E50"/>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625" b="0">
                <a:solidFill>
                  <a:srgbClr val="172A2A"/>
                </a:solidFill>
                <a:latin typeface="Arial"/>
                <a:ea typeface="Arial"/>
                <a:cs typeface="Arial"/>
              </a:defRPr>
            </a:pPr>
            <a:r>
              <a:rPr sz="2625" b="0">
                <a:solidFill>
                  <a:srgbClr val="172A2A"/>
                </a:solidFill>
                <a:latin typeface="Arial"/>
                <a:ea typeface="Arial"/>
                <a:cs typeface="Arial"/>
              </a:rPr>
              <a:t>SD/SPI → DMA → DRAM</a:t>
            </a:r>
          </a:p>
        </p:txBody>
      </p:sp>
      <p:sp>
        <p:nvSpPr>
          <p:cNvPr id="255" name="CPU 4 lõi thực thi">
            <a:extLst xmlns:a="http://schemas.openxmlformats.org/drawingml/2006/main">
              <a:ext uri="{FF2B5EF4-FFF2-40B4-BE49-F238E27FC236}">
                <a16:creationId xmlns:a16="http://schemas.microsoft.com/office/drawing/2014/main" id="{FEC4F514-7A0D-4D66-938A-151EBDE0C25B}"/>
              </a:ext>
            </a:extLst>
          </p:cNvPr>
          <p:cNvSpPr>
            <a:spLocks xmlns:a="http://schemas.openxmlformats.org/drawingml/2006/main" noGrp="1"/>
          </p:cNvSpPr>
          <p:nvPr/>
        </p:nvSpPr>
        <p:spPr>
          <a:xfrm xmlns:a="http://schemas.openxmlformats.org/drawingml/2006/main">
            <a:off x="11239500" y="5667375"/>
            <a:ext cx="4381500" cy="1143000"/>
          </a:xfrm>
          <a:prstGeom xmlns:a="http://schemas.openxmlformats.org/drawingml/2006/main" prst="rect">
            <a:avLst/>
          </a:prstGeom>
          <a:solidFill xmlns:a="http://schemas.openxmlformats.org/drawingml/2006/main">
            <a:srgbClr val="EDF5F1"/>
          </a:solidFill>
          <a:ln xmlns:a="http://schemas.openxmlformats.org/drawingml/2006/main" w="11430">
            <a:solidFill>
              <a:srgbClr val="244E50"/>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775" b="0">
                <a:solidFill>
                  <a:srgbClr val="172A2A"/>
                </a:solidFill>
                <a:latin typeface="Arial"/>
                <a:ea typeface="Arial"/>
                <a:cs typeface="Arial"/>
              </a:defRPr>
            </a:pPr>
            <a:r>
              <a:rPr sz="2775" b="0">
                <a:solidFill>
                  <a:srgbClr val="172A2A"/>
                </a:solidFill>
                <a:latin typeface="Arial"/>
                <a:ea typeface="Arial"/>
                <a:cs typeface="Arial"/>
              </a:rPr>
              <a:t>CPU 4 lõi thực thi</a:t>
            </a:r>
          </a:p>
        </p:txBody>
      </p:sp>
      <p:sp>
        <p:nvSpPr>
          <p:cNvPr id="256" name="Ghi kết quả về SD">
            <a:extLst xmlns:a="http://schemas.openxmlformats.org/drawingml/2006/main">
              <a:ext uri="{FF2B5EF4-FFF2-40B4-BE49-F238E27FC236}">
                <a16:creationId xmlns:a16="http://schemas.microsoft.com/office/drawing/2014/main" id="{7AFA895A-271A-42C7-B2A4-9E899CF98217}"/>
              </a:ext>
            </a:extLst>
          </p:cNvPr>
          <p:cNvSpPr>
            <a:spLocks xmlns:a="http://schemas.openxmlformats.org/drawingml/2006/main" noGrp="1"/>
          </p:cNvSpPr>
          <p:nvPr/>
        </p:nvSpPr>
        <p:spPr>
          <a:xfrm xmlns:a="http://schemas.openxmlformats.org/drawingml/2006/main">
            <a:off x="11239500" y="7477125"/>
            <a:ext cx="4381500" cy="1143000"/>
          </a:xfrm>
          <a:prstGeom xmlns:a="http://schemas.openxmlformats.org/drawingml/2006/main" prst="rect">
            <a:avLst/>
          </a:prstGeom>
          <a:solidFill xmlns:a="http://schemas.openxmlformats.org/drawingml/2006/main">
            <a:srgbClr val="EDF5F1"/>
          </a:solidFill>
          <a:ln xmlns:a="http://schemas.openxmlformats.org/drawingml/2006/main" w="11430">
            <a:solidFill>
              <a:srgbClr val="244E50"/>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775" b="0">
                <a:solidFill>
                  <a:srgbClr val="172A2A"/>
                </a:solidFill>
                <a:latin typeface="Arial"/>
                <a:ea typeface="Arial"/>
                <a:cs typeface="Arial"/>
              </a:defRPr>
            </a:pPr>
            <a:r>
              <a:rPr sz="2775" b="0">
                <a:solidFill>
                  <a:srgbClr val="172A2A"/>
                </a:solidFill>
                <a:latin typeface="Arial"/>
                <a:ea typeface="Arial"/>
                <a:cs typeface="Arial"/>
              </a:rPr>
              <a:t>Ghi kết quả về SD</a:t>
            </a:r>
          </a:p>
        </p:txBody>
      </p:sp>
      <p:cxnSp>
        <p:nvCxnSpPr>
          <p:cNvPr id="296" name=""/>
          <p:cNvCxnSpPr>
            <a:stCxn xmlns:a="http://schemas.openxmlformats.org/drawingml/2006/main" id="254" idx="2"/>
            <a:endCxn xmlns:a="http://schemas.openxmlformats.org/drawingml/2006/main" id="255" idx="0"/>
          </p:cNvCxnSpPr>
          <p:nvPr/>
        </p:nvCxnSpPr>
        <p:spPr>
          <a:xfrm xmlns:a="http://schemas.openxmlformats.org/drawingml/2006/main">
            <a:off x="13430250" y="5000625"/>
            <a:ext cx="0" cy="666750"/>
          </a:xfrm>
          <a:prstGeom xmlns:a="http://schemas.openxmlformats.org/drawingml/2006/main" prst="straightConnector1">
            <a:avLst/>
          </a:prstGeom>
          <a:ln xmlns:a="http://schemas.openxmlformats.org/drawingml/2006/main" w="16193">
            <a:solidFill>
              <a:srgbClr val="244E50"/>
            </a:solidFill>
            <a:headEnd type="triangle" w="sm" len="sm"/>
          </a:ln>
        </p:spPr>
      </p:cxnSp>
      <p:cxnSp>
        <p:nvCxnSpPr>
          <p:cNvPr id="297" name=""/>
          <p:cNvCxnSpPr>
            <a:stCxn xmlns:a="http://schemas.openxmlformats.org/drawingml/2006/main" id="255" idx="2"/>
            <a:endCxn xmlns:a="http://schemas.openxmlformats.org/drawingml/2006/main" id="256" idx="0"/>
          </p:cNvCxnSpPr>
          <p:nvPr/>
        </p:nvCxnSpPr>
        <p:spPr>
          <a:xfrm xmlns:a="http://schemas.openxmlformats.org/drawingml/2006/main">
            <a:off x="13430250" y="6810375"/>
            <a:ext cx="0" cy="666750"/>
          </a:xfrm>
          <a:prstGeom xmlns:a="http://schemas.openxmlformats.org/drawingml/2006/main" prst="straightConnector1">
            <a:avLst/>
          </a:prstGeom>
          <a:ln xmlns:a="http://schemas.openxmlformats.org/drawingml/2006/main" w="16193">
            <a:solidFill>
              <a:srgbClr val="244E50"/>
            </a:solidFill>
            <a:headEnd type="triangle" w="sm" len="sm"/>
          </a:ln>
        </p:spPr>
      </p:cxnSp>
      <p:sp>
        <p:nvSpPr>
          <p:cNvPr id="259" name="Testbench tự kiểm tra • UVM cho cache/coherence • Spike đối chiếu thực">
            <a:extLst xmlns:a="http://schemas.openxmlformats.org/drawingml/2006/main">
              <a:ext uri="{FF2B5EF4-FFF2-40B4-BE49-F238E27FC236}">
                <a16:creationId xmlns:a16="http://schemas.microsoft.com/office/drawing/2014/main" id="{A23DA450-87A8-45DC-A620-C798F33EED48}"/>
              </a:ext>
            </a:extLst>
          </p:cNvPr>
          <p:cNvSpPr>
            <a:spLocks xmlns:a="http://schemas.openxmlformats.org/drawingml/2006/main" noGrp="1"/>
          </p:cNvSpPr>
          <p:nvPr/>
        </p:nvSpPr>
        <p:spPr>
          <a:xfrm xmlns:a="http://schemas.openxmlformats.org/drawingml/2006/main">
            <a:off x="809625" y="9096375"/>
            <a:ext cx="1657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15E"/>
                </a:solidFill>
                <a:latin typeface="Arial"/>
                <a:ea typeface="Arial"/>
                <a:cs typeface="Arial"/>
              </a:defRPr>
            </a:pPr>
            <a:r>
              <a:rPr sz="2175" b="0">
                <a:solidFill>
                  <a:srgbClr val="52615E"/>
                </a:solidFill>
                <a:latin typeface="Arial"/>
                <a:ea typeface="Arial"/>
                <a:cs typeface="Arial"/>
              </a:rPr>
              <a:t>Testbench tự kiểm tra • UVM cho cache/coherence • Spike đối chiếu thực thi I/M/A</a:t>
            </a:r>
          </a:p>
        </p:txBody>
      </p:sp>
    </p:spTree>
    <p:extLst>
      <p:ext uri="{BB962C8B-B14F-4D97-AF65-F5344CB8AC3E}">
        <p14:creationId xmlns:p14="http://schemas.microsoft.com/office/powerpoint/2010/main" val="111965252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B6458AB5-ED02-EA1E-0D64-728253AA1353}"/>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C4CAFF82-1231-4044-734D-78C01876FC47}"/>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d660f5626de24ff8">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A2F221BB-5219-6E12-E803-D8B518F296F8}"/>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E188E9E8-7A0D-131F-73C7-14F488DD11B5}"/>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EC06D5F5-086F-8968-1FA4-798A11CED5F7}"/>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E29A7D59-6AE6-8826-61CF-19A37F6D1C81}"/>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24186CBE-52FA-6BC0-D45A-BD6853770FF4}"/>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34e3b2abce5c4241">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5B4440F8-43DA-BD8C-568F-10EE949EF520}"/>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41cbd50418b24044">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6">
            <a:extLst xmlns:a="http://schemas.openxmlformats.org/drawingml/2006/main">
              <a:ext uri="{FF2B5EF4-FFF2-40B4-BE49-F238E27FC236}">
                <a16:creationId xmlns:a16="http://schemas.microsoft.com/office/drawing/2014/main" id="{BF4720B0-0BF5-4856-BB9D-C841628290DE}"/>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6</a:t>
            </a:r>
          </a:p>
        </p:txBody>
      </p:sp>
      <p:sp>
        <p:nvSpPr>
          <p:cNvPr id="230" name="3. Tiến độ hiện tại">
            <a:extLst xmlns:a="http://schemas.openxmlformats.org/drawingml/2006/main">
              <a:ext uri="{FF2B5EF4-FFF2-40B4-BE49-F238E27FC236}">
                <a16:creationId xmlns:a16="http://schemas.microsoft.com/office/drawing/2014/main" id="{FBB39F46-A5D7-4297-9A05-84ECDD9DF659}"/>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3. Tiến độ hiện tại</a:t>
            </a:r>
          </a:p>
        </p:txBody>
      </p:sp>
      <p:graphicFrame>
        <p:nvGraphicFramePr>
          <p:cNvPr id="243" name=""/>
          <p:cNvGraphicFramePr/>
          <p:nvPr/>
        </p:nvGraphicFramePr>
        <p:xfrm>
          <a:off xmlns:a="http://schemas.openxmlformats.org/drawingml/2006/main" x="809625" y="2809875"/>
          <a:ext xmlns:a="http://schemas.openxmlformats.org/drawingml/2006/main" cx="16668750" cy="5810250"/>
        </p:xfrm>
        <a:graphic xmlns:a="http://schemas.openxmlformats.org/drawingml/2006/main">
          <a:graphicData uri="http://schemas.openxmlformats.org/drawingml/2006/table">
            <a:tbl>
              <a:tblPr firstRow="0" bandRow="0"/>
              <a:tblGrid>
                <a:gridCol w="6477000"/>
                <a:gridCol w="10191750"/>
              </a:tblGrid>
              <a:tr h="968375">
                <a:tc>
                  <a:txBody>
                    <a:bodyPr lIns="190500" tIns="114300" rIns="171450" bIns="114300">
                      <a:noAutofit/>
                    </a:bodyPr>
                    <a:lstStyle/>
                    <a:p>
                      <a:pPr algn="l"/>
                      <a:r>
                        <a:rPr sz="2550" b="1">
                          <a:solidFill>
                            <a:srgbClr val="FFFFFF"/>
                          </a:solidFill>
                          <a:latin typeface="Arial"/>
                          <a:ea typeface="Arial"/>
                          <a:cs typeface="Arial"/>
                        </a:rPr>
                        <a:t>Hạng mục</a:t>
                      </a:r>
                    </a:p>
                  </a:txBody>
                  <a:tcPr marL="91440" marR="91440" marT="45720" marB="45720" anchor="ctr">
                    <a:solidFill>
                      <a:srgbClr val="007A60"/>
                    </a:solidFill>
                  </a:tcPr>
                </a:tc>
                <a:tc>
                  <a:txBody>
                    <a:bodyPr lIns="190500" tIns="114300" rIns="171450" bIns="114300">
                      <a:noAutofit/>
                    </a:bodyPr>
                    <a:lstStyle/>
                    <a:p>
                      <a:pPr algn="l"/>
                      <a:r>
                        <a:rPr sz="2550" b="1">
                          <a:solidFill>
                            <a:srgbClr val="FFFFFF"/>
                          </a:solidFill>
                          <a:latin typeface="Arial"/>
                          <a:ea typeface="Arial"/>
                          <a:cs typeface="Arial"/>
                        </a:rPr>
                        <a:t>Trạng thái hiện tại</a:t>
                      </a:r>
                    </a:p>
                  </a:txBody>
                  <a:tcPr marL="91440" marR="91440" marT="45720" marB="45720" anchor="ctr">
                    <a:solidFill>
                      <a:srgbClr val="007A60"/>
                    </a:solidFill>
                  </a:tcPr>
                </a:tc>
              </a:tr>
              <a:tr h="968375">
                <a:tc>
                  <a:txBody>
                    <a:bodyPr lIns="190500" tIns="114300" rIns="171450" bIns="114300">
                      <a:noAutofit/>
                    </a:bodyPr>
                    <a:lstStyle/>
                    <a:p>
                      <a:pPr algn="l"/>
                      <a:r>
                        <a:rPr sz="2550" b="0">
                          <a:solidFill>
                            <a:srgbClr val="172A2A"/>
                          </a:solidFill>
                          <a:latin typeface="Arial"/>
                          <a:ea typeface="Arial"/>
                          <a:cs typeface="Arial"/>
                        </a:rPr>
                        <a:t>Nền tảng kế thừa 2 lõi</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README ghi nhận đã có bản chạy trên FPGA.</a:t>
                      </a:r>
                    </a:p>
                  </a:txBody>
                  <a:tcPr marL="91440" marR="91440" marT="45720" marB="45720" anchor="ctr">
                    <a:solidFill>
                      <a:srgbClr val="EDF5F1"/>
                    </a:solidFill>
                  </a:tcPr>
                </a:tc>
              </a:tr>
              <a:tr h="968375">
                <a:tc>
                  <a:txBody>
                    <a:bodyPr lIns="190500" tIns="114300" rIns="171450" bIns="114300">
                      <a:noAutofit/>
                    </a:bodyPr>
                    <a:lstStyle/>
                    <a:p>
                      <a:pPr algn="l"/>
                      <a:r>
                        <a:rPr sz="2550" b="0">
                          <a:solidFill>
                            <a:srgbClr val="172A2A"/>
                          </a:solidFill>
                          <a:latin typeface="Arial"/>
                          <a:ea typeface="Arial"/>
                          <a:cs typeface="Arial"/>
                        </a:rPr>
                        <a:t>Hệ 4 lõi, cache L1/L2, MESI và MMU</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Đã có RTL tích hợp, cần kiểm chứng hành vi.</a:t>
                      </a:r>
                    </a:p>
                  </a:txBody>
                  <a:tcPr marL="91440" marR="91440" marT="45720" marB="45720" anchor="ctr">
                    <a:solidFill>
                      <a:srgbClr val="FFFFFF"/>
                    </a:solidFill>
                  </a:tcPr>
                </a:tc>
              </a:tr>
              <a:tr h="968375">
                <a:tc>
                  <a:txBody>
                    <a:bodyPr lIns="190500" tIns="114300" rIns="171450" bIns="114300">
                      <a:noAutofit/>
                    </a:bodyPr>
                    <a:lstStyle/>
                    <a:p>
                      <a:pPr algn="l"/>
                      <a:r>
                        <a:rPr sz="2550" b="0">
                          <a:solidFill>
                            <a:srgbClr val="172A2A"/>
                          </a:solidFill>
                          <a:latin typeface="Arial"/>
                          <a:ea typeface="Arial"/>
                          <a:cs typeface="Arial"/>
                        </a:rPr>
                        <a:t>Giao tiếp AHB/AXI4 và CSR/trap</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Đã có RTL/testbench; CSR/trap hiện ngoài phạm vi DOCX, chưa xác nhận mô phỏng.</a:t>
                      </a:r>
                    </a:p>
                  </a:txBody>
                  <a:tcPr marL="91440" marR="91440" marT="45720" marB="45720" anchor="ctr">
                    <a:solidFill>
                      <a:srgbClr val="EDF5F1"/>
                    </a:solidFill>
                  </a:tcPr>
                </a:tc>
              </a:tr>
              <a:tr h="968375">
                <a:tc>
                  <a:txBody>
                    <a:bodyPr lIns="190500" tIns="114300" rIns="171450" bIns="114300">
                      <a:noAutofit/>
                    </a:bodyPr>
                    <a:lstStyle/>
                    <a:p>
                      <a:pPr algn="l"/>
                      <a:r>
                        <a:rPr sz="2550" b="0">
                          <a:solidFill>
                            <a:srgbClr val="172A2A"/>
                          </a:solidFill>
                          <a:latin typeface="Arial"/>
                          <a:ea typeface="Arial"/>
                          <a:cs typeface="Arial"/>
                        </a:rPr>
                        <a:t>Môi trường kiểm thử</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Có testbench MMU, CSR và coherence. Nhánh mới chưa có kết quả mô phỏng xác nhận.</a:t>
                      </a:r>
                    </a:p>
                  </a:txBody>
                  <a:tcPr marL="91440" marR="91440" marT="45720" marB="45720" anchor="ctr">
                    <a:solidFill>
                      <a:srgbClr val="FFFFFF"/>
                    </a:solidFill>
                  </a:tcPr>
                </a:tc>
              </a:tr>
              <a:tr h="968375">
                <a:tc>
                  <a:txBody>
                    <a:bodyPr lIns="190500" tIns="114300" rIns="171450" bIns="114300">
                      <a:noAutofit/>
                    </a:bodyPr>
                    <a:lstStyle/>
                    <a:p>
                      <a:pPr algn="l"/>
                      <a:r>
                        <a:rPr sz="2550" b="0">
                          <a:solidFill>
                            <a:srgbClr val="172A2A"/>
                          </a:solidFill>
                          <a:latin typeface="Arial"/>
                          <a:ea typeface="Arial"/>
                          <a:cs typeface="Arial"/>
                        </a:rPr>
                        <a:t>Demo với SD và bộ nhớ chính</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Có khung điều khiển boot và script đánh giá. Cần hoàn thiện DDR, loader và giao tiếp SD.</a:t>
                      </a:r>
                    </a:p>
                  </a:txBody>
                  <a:tcPr marL="91440" marR="91440" marT="45720" marB="45720" anchor="ctr">
                    <a:solidFill>
                      <a:srgbClr val="EDF5F1"/>
                    </a:solidFill>
                  </a:tcPr>
                </a:tc>
              </a:tr>
            </a:tbl>
          </a:graphicData>
        </a:graphic>
      </p:graphicFrame>
      <p:sp>
        <p:nvSpPr>
          <p:cNvPr id="232" name="Mốc tiếp theo: xác nhận testbench, tích hợp toàn hệ thống và chạy demo">
            <a:extLst xmlns:a="http://schemas.openxmlformats.org/drawingml/2006/main">
              <a:ext uri="{FF2B5EF4-FFF2-40B4-BE49-F238E27FC236}">
                <a16:creationId xmlns:a16="http://schemas.microsoft.com/office/drawing/2014/main" id="{14FC0B17-967F-44BE-9D82-1FAE1D8C2FE1}"/>
              </a:ext>
            </a:extLst>
          </p:cNvPr>
          <p:cNvSpPr>
            <a:spLocks xmlns:a="http://schemas.openxmlformats.org/drawingml/2006/main" noGrp="1"/>
          </p:cNvSpPr>
          <p:nvPr/>
        </p:nvSpPr>
        <p:spPr>
          <a:xfrm xmlns:a="http://schemas.openxmlformats.org/drawingml/2006/main">
            <a:off x="952500" y="9020175"/>
            <a:ext cx="1619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A60"/>
                </a:solidFill>
                <a:latin typeface="Arial"/>
                <a:ea typeface="Arial"/>
                <a:cs typeface="Arial"/>
              </a:defRPr>
            </a:pPr>
            <a:r>
              <a:rPr sz="2625" b="1">
                <a:solidFill>
                  <a:srgbClr val="007A60"/>
                </a:solidFill>
                <a:latin typeface="Arial"/>
                <a:ea typeface="Arial"/>
                <a:cs typeface="Arial"/>
              </a:rPr>
              <a:t>Mốc tiếp theo: xác nhận testbench, tích hợp toàn hệ thống và chạy demo FPGA.</a:t>
            </a:r>
          </a:p>
        </p:txBody>
      </p:sp>
    </p:spTree>
    <p:extLst>
      <p:ext uri="{BB962C8B-B14F-4D97-AF65-F5344CB8AC3E}">
        <p14:creationId xmlns:p14="http://schemas.microsoft.com/office/powerpoint/2010/main" val="278319502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DC808253-1ED7-379A-C73C-599E83571A5A}"/>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5912409C-2803-AB21-AE33-4169475CA97A}"/>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8eaad85faf6e45bf">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444CFF2D-3ED5-830B-27D7-43A8B350B698}"/>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832DE0AF-E5FF-7DCD-B9BF-91CB90C0936F}"/>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D44993FD-0D50-D839-6600-5F18159B93EE}"/>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5AF7D653-61AF-F707-0E27-F8EA21E6B772}"/>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289AB586-BB02-5F14-3C9F-C76D8DC740C8}"/>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49e7b62ebdef4c4a">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9D7A377B-BF97-AA94-CA09-9423DAE437F0}"/>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f898f4e608c64a44">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7">
            <a:extLst xmlns:a="http://schemas.openxmlformats.org/drawingml/2006/main">
              <a:ext uri="{FF2B5EF4-FFF2-40B4-BE49-F238E27FC236}">
                <a16:creationId xmlns:a16="http://schemas.microsoft.com/office/drawing/2014/main" id="{B7330543-0B72-420F-AA65-6C61A6FC3B23}"/>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7</a:t>
            </a:r>
          </a:p>
        </p:txBody>
      </p:sp>
      <p:sp>
        <p:nvSpPr>
          <p:cNvPr id="230" name="4. Kế hoạch thực hiện theo tháng">
            <a:extLst xmlns:a="http://schemas.openxmlformats.org/drawingml/2006/main">
              <a:ext uri="{FF2B5EF4-FFF2-40B4-BE49-F238E27FC236}">
                <a16:creationId xmlns:a16="http://schemas.microsoft.com/office/drawing/2014/main" id="{B8190632-B88F-406B-BE1B-E1AC80020480}"/>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4. Kế hoạch thực hiện theo tháng</a:t>
            </a:r>
          </a:p>
        </p:txBody>
      </p:sp>
      <p:sp>
        <p:nvSpPr>
          <p:cNvPr id="231" name="Quy đổi từ bảng 20 tuần trong DOCX mới: 09/2026–01/2027">
            <a:extLst xmlns:a="http://schemas.openxmlformats.org/drawingml/2006/main">
              <a:ext uri="{FF2B5EF4-FFF2-40B4-BE49-F238E27FC236}">
                <a16:creationId xmlns:a16="http://schemas.microsoft.com/office/drawing/2014/main" id="{23A7C8B7-D93F-4669-A7BC-2E16A4252E61}"/>
              </a:ext>
            </a:extLst>
          </p:cNvPr>
          <p:cNvSpPr>
            <a:spLocks xmlns:a="http://schemas.openxmlformats.org/drawingml/2006/main" noGrp="1"/>
          </p:cNvSpPr>
          <p:nvPr/>
        </p:nvSpPr>
        <p:spPr>
          <a:xfrm xmlns:a="http://schemas.openxmlformats.org/drawingml/2006/main">
            <a:off x="904875" y="2647950"/>
            <a:ext cx="1647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A60"/>
                </a:solidFill>
                <a:latin typeface="Arial"/>
                <a:ea typeface="Arial"/>
                <a:cs typeface="Arial"/>
              </a:defRPr>
            </a:pPr>
            <a:r>
              <a:rPr sz="2550" b="1">
                <a:solidFill>
                  <a:srgbClr val="007A60"/>
                </a:solidFill>
                <a:latin typeface="Arial"/>
                <a:ea typeface="Arial"/>
                <a:cs typeface="Arial"/>
              </a:rPr>
              <a:t>Quy đổi từ bảng 20 tuần trong DOCX mới: 09/2026–01/2027</a:t>
            </a:r>
          </a:p>
        </p:txBody>
      </p:sp>
      <p:graphicFrame>
        <p:nvGraphicFramePr>
          <p:cNvPr id="246" name=""/>
          <p:cNvGraphicFramePr/>
          <p:nvPr/>
        </p:nvGraphicFramePr>
        <p:xfrm>
          <a:off xmlns:a="http://schemas.openxmlformats.org/drawingml/2006/main" x="809625" y="3381375"/>
          <a:ext xmlns:a="http://schemas.openxmlformats.org/drawingml/2006/main" cx="16668750" cy="4762500"/>
        </p:xfrm>
        <a:graphic xmlns:a="http://schemas.openxmlformats.org/drawingml/2006/main">
          <a:graphicData uri="http://schemas.openxmlformats.org/drawingml/2006/table">
            <a:tbl>
              <a:tblPr firstRow="0" bandRow="0"/>
              <a:tblGrid>
                <a:gridCol w="7143750"/>
                <a:gridCol w="1905000"/>
                <a:gridCol w="1905000"/>
                <a:gridCol w="1905000"/>
                <a:gridCol w="1905000"/>
                <a:gridCol w="1905000"/>
              </a:tblGrid>
              <a:tr h="793750">
                <a:tc>
                  <a:txBody>
                    <a:bodyPr lIns="190500" tIns="114300" rIns="171450" bIns="114300">
                      <a:noAutofit/>
                    </a:bodyPr>
                    <a:lstStyle/>
                    <a:p>
                      <a:pPr algn="l"/>
                      <a:r>
                        <a:rPr sz="2325" b="1">
                          <a:solidFill>
                            <a:srgbClr val="FFFFFF"/>
                          </a:solidFill>
                          <a:latin typeface="Arial"/>
                          <a:ea typeface="Arial"/>
                          <a:cs typeface="Arial"/>
                        </a:rPr>
                        <a:t>Công việc</a:t>
                      </a:r>
                    </a:p>
                  </a:txBody>
                  <a:tcPr marL="91440" marR="91440" marT="45720" marB="45720" anchor="ctr">
                    <a:solidFill>
                      <a:srgbClr val="007A60"/>
                    </a:solidFill>
                  </a:tcPr>
                </a:tc>
                <a:tc>
                  <a:txBody>
                    <a:bodyPr lIns="190500" tIns="114300" rIns="171450" bIns="114300">
                      <a:noAutofit/>
                    </a:bodyPr>
                    <a:lstStyle/>
                    <a:p>
                      <a:pPr algn="ctr"/>
                      <a:r>
                        <a:rPr sz="2325" b="1">
                          <a:solidFill>
                            <a:srgbClr val="FFFFFF"/>
                          </a:solidFill>
                          <a:latin typeface="Arial"/>
                          <a:ea typeface="Arial"/>
                          <a:cs typeface="Arial"/>
                        </a:rPr>
                        <a:t>T9</a:t>
                      </a:r>
                    </a:p>
                  </a:txBody>
                  <a:tcPr marL="91440" marR="91440" marT="45720" marB="45720" anchor="ctr">
                    <a:solidFill>
                      <a:srgbClr val="007A60"/>
                    </a:solidFill>
                  </a:tcPr>
                </a:tc>
                <a:tc>
                  <a:txBody>
                    <a:bodyPr lIns="190500" tIns="114300" rIns="171450" bIns="114300">
                      <a:noAutofit/>
                    </a:bodyPr>
                    <a:lstStyle/>
                    <a:p>
                      <a:pPr algn="ctr"/>
                      <a:r>
                        <a:rPr sz="2325" b="1">
                          <a:solidFill>
                            <a:srgbClr val="FFFFFF"/>
                          </a:solidFill>
                          <a:latin typeface="Arial"/>
                          <a:ea typeface="Arial"/>
                          <a:cs typeface="Arial"/>
                        </a:rPr>
                        <a:t>T10</a:t>
                      </a:r>
                    </a:p>
                  </a:txBody>
                  <a:tcPr marL="91440" marR="91440" marT="45720" marB="45720" anchor="ctr">
                    <a:solidFill>
                      <a:srgbClr val="007A60"/>
                    </a:solidFill>
                  </a:tcPr>
                </a:tc>
                <a:tc>
                  <a:txBody>
                    <a:bodyPr lIns="190500" tIns="114300" rIns="171450" bIns="114300">
                      <a:noAutofit/>
                    </a:bodyPr>
                    <a:lstStyle/>
                    <a:p>
                      <a:pPr algn="ctr"/>
                      <a:r>
                        <a:rPr sz="2325" b="1">
                          <a:solidFill>
                            <a:srgbClr val="FFFFFF"/>
                          </a:solidFill>
                          <a:latin typeface="Arial"/>
                          <a:ea typeface="Arial"/>
                          <a:cs typeface="Arial"/>
                        </a:rPr>
                        <a:t>T11</a:t>
                      </a:r>
                    </a:p>
                  </a:txBody>
                  <a:tcPr marL="91440" marR="91440" marT="45720" marB="45720" anchor="ctr">
                    <a:solidFill>
                      <a:srgbClr val="007A60"/>
                    </a:solidFill>
                  </a:tcPr>
                </a:tc>
                <a:tc>
                  <a:txBody>
                    <a:bodyPr lIns="190500" tIns="114300" rIns="171450" bIns="114300">
                      <a:noAutofit/>
                    </a:bodyPr>
                    <a:lstStyle/>
                    <a:p>
                      <a:pPr algn="ctr"/>
                      <a:r>
                        <a:rPr sz="2325" b="1">
                          <a:solidFill>
                            <a:srgbClr val="FFFFFF"/>
                          </a:solidFill>
                          <a:latin typeface="Arial"/>
                          <a:ea typeface="Arial"/>
                          <a:cs typeface="Arial"/>
                        </a:rPr>
                        <a:t>T12</a:t>
                      </a:r>
                    </a:p>
                  </a:txBody>
                  <a:tcPr marL="91440" marR="91440" marT="45720" marB="45720" anchor="ctr">
                    <a:solidFill>
                      <a:srgbClr val="007A60"/>
                    </a:solidFill>
                  </a:tcPr>
                </a:tc>
                <a:tc>
                  <a:txBody>
                    <a:bodyPr lIns="190500" tIns="114300" rIns="171450" bIns="114300">
                      <a:noAutofit/>
                    </a:bodyPr>
                    <a:lstStyle/>
                    <a:p>
                      <a:pPr algn="ctr"/>
                      <a:r>
                        <a:rPr sz="2325" b="1">
                          <a:solidFill>
                            <a:srgbClr val="FFFFFF"/>
                          </a:solidFill>
                          <a:latin typeface="Arial"/>
                          <a:ea typeface="Arial"/>
                          <a:cs typeface="Arial"/>
                        </a:rPr>
                        <a:t>T1/27</a:t>
                      </a:r>
                    </a:p>
                  </a:txBody>
                  <a:tcPr marL="91440" marR="91440" marT="45720" marB="45720" anchor="ctr">
                    <a:solidFill>
                      <a:srgbClr val="007A60"/>
                    </a:solidFill>
                  </a:tcPr>
                </a:tc>
              </a:tr>
              <a:tr h="793750">
                <a:tc>
                  <a:txBody>
                    <a:bodyPr lIns="190500" tIns="114300" rIns="171450" bIns="114300">
                      <a:noAutofit/>
                    </a:bodyPr>
                    <a:lstStyle/>
                    <a:p>
                      <a:pPr algn="l"/>
                      <a:r>
                        <a:rPr sz="2325" b="0">
                          <a:solidFill>
                            <a:srgbClr val="172A2A"/>
                          </a:solidFill>
                          <a:latin typeface="Arial"/>
                          <a:ea typeface="Arial"/>
                          <a:cs typeface="Arial"/>
                        </a:rPr>
                        <a:t>Kiến trúc, lõi đơn, L1 và MMU</a:t>
                      </a:r>
                    </a:p>
                  </a:txBody>
                  <a:tcPr marL="91440" marR="91440" marT="45720" marB="45720" anchor="ctr">
                    <a:solidFill>
                      <a:srgbClr val="EDF5F1"/>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r>
              <a:tr h="793750">
                <a:tc>
                  <a:txBody>
                    <a:bodyPr lIns="190500" tIns="114300" rIns="171450" bIns="114300">
                      <a:noAutofit/>
                    </a:bodyPr>
                    <a:lstStyle/>
                    <a:p>
                      <a:pPr algn="l"/>
                      <a:r>
                        <a:rPr sz="2325" b="0">
                          <a:solidFill>
                            <a:srgbClr val="172A2A"/>
                          </a:solidFill>
                          <a:latin typeface="Arial"/>
                          <a:ea typeface="Arial"/>
                          <a:cs typeface="Arial"/>
                        </a:rPr>
                        <a:t>4 lõi, AHB/AXI4, L2, MESI và UVM</a:t>
                      </a:r>
                    </a:p>
                  </a:txBody>
                  <a:tcPr marL="91440" marR="91440" marT="45720" marB="45720" anchor="ctr">
                    <a:solidFill>
                      <a:srgbClr val="FFFFFF"/>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r>
              <a:tr h="793750">
                <a:tc>
                  <a:txBody>
                    <a:bodyPr lIns="190500" tIns="114300" rIns="171450" bIns="114300">
                      <a:noAutofit/>
                    </a:bodyPr>
                    <a:lstStyle/>
                    <a:p>
                      <a:pPr algn="l"/>
                      <a:r>
                        <a:rPr sz="2325" b="0">
                          <a:solidFill>
                            <a:srgbClr val="172A2A"/>
                          </a:solidFill>
                          <a:latin typeface="Arial"/>
                          <a:ea typeface="Arial"/>
                          <a:cs typeface="Arial"/>
                        </a:rPr>
                        <a:t>DMA, SD/SPI và tích hợp hệ thống</a:t>
                      </a:r>
                    </a:p>
                  </a:txBody>
                  <a:tcPr marL="91440" marR="91440" marT="45720" marB="45720" anchor="ctr">
                    <a:solidFill>
                      <a:srgbClr val="EDF5F1"/>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r>
              <a:tr h="793750">
                <a:tc>
                  <a:txBody>
                    <a:bodyPr lIns="190500" tIns="114300" rIns="171450" bIns="114300">
                      <a:noAutofit/>
                    </a:bodyPr>
                    <a:lstStyle/>
                    <a:p>
                      <a:pPr algn="l"/>
                      <a:r>
                        <a:rPr sz="2325" b="0">
                          <a:solidFill>
                            <a:srgbClr val="172A2A"/>
                          </a:solidFill>
                          <a:latin typeface="Arial"/>
                          <a:ea typeface="Arial"/>
                          <a:cs typeface="Arial"/>
                        </a:rPr>
                        <a:t>RTL toàn hệ thống, tổng hợp và FPGA</a:t>
                      </a:r>
                    </a:p>
                  </a:txBody>
                  <a:tcPr marL="91440" marR="91440" marT="45720" marB="45720" anchor="ctr">
                    <a:solidFill>
                      <a:srgbClr val="FFFFFF"/>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r>
              <a:tr h="793750">
                <a:tc>
                  <a:txBody>
                    <a:bodyPr lIns="190500" tIns="114300" rIns="171450" bIns="114300">
                      <a:noAutofit/>
                    </a:bodyPr>
                    <a:lstStyle/>
                    <a:p>
                      <a:pPr algn="l"/>
                      <a:r>
                        <a:rPr sz="2325" b="0">
                          <a:solidFill>
                            <a:srgbClr val="172A2A"/>
                          </a:solidFill>
                          <a:latin typeface="Arial"/>
                          <a:ea typeface="Arial"/>
                          <a:cs typeface="Arial"/>
                        </a:rPr>
                        <a:t>Đo hiệu năng, dự phòng và báo cáo</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r>
            </a:tbl>
          </a:graphicData>
        </a:graphic>
      </p:graphicFrame>
      <p:sp>
        <p:nvSpPr>
          <p:cNvPr id="233" name="Lâm: lõi, L1, MMU/TLB, SD/SPI. Lam: bus, L2, MESI, DMA. Cả hai: kiểm c">
            <a:extLst xmlns:a="http://schemas.openxmlformats.org/drawingml/2006/main">
              <a:ext uri="{FF2B5EF4-FFF2-40B4-BE49-F238E27FC236}">
                <a16:creationId xmlns:a16="http://schemas.microsoft.com/office/drawing/2014/main" id="{5482FF2E-6DC4-437A-B5F9-B825A0374106}"/>
              </a:ext>
            </a:extLst>
          </p:cNvPr>
          <p:cNvSpPr>
            <a:spLocks xmlns:a="http://schemas.openxmlformats.org/drawingml/2006/main" noGrp="1"/>
          </p:cNvSpPr>
          <p:nvPr/>
        </p:nvSpPr>
        <p:spPr>
          <a:xfrm xmlns:a="http://schemas.openxmlformats.org/drawingml/2006/main">
            <a:off x="952500" y="8410575"/>
            <a:ext cx="1628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A2A"/>
                </a:solidFill>
                <a:latin typeface="Arial"/>
                <a:ea typeface="Arial"/>
                <a:cs typeface="Arial"/>
              </a:defRPr>
            </a:pPr>
            <a:r>
              <a:rPr sz="2250" b="0">
                <a:solidFill>
                  <a:srgbClr val="172A2A"/>
                </a:solidFill>
                <a:latin typeface="Arial"/>
                <a:ea typeface="Arial"/>
                <a:cs typeface="Arial"/>
              </a:rPr>
              <a:t>Lâm: lõi, L1, MMU/TLB, SD/SPI. Lam: bus, L2, MESI, DMA. Cả hai: kiểm chứng, demo, báo cáo.</a:t>
            </a:r>
          </a:p>
        </p:txBody>
      </p:sp>
      <p:sp>
        <p:nvSpPr>
          <p:cNvPr id="234" name="Cần thống nhất mốc: đầu DOCX ghi 27/12/2026; bảng tuần kết thúc, nộp 2">
            <a:extLst xmlns:a="http://schemas.openxmlformats.org/drawingml/2006/main">
              <a:ext uri="{FF2B5EF4-FFF2-40B4-BE49-F238E27FC236}">
                <a16:creationId xmlns:a16="http://schemas.microsoft.com/office/drawing/2014/main" id="{52EE3CDA-329C-4FF1-BBC1-C3B13DD9118E}"/>
              </a:ext>
            </a:extLst>
          </p:cNvPr>
          <p:cNvSpPr>
            <a:spLocks xmlns:a="http://schemas.openxmlformats.org/drawingml/2006/main" noGrp="1"/>
          </p:cNvSpPr>
          <p:nvPr/>
        </p:nvSpPr>
        <p:spPr>
          <a:xfrm xmlns:a="http://schemas.openxmlformats.org/drawingml/2006/main">
            <a:off x="952500" y="9315450"/>
            <a:ext cx="1638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15E"/>
                </a:solidFill>
                <a:latin typeface="Arial"/>
                <a:ea typeface="Arial"/>
                <a:cs typeface="Arial"/>
              </a:defRPr>
            </a:pPr>
            <a:r>
              <a:rPr sz="2025" b="0">
                <a:solidFill>
                  <a:srgbClr val="52615E"/>
                </a:solidFill>
                <a:latin typeface="Arial"/>
                <a:ea typeface="Arial"/>
                <a:cs typeface="Arial"/>
              </a:rPr>
              <a:t>Cần thống nhất mốc: đầu DOCX ghi 27/12/2026; bảng tuần kết thúc, nộp 25/01/2027.</a:t>
            </a:r>
          </a:p>
        </p:txBody>
      </p:sp>
    </p:spTree>
    <p:extLst>
      <p:ext uri="{BB962C8B-B14F-4D97-AF65-F5344CB8AC3E}">
        <p14:creationId xmlns:p14="http://schemas.microsoft.com/office/powerpoint/2010/main" val="277266506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DC808253-1ED7-379A-C73C-599E83571A5A}"/>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5912409C-2803-AB21-AE33-4169475CA97A}"/>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986b9c17a47e4f31">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444CFF2D-3ED5-830B-27D7-43A8B350B698}"/>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832DE0AF-E5FF-7DCD-B9BF-91CB90C0936F}"/>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D44993FD-0D50-D839-6600-5F18159B93EE}"/>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5AF7D653-61AF-F707-0E27-F8EA21E6B772}"/>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289AB586-BB02-5F14-3C9F-C76D8DC740C8}"/>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ab93f5f9a6834966">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9D7A377B-BF97-AA94-CA09-9423DAE437F0}"/>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4ebd7a56a88b43a4">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8">
            <a:extLst xmlns:a="http://schemas.openxmlformats.org/drawingml/2006/main">
              <a:ext uri="{FF2B5EF4-FFF2-40B4-BE49-F238E27FC236}">
                <a16:creationId xmlns:a16="http://schemas.microsoft.com/office/drawing/2014/main" id="{1DE47987-8D8F-4040-AFF5-177121EDB7B4}"/>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8</a:t>
            </a:r>
          </a:p>
        </p:txBody>
      </p:sp>
      <p:sp>
        <p:nvSpPr>
          <p:cNvPr id="230" name="4. Tiêu chí đánh giá và kế hoạch theo tuần">
            <a:extLst xmlns:a="http://schemas.openxmlformats.org/drawingml/2006/main">
              <a:ext uri="{FF2B5EF4-FFF2-40B4-BE49-F238E27FC236}">
                <a16:creationId xmlns:a16="http://schemas.microsoft.com/office/drawing/2014/main" id="{2E367BA6-F61D-488B-94A0-557DE4DF6C2A}"/>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4. Tiêu chí đánh giá và kế hoạch theo tuần</a:t>
            </a:r>
          </a:p>
        </p:txBody>
      </p:sp>
      <p:sp>
        <p:nvSpPr>
          <p:cNvPr id="231" name="Tiêu chí đánh giá">
            <a:extLst xmlns:a="http://schemas.openxmlformats.org/drawingml/2006/main">
              <a:ext uri="{FF2B5EF4-FFF2-40B4-BE49-F238E27FC236}">
                <a16:creationId xmlns:a16="http://schemas.microsoft.com/office/drawing/2014/main" id="{470AE5A6-FC79-4ADD-857A-25530A026792}"/>
              </a:ext>
            </a:extLst>
          </p:cNvPr>
          <p:cNvSpPr>
            <a:spLocks xmlns:a="http://schemas.openxmlformats.org/drawingml/2006/main" noGrp="1"/>
          </p:cNvSpPr>
          <p:nvPr/>
        </p:nvSpPr>
        <p:spPr>
          <a:xfrm xmlns:a="http://schemas.openxmlformats.org/drawingml/2006/main">
            <a:off x="809625" y="2762250"/>
            <a:ext cx="647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Tiêu chí đánh giá</a:t>
            </a:r>
          </a:p>
        </p:txBody>
      </p:sp>
      <p:sp>
        <p:nvSpPr>
          <p:cNvPr id="232" name="Kế hoạch thực hiện">
            <a:extLst xmlns:a="http://schemas.openxmlformats.org/drawingml/2006/main">
              <a:ext uri="{FF2B5EF4-FFF2-40B4-BE49-F238E27FC236}">
                <a16:creationId xmlns:a16="http://schemas.microsoft.com/office/drawing/2014/main" id="{AC85540E-1D8B-409C-A76A-05A2B8C5F07F}"/>
              </a:ext>
            </a:extLst>
          </p:cNvPr>
          <p:cNvSpPr>
            <a:spLocks xmlns:a="http://schemas.openxmlformats.org/drawingml/2006/main" noGrp="1"/>
          </p:cNvSpPr>
          <p:nvPr/>
        </p:nvSpPr>
        <p:spPr>
          <a:xfrm xmlns:a="http://schemas.openxmlformats.org/drawingml/2006/main">
            <a:off x="8096250" y="2762250"/>
            <a:ext cx="923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Kế hoạch thực hiện</a:t>
            </a:r>
          </a:p>
        </p:txBody>
      </p:sp>
      <p:graphicFrame>
        <p:nvGraphicFramePr>
          <p:cNvPr id="248" name=""/>
          <p:cNvGraphicFramePr/>
          <p:nvPr/>
        </p:nvGraphicFramePr>
        <p:xfrm>
          <a:off xmlns:a="http://schemas.openxmlformats.org/drawingml/2006/main" x="809625" y="3524250"/>
          <a:ext xmlns:a="http://schemas.openxmlformats.org/drawingml/2006/main" cx="6524625" cy="5381625"/>
        </p:xfrm>
        <a:graphic xmlns:a="http://schemas.openxmlformats.org/drawingml/2006/main">
          <a:graphicData uri="http://schemas.openxmlformats.org/drawingml/2006/table">
            <a:tbl>
              <a:tblPr firstRow="0" bandRow="0"/>
              <a:tblGrid>
                <a:gridCol w="2524125"/>
                <a:gridCol w="4000500"/>
              </a:tblGrid>
              <a:tr h="896938">
                <a:tc>
                  <a:txBody>
                    <a:bodyPr lIns="190500" tIns="114300" rIns="171450" bIns="114300">
                      <a:noAutofit/>
                    </a:bodyPr>
                    <a:lstStyle/>
                    <a:p>
                      <a:pPr algn="l"/>
                      <a:r>
                        <a:rPr sz="2250" b="1">
                          <a:solidFill>
                            <a:srgbClr val="FFFFFF"/>
                          </a:solidFill>
                          <a:latin typeface="Arial"/>
                          <a:ea typeface="Arial"/>
                          <a:cs typeface="Arial"/>
                        </a:rPr>
                        <a:t>Tiêu chí</a:t>
                      </a:r>
                    </a:p>
                  </a:txBody>
                  <a:tcPr marL="91440" marR="91440" marT="45720" marB="45720" anchor="ctr">
                    <a:solidFill>
                      <a:srgbClr val="007A60"/>
                    </a:solidFill>
                  </a:tcPr>
                </a:tc>
                <a:tc>
                  <a:txBody>
                    <a:bodyPr lIns="190500" tIns="114300" rIns="171450" bIns="114300">
                      <a:noAutofit/>
                    </a:bodyPr>
                    <a:lstStyle/>
                    <a:p>
                      <a:pPr algn="l"/>
                      <a:r>
                        <a:rPr sz="2250" b="1">
                          <a:solidFill>
                            <a:srgbClr val="FFFFFF"/>
                          </a:solidFill>
                          <a:latin typeface="Arial"/>
                          <a:ea typeface="Arial"/>
                          <a:cs typeface="Arial"/>
                        </a:rPr>
                        <a:t>Cách đánh giá</a:t>
                      </a:r>
                    </a:p>
                  </a:txBody>
                  <a:tcPr marL="91440" marR="91440" marT="45720" marB="45720" anchor="ctr">
                    <a:solidFill>
                      <a:srgbClr val="007A60"/>
                    </a:solidFill>
                  </a:tcPr>
                </a:tc>
              </a:tr>
              <a:tr h="896938">
                <a:tc>
                  <a:txBody>
                    <a:bodyPr lIns="190500" tIns="114300" rIns="171450" bIns="114300">
                      <a:noAutofit/>
                    </a:bodyPr>
                    <a:lstStyle/>
                    <a:p>
                      <a:pPr algn="l"/>
                      <a:r>
                        <a:rPr sz="2250" b="0">
                          <a:solidFill>
                            <a:srgbClr val="172A2A"/>
                          </a:solidFill>
                          <a:latin typeface="Arial"/>
                          <a:ea typeface="Arial"/>
                          <a:cs typeface="Arial"/>
                        </a:rPr>
                        <a:t>Chức năng</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PASS/FAIL; I/M/A, MMU, dữ liệu chia sẻ</a:t>
                      </a:r>
                    </a:p>
                  </a:txBody>
                  <a:tcPr marL="91440" marR="91440" marT="45720" marB="45720" anchor="ctr">
                    <a:solidFill>
                      <a:srgbClr val="EDF5F1"/>
                    </a:solidFill>
                  </a:tcPr>
                </a:tc>
              </a:tr>
              <a:tr h="896938">
                <a:tc>
                  <a:txBody>
                    <a:bodyPr lIns="190500" tIns="114300" rIns="171450" bIns="114300">
                      <a:noAutofit/>
                    </a:bodyPr>
                    <a:lstStyle/>
                    <a:p>
                      <a:pPr algn="l"/>
                      <a:r>
                        <a:rPr sz="2250" b="0">
                          <a:solidFill>
                            <a:srgbClr val="172A2A"/>
                          </a:solidFill>
                          <a:latin typeface="Arial"/>
                          <a:ea typeface="Arial"/>
                          <a:cs typeface="Arial"/>
                        </a:rPr>
                        <a:t>Tài nguyên</a:t>
                      </a:r>
                    </a:p>
                  </a:txBody>
                  <a:tcPr marL="91440" marR="91440" marT="45720" marB="45720" anchor="ctr">
                    <a:solidFill>
                      <a:srgbClr val="FFFFFF"/>
                    </a:solidFill>
                  </a:tcPr>
                </a:tc>
                <a:tc>
                  <a:txBody>
                    <a:bodyPr lIns="190500" tIns="114300" rIns="171450" bIns="114300">
                      <a:noAutofit/>
                    </a:bodyPr>
                    <a:lstStyle/>
                    <a:p>
                      <a:pPr algn="l"/>
                      <a:r>
                        <a:rPr sz="2250" b="0">
                          <a:solidFill>
                            <a:srgbClr val="172A2A"/>
                          </a:solidFill>
                          <a:latin typeface="Arial"/>
                          <a:ea typeface="Arial"/>
                          <a:cs typeface="Arial"/>
                        </a:rPr>
                        <a:t>LUT, FF, BRAM, DSP</a:t>
                      </a:r>
                    </a:p>
                  </a:txBody>
                  <a:tcPr marL="91440" marR="91440" marT="45720" marB="45720" anchor="ctr">
                    <a:solidFill>
                      <a:srgbClr val="FFFFFF"/>
                    </a:solidFill>
                  </a:tcPr>
                </a:tc>
              </a:tr>
              <a:tr h="896938">
                <a:tc>
                  <a:txBody>
                    <a:bodyPr lIns="190500" tIns="114300" rIns="171450" bIns="114300">
                      <a:noAutofit/>
                    </a:bodyPr>
                    <a:lstStyle/>
                    <a:p>
                      <a:pPr algn="l"/>
                      <a:r>
                        <a:rPr sz="2250" b="0">
                          <a:solidFill>
                            <a:srgbClr val="172A2A"/>
                          </a:solidFill>
                          <a:latin typeface="Arial"/>
                          <a:ea typeface="Arial"/>
                          <a:cs typeface="Arial"/>
                        </a:rPr>
                        <a:t>Timing</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Fmax, WNS</a:t>
                      </a:r>
                    </a:p>
                  </a:txBody>
                  <a:tcPr marL="91440" marR="91440" marT="45720" marB="45720" anchor="ctr">
                    <a:solidFill>
                      <a:srgbClr val="EDF5F1"/>
                    </a:solidFill>
                  </a:tcPr>
                </a:tc>
              </a:tr>
              <a:tr h="896938">
                <a:tc>
                  <a:txBody>
                    <a:bodyPr lIns="190500" tIns="114300" rIns="171450" bIns="114300">
                      <a:noAutofit/>
                    </a:bodyPr>
                    <a:lstStyle/>
                    <a:p>
                      <a:pPr algn="l"/>
                      <a:r>
                        <a:rPr sz="2250" b="0">
                          <a:solidFill>
                            <a:srgbClr val="172A2A"/>
                          </a:solidFill>
                          <a:latin typeface="Arial"/>
                          <a:ea typeface="Arial"/>
                          <a:cs typeface="Arial"/>
                        </a:rPr>
                        <a:t>Hiệu năng</a:t>
                      </a:r>
                    </a:p>
                  </a:txBody>
                  <a:tcPr marL="91440" marR="91440" marT="45720" marB="45720" anchor="ctr">
                    <a:solidFill>
                      <a:srgbClr val="FFFFFF"/>
                    </a:solidFill>
                  </a:tcPr>
                </a:tc>
                <a:tc>
                  <a:txBody>
                    <a:bodyPr lIns="190500" tIns="114300" rIns="171450" bIns="114300">
                      <a:noAutofit/>
                    </a:bodyPr>
                    <a:lstStyle/>
                    <a:p>
                      <a:pPr algn="l"/>
                      <a:r>
                        <a:rPr sz="2250" b="0">
                          <a:solidFill>
                            <a:srgbClr val="172A2A"/>
                          </a:solidFill>
                          <a:latin typeface="Arial"/>
                          <a:ea typeface="Arial"/>
                          <a:cs typeface="Arial"/>
                        </a:rPr>
                        <a:t>Chu kỳ / thời gian chạy; so sánh 1 và 4 lõi</a:t>
                      </a:r>
                    </a:p>
                  </a:txBody>
                  <a:tcPr marL="91440" marR="91440" marT="45720" marB="45720" anchor="ctr">
                    <a:solidFill>
                      <a:srgbClr val="FFFFFF"/>
                    </a:solidFill>
                  </a:tcPr>
                </a:tc>
              </a:tr>
              <a:tr h="896938">
                <a:tc>
                  <a:txBody>
                    <a:bodyPr lIns="190500" tIns="114300" rIns="171450" bIns="114300">
                      <a:noAutofit/>
                    </a:bodyPr>
                    <a:lstStyle/>
                    <a:p>
                      <a:pPr algn="l"/>
                      <a:r>
                        <a:rPr sz="2250" b="0">
                          <a:solidFill>
                            <a:srgbClr val="172A2A"/>
                          </a:solidFill>
                          <a:latin typeface="Arial"/>
                          <a:ea typeface="Arial"/>
                          <a:cs typeface="Arial"/>
                        </a:rPr>
                        <a:t>Công suất</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Ước tính từ Vivado</a:t>
                      </a:r>
                    </a:p>
                  </a:txBody>
                  <a:tcPr marL="91440" marR="91440" marT="45720" marB="45720" anchor="ctr">
                    <a:solidFill>
                      <a:srgbClr val="EDF5F1"/>
                    </a:solidFill>
                  </a:tcPr>
                </a:tc>
              </a:tr>
            </a:tbl>
          </a:graphicData>
        </a:graphic>
      </p:graphicFrame>
      <p:graphicFrame>
        <p:nvGraphicFramePr>
          <p:cNvPr id="249" name=""/>
          <p:cNvGraphicFramePr/>
          <p:nvPr/>
        </p:nvGraphicFramePr>
        <p:xfrm>
          <a:off xmlns:a="http://schemas.openxmlformats.org/drawingml/2006/main" x="8096250" y="3524250"/>
          <a:ext xmlns:a="http://schemas.openxmlformats.org/drawingml/2006/main" cx="9382125" cy="5381625"/>
        </p:xfrm>
        <a:graphic xmlns:a="http://schemas.openxmlformats.org/drawingml/2006/main">
          <a:graphicData uri="http://schemas.openxmlformats.org/drawingml/2006/table">
            <a:tbl>
              <a:tblPr firstRow="0" bandRow="0"/>
              <a:tblGrid>
                <a:gridCol w="1571625"/>
                <a:gridCol w="7810500"/>
              </a:tblGrid>
              <a:tr h="768804">
                <a:tc>
                  <a:txBody>
                    <a:bodyPr lIns="190500" tIns="114300" rIns="171450" bIns="114300">
                      <a:noAutofit/>
                    </a:bodyPr>
                    <a:lstStyle/>
                    <a:p>
                      <a:pPr algn="l"/>
                      <a:r>
                        <a:rPr sz="2250" b="1">
                          <a:solidFill>
                            <a:srgbClr val="FFFFFF"/>
                          </a:solidFill>
                          <a:latin typeface="Arial"/>
                          <a:ea typeface="Arial"/>
                          <a:cs typeface="Arial"/>
                        </a:rPr>
                        <a:t>Tuần</a:t>
                      </a:r>
                    </a:p>
                  </a:txBody>
                  <a:tcPr marL="91440" marR="91440" marT="45720" marB="45720" anchor="ctr">
                    <a:solidFill>
                      <a:srgbClr val="007A60"/>
                    </a:solidFill>
                  </a:tcPr>
                </a:tc>
                <a:tc>
                  <a:txBody>
                    <a:bodyPr lIns="190500" tIns="114300" rIns="171450" bIns="114300">
                      <a:noAutofit/>
                    </a:bodyPr>
                    <a:lstStyle/>
                    <a:p>
                      <a:pPr algn="l"/>
                      <a:r>
                        <a:rPr sz="2250" b="1">
                          <a:solidFill>
                            <a:srgbClr val="FFFFFF"/>
                          </a:solidFill>
                          <a:latin typeface="Arial"/>
                          <a:ea typeface="Arial"/>
                          <a:cs typeface="Arial"/>
                        </a:rPr>
                        <a:t>Công việc và mốc chính</a:t>
                      </a:r>
                    </a:p>
                  </a:txBody>
                  <a:tcPr marL="91440" marR="91440" marT="45720" marB="45720" anchor="ctr">
                    <a:solidFill>
                      <a:srgbClr val="007A60"/>
                    </a:solidFill>
                  </a:tcPr>
                </a:tc>
              </a:tr>
              <a:tr h="768804">
                <a:tc>
                  <a:txBody>
                    <a:bodyPr lIns="190500" tIns="114300" rIns="171450" bIns="114300">
                      <a:noAutofit/>
                    </a:bodyPr>
                    <a:lstStyle/>
                    <a:p>
                      <a:pPr algn="l"/>
                      <a:r>
                        <a:rPr sz="2250" b="0">
                          <a:solidFill>
                            <a:srgbClr val="172A2A"/>
                          </a:solidFill>
                          <a:latin typeface="Arial"/>
                          <a:ea typeface="Arial"/>
                          <a:cs typeface="Arial"/>
                        </a:rPr>
                        <a:t>1–5</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Chốt kiến trúc; lõi đơn, L1, MMU; DMA v1</a:t>
                      </a:r>
                    </a:p>
                  </a:txBody>
                  <a:tcPr marL="91440" marR="91440" marT="45720" marB="45720" anchor="ctr">
                    <a:solidFill>
                      <a:srgbClr val="EDF5F1"/>
                    </a:solidFill>
                  </a:tcPr>
                </a:tc>
              </a:tr>
              <a:tr h="768804">
                <a:tc>
                  <a:txBody>
                    <a:bodyPr lIns="190500" tIns="114300" rIns="171450" bIns="114300">
                      <a:noAutofit/>
                    </a:bodyPr>
                    <a:lstStyle/>
                    <a:p>
                      <a:pPr algn="l"/>
                      <a:r>
                        <a:rPr sz="2250" b="0">
                          <a:solidFill>
                            <a:srgbClr val="172A2A"/>
                          </a:solidFill>
                          <a:latin typeface="Arial"/>
                          <a:ea typeface="Arial"/>
                          <a:cs typeface="Arial"/>
                        </a:rPr>
                        <a:t>6–10</a:t>
                      </a:r>
                    </a:p>
                  </a:txBody>
                  <a:tcPr marL="91440" marR="91440" marT="45720" marB="45720" anchor="ctr">
                    <a:solidFill>
                      <a:srgbClr val="FFFFFF"/>
                    </a:solidFill>
                  </a:tcPr>
                </a:tc>
                <a:tc>
                  <a:txBody>
                    <a:bodyPr lIns="190500" tIns="114300" rIns="171450" bIns="114300">
                      <a:noAutofit/>
                    </a:bodyPr>
                    <a:lstStyle/>
                    <a:p>
                      <a:pPr algn="l"/>
                      <a:r>
                        <a:rPr sz="2250" b="0">
                          <a:solidFill>
                            <a:srgbClr val="172A2A"/>
                          </a:solidFill>
                          <a:latin typeface="Arial"/>
                          <a:ea typeface="Arial"/>
                          <a:cs typeface="Arial"/>
                        </a:rPr>
                        <a:t>4 lõi, L2, MESI, interconnect; UVM và coherence PASS</a:t>
                      </a:r>
                    </a:p>
                  </a:txBody>
                  <a:tcPr marL="91440" marR="91440" marT="45720" marB="45720" anchor="ctr">
                    <a:solidFill>
                      <a:srgbClr val="FFFFFF"/>
                    </a:solidFill>
                  </a:tcPr>
                </a:tc>
              </a:tr>
              <a:tr h="768804">
                <a:tc>
                  <a:txBody>
                    <a:bodyPr lIns="190500" tIns="114300" rIns="171450" bIns="114300">
                      <a:noAutofit/>
                    </a:bodyPr>
                    <a:lstStyle/>
                    <a:p>
                      <a:pPr algn="l"/>
                      <a:r>
                        <a:rPr sz="2250" b="0">
                          <a:solidFill>
                            <a:srgbClr val="172A2A"/>
                          </a:solidFill>
                          <a:latin typeface="Arial"/>
                          <a:ea typeface="Arial"/>
                          <a:cs typeface="Arial"/>
                        </a:rPr>
                        <a:t>11–12</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SD/SPI–DMA–DRAM PASS trong mô phỏng</a:t>
                      </a:r>
                    </a:p>
                  </a:txBody>
                  <a:tcPr marL="91440" marR="91440" marT="45720" marB="45720" anchor="ctr">
                    <a:solidFill>
                      <a:srgbClr val="EDF5F1"/>
                    </a:solidFill>
                  </a:tcPr>
                </a:tc>
              </a:tr>
              <a:tr h="768804">
                <a:tc>
                  <a:txBody>
                    <a:bodyPr lIns="190500" tIns="114300" rIns="171450" bIns="114300">
                      <a:noAutofit/>
                    </a:bodyPr>
                    <a:lstStyle/>
                    <a:p>
                      <a:pPr algn="l"/>
                      <a:r>
                        <a:rPr sz="2250" b="0">
                          <a:solidFill>
                            <a:srgbClr val="172A2A"/>
                          </a:solidFill>
                          <a:latin typeface="Arial"/>
                          <a:ea typeface="Arial"/>
                          <a:cs typeface="Arial"/>
                        </a:rPr>
                        <a:t>13–15</a:t>
                      </a:r>
                    </a:p>
                  </a:txBody>
                  <a:tcPr marL="91440" marR="91440" marT="45720" marB="45720" anchor="ctr">
                    <a:solidFill>
                      <a:srgbClr val="FFFFFF"/>
                    </a:solidFill>
                  </a:tcPr>
                </a:tc>
                <a:tc>
                  <a:txBody>
                    <a:bodyPr lIns="190500" tIns="114300" rIns="171450" bIns="114300">
                      <a:noAutofit/>
                    </a:bodyPr>
                    <a:lstStyle/>
                    <a:p>
                      <a:pPr algn="l"/>
                      <a:r>
                        <a:rPr sz="2250" b="0">
                          <a:solidFill>
                            <a:srgbClr val="172A2A"/>
                          </a:solidFill>
                          <a:latin typeface="Arial"/>
                          <a:ea typeface="Arial"/>
                          <a:cs typeface="Arial"/>
                        </a:rPr>
                        <a:t>Tích hợp, RTL toàn hệ thống PASS; tổng hợp Vivado</a:t>
                      </a:r>
                    </a:p>
                  </a:txBody>
                  <a:tcPr marL="91440" marR="91440" marT="45720" marB="45720" anchor="ctr">
                    <a:solidFill>
                      <a:srgbClr val="FFFFFF"/>
                    </a:solidFill>
                  </a:tcPr>
                </a:tc>
              </a:tr>
              <a:tr h="768804">
                <a:tc>
                  <a:txBody>
                    <a:bodyPr lIns="190500" tIns="114300" rIns="171450" bIns="114300">
                      <a:noAutofit/>
                    </a:bodyPr>
                    <a:lstStyle/>
                    <a:p>
                      <a:pPr algn="l"/>
                      <a:r>
                        <a:rPr sz="2250" b="0">
                          <a:solidFill>
                            <a:srgbClr val="172A2A"/>
                          </a:solidFill>
                          <a:latin typeface="Arial"/>
                          <a:ea typeface="Arial"/>
                          <a:cs typeface="Arial"/>
                        </a:rPr>
                        <a:t>16–18</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Bring-up, debug FPGA; demo tự động và đo hiệu năng</a:t>
                      </a:r>
                    </a:p>
                  </a:txBody>
                  <a:tcPr marL="91440" marR="91440" marT="45720" marB="45720" anchor="ctr">
                    <a:solidFill>
                      <a:srgbClr val="EDF5F1"/>
                    </a:solidFill>
                  </a:tcPr>
                </a:tc>
              </a:tr>
              <a:tr h="768804">
                <a:tc>
                  <a:txBody>
                    <a:bodyPr lIns="190500" tIns="114300" rIns="171450" bIns="114300">
                      <a:noAutofit/>
                    </a:bodyPr>
                    <a:lstStyle/>
                    <a:p>
                      <a:pPr algn="l"/>
                      <a:r>
                        <a:rPr sz="2250" b="0">
                          <a:solidFill>
                            <a:srgbClr val="172A2A"/>
                          </a:solidFill>
                          <a:latin typeface="Arial"/>
                          <a:ea typeface="Arial"/>
                          <a:cs typeface="Arial"/>
                        </a:rPr>
                        <a:t>19–20</a:t>
                      </a:r>
                    </a:p>
                  </a:txBody>
                  <a:tcPr marL="91440" marR="91440" marT="45720" marB="45720" anchor="ctr">
                    <a:solidFill>
                      <a:srgbClr val="FFFFFF"/>
                    </a:solidFill>
                  </a:tcPr>
                </a:tc>
                <a:tc>
                  <a:txBody>
                    <a:bodyPr lIns="190500" tIns="114300" rIns="171450" bIns="114300">
                      <a:noAutofit/>
                    </a:bodyPr>
                    <a:lstStyle/>
                    <a:p>
                      <a:pPr algn="l"/>
                      <a:r>
                        <a:rPr sz="2250" b="0">
                          <a:solidFill>
                            <a:srgbClr val="172A2A"/>
                          </a:solidFill>
                          <a:latin typeface="Arial"/>
                          <a:ea typeface="Arial"/>
                          <a:cs typeface="Arial"/>
                        </a:rPr>
                        <a:t>Dự phòng; báo cáo, slide và video; nộp 25/01/2027</a:t>
                      </a:r>
                    </a:p>
                  </a:txBody>
                  <a:tcPr marL="91440" marR="91440" marT="45720" marB="45720" anchor="ctr">
                    <a:solidFill>
                      <a:srgbClr val="FFFFFF"/>
                    </a:solidFill>
                  </a:tcPr>
                </a:tc>
              </a:tr>
            </a:tbl>
          </a:graphicData>
        </a:graphic>
      </p:graphicFrame>
      <p:sp>
        <p:nvSpPr>
          <p:cNvPr id="235" name="Tuần 1 bắt đầu 07/09/2026. Cần thống nhất hạn 27/12/2026 ở đầu DOCX vớ">
            <a:extLst xmlns:a="http://schemas.openxmlformats.org/drawingml/2006/main">
              <a:ext uri="{FF2B5EF4-FFF2-40B4-BE49-F238E27FC236}">
                <a16:creationId xmlns:a16="http://schemas.microsoft.com/office/drawing/2014/main" id="{52929BD3-B130-4722-B67C-D0BBAA528BA1}"/>
              </a:ext>
            </a:extLst>
          </p:cNvPr>
          <p:cNvSpPr>
            <a:spLocks xmlns:a="http://schemas.openxmlformats.org/drawingml/2006/main" noGrp="1"/>
          </p:cNvSpPr>
          <p:nvPr/>
        </p:nvSpPr>
        <p:spPr>
          <a:xfrm xmlns:a="http://schemas.openxmlformats.org/drawingml/2006/main">
            <a:off x="809625" y="9315450"/>
            <a:ext cx="1666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15E"/>
                </a:solidFill>
                <a:latin typeface="Arial"/>
                <a:ea typeface="Arial"/>
                <a:cs typeface="Arial"/>
              </a:defRPr>
            </a:pPr>
            <a:r>
              <a:rPr sz="2025" b="0">
                <a:solidFill>
                  <a:srgbClr val="52615E"/>
                </a:solidFill>
                <a:latin typeface="Arial"/>
                <a:ea typeface="Arial"/>
                <a:cs typeface="Arial"/>
              </a:rPr>
              <a:t>Tuần 1 bắt đầu 07/09/2026. Cần thống nhất hạn 27/12/2026 ở đầu DOCX với bảng 20 tuần.</a:t>
            </a:r>
          </a:p>
        </p:txBody>
      </p:sp>
    </p:spTree>
    <p:extLst>
      <p:ext uri="{BB962C8B-B14F-4D97-AF65-F5344CB8AC3E}">
        <p14:creationId xmlns:p14="http://schemas.microsoft.com/office/powerpoint/2010/main" val="2772665066"/>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2026-09-15T15:08:39.4750000Z</dcterms:created>
  <dcterms:modified xsi:type="dcterms:W3CDTF">2026-09-15T15:08:39.4750000Z</dcterms:modified>
</coreProperties>
</file>