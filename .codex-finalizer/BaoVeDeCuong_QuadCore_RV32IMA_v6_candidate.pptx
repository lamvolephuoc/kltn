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e66725b72547a1" /><Relationship Type="http://schemas.openxmlformats.org/officeDocument/2006/relationships/extended-properties" Target="/docProps/app.xml" Id="R3c2aed56c7874e35" /><Relationship Type="http://schemas.openxmlformats.org/officeDocument/2006/relationships/officeDocument" Target="/ppt/presentation.xml" Id="Rbf593bb835884397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0f80f156204d49de"/>
  </p:sldMasterIdLst>
  <p:notesMasterIdLst>
    <p:notesMasterId xmlns:r="http://schemas.openxmlformats.org/officeDocument/2006/relationships" r:id="R9714a4fb2957496c"/>
  </p:notesMasterIdLst>
  <p:sldIdLst>
    <p:sldId xmlns:r="http://schemas.openxmlformats.org/officeDocument/2006/relationships" id="256" r:id="R601e09f9a69547c7"/>
    <p:sldId xmlns:r="http://schemas.openxmlformats.org/officeDocument/2006/relationships" id="257" r:id="Rcd66434fbf8a4e30"/>
    <p:sldId xmlns:r="http://schemas.openxmlformats.org/officeDocument/2006/relationships" id="258" r:id="Rc0519406310a42aa"/>
    <p:sldId xmlns:r="http://schemas.openxmlformats.org/officeDocument/2006/relationships" id="259" r:id="Re29951992bbf4df3"/>
    <p:sldId xmlns:r="http://schemas.openxmlformats.org/officeDocument/2006/relationships" id="260" r:id="R71fb962f76424ffb"/>
    <p:sldId xmlns:r="http://schemas.openxmlformats.org/officeDocument/2006/relationships" id="261" r:id="Ra786e40939b94fa5"/>
    <p:sldId xmlns:r="http://schemas.openxmlformats.org/officeDocument/2006/relationships" id="262" r:id="Ra81c710c94754733"/>
    <p:sldId xmlns:r="http://schemas.openxmlformats.org/officeDocument/2006/relationships" id="263" r:id="R6101c1d145254126"/>
    <p:sldId xmlns:r="http://schemas.openxmlformats.org/officeDocument/2006/relationships" id="264" r:id="R87626f9c7b5048fb"/>
  </p:sldIdLst>
  <p:sldSz cx="18288000" cy="10287000"/>
  <p:notesSz cx="6858000" cy="9144000"/>
  <p:embeddedFontLst>
    <p:embeddedFont>
      <p:font typeface="Calibri"/>
      <p:regular xmlns:r="http://schemas.openxmlformats.org/officeDocument/2006/relationships" r:id="Ref182b6157144bef"/>
      <p:bold xmlns:r="http://schemas.openxmlformats.org/officeDocument/2006/relationships" r:id="Re11e35a6ad514674"/>
      <p:italic xmlns:r="http://schemas.openxmlformats.org/officeDocument/2006/relationships" r:id="Rc319b30e0573430a"/>
      <p:boldItalic xmlns:r="http://schemas.openxmlformats.org/officeDocument/2006/relationships" r:id="R310a9fba022c473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866061c1ba435a" /><Relationship Type="http://schemas.openxmlformats.org/officeDocument/2006/relationships/slideMaster" Target="/ppt/slideMasters/slideMaster1.xml" Id="R0f80f156204d49de" /><Relationship Type="http://schemas.openxmlformats.org/officeDocument/2006/relationships/notesMaster" Target="/ppt/notesMasters/notesMaster1.xml" Id="R9714a4fb2957496c" /><Relationship Type="http://schemas.openxmlformats.org/officeDocument/2006/relationships/presProps" Target="/ppt/presProps.xml" Id="R09a61546a0f64c5d" /><Relationship Type="http://schemas.openxmlformats.org/officeDocument/2006/relationships/viewProps" Target="/ppt/viewProps.xml" Id="R2ce6f752ad524160" /><Relationship Type="http://schemas.openxmlformats.org/officeDocument/2006/relationships/tableStyles" Target="/ppt/tableStyles.xml" Id="Rdcb3d78311564646" /><Relationship Type="http://schemas.openxmlformats.org/officeDocument/2006/relationships/font" Target="/ppt/fonts/font.dat" Id="Ref182b6157144bef" /><Relationship Type="http://schemas.openxmlformats.org/officeDocument/2006/relationships/font" Target="/ppt/fonts/font2.dat" Id="Re11e35a6ad514674" /><Relationship Type="http://schemas.openxmlformats.org/officeDocument/2006/relationships/font" Target="/ppt/fonts/font3.dat" Id="Rc319b30e0573430a" /><Relationship Type="http://schemas.openxmlformats.org/officeDocument/2006/relationships/font" Target="/ppt/fonts/font4.dat" Id="R310a9fba022c4734" /><Relationship Type="http://schemas.openxmlformats.org/officeDocument/2006/relationships/slide" Target="/ppt/slides/slide1.xml" Id="R601e09f9a69547c7" /><Relationship Type="http://schemas.openxmlformats.org/officeDocument/2006/relationships/slide" Target="/ppt/slides/slide2.xml" Id="Rcd66434fbf8a4e30" /><Relationship Type="http://schemas.openxmlformats.org/officeDocument/2006/relationships/slide" Target="/ppt/slides/slide3.xml" Id="Rc0519406310a42aa" /><Relationship Type="http://schemas.openxmlformats.org/officeDocument/2006/relationships/slide" Target="/ppt/slides/slide4.xml" Id="Re29951992bbf4df3" /><Relationship Type="http://schemas.openxmlformats.org/officeDocument/2006/relationships/slide" Target="/ppt/slides/slide5.xml" Id="R71fb962f76424ffb" /><Relationship Type="http://schemas.openxmlformats.org/officeDocument/2006/relationships/slide" Target="/ppt/slides/slide6.xml" Id="Ra786e40939b94fa5" /><Relationship Type="http://schemas.openxmlformats.org/officeDocument/2006/relationships/slide" Target="/ppt/slides/slide7.xml" Id="Ra81c710c94754733" /><Relationship Type="http://schemas.openxmlformats.org/officeDocument/2006/relationships/slide" Target="/ppt/slides/slide8.xml" Id="R6101c1d145254126" /><Relationship Type="http://schemas.openxmlformats.org/officeDocument/2006/relationships/slide" Target="/ppt/slides/slide9.xml" Id="R87626f9c7b5048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b7eee096cc41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6bf77fb70b45b2" /><Relationship Type="http://schemas.openxmlformats.org/officeDocument/2006/relationships/notesMaster" Target="/ppt/notesMasters/notesMaster1.xml" Id="Re52d8a8d9e9747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5ebbf7f0484615" /><Relationship Type="http://schemas.openxmlformats.org/officeDocument/2006/relationships/notesMaster" Target="/ppt/notesMasters/notesMaster1.xml" Id="R71a3ea5c5adb42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bc620fa63c4966" /><Relationship Type="http://schemas.openxmlformats.org/officeDocument/2006/relationships/notesMaster" Target="/ppt/notesMasters/notesMaster1.xml" Id="Re3dfa60bb6db4b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a296202ec44617" /><Relationship Type="http://schemas.openxmlformats.org/officeDocument/2006/relationships/notesMaster" Target="/ppt/notesMasters/notesMaster1.xml" Id="Rf1c59f9ca4bc43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6d5bbb42e84e7f" /><Relationship Type="http://schemas.openxmlformats.org/officeDocument/2006/relationships/notesMaster" Target="/ppt/notesMasters/notesMaster1.xml" Id="R0acc28a7f58d4e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579a12aa3d488d" /><Relationship Type="http://schemas.openxmlformats.org/officeDocument/2006/relationships/notesMaster" Target="/ppt/notesMasters/notesMaster1.xml" Id="R86e22234766548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5acb8206a243bb" /><Relationship Type="http://schemas.openxmlformats.org/officeDocument/2006/relationships/notesMaster" Target="/ppt/notesMasters/notesMaster1.xml" Id="R523b26adfe4a48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b8959923f14acc" /><Relationship Type="http://schemas.openxmlformats.org/officeDocument/2006/relationships/notesMaster" Target="/ppt/notesMasters/notesMaster1.xml" Id="Rf6f7afb6738346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6a4e5faf4d4b27" /><Relationship Type="http://schemas.openxmlformats.org/officeDocument/2006/relationships/notesMaster" Target="/ppt/notesMasters/notesMaster1.xml" Id="Refb4d32b85f740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UAV </a:t>
            </a:r>
            <a:r>
              <a:t>chỉ</a:t>
            </a:r>
            <a:r>
              <a:t> </a:t>
            </a:r>
            <a:r>
              <a:t>là</a:t>
            </a:r>
            <a:r>
              <a:t> </a:t>
            </a:r>
            <a:r>
              <a:t>ví</a:t>
            </a:r>
            <a:r>
              <a:t> </a:t>
            </a:r>
            <a:r>
              <a:t>dụ</a:t>
            </a:r>
            <a:r>
              <a:t> </a:t>
            </a:r>
            <a:r>
              <a:t>tạo</a:t>
            </a:r>
            <a:r>
              <a:t> </a:t>
            </a:r>
            <a:r>
              <a:t>động</a:t>
            </a:r>
            <a:r>
              <a:t> </a:t>
            </a:r>
            <a:r>
              <a:t>lực</a:t>
            </a:r>
            <a:r>
              <a:t>, </a:t>
            </a:r>
            <a:r>
              <a:t>khóa</a:t>
            </a:r>
            <a:r>
              <a:t> </a:t>
            </a:r>
            <a:r>
              <a:t>luận</a:t>
            </a:r>
            <a:r>
              <a:t> </a:t>
            </a:r>
            <a:r>
              <a:t>không</a:t>
            </a:r>
            <a:r>
              <a:t> cam </a:t>
            </a:r>
            <a:r>
              <a:t>kết</a:t>
            </a:r>
            <a:r>
              <a:t> </a:t>
            </a:r>
            <a:r>
              <a:t>xây</a:t>
            </a:r>
            <a:r>
              <a:t> </a:t>
            </a:r>
            <a:r>
              <a:t>dựng</a:t>
            </a:r>
            <a:r>
              <a:t> </a:t>
            </a:r>
            <a:r>
              <a:t>hoặc</a:t>
            </a:r>
            <a:r>
              <a:t> </a:t>
            </a:r>
            <a:r>
              <a:t>chứng</a:t>
            </a:r>
            <a:r>
              <a:t> </a:t>
            </a:r>
            <a:r>
              <a:t>nhận</a:t>
            </a:r>
            <a:r>
              <a:t> </a:t>
            </a:r>
            <a:r>
              <a:t>hệ</a:t>
            </a:r>
            <a:r>
              <a:t> </a:t>
            </a:r>
            <a:r>
              <a:t>điều</a:t>
            </a:r>
            <a:r>
              <a:t> </a:t>
            </a:r>
            <a:r>
              <a:t>khiển</a:t>
            </a:r>
            <a:r>
              <a:t> bay. </a:t>
            </a:r>
            <a:r>
              <a:t>Nền</a:t>
            </a:r>
            <a:r>
              <a:t> </a:t>
            </a:r>
            <a:r>
              <a:t>tảng</a:t>
            </a:r>
            <a:r>
              <a:t> </a:t>
            </a:r>
            <a:r>
              <a:t>tham</a:t>
            </a:r>
            <a:r>
              <a:t> </a:t>
            </a:r>
            <a:r>
              <a:t>khảo</a:t>
            </a:r>
            <a:r>
              <a:t> </a:t>
            </a:r>
            <a:r>
              <a:t>trong</a:t>
            </a:r>
            <a:r>
              <a:t> khoa </a:t>
            </a:r>
            <a:r>
              <a:t>gồm</a:t>
            </a:r>
            <a:r>
              <a:t> </a:t>
            </a:r>
            <a:r>
              <a:t>hệ</a:t>
            </a:r>
            <a:r>
              <a:t> 2 </a:t>
            </a:r>
            <a:r>
              <a:t>lõi</a:t>
            </a:r>
            <a:r>
              <a:t> RV32IMFA </a:t>
            </a:r>
            <a:r>
              <a:t>và</a:t>
            </a:r>
            <a:r>
              <a:t> </a:t>
            </a:r>
            <a:r>
              <a:t>hệ</a:t>
            </a:r>
            <a:r>
              <a:t> 2 </a:t>
            </a:r>
            <a:r>
              <a:t>lõi</a:t>
            </a:r>
            <a:r>
              <a:t> RV32IA </a:t>
            </a:r>
            <a:r>
              <a:t>có</a:t>
            </a:r>
            <a:r>
              <a:t> cache/coherence. </a:t>
            </a:r>
            <a:r>
              <a:t>Đóng</a:t>
            </a:r>
            <a:r>
              <a:t> </a:t>
            </a:r>
            <a:r>
              <a:t>góp</a:t>
            </a:r>
            <a:r>
              <a:t> </a:t>
            </a:r>
            <a:r>
              <a:t>nhóm</a:t>
            </a:r>
            <a:r>
              <a:t> </a:t>
            </a:r>
            <a:r>
              <a:t>hướng</a:t>
            </a:r>
            <a:r>
              <a:t> </a:t>
            </a:r>
            <a:r>
              <a:t>tới</a:t>
            </a:r>
            <a:r>
              <a:t> </a:t>
            </a:r>
            <a:r>
              <a:t>là</a:t>
            </a:r>
            <a:r>
              <a:t> </a:t>
            </a:r>
            <a:r>
              <a:t>tích</a:t>
            </a:r>
            <a:r>
              <a:t> </a:t>
            </a:r>
            <a:r>
              <a:t>hợp</a:t>
            </a:r>
            <a:r>
              <a:t> </a:t>
            </a:r>
            <a:r>
              <a:t>hệ</a:t>
            </a:r>
            <a:r>
              <a:t> 4 </a:t>
            </a:r>
            <a:r>
              <a:t>lõi</a:t>
            </a:r>
            <a:r>
              <a:t> RV32IMA </a:t>
            </a:r>
            <a:r>
              <a:t>với</a:t>
            </a:r>
            <a:r>
              <a:t> L1/L2, coherence </a:t>
            </a:r>
            <a:r>
              <a:t>và</a:t>
            </a:r>
            <a:r>
              <a:t> MMU </a:t>
            </a:r>
            <a:r>
              <a:t>theo</a:t>
            </a:r>
            <a:r>
              <a:t> </a:t>
            </a:r>
            <a:r>
              <a:t>từng</a:t>
            </a:r>
            <a:r>
              <a:t> </a:t>
            </a:r>
            <a:r>
              <a:t>lõi</a:t>
            </a:r>
            <a:r>
              <a:t>, </a:t>
            </a:r>
            <a:r>
              <a:t>rồi</a:t>
            </a:r>
            <a:r>
              <a:t> </a:t>
            </a:r>
            <a:r>
              <a:t>đánh</a:t>
            </a:r>
            <a:r>
              <a:t> </a:t>
            </a:r>
            <a:r>
              <a:t>giá</a:t>
            </a:r>
            <a:r>
              <a:t> </a:t>
            </a:r>
            <a:r>
              <a:t>bằng</a:t>
            </a:r>
            <a:r>
              <a:t> </a:t>
            </a:r>
            <a:r>
              <a:t>mô</a:t>
            </a:r>
            <a:r>
              <a:t> </a:t>
            </a:r>
            <a:r>
              <a:t>phỏng</a:t>
            </a:r>
            <a:r>
              <a:t> </a:t>
            </a:r>
            <a:r>
              <a:t>và</a:t>
            </a:r>
            <a:r>
              <a:t> FPGA. </a:t>
            </a:r>
            <a:r>
              <a:t>Tránh khẳng định mọi nghiên cứu quốc tế đều chưa giải quyết cache.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RV32I </a:t>
            </a:r>
            <a:r>
              <a:t>là</a:t>
            </a:r>
            <a:r>
              <a:t> </a:t>
            </a:r>
            <a:r>
              <a:t>tập</a:t>
            </a:r>
            <a:r>
              <a:t> </a:t>
            </a:r>
            <a:r>
              <a:t>lệnh</a:t>
            </a:r>
            <a:r>
              <a:t> </a:t>
            </a:r>
            <a:r>
              <a:t>số</a:t>
            </a:r>
            <a:r>
              <a:t> </a:t>
            </a:r>
            <a:r>
              <a:t>nguyên</a:t>
            </a:r>
            <a:r>
              <a:t> </a:t>
            </a:r>
            <a:r>
              <a:t>cơ</a:t>
            </a:r>
            <a:r>
              <a:t> </a:t>
            </a:r>
            <a:r>
              <a:t>sở</a:t>
            </a:r>
            <a:r>
              <a:t>, M </a:t>
            </a:r>
            <a:r>
              <a:t>bổ</a:t>
            </a:r>
            <a:r>
              <a:t> sung </a:t>
            </a:r>
            <a:r>
              <a:t>nhân</a:t>
            </a:r>
            <a:r>
              <a:t>/chia, A </a:t>
            </a:r>
            <a:r>
              <a:t>bổ</a:t>
            </a:r>
            <a:r>
              <a:t> sung </a:t>
            </a:r>
            <a:r>
              <a:t>thao</a:t>
            </a:r>
            <a:r>
              <a:t> </a:t>
            </a:r>
            <a:r>
              <a:t>tác</a:t>
            </a:r>
            <a:r>
              <a:t> </a:t>
            </a:r>
            <a:r>
              <a:t>nguyên</a:t>
            </a:r>
            <a:r>
              <a:t> </a:t>
            </a:r>
            <a:r>
              <a:t>tử</a:t>
            </a:r>
            <a:r>
              <a:t> </a:t>
            </a:r>
            <a:r>
              <a:t>phục</a:t>
            </a:r>
            <a:r>
              <a:t> </a:t>
            </a:r>
            <a:r>
              <a:t>vụ</a:t>
            </a:r>
            <a:r>
              <a:t> chia </a:t>
            </a:r>
            <a:r>
              <a:t>sẻ</a:t>
            </a:r>
            <a:r>
              <a:t> </a:t>
            </a:r>
            <a:r>
              <a:t>dữ</a:t>
            </a:r>
            <a:r>
              <a:t> </a:t>
            </a:r>
            <a:r>
              <a:t>liệu</a:t>
            </a:r>
            <a:r>
              <a:t> </a:t>
            </a:r>
            <a:r>
              <a:t>giữa</a:t>
            </a:r>
            <a:r>
              <a:t> </a:t>
            </a:r>
            <a:r>
              <a:t>các</a:t>
            </a:r>
            <a:r>
              <a:t> </a:t>
            </a:r>
            <a:r>
              <a:t>lõi</a:t>
            </a:r>
            <a:r>
              <a:t>. Hai </a:t>
            </a:r>
            <a:r>
              <a:t>mục</a:t>
            </a:r>
            <a:r>
              <a:t> </a:t>
            </a:r>
            <a:r>
              <a:t>tiêu</a:t>
            </a:r>
            <a:r>
              <a:t> bao </a:t>
            </a:r>
            <a:r>
              <a:t>quát</a:t>
            </a:r>
            <a:r>
              <a:t> </a:t>
            </a:r>
            <a:r>
              <a:t>phần</a:t>
            </a:r>
            <a:r>
              <a:t> </a:t>
            </a:r>
            <a:r>
              <a:t>thiết</a:t>
            </a:r>
            <a:r>
              <a:t> </a:t>
            </a:r>
            <a:r>
              <a:t>kế</a:t>
            </a:r>
            <a:r>
              <a:t> </a:t>
            </a:r>
            <a:r>
              <a:t>và</a:t>
            </a:r>
            <a:r>
              <a:t> </a:t>
            </a:r>
            <a:r>
              <a:t>phần</a:t>
            </a:r>
            <a:r>
              <a:t> </a:t>
            </a:r>
            <a:r>
              <a:t>chứng</a:t>
            </a:r>
            <a:r>
              <a:t> </a:t>
            </a:r>
            <a:r>
              <a:t>minh</a:t>
            </a:r>
            <a:r>
              <a:t> </a:t>
            </a:r>
            <a:r>
              <a:t>thiết</a:t>
            </a:r>
            <a:r>
              <a:t> </a:t>
            </a:r>
            <a:r>
              <a:t>kế</a:t>
            </a:r>
            <a:r>
              <a:t> </a:t>
            </a:r>
            <a:r>
              <a:t>hoạt</a:t>
            </a:r>
            <a:r>
              <a:t> </a:t>
            </a:r>
            <a:r>
              <a:t>động</a:t>
            </a:r>
            <a:r>
              <a:t>. RTL </a:t>
            </a:r>
            <a:r>
              <a:t>hiện</a:t>
            </a:r>
            <a:r>
              <a:t> </a:t>
            </a:r>
            <a:r>
              <a:t>có</a:t>
            </a:r>
            <a:r>
              <a:t> </a:t>
            </a:r>
            <a:r>
              <a:t>chủ</a:t>
            </a:r>
            <a:r>
              <a:t> </a:t>
            </a:r>
            <a:r>
              <a:t>yếu</a:t>
            </a:r>
            <a:r>
              <a:t> </a:t>
            </a:r>
            <a:r>
              <a:t>là</a:t>
            </a:r>
            <a:r>
              <a:t> Verilog .v, </a:t>
            </a:r>
            <a:r>
              <a:t>đề</a:t>
            </a:r>
            <a:r>
              <a:t> </a:t>
            </a:r>
            <a:r>
              <a:t>cương</a:t>
            </a:r>
            <a:r>
              <a:t> </a:t>
            </a:r>
            <a:r>
              <a:t>định</a:t>
            </a:r>
            <a:r>
              <a:t> </a:t>
            </a:r>
            <a:r>
              <a:t>hướng</a:t>
            </a:r>
            <a:r>
              <a:t> Verilog/</a:t>
            </a:r>
            <a:r>
              <a:t>SystemVerilog</a:t>
            </a:r>
            <a:r>
              <a:t> </a:t>
            </a:r>
            <a:r>
              <a:t>và</a:t>
            </a:r>
            <a:r>
              <a:t> </a:t>
            </a:r>
            <a:r>
              <a:t>môi</a:t>
            </a:r>
            <a:r>
              <a:t> </a:t>
            </a:r>
            <a:r>
              <a:t>trường</a:t>
            </a:r>
            <a:r>
              <a:t> </a:t>
            </a:r>
            <a:r>
              <a:t>kiểm</a:t>
            </a:r>
            <a:r>
              <a:t> </a:t>
            </a:r>
            <a:r>
              <a:t>chứng</a:t>
            </a:r>
            <a:r>
              <a:t>. MMU </a:t>
            </a:r>
            <a:r>
              <a:t>hiện</a:t>
            </a:r>
            <a:r>
              <a:t> </a:t>
            </a:r>
            <a:r>
              <a:t>thực</a:t>
            </a:r>
            <a:r>
              <a:t> </a:t>
            </a:r>
            <a:r>
              <a:t>theo</a:t>
            </a:r>
            <a:r>
              <a:t> </a:t>
            </a:r>
            <a:r>
              <a:t>cấu</a:t>
            </a:r>
            <a:r>
              <a:t> </a:t>
            </a:r>
            <a:r>
              <a:t>trúc</a:t>
            </a:r>
            <a:r>
              <a:t> Sv32 2 </a:t>
            </a:r>
            <a:r>
              <a:t>cấp</a:t>
            </a:r>
            <a:r>
              <a:t> </a:t>
            </a:r>
            <a:r>
              <a:t>nhưng</a:t>
            </a:r>
            <a:r>
              <a:t> </a:t>
            </a:r>
            <a:r>
              <a:t>dùng</a:t>
            </a:r>
            <a:r>
              <a:t> </a:t>
            </a:r>
            <a:r>
              <a:t>định</a:t>
            </a:r>
            <a:r>
              <a:t> </a:t>
            </a:r>
            <a:r>
              <a:t>dạng</a:t>
            </a:r>
            <a:r>
              <a:t> PTE/PA </a:t>
            </a:r>
            <a:r>
              <a:t>tùy</a:t>
            </a:r>
            <a:r>
              <a:t> </a:t>
            </a:r>
            <a:r>
              <a:t>biến</a:t>
            </a:r>
            <a:r>
              <a:t> 32 bit, </a:t>
            </a:r>
            <a:r>
              <a:t>không</a:t>
            </a:r>
            <a:r>
              <a:t> </a:t>
            </a:r>
            <a:r>
              <a:t>tuyên</a:t>
            </a:r>
            <a:r>
              <a:t> </a:t>
            </a:r>
            <a:r>
              <a:t>bố</a:t>
            </a:r>
            <a:r>
              <a:t> </a:t>
            </a:r>
            <a:r>
              <a:t>tuân</a:t>
            </a:r>
            <a:r>
              <a:t> </a:t>
            </a:r>
            <a:r>
              <a:t>thủ</a:t>
            </a:r>
            <a:r>
              <a:t> </a:t>
            </a:r>
            <a:r>
              <a:t>đầy</a:t>
            </a:r>
            <a:r>
              <a:t> </a:t>
            </a:r>
            <a:r>
              <a:t>đủ</a:t>
            </a:r>
            <a:r>
              <a:t> Sv32. </a:t>
            </a:r>
            <a:r>
              <a:t>Không</a:t>
            </a:r>
            <a:r>
              <a:t> </a:t>
            </a:r>
            <a:r>
              <a:t>có</a:t>
            </a:r>
            <a:r>
              <a:t> </a:t>
            </a:r>
            <a:r>
              <a:t>superpage</a:t>
            </a:r>
            <a:r>
              <a:t>, </a:t>
            </a:r>
            <a:r>
              <a:t>không</a:t>
            </a:r>
            <a:r>
              <a:t> </a:t>
            </a:r>
            <a:r>
              <a:t>tự</a:t>
            </a:r>
            <a:r>
              <a:t> </a:t>
            </a:r>
            <a:r>
              <a:t>cập</a:t>
            </a:r>
            <a:r>
              <a:t> </a:t>
            </a:r>
            <a:r>
              <a:t>nhật</a:t>
            </a:r>
            <a:r>
              <a:t> A/D, </a:t>
            </a:r>
            <a:r>
              <a:t>không</a:t>
            </a:r>
            <a:r>
              <a:t> </a:t>
            </a:r>
            <a:r>
              <a:t>áp</a:t>
            </a:r>
            <a:r>
              <a:t> </a:t>
            </a:r>
            <a:r>
              <a:t>dụng</a:t>
            </a:r>
            <a:r>
              <a:t> </a:t>
            </a:r>
            <a:r>
              <a:t>đầy</a:t>
            </a:r>
            <a:r>
              <a:t> </a:t>
            </a:r>
            <a:r>
              <a:t>đủ</a:t>
            </a:r>
            <a:r>
              <a:t> </a:t>
            </a:r>
            <a:r>
              <a:t>phân</a:t>
            </a:r>
            <a:r>
              <a:t> </a:t>
            </a:r>
            <a:r>
              <a:t>quyền</a:t>
            </a:r>
            <a:r>
              <a:t> </a:t>
            </a:r>
            <a:r>
              <a:t>truy</a:t>
            </a:r>
            <a:r>
              <a:t> </a:t>
            </a:r>
            <a:r>
              <a:t>cập</a:t>
            </a:r>
            <a:r>
              <a:t> </a:t>
            </a:r>
            <a:r>
              <a:t>trang</a:t>
            </a:r>
            <a:r>
              <a:t> S/U.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Thiết</a:t>
            </a:r>
            <a:r>
              <a:t> </a:t>
            </a:r>
            <a:r>
              <a:t>kế</a:t>
            </a:r>
            <a:r>
              <a:t> </a:t>
            </a:r>
            <a:r>
              <a:t>tăng</a:t>
            </a:r>
            <a:r>
              <a:t> </a:t>
            </a:r>
            <a:r>
              <a:t>dần</a:t>
            </a:r>
            <a:r>
              <a:t> </a:t>
            </a:r>
            <a:r>
              <a:t>độ</a:t>
            </a:r>
            <a:r>
              <a:t> </a:t>
            </a:r>
            <a:r>
              <a:t>phức</a:t>
            </a:r>
            <a:r>
              <a:t> </a:t>
            </a:r>
            <a:r>
              <a:t>tạp</a:t>
            </a:r>
            <a:r>
              <a:t> </a:t>
            </a:r>
            <a:r>
              <a:t>để</a:t>
            </a:r>
            <a:r>
              <a:t> </a:t>
            </a:r>
            <a:r>
              <a:t>cô</a:t>
            </a:r>
            <a:r>
              <a:t> </a:t>
            </a:r>
            <a:r>
              <a:t>lập</a:t>
            </a:r>
            <a:r>
              <a:t> </a:t>
            </a:r>
            <a:r>
              <a:t>lỗi</a:t>
            </a:r>
            <a:r>
              <a:t>: </a:t>
            </a:r>
            <a:r>
              <a:t>kiểm</a:t>
            </a:r>
            <a:r>
              <a:t> </a:t>
            </a:r>
            <a:r>
              <a:t>tra</a:t>
            </a:r>
            <a:r>
              <a:t> </a:t>
            </a:r>
            <a:r>
              <a:t>khối</a:t>
            </a:r>
            <a:r>
              <a:t> </a:t>
            </a:r>
            <a:r>
              <a:t>riêng</a:t>
            </a:r>
            <a:r>
              <a:t>, </a:t>
            </a:r>
            <a:r>
              <a:t>ghép</a:t>
            </a:r>
            <a:r>
              <a:t> </a:t>
            </a:r>
            <a:r>
              <a:t>lõi</a:t>
            </a:r>
            <a:r>
              <a:t> </a:t>
            </a:r>
            <a:r>
              <a:t>đơn</a:t>
            </a:r>
            <a:r>
              <a:t>, </a:t>
            </a:r>
            <a:r>
              <a:t>tích</a:t>
            </a:r>
            <a:r>
              <a:t> </a:t>
            </a:r>
            <a:r>
              <a:t>hợp</a:t>
            </a:r>
            <a:r>
              <a:t> </a:t>
            </a:r>
            <a:r>
              <a:t>nhiều</a:t>
            </a:r>
            <a:r>
              <a:t> </a:t>
            </a:r>
            <a:r>
              <a:t>lõi</a:t>
            </a:r>
            <a:r>
              <a:t>, </a:t>
            </a:r>
            <a:r>
              <a:t>cuối</a:t>
            </a:r>
            <a:r>
              <a:t> </a:t>
            </a:r>
            <a:r>
              <a:t>cùng</a:t>
            </a:r>
            <a:r>
              <a:t> </a:t>
            </a:r>
            <a:r>
              <a:t>chạy</a:t>
            </a:r>
            <a:r>
              <a:t> </a:t>
            </a:r>
            <a:r>
              <a:t>toàn</a:t>
            </a:r>
            <a:r>
              <a:t> </a:t>
            </a:r>
            <a:r>
              <a:t>hệ</a:t>
            </a:r>
            <a:r>
              <a:t> </a:t>
            </a:r>
            <a:r>
              <a:t>thống</a:t>
            </a:r>
            <a:r>
              <a:t>. </a:t>
            </a:r>
            <a:r>
              <a:t>Vai</a:t>
            </a:r>
            <a:r>
              <a:t> </a:t>
            </a:r>
            <a:r>
              <a:t>trò</a:t>
            </a:r>
            <a:r>
              <a:t> </a:t>
            </a:r>
            <a:r>
              <a:t>các</a:t>
            </a:r>
            <a:r>
              <a:t> </a:t>
            </a:r>
            <a:r>
              <a:t>thành</a:t>
            </a:r>
            <a:r>
              <a:t> </a:t>
            </a:r>
            <a:r>
              <a:t>phần</a:t>
            </a:r>
            <a:r>
              <a:t>: L1 </a:t>
            </a:r>
            <a:r>
              <a:t>giảm</a:t>
            </a:r>
            <a:r>
              <a:t> </a:t>
            </a:r>
            <a:r>
              <a:t>truy</a:t>
            </a:r>
            <a:r>
              <a:t> </a:t>
            </a:r>
            <a:r>
              <a:t>cập</a:t>
            </a:r>
            <a:r>
              <a:t> </a:t>
            </a:r>
            <a:r>
              <a:t>bộ</a:t>
            </a:r>
            <a:r>
              <a:t> </a:t>
            </a:r>
            <a:r>
              <a:t>nhớ</a:t>
            </a:r>
            <a:r>
              <a:t> </a:t>
            </a:r>
            <a:r>
              <a:t>cho</a:t>
            </a:r>
            <a:r>
              <a:t> </a:t>
            </a:r>
            <a:r>
              <a:t>từng</a:t>
            </a:r>
            <a:r>
              <a:t> </a:t>
            </a:r>
            <a:r>
              <a:t>lõi</a:t>
            </a:r>
            <a:r>
              <a:t>, L2 </a:t>
            </a:r>
            <a:r>
              <a:t>là</a:t>
            </a:r>
            <a:r>
              <a:t> </a:t>
            </a:r>
            <a:r>
              <a:t>bộ</a:t>
            </a:r>
            <a:r>
              <a:t> </a:t>
            </a:r>
            <a:r>
              <a:t>nhớ</a:t>
            </a:r>
            <a:r>
              <a:t> </a:t>
            </a:r>
            <a:r>
              <a:t>đệm</a:t>
            </a:r>
            <a:r>
              <a:t> </a:t>
            </a:r>
            <a:r>
              <a:t>dùng</a:t>
            </a:r>
            <a:r>
              <a:t> </a:t>
            </a:r>
            <a:r>
              <a:t>chung</a:t>
            </a:r>
            <a:r>
              <a:t>, MESI </a:t>
            </a:r>
            <a:r>
              <a:t>quản</a:t>
            </a:r>
            <a:r>
              <a:t> </a:t>
            </a:r>
            <a:r>
              <a:t>lý</a:t>
            </a:r>
            <a:r>
              <a:t> </a:t>
            </a:r>
            <a:r>
              <a:t>bản</a:t>
            </a:r>
            <a:r>
              <a:t> </a:t>
            </a:r>
            <a:r>
              <a:t>sao</a:t>
            </a:r>
            <a:r>
              <a:t> </a:t>
            </a:r>
            <a:r>
              <a:t>dữ</a:t>
            </a:r>
            <a:r>
              <a:t> </a:t>
            </a:r>
            <a:r>
              <a:t>liệu</a:t>
            </a:r>
            <a:r>
              <a:t> </a:t>
            </a:r>
            <a:r>
              <a:t>giữa</a:t>
            </a:r>
            <a:r>
              <a:t> </a:t>
            </a:r>
            <a:r>
              <a:t>các</a:t>
            </a:r>
            <a:r>
              <a:t> cache, MMU </a:t>
            </a:r>
            <a:r>
              <a:t>dịch</a:t>
            </a:r>
            <a:r>
              <a:t> </a:t>
            </a:r>
            <a:r>
              <a:t>địa</a:t>
            </a:r>
            <a:r>
              <a:t> </a:t>
            </a:r>
            <a:r>
              <a:t>chỉ</a:t>
            </a:r>
            <a:r>
              <a:t>. AHB-Lite ở </a:t>
            </a:r>
            <a:r>
              <a:t>biên</a:t>
            </a:r>
            <a:r>
              <a:t> L1 </a:t>
            </a:r>
            <a:r>
              <a:t>và</a:t>
            </a:r>
            <a:r>
              <a:t> </a:t>
            </a:r>
            <a:r>
              <a:t>khối</a:t>
            </a:r>
            <a:r>
              <a:t> coherence, AXI4 </a:t>
            </a:r>
            <a:r>
              <a:t>nối</a:t>
            </a:r>
            <a:r>
              <a:t> </a:t>
            </a:r>
            <a:r>
              <a:t>phía</a:t>
            </a:r>
            <a:r>
              <a:t> </a:t>
            </a:r>
            <a:r>
              <a:t>hệ</a:t>
            </a:r>
            <a:r>
              <a:t> </a:t>
            </a:r>
            <a:r>
              <a:t>thống</a:t>
            </a:r>
            <a:r>
              <a:t>. RTL </a:t>
            </a:r>
            <a:r>
              <a:t>hiện</a:t>
            </a:r>
            <a:r>
              <a:t> </a:t>
            </a:r>
            <a:r>
              <a:t>tại</a:t>
            </a:r>
            <a:r>
              <a:t> </a:t>
            </a:r>
            <a:r>
              <a:t>có</a:t>
            </a:r>
            <a:r>
              <a:t> </a:t>
            </a:r>
            <a:r>
              <a:t>các</a:t>
            </a:r>
            <a:r>
              <a:t> </a:t>
            </a:r>
            <a:r>
              <a:t>liên</a:t>
            </a:r>
            <a:r>
              <a:t> </a:t>
            </a:r>
            <a:r>
              <a:t>kết</a:t>
            </a:r>
            <a:r>
              <a:t> AHB-Lite </a:t>
            </a:r>
            <a:r>
              <a:t>điểm</a:t>
            </a:r>
            <a:r>
              <a:t> </a:t>
            </a:r>
            <a:r>
              <a:t>nối</a:t>
            </a:r>
            <a:r>
              <a:t> </a:t>
            </a:r>
            <a:r>
              <a:t>điểm</a:t>
            </a:r>
            <a:r>
              <a:t> </a:t>
            </a:r>
            <a:r>
              <a:t>và</a:t>
            </a:r>
            <a:r>
              <a:t> bus snoop </a:t>
            </a:r>
            <a:r>
              <a:t>riêng</a:t>
            </a:r>
            <a:r>
              <a:t>, </a:t>
            </a:r>
            <a:r>
              <a:t>trọng</a:t>
            </a:r>
            <a:r>
              <a:t> </a:t>
            </a:r>
            <a:r>
              <a:t>tài</a:t>
            </a:r>
            <a:r>
              <a:t> </a:t>
            </a:r>
            <a:r>
              <a:t>nằm</a:t>
            </a:r>
            <a:r>
              <a:t> </a:t>
            </a:r>
            <a:r>
              <a:t>trong</a:t>
            </a:r>
            <a:r>
              <a:t> </a:t>
            </a:r>
            <a:r>
              <a:t>coherence_manager</a:t>
            </a:r>
            <a:r>
              <a:t>; DMA </a:t>
            </a:r>
            <a:r>
              <a:t>hiện</a:t>
            </a:r>
            <a:r>
              <a:t> </a:t>
            </a:r>
            <a:r>
              <a:t>chọn</a:t>
            </a:r>
            <a:r>
              <a:t> IP </a:t>
            </a:r>
            <a:r>
              <a:t>axi_cdma</a:t>
            </a:r>
            <a:r>
              <a:t> </a:t>
            </a:r>
            <a:r>
              <a:t>trong</a:t>
            </a:r>
            <a:r>
              <a:t> </a:t>
            </a:r>
            <a:r>
              <a:t>Tcl</a:t>
            </a:r>
            <a:r>
              <a:t>, </a:t>
            </a:r>
            <a:r>
              <a:t>chỉ</a:t>
            </a:r>
            <a:r>
              <a:t> </a:t>
            </a:r>
            <a:r>
              <a:t>cần</a:t>
            </a:r>
            <a:r>
              <a:t> </a:t>
            </a:r>
            <a:r>
              <a:t>cấu</a:t>
            </a:r>
            <a:r>
              <a:t> </a:t>
            </a:r>
            <a:r>
              <a:t>hình</a:t>
            </a:r>
            <a:r>
              <a:t>, </a:t>
            </a:r>
            <a:r>
              <a:t>tích</a:t>
            </a:r>
            <a:r>
              <a:t> </a:t>
            </a:r>
            <a:r>
              <a:t>hợp</a:t>
            </a:r>
            <a:r>
              <a:t> </a:t>
            </a:r>
            <a:r>
              <a:t>và</a:t>
            </a:r>
            <a:r>
              <a:t> </a:t>
            </a:r>
            <a:r>
              <a:t>kiểm</a:t>
            </a:r>
            <a:r>
              <a:t> </a:t>
            </a:r>
            <a:r>
              <a:t>chứng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Quy trình bên trái: kiểm chứng khối riêng gồm pipeline, MMU/TLB, cache và bus; sau đó tích hợp lõi đơn, cuối cùng hệ 4 lõi. Chỉ chuyển sang mức tiếp theo khi các kiểm tra bắt buộc PASS; FAIL quay lại khối liên quan để sửa và chạy lại. Hai vòng phản hồi trên sơ đồ minh họa quy trình debug, không ngụ ý lỗi nào cũng nằm ở cùng một module. Spike chỉ đối chiếu kết quả thanh ghi/bộ nhớ I/M/A, không đối chiếu toàn bộ CSR/trap, MMU hay hệ đa lõi. Demo bên phải là luồng dự kiến: nạp chương trình vào DRAM, CPU 4 lõi thực thi, sau đó kiểm tra kết quả PASS/FAIL và đo thời gian thực thi. FPGA đích VCU129 theo đề cương.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96ee7243444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2eb97c49642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4d87c5fb84e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566cc6338244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b54fc4b05494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fe88fff0c4bf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858a8ed3c4c5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63b16dd8c44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964634213a4b2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e5e3ab3d5418d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65">
            <a:extLst xmlns:a="http://schemas.openxmlformats.org/drawingml/2006/main">
              <a:ext uri="{FF2B5EF4-FFF2-40B4-BE49-F238E27FC236}">
                <a16:creationId xmlns:a16="http://schemas.microsoft.com/office/drawing/2014/main" id="{C74B57CF-0C32-47D8-AED7-4B596E27AE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13360" y="972439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8C4C011D-1689-464D-9E55-AF0206B8A16E}" type="datetime1">
              <a:t>9/16/2026</a:t>
            </a:fld>
            <a:endParaRPr/>
          </a:p>
        </p:txBody>
      </p:sp>
      <p:sp>
        <p:nvSpPr>
          <p:cNvPr id="13" name="Google Shape;13;p65">
            <a:extLst xmlns:a="http://schemas.openxmlformats.org/drawingml/2006/main">
              <a:ext uri="{FF2B5EF4-FFF2-40B4-BE49-F238E27FC236}">
                <a16:creationId xmlns:a16="http://schemas.microsoft.com/office/drawing/2014/main" id="{0B59968E-A04C-492E-9A4B-F67A3B0783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65">
            <a:extLst xmlns:a="http://schemas.openxmlformats.org/drawingml/2006/main">
              <a:ext uri="{FF2B5EF4-FFF2-40B4-BE49-F238E27FC236}">
                <a16:creationId xmlns:a16="http://schemas.microsoft.com/office/drawing/2014/main" id="{BB22804F-6BE2-4C6B-8D96-0C77AF98CA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941040" y="972439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67">
            <a:extLst xmlns:a="http://schemas.openxmlformats.org/drawingml/2006/main">
              <a:ext uri="{FF2B5EF4-FFF2-40B4-BE49-F238E27FC236}">
                <a16:creationId xmlns:a16="http://schemas.microsoft.com/office/drawing/2014/main" id="{73B73360-A6F2-4806-8D52-227D7929B9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67">
            <a:extLst xmlns:a="http://schemas.openxmlformats.org/drawingml/2006/main">
              <a:ext uri="{FF2B5EF4-FFF2-40B4-BE49-F238E27FC236}">
                <a16:creationId xmlns:a16="http://schemas.microsoft.com/office/drawing/2014/main" id="{4F81394F-1C26-4991-B6DF-0C50C5B50B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67">
            <a:extLst xmlns:a="http://schemas.openxmlformats.org/drawingml/2006/main">
              <a:ext uri="{FF2B5EF4-FFF2-40B4-BE49-F238E27FC236}">
                <a16:creationId xmlns:a16="http://schemas.microsoft.com/office/drawing/2014/main" id="{8696AED8-69B5-40BC-B770-45B7294E278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259080" y="9647237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A3DE3C4B-B3FD-49EC-B1D1-5EA2190C20AA}" type="datetime1">
              <a:t>9/16/2026</a:t>
            </a:fld>
            <a:endParaRPr/>
          </a:p>
        </p:txBody>
      </p:sp>
      <p:sp>
        <p:nvSpPr>
          <p:cNvPr id="25" name="Google Shape;25;p67">
            <a:extLst xmlns:a="http://schemas.openxmlformats.org/drawingml/2006/main">
              <a:ext uri="{FF2B5EF4-FFF2-40B4-BE49-F238E27FC236}">
                <a16:creationId xmlns:a16="http://schemas.microsoft.com/office/drawing/2014/main" id="{EEF774CA-4412-4BD9-B993-EBAD5F20FA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67">
            <a:extLst xmlns:a="http://schemas.openxmlformats.org/drawingml/2006/main">
              <a:ext uri="{FF2B5EF4-FFF2-40B4-BE49-F238E27FC236}">
                <a16:creationId xmlns:a16="http://schemas.microsoft.com/office/drawing/2014/main" id="{16ACCE79-E24F-42B1-83F3-6E7C38BBA3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895320" y="9647237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68">
            <a:extLst xmlns:a="http://schemas.openxmlformats.org/drawingml/2006/main">
              <a:ext uri="{FF2B5EF4-FFF2-40B4-BE49-F238E27FC236}">
                <a16:creationId xmlns:a16="http://schemas.microsoft.com/office/drawing/2014/main" id="{FCD343B9-B717-4F30-A562-592FBCF70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9" name="Google Shape;29;p68">
            <a:extLst xmlns:a="http://schemas.openxmlformats.org/drawingml/2006/main">
              <a:ext uri="{FF2B5EF4-FFF2-40B4-BE49-F238E27FC236}">
                <a16:creationId xmlns:a16="http://schemas.microsoft.com/office/drawing/2014/main" id="{1543D893-AB8D-4CEF-A542-E359370EA7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68">
            <a:extLst xmlns:a="http://schemas.openxmlformats.org/drawingml/2006/main">
              <a:ext uri="{FF2B5EF4-FFF2-40B4-BE49-F238E27FC236}">
                <a16:creationId xmlns:a16="http://schemas.microsoft.com/office/drawing/2014/main" id="{1BE630A9-44CE-4100-AE15-213DF31E96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8DACA1C8-4714-4B67-816D-1B25041F6F3A}" type="datetime1">
              <a:t>9/16/2026</a:t>
            </a:fld>
            <a:endParaRPr/>
          </a:p>
        </p:txBody>
      </p:sp>
      <p:sp>
        <p:nvSpPr>
          <p:cNvPr id="31" name="Google Shape;31;p68">
            <a:extLst xmlns:a="http://schemas.openxmlformats.org/drawingml/2006/main">
              <a:ext uri="{FF2B5EF4-FFF2-40B4-BE49-F238E27FC236}">
                <a16:creationId xmlns:a16="http://schemas.microsoft.com/office/drawing/2014/main" id="{35829F60-5B28-45AC-8558-367599EDD5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68">
            <a:extLst xmlns:a="http://schemas.openxmlformats.org/drawingml/2006/main">
              <a:ext uri="{FF2B5EF4-FFF2-40B4-BE49-F238E27FC236}">
                <a16:creationId xmlns:a16="http://schemas.microsoft.com/office/drawing/2014/main" id="{FD921911-21E2-43D9-9EA4-5FD5DC2FB0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9">
            <a:extLst xmlns:a="http://schemas.openxmlformats.org/drawingml/2006/main">
              <a:ext uri="{FF2B5EF4-FFF2-40B4-BE49-F238E27FC236}">
                <a16:creationId xmlns:a16="http://schemas.microsoft.com/office/drawing/2014/main" id="{C3A73EC1-6B0B-43D7-A166-7FDBA31790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69">
            <a:extLst xmlns:a="http://schemas.openxmlformats.org/drawingml/2006/main">
              <a:ext uri="{FF2B5EF4-FFF2-40B4-BE49-F238E27FC236}">
                <a16:creationId xmlns:a16="http://schemas.microsoft.com/office/drawing/2014/main" id="{ECFD2AD4-A8AD-4B84-A72D-62D15D4C21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69">
            <a:extLst xmlns:a="http://schemas.openxmlformats.org/drawingml/2006/main">
              <a:ext uri="{FF2B5EF4-FFF2-40B4-BE49-F238E27FC236}">
                <a16:creationId xmlns:a16="http://schemas.microsoft.com/office/drawing/2014/main" id="{E6C566FE-0384-4320-9E4C-B1F67794FA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69">
            <a:extLst xmlns:a="http://schemas.openxmlformats.org/drawingml/2006/main">
              <a:ext uri="{FF2B5EF4-FFF2-40B4-BE49-F238E27FC236}">
                <a16:creationId xmlns:a16="http://schemas.microsoft.com/office/drawing/2014/main" id="{926CF0E4-797F-47A6-AAE1-2033AFB34F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8FBCD8CB-8C6C-43D6-807B-9D89E1056B27}" type="datetime1">
              <a:t>9/16/2026</a:t>
            </a:fld>
            <a:endParaRPr/>
          </a:p>
        </p:txBody>
      </p:sp>
      <p:sp>
        <p:nvSpPr>
          <p:cNvPr id="38" name="Google Shape;38;p69">
            <a:extLst xmlns:a="http://schemas.openxmlformats.org/drawingml/2006/main">
              <a:ext uri="{FF2B5EF4-FFF2-40B4-BE49-F238E27FC236}">
                <a16:creationId xmlns:a16="http://schemas.microsoft.com/office/drawing/2014/main" id="{A10ABA25-A7E1-4AC2-A2CA-E8E9666271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69">
            <a:extLst xmlns:a="http://schemas.openxmlformats.org/drawingml/2006/main">
              <a:ext uri="{FF2B5EF4-FFF2-40B4-BE49-F238E27FC236}">
                <a16:creationId xmlns:a16="http://schemas.microsoft.com/office/drawing/2014/main" id="{A64449F5-C04E-48A2-85FC-C78BE114D2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0">
            <a:extLst xmlns:a="http://schemas.openxmlformats.org/drawingml/2006/main">
              <a:ext uri="{FF2B5EF4-FFF2-40B4-BE49-F238E27FC236}">
                <a16:creationId xmlns:a16="http://schemas.microsoft.com/office/drawing/2014/main" id="{BC7A33FE-4883-4B57-A086-B88CFBEFB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70">
            <a:extLst xmlns:a="http://schemas.openxmlformats.org/drawingml/2006/main">
              <a:ext uri="{FF2B5EF4-FFF2-40B4-BE49-F238E27FC236}">
                <a16:creationId xmlns:a16="http://schemas.microsoft.com/office/drawing/2014/main" id="{3F5BEDD3-845C-441C-904C-FF6F0E64EA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70">
            <a:extLst xmlns:a="http://schemas.openxmlformats.org/drawingml/2006/main">
              <a:ext uri="{FF2B5EF4-FFF2-40B4-BE49-F238E27FC236}">
                <a16:creationId xmlns:a16="http://schemas.microsoft.com/office/drawing/2014/main" id="{9B9AC6E2-DD57-4A0A-A9D0-97238262A6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70">
            <a:extLst xmlns:a="http://schemas.openxmlformats.org/drawingml/2006/main">
              <a:ext uri="{FF2B5EF4-FFF2-40B4-BE49-F238E27FC236}">
                <a16:creationId xmlns:a16="http://schemas.microsoft.com/office/drawing/2014/main" id="{9925AB7E-E501-4ACF-AAA6-E7F8964771A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70">
            <a:extLst xmlns:a="http://schemas.openxmlformats.org/drawingml/2006/main">
              <a:ext uri="{FF2B5EF4-FFF2-40B4-BE49-F238E27FC236}">
                <a16:creationId xmlns:a16="http://schemas.microsoft.com/office/drawing/2014/main" id="{1C86BF82-2689-4B73-BB70-120D26EC72F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70">
            <a:extLst xmlns:a="http://schemas.openxmlformats.org/drawingml/2006/main">
              <a:ext uri="{FF2B5EF4-FFF2-40B4-BE49-F238E27FC236}">
                <a16:creationId xmlns:a16="http://schemas.microsoft.com/office/drawing/2014/main" id="{9CEA7117-B3FF-475B-B4F8-6E3F172197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93B71042-709F-4549-A932-03B8769A8CB9}" type="datetime1">
              <a:t>9/16/2026</a:t>
            </a:fld>
            <a:endParaRPr/>
          </a:p>
        </p:txBody>
      </p:sp>
      <p:sp>
        <p:nvSpPr>
          <p:cNvPr id="47" name="Google Shape;47;p70">
            <a:extLst xmlns:a="http://schemas.openxmlformats.org/drawingml/2006/main">
              <a:ext uri="{FF2B5EF4-FFF2-40B4-BE49-F238E27FC236}">
                <a16:creationId xmlns:a16="http://schemas.microsoft.com/office/drawing/2014/main" id="{7D0360EF-FF4A-4457-BF69-37B5F3E140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70">
            <a:extLst xmlns:a="http://schemas.openxmlformats.org/drawingml/2006/main">
              <a:ext uri="{FF2B5EF4-FFF2-40B4-BE49-F238E27FC236}">
                <a16:creationId xmlns:a16="http://schemas.microsoft.com/office/drawing/2014/main" id="{B97F3D5C-0A17-41D3-9D7C-D2649F42EF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71">
            <a:extLst xmlns:a="http://schemas.openxmlformats.org/drawingml/2006/main">
              <a:ext uri="{FF2B5EF4-FFF2-40B4-BE49-F238E27FC236}">
                <a16:creationId xmlns:a16="http://schemas.microsoft.com/office/drawing/2014/main" id="{33F61148-238B-4038-9A77-719872767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71">
            <a:extLst xmlns:a="http://schemas.openxmlformats.org/drawingml/2006/main">
              <a:ext uri="{FF2B5EF4-FFF2-40B4-BE49-F238E27FC236}">
                <a16:creationId xmlns:a16="http://schemas.microsoft.com/office/drawing/2014/main" id="{8D34D264-8B3D-4AA9-B65B-E61C217DA4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14A0097F-0F85-44AB-B0FD-3506DE5162C9}" type="datetime1">
              <a:t>9/16/2026</a:t>
            </a:fld>
            <a:endParaRPr/>
          </a:p>
        </p:txBody>
      </p:sp>
      <p:sp>
        <p:nvSpPr>
          <p:cNvPr id="52" name="Google Shape;52;p71">
            <a:extLst xmlns:a="http://schemas.openxmlformats.org/drawingml/2006/main">
              <a:ext uri="{FF2B5EF4-FFF2-40B4-BE49-F238E27FC236}">
                <a16:creationId xmlns:a16="http://schemas.microsoft.com/office/drawing/2014/main" id="{B729DCCC-B420-4BAD-B619-6A2D7929AD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71">
            <a:extLst xmlns:a="http://schemas.openxmlformats.org/drawingml/2006/main">
              <a:ext uri="{FF2B5EF4-FFF2-40B4-BE49-F238E27FC236}">
                <a16:creationId xmlns:a16="http://schemas.microsoft.com/office/drawing/2014/main" id="{AC9FADC3-F3A3-4559-9E3F-321371F553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72">
            <a:extLst xmlns:a="http://schemas.openxmlformats.org/drawingml/2006/main">
              <a:ext uri="{FF2B5EF4-FFF2-40B4-BE49-F238E27FC236}">
                <a16:creationId xmlns:a16="http://schemas.microsoft.com/office/drawing/2014/main" id="{67058512-6929-4CEA-853C-FDCDC1C2EB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72">
            <a:extLst xmlns:a="http://schemas.openxmlformats.org/drawingml/2006/main">
              <a:ext uri="{FF2B5EF4-FFF2-40B4-BE49-F238E27FC236}">
                <a16:creationId xmlns:a16="http://schemas.microsoft.com/office/drawing/2014/main" id="{F2C6D176-3971-49B9-B3E9-2FAD2A66E3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72">
            <a:extLst xmlns:a="http://schemas.openxmlformats.org/drawingml/2006/main">
              <a:ext uri="{FF2B5EF4-FFF2-40B4-BE49-F238E27FC236}">
                <a16:creationId xmlns:a16="http://schemas.microsoft.com/office/drawing/2014/main" id="{586E3F69-09F5-489D-995C-A0B52119E4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58" name="Google Shape;58;p72">
            <a:extLst xmlns:a="http://schemas.openxmlformats.org/drawingml/2006/main">
              <a:ext uri="{FF2B5EF4-FFF2-40B4-BE49-F238E27FC236}">
                <a16:creationId xmlns:a16="http://schemas.microsoft.com/office/drawing/2014/main" id="{9E3E83EE-7634-4EDA-97E5-12035C4B7C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B6330C82-DDDD-46A1-AD99-E56D5AE909B7}" type="datetime1">
              <a:t>9/16/2026</a:t>
            </a:fld>
            <a:endParaRPr/>
          </a:p>
        </p:txBody>
      </p:sp>
      <p:sp>
        <p:nvSpPr>
          <p:cNvPr id="59" name="Google Shape;59;p72">
            <a:extLst xmlns:a="http://schemas.openxmlformats.org/drawingml/2006/main">
              <a:ext uri="{FF2B5EF4-FFF2-40B4-BE49-F238E27FC236}">
                <a16:creationId xmlns:a16="http://schemas.microsoft.com/office/drawing/2014/main" id="{81B7D178-31FB-42FB-A7BF-D75A02A873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72">
            <a:extLst xmlns:a="http://schemas.openxmlformats.org/drawingml/2006/main">
              <a:ext uri="{FF2B5EF4-FFF2-40B4-BE49-F238E27FC236}">
                <a16:creationId xmlns:a16="http://schemas.microsoft.com/office/drawing/2014/main" id="{3565693E-1147-42C2-B745-FDF9CD857E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73">
            <a:extLst xmlns:a="http://schemas.openxmlformats.org/drawingml/2006/main">
              <a:ext uri="{FF2B5EF4-FFF2-40B4-BE49-F238E27FC236}">
                <a16:creationId xmlns:a16="http://schemas.microsoft.com/office/drawing/2014/main" id="{3509ADB1-6638-4126-84B3-008CE8A41B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73">
            <a:extLst xmlns:a="http://schemas.openxmlformats.org/drawingml/2006/main">
              <a:ext uri="{FF2B5EF4-FFF2-40B4-BE49-F238E27FC236}">
                <a16:creationId xmlns:a16="http://schemas.microsoft.com/office/drawing/2014/main" id="{BD7E749F-2494-4689-AE32-6761DB4389B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Google Shape;64;p73">
            <a:extLst xmlns:a="http://schemas.openxmlformats.org/drawingml/2006/main">
              <a:ext uri="{FF2B5EF4-FFF2-40B4-BE49-F238E27FC236}">
                <a16:creationId xmlns:a16="http://schemas.microsoft.com/office/drawing/2014/main" id="{1F95764F-2F6C-4EC2-8201-DF2E02F1E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73">
            <a:extLst xmlns:a="http://schemas.openxmlformats.org/drawingml/2006/main">
              <a:ext uri="{FF2B5EF4-FFF2-40B4-BE49-F238E27FC236}">
                <a16:creationId xmlns:a16="http://schemas.microsoft.com/office/drawing/2014/main" id="{BA3F57A4-9C69-4EC2-9E35-B916277C2D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CCF0EB99-9966-472E-AC1B-5D48CE998D08}" type="datetime1">
              <a:t>9/16/2026</a:t>
            </a:fld>
            <a:endParaRPr/>
          </a:p>
        </p:txBody>
      </p:sp>
      <p:sp>
        <p:nvSpPr>
          <p:cNvPr id="66" name="Google Shape;66;p73">
            <a:extLst xmlns:a="http://schemas.openxmlformats.org/drawingml/2006/main">
              <a:ext uri="{FF2B5EF4-FFF2-40B4-BE49-F238E27FC236}">
                <a16:creationId xmlns:a16="http://schemas.microsoft.com/office/drawing/2014/main" id="{C2A0F88B-954A-44B2-BF7A-B0AEF1D1CD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73">
            <a:extLst xmlns:a="http://schemas.openxmlformats.org/drawingml/2006/main">
              <a:ext uri="{FF2B5EF4-FFF2-40B4-BE49-F238E27FC236}">
                <a16:creationId xmlns:a16="http://schemas.microsoft.com/office/drawing/2014/main" id="{8A00C873-35B4-4A07-ADD9-51986FF187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74">
            <a:extLst xmlns:a="http://schemas.openxmlformats.org/drawingml/2006/main">
              <a:ext uri="{FF2B5EF4-FFF2-40B4-BE49-F238E27FC236}">
                <a16:creationId xmlns:a16="http://schemas.microsoft.com/office/drawing/2014/main" id="{0D714272-21BE-440D-99C9-7485C917B2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74">
            <a:extLst xmlns:a="http://schemas.openxmlformats.org/drawingml/2006/main">
              <a:ext uri="{FF2B5EF4-FFF2-40B4-BE49-F238E27FC236}">
                <a16:creationId xmlns:a16="http://schemas.microsoft.com/office/drawing/2014/main" id="{5103459F-09BD-47C8-BD14-C3624FC4D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74">
            <a:extLst xmlns:a="http://schemas.openxmlformats.org/drawingml/2006/main">
              <a:ext uri="{FF2B5EF4-FFF2-40B4-BE49-F238E27FC236}">
                <a16:creationId xmlns:a16="http://schemas.microsoft.com/office/drawing/2014/main" id="{877748D2-5A6C-45F0-B47F-1E311D31D7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3E32704F-5A38-48C2-A2B1-D5DD496A571E}" type="datetime1">
              <a:t>9/16/2026</a:t>
            </a:fld>
            <a:endParaRPr/>
          </a:p>
        </p:txBody>
      </p:sp>
      <p:sp>
        <p:nvSpPr>
          <p:cNvPr id="72" name="Google Shape;72;p74">
            <a:extLst xmlns:a="http://schemas.openxmlformats.org/drawingml/2006/main">
              <a:ext uri="{FF2B5EF4-FFF2-40B4-BE49-F238E27FC236}">
                <a16:creationId xmlns:a16="http://schemas.microsoft.com/office/drawing/2014/main" id="{042FE8EB-3F95-43BC-B19E-B2467DC027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74">
            <a:extLst xmlns:a="http://schemas.openxmlformats.org/drawingml/2006/main">
              <a:ext uri="{FF2B5EF4-FFF2-40B4-BE49-F238E27FC236}">
                <a16:creationId xmlns:a16="http://schemas.microsoft.com/office/drawing/2014/main" id="{296FC556-C898-46C1-9D36-1EA7AF862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75">
            <a:extLst xmlns:a="http://schemas.openxmlformats.org/drawingml/2006/main">
              <a:ext uri="{FF2B5EF4-FFF2-40B4-BE49-F238E27FC236}">
                <a16:creationId xmlns:a16="http://schemas.microsoft.com/office/drawing/2014/main" id="{8816A78B-3EA4-4B94-BBA0-EEB0B3C13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75">
            <a:extLst xmlns:a="http://schemas.openxmlformats.org/drawingml/2006/main">
              <a:ext uri="{FF2B5EF4-FFF2-40B4-BE49-F238E27FC236}">
                <a16:creationId xmlns:a16="http://schemas.microsoft.com/office/drawing/2014/main" id="{C0B79456-ED65-4DC5-ABBC-EA12605C2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75">
            <a:extLst xmlns:a="http://schemas.openxmlformats.org/drawingml/2006/main">
              <a:ext uri="{FF2B5EF4-FFF2-40B4-BE49-F238E27FC236}">
                <a16:creationId xmlns:a16="http://schemas.microsoft.com/office/drawing/2014/main" id="{095871A5-5717-41EC-B0A1-F0CC764E73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fld id="{89980726-6BC1-49C6-A3B8-6438E28C548C}" type="datetime1">
              <a:t>9/16/2026</a:t>
            </a:fld>
            <a:endParaRPr/>
          </a:p>
        </p:txBody>
      </p:sp>
      <p:sp>
        <p:nvSpPr>
          <p:cNvPr id="78" name="Google Shape;78;p75">
            <a:extLst xmlns:a="http://schemas.openxmlformats.org/drawingml/2006/main">
              <a:ext uri="{FF2B5EF4-FFF2-40B4-BE49-F238E27FC236}">
                <a16:creationId xmlns:a16="http://schemas.microsoft.com/office/drawing/2014/main" id="{F9C57157-6970-4DDB-B4B4-63F1915C9C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Google Shape;79;p75">
            <a:extLst xmlns:a="http://schemas.openxmlformats.org/drawingml/2006/main">
              <a:ext uri="{FF2B5EF4-FFF2-40B4-BE49-F238E27FC236}">
                <a16:creationId xmlns:a16="http://schemas.microsoft.com/office/drawing/2014/main" id="{85C41256-5BCB-4696-83DF-012B5DEEF8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a97ff72a4a400a" /><Relationship Type="http://schemas.openxmlformats.org/officeDocument/2006/relationships/slideLayout" Target="/ppt/slideLayouts/slideLayout1.xml" Id="R89d47f3808334384" /><Relationship Type="http://schemas.openxmlformats.org/officeDocument/2006/relationships/slideLayout" Target="/ppt/slideLayouts/slideLayout2.xml" Id="Rc6aaefe484204f51" /><Relationship Type="http://schemas.openxmlformats.org/officeDocument/2006/relationships/slideLayout" Target="/ppt/slideLayouts/slideLayout3.xml" Id="Rd1d69a1c3b144c6c" /><Relationship Type="http://schemas.openxmlformats.org/officeDocument/2006/relationships/slideLayout" Target="/ppt/slideLayouts/slideLayout4.xml" Id="R28c7cdeb6a044b93" /><Relationship Type="http://schemas.openxmlformats.org/officeDocument/2006/relationships/slideLayout" Target="/ppt/slideLayouts/slideLayout5.xml" Id="R10d3ab1f7fe14872" /><Relationship Type="http://schemas.openxmlformats.org/officeDocument/2006/relationships/slideLayout" Target="/ppt/slideLayouts/slideLayout6.xml" Id="Rd51de333db3e4e0a" /><Relationship Type="http://schemas.openxmlformats.org/officeDocument/2006/relationships/slideLayout" Target="/ppt/slideLayouts/slideLayout7.xml" Id="Rce58a2e8c5494ccf" /><Relationship Type="http://schemas.openxmlformats.org/officeDocument/2006/relationships/slideLayout" Target="/ppt/slideLayouts/slideLayout8.xml" Id="R319b1270dc644528" /><Relationship Type="http://schemas.openxmlformats.org/officeDocument/2006/relationships/slideLayout" Target="/ppt/slideLayouts/slideLayout9.xml" Id="Rc3f20235cfa247e7" /><Relationship Type="http://schemas.openxmlformats.org/officeDocument/2006/relationships/slideLayout" Target="/ppt/slideLayouts/slideLayout10.xml" Id="R33886e0c57ab4e4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64">
            <a:extLst xmlns:a="http://schemas.openxmlformats.org/drawingml/2006/main">
              <a:ext uri="{FF2B5EF4-FFF2-40B4-BE49-F238E27FC236}">
                <a16:creationId xmlns:a16="http://schemas.microsoft.com/office/drawing/2014/main" id="{BD1F16B6-9994-4945-8F13-8B8D2692BA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64">
            <a:extLst xmlns:a="http://schemas.openxmlformats.org/drawingml/2006/main">
              <a:ext uri="{FF2B5EF4-FFF2-40B4-BE49-F238E27FC236}">
                <a16:creationId xmlns:a16="http://schemas.microsoft.com/office/drawing/2014/main" id="{57CE1742-94B0-447A-89AB-BE98C11DA1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64">
            <a:extLst xmlns:a="http://schemas.openxmlformats.org/drawingml/2006/main">
              <a:ext uri="{FF2B5EF4-FFF2-40B4-BE49-F238E27FC236}">
                <a16:creationId xmlns:a16="http://schemas.microsoft.com/office/drawing/2014/main" id="{8D980AC8-2F2D-4901-B6BB-EDC82B03E0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fld id="{90A33D76-991F-4980-ACC4-0D7B72054F15}" type="datetime1">
              <a:t>9/16/2026</a:t>
            </a:fld>
            <a:endParaRPr/>
          </a:p>
        </p:txBody>
      </p:sp>
      <p:sp>
        <p:nvSpPr>
          <p:cNvPr id="9" name="Google Shape;9;p64">
            <a:extLst xmlns:a="http://schemas.openxmlformats.org/drawingml/2006/main">
              <a:ext uri="{FF2B5EF4-FFF2-40B4-BE49-F238E27FC236}">
                <a16:creationId xmlns:a16="http://schemas.microsoft.com/office/drawing/2014/main" id="{9C7C7118-0817-4BFD-A08B-B1D8C828F3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" name="Google Shape;10;p64">
            <a:extLst xmlns:a="http://schemas.openxmlformats.org/drawingml/2006/main">
              <a:ext uri="{FF2B5EF4-FFF2-40B4-BE49-F238E27FC236}">
                <a16:creationId xmlns:a16="http://schemas.microsoft.com/office/drawing/2014/main" id="{BDF890DE-63EB-425F-BAD1-3168563CBC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d47f3808334384"/>
    <p:sldLayoutId xmlns:r="http://schemas.openxmlformats.org/officeDocument/2006/relationships" id="2147483650" r:id="Rc6aaefe484204f51"/>
    <p:sldLayoutId xmlns:r="http://schemas.openxmlformats.org/officeDocument/2006/relationships" id="2147483651" r:id="Rd1d69a1c3b144c6c"/>
    <p:sldLayoutId xmlns:r="http://schemas.openxmlformats.org/officeDocument/2006/relationships" id="2147483652" r:id="R28c7cdeb6a044b93"/>
    <p:sldLayoutId xmlns:r="http://schemas.openxmlformats.org/officeDocument/2006/relationships" id="2147483653" r:id="R10d3ab1f7fe14872"/>
    <p:sldLayoutId xmlns:r="http://schemas.openxmlformats.org/officeDocument/2006/relationships" id="2147483654" r:id="Rd51de333db3e4e0a"/>
    <p:sldLayoutId xmlns:r="http://schemas.openxmlformats.org/officeDocument/2006/relationships" id="2147483655" r:id="Rce58a2e8c5494ccf"/>
    <p:sldLayoutId xmlns:r="http://schemas.openxmlformats.org/officeDocument/2006/relationships" id="2147483656" r:id="R319b1270dc644528"/>
    <p:sldLayoutId xmlns:r="http://schemas.openxmlformats.org/officeDocument/2006/relationships" id="2147483657" r:id="Rc3f20235cfa247e7"/>
    <p:sldLayoutId xmlns:r="http://schemas.openxmlformats.org/officeDocument/2006/relationships" id="2147483658" r:id="R33886e0c57ab4e4e"/>
  </p:sldLayoutIdLst>
  <p:hf hdr="0" ftr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a9ab0404749f3" /><Relationship Type="http://schemas.openxmlformats.org/officeDocument/2006/relationships/image" Target="/ppt/media/image.png" Id="R5b9588066ee542fe" /><Relationship Type="http://schemas.openxmlformats.org/officeDocument/2006/relationships/image" Target="/ppt/media/image2.png" Id="R32fbbbb1279443ae" /><Relationship Type="http://schemas.openxmlformats.org/officeDocument/2006/relationships/image" Target="/ppt/media/image3.png" Id="R2c8c367762b54913" /><Relationship Type="http://schemas.openxmlformats.org/officeDocument/2006/relationships/notesSlide" Target="/ppt/notesSlides/notesSlide1.xml" Id="Rd3eb359897e844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430de09e7418c" /><Relationship Type="http://schemas.openxmlformats.org/officeDocument/2006/relationships/image" Target="/ppt/media/image4.png" Id="Rb6fbbc076f8e44a4" /><Relationship Type="http://schemas.openxmlformats.org/officeDocument/2006/relationships/image" Target="/ppt/media/image2.png" Id="R4e6d536b22c441c0" /><Relationship Type="http://schemas.openxmlformats.org/officeDocument/2006/relationships/image" Target="/ppt/media/image3.png" Id="R55cc9e495bcb4572" /><Relationship Type="http://schemas.openxmlformats.org/officeDocument/2006/relationships/notesSlide" Target="/ppt/notesSlides/notesSlide2.xml" Id="R948aae48cd1b4d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d78d169124e5e" /><Relationship Type="http://schemas.openxmlformats.org/officeDocument/2006/relationships/image" Target="/ppt/media/image5.png" Id="R29c671dafe654988" /><Relationship Type="http://schemas.openxmlformats.org/officeDocument/2006/relationships/image" Target="/ppt/media/image4.png" Id="R13590a6a9c864654" /><Relationship Type="http://schemas.openxmlformats.org/officeDocument/2006/relationships/image" Target="/ppt/media/image2.png" Id="R5ef577e62c51414e" /><Relationship Type="http://schemas.openxmlformats.org/officeDocument/2006/relationships/image" Target="/ppt/media/image3.png" Id="R2dc0122baf5a4cde" /><Relationship Type="http://schemas.openxmlformats.org/officeDocument/2006/relationships/notesSlide" Target="/ppt/notesSlides/notesSlide3.xml" Id="R386206518bb845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16c2945404a75" /><Relationship Type="http://schemas.openxmlformats.org/officeDocument/2006/relationships/image" Target="/ppt/media/image4.png" Id="Rac2c57b186ed4406" /><Relationship Type="http://schemas.openxmlformats.org/officeDocument/2006/relationships/image" Target="/ppt/media/image2.png" Id="Rbcfec051e3574390" /><Relationship Type="http://schemas.openxmlformats.org/officeDocument/2006/relationships/image" Target="/ppt/media/image3.png" Id="R01107a00f7354e82" /><Relationship Type="http://schemas.openxmlformats.org/officeDocument/2006/relationships/notesSlide" Target="/ppt/notesSlides/notesSlide4.xml" Id="Rcbddbcad576c4e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6a6c3cbfb4329" /><Relationship Type="http://schemas.openxmlformats.org/officeDocument/2006/relationships/image" Target="/ppt/media/image4.png" Id="R179f6c3ee4644f23" /><Relationship Type="http://schemas.openxmlformats.org/officeDocument/2006/relationships/image" Target="/ppt/media/image2.png" Id="R00570cb2a1a44072" /><Relationship Type="http://schemas.openxmlformats.org/officeDocument/2006/relationships/image" Target="/ppt/media/image3.png" Id="R236bc31b00af4f5c" /><Relationship Type="http://schemas.openxmlformats.org/officeDocument/2006/relationships/notesSlide" Target="/ppt/notesSlides/notesSlide5.xml" Id="R1f9ecace259f47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86534cc0a4322" /><Relationship Type="http://schemas.openxmlformats.org/officeDocument/2006/relationships/image" Target="/ppt/media/image4.png" Id="R7c219e31def84874" /><Relationship Type="http://schemas.openxmlformats.org/officeDocument/2006/relationships/image" Target="/ppt/media/image2.png" Id="R2f186e23a50748ba" /><Relationship Type="http://schemas.openxmlformats.org/officeDocument/2006/relationships/image" Target="/ppt/media/image3.png" Id="R2983b5f364de489a" /><Relationship Type="http://schemas.openxmlformats.org/officeDocument/2006/relationships/image" Target="/ppt/media/image6.png" Id="Rce70e8d4718d46bd" /><Relationship Type="http://schemas.openxmlformats.org/officeDocument/2006/relationships/notesSlide" Target="/ppt/notesSlides/notesSlide6.xml" Id="Ra86e7d97d02343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b762889fe4925" /><Relationship Type="http://schemas.openxmlformats.org/officeDocument/2006/relationships/image" Target="/ppt/media/image4.png" Id="R439f694ddbc34c48" /><Relationship Type="http://schemas.openxmlformats.org/officeDocument/2006/relationships/image" Target="/ppt/media/image2.png" Id="R80dbc6cfcad744e9" /><Relationship Type="http://schemas.openxmlformats.org/officeDocument/2006/relationships/image" Target="/ppt/media/image3.png" Id="R7c8ec03a423041f3" /><Relationship Type="http://schemas.openxmlformats.org/officeDocument/2006/relationships/notesSlide" Target="/ppt/notesSlides/notesSlide7.xml" Id="R21cc044178ef4c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52c0f9ff341fe" /><Relationship Type="http://schemas.openxmlformats.org/officeDocument/2006/relationships/image" Target="/ppt/media/image4.png" Id="R72d03afde5fb4b6e" /><Relationship Type="http://schemas.openxmlformats.org/officeDocument/2006/relationships/image" Target="/ppt/media/image2.png" Id="Re00dde405c254fe9" /><Relationship Type="http://schemas.openxmlformats.org/officeDocument/2006/relationships/image" Target="/ppt/media/image3.png" Id="Rf2bda23e19934928" /><Relationship Type="http://schemas.openxmlformats.org/officeDocument/2006/relationships/notesSlide" Target="/ppt/notesSlides/notesSlide8.xml" Id="R56e341a9641744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008fdad8624770" /><Relationship Type="http://schemas.openxmlformats.org/officeDocument/2006/relationships/image" Target="/ppt/media/image4.png" Id="R4e32fb5c1ed549a3" /><Relationship Type="http://schemas.openxmlformats.org/officeDocument/2006/relationships/image" Target="/ppt/media/image2.png" Id="Rf6ad9a4efe7a476d" /><Relationship Type="http://schemas.openxmlformats.org/officeDocument/2006/relationships/image" Target="/ppt/media/image3.png" Id="R0385e63b6b9c4850" /><Relationship Type="http://schemas.openxmlformats.org/officeDocument/2006/relationships/notesSlide" Target="/ppt/notesSlides/notesSlide9.xml" Id="Rf7cc3f9c548d4a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1">
            <a:extLst xmlns:a="http://schemas.openxmlformats.org/drawingml/2006/main">
              <a:ext uri="{FF2B5EF4-FFF2-40B4-BE49-F238E27FC236}">
                <a16:creationId xmlns:a16="http://schemas.microsoft.com/office/drawing/2014/main" id="{B2DCE872-5EC7-FDE7-A471-67B7338C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6213" y="0"/>
            <a:ext cx="789388" cy="10287000"/>
          </a:xfrm>
          <a:custGeom xmlns:a="http://schemas.openxmlformats.org/drawingml/2006/main"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F209E95F-FC29-42FA-0AB7-934A412D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-46871" y="0"/>
            <a:ext cx="714044" cy="10287000"/>
          </a:xfrm>
          <a:custGeom xmlns:a="http://schemas.openxmlformats.org/drawingml/2006/main">
            <a:rect l="l" t="t" r="r" b="b"/>
            <a:pathLst>
              <a:path w="1267460" h="13716000">
                <a:moveTo>
                  <a:pt x="0" y="0"/>
                </a:moveTo>
                <a:lnTo>
                  <a:pt x="1267460" y="0"/>
                </a:lnTo>
                <a:lnTo>
                  <a:pt x="1267460" y="13716000"/>
                </a:lnTo>
                <a:lnTo>
                  <a:pt x="0" y="1371600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b9588066ee542fe">
              <a:alphaModFix/>
            </a:blip>
            <a:stretch>
              <a:fillRect l="-2950" t="0" r="-2951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1">
            <a:extLst xmlns:a="http://schemas.openxmlformats.org/drawingml/2006/main">
              <a:ext uri="{FF2B5EF4-FFF2-40B4-BE49-F238E27FC236}">
                <a16:creationId xmlns:a16="http://schemas.microsoft.com/office/drawing/2014/main" id="{97421035-DF72-0EE9-42AB-BB512D0E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734402" y="6615396"/>
            <a:ext cx="6259599" cy="54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 sz="2200"/>
          </a:p>
        </p:txBody>
      </p:sp>
      <p:sp>
        <p:nvSpPr>
          <p:cNvPr id="94" name="Google Shape;94;p1">
            <a:extLst xmlns:a="http://schemas.openxmlformats.org/drawingml/2006/main">
              <a:ext uri="{FF2B5EF4-FFF2-40B4-BE49-F238E27FC236}">
                <a16:creationId xmlns:a16="http://schemas.microsoft.com/office/drawing/2014/main" id="{2865E276-16FB-9F77-A512-ABE50A4B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45698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">
            <a:extLst xmlns:a="http://schemas.openxmlformats.org/drawingml/2006/main">
              <a:ext uri="{FF2B5EF4-FFF2-40B4-BE49-F238E27FC236}">
                <a16:creationId xmlns:a16="http://schemas.microsoft.com/office/drawing/2014/main" id="{0495937E-9E77-B490-2BE5-AEDF4E6C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23733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1">
            <a:extLst xmlns:a="http://schemas.openxmlformats.org/drawingml/2006/main">
              <a:ext uri="{FF2B5EF4-FFF2-40B4-BE49-F238E27FC236}">
                <a16:creationId xmlns:a16="http://schemas.microsoft.com/office/drawing/2014/main" id="{087584D7-002B-886B-5EB8-D820F4F9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50307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32fbbbb1279443ae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1">
            <a:extLst xmlns:a="http://schemas.openxmlformats.org/drawingml/2006/main">
              <a:ext uri="{FF2B5EF4-FFF2-40B4-BE49-F238E27FC236}">
                <a16:creationId xmlns:a16="http://schemas.microsoft.com/office/drawing/2014/main" id="{46003153-ED0F-8790-E89B-1E619EE3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85842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c8c367762b54913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8" name="BẢO VỆ ĐỀ CƯƠNG KHÓA LUẬN TỐT NGHIỆP">
            <a:extLst xmlns:a="http://schemas.openxmlformats.org/drawingml/2006/main">
              <a:ext uri="{FF2B5EF4-FFF2-40B4-BE49-F238E27FC236}">
                <a16:creationId xmlns:a16="http://schemas.microsoft.com/office/drawing/2014/main" id="{89A9B6D1-6F3F-4CA7-9D33-4AFD6F7B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571750"/>
            <a:ext cx="1466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79D9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9D93"/>
                </a:solidFill>
                <a:latin typeface="Arial"/>
                <a:ea typeface="Arial"/>
                <a:cs typeface="Arial"/>
              </a:rPr>
              <a:t>BẢO VỆ ĐỀ CƯƠNG KHÓA LUẬN TỐT NGHIỆP</a:t>
            </a:r>
          </a:p>
        </p:txBody>
      </p:sp>
      <p:sp>
        <p:nvSpPr>
          <p:cNvPr id="99" name="THIẾT KẾ BỘ VI XỬ LÝ 4 LÕI RISC-V&#10;DỰA TRÊN KIẾN TRÚC TẬP LỆNH RV32IMA">
            <a:extLst xmlns:a="http://schemas.openxmlformats.org/drawingml/2006/main">
              <a:ext uri="{FF2B5EF4-FFF2-40B4-BE49-F238E27FC236}">
                <a16:creationId xmlns:a16="http://schemas.microsoft.com/office/drawing/2014/main" id="{9EBB4BB5-32DD-41BC-B570-A1CD3383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15240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 KẾ BỘ VI XỬ LÝ 4 LÕI RISC-V</a:t>
            </a:r>
          </a:p>
          <a:p xmlns:a="http://schemas.openxmlformats.org/drawingml/2006/main">
            <a:pPr algn="ctr">
              <a:buNone/>
              <a:defRPr sz="40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DỰA TRÊN KIẾN TRÚC TẬP LỆNH RV32IMA</a:t>
            </a:r>
          </a:p>
        </p:txBody>
      </p:sp>
      <p:sp>
        <p:nvSpPr>
          <p:cNvPr id="100" name="GVHD: TS. Nguyễn Minh Sơn">
            <a:extLst xmlns:a="http://schemas.openxmlformats.org/drawingml/2006/main">
              <a:ext uri="{FF2B5EF4-FFF2-40B4-BE49-F238E27FC236}">
                <a16:creationId xmlns:a16="http://schemas.microsoft.com/office/drawing/2014/main" id="{6FACAEBC-C45F-4D5B-81EC-8EFA6CA3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191250"/>
            <a:ext cx="1419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GVHD: TS. Nguyễn Minh Sơn</a:t>
            </a:r>
          </a:p>
        </p:txBody>
      </p:sp>
      <p:sp>
        <p:nvSpPr>
          <p:cNvPr id="101" name="Vũ Thành Lam">
            <a:extLst xmlns:a="http://schemas.openxmlformats.org/drawingml/2006/main">
              <a:ext uri="{FF2B5EF4-FFF2-40B4-BE49-F238E27FC236}">
                <a16:creationId xmlns:a16="http://schemas.microsoft.com/office/drawing/2014/main" id="{37717B85-FEE2-45EB-A3B3-604C2F80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0675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Vũ Thành Lam</a:t>
            </a:r>
          </a:p>
        </p:txBody>
      </p:sp>
      <p:sp>
        <p:nvSpPr>
          <p:cNvPr id="102" name="23520840">
            <a:extLst xmlns:a="http://schemas.openxmlformats.org/drawingml/2006/main">
              <a:ext uri="{FF2B5EF4-FFF2-40B4-BE49-F238E27FC236}">
                <a16:creationId xmlns:a16="http://schemas.microsoft.com/office/drawing/2014/main" id="{2FFA0DE1-5C80-4AB2-98B3-C0E6CA7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0675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23520840</a:t>
            </a:r>
          </a:p>
        </p:txBody>
      </p:sp>
      <p:sp>
        <p:nvSpPr>
          <p:cNvPr id="103" name="Võ Lê Phước Lâm">
            <a:extLst xmlns:a="http://schemas.openxmlformats.org/drawingml/2006/main">
              <a:ext uri="{FF2B5EF4-FFF2-40B4-BE49-F238E27FC236}">
                <a16:creationId xmlns:a16="http://schemas.microsoft.com/office/drawing/2014/main" id="{A968B7E6-8479-4105-8097-605570E3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78295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Võ Lê Phước Lâm</a:t>
            </a:r>
          </a:p>
        </p:txBody>
      </p:sp>
      <p:sp>
        <p:nvSpPr>
          <p:cNvPr id="104" name="23520838">
            <a:extLst xmlns:a="http://schemas.openxmlformats.org/drawingml/2006/main">
              <a:ext uri="{FF2B5EF4-FFF2-40B4-BE49-F238E27FC236}">
                <a16:creationId xmlns:a16="http://schemas.microsoft.com/office/drawing/2014/main" id="{0F8029E9-874B-4DEF-BDA4-512F15FA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295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23520838</a:t>
            </a:r>
          </a:p>
        </p:txBody>
      </p:sp>
      <p:sp>
        <p:nvSpPr>
          <p:cNvPr id="105" name="TP. Hồ Chí Minh, tháng 9 năm 2026">
            <a:extLst xmlns:a="http://schemas.openxmlformats.org/drawingml/2006/main">
              <a:ext uri="{FF2B5EF4-FFF2-40B4-BE49-F238E27FC236}">
                <a16:creationId xmlns:a16="http://schemas.microsoft.com/office/drawing/2014/main" id="{697595B4-7036-474C-888E-0A00DE7F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9220200"/>
            <a:ext cx="1419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15E"/>
                </a:solidFill>
                <a:latin typeface="Arial"/>
                <a:ea typeface="Arial"/>
                <a:cs typeface="Arial"/>
              </a:rPr>
              <a:t>TP. Hồ Chí Minh, tháng 9 năm 2026</a:t>
            </a:r>
          </a:p>
        </p:txBody>
      </p:sp>
    </p:spTree>
    <p:extLst>
      <p:ext uri="{BB962C8B-B14F-4D97-AF65-F5344CB8AC3E}">
        <p14:creationId xmlns:p14="http://schemas.microsoft.com/office/powerpoint/2010/main" val="328728393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b6fbbc076f8e44a4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e6d536b22c441c0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5cc9e495bcb4572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6" name="Title 1">
            <a:extLst xmlns:a="http://schemas.openxmlformats.org/drawingml/2006/main">
              <a:ext uri="{FF2B5EF4-FFF2-40B4-BE49-F238E27FC236}">
                <a16:creationId xmlns:a16="http://schemas.microsoft.com/office/drawing/2014/main" id="{3F9E7DED-0DB0-4282-BF4D-FC26645B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524" y="1874677"/>
            <a:ext cx="4398079" cy="8906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ct val="0"/>
              </a:spcBef>
              <a:buFont typeface="+mj-lt"/>
              <a:buNone/>
              <a:defRPr sz="4400" b="1" kern="120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+mj-lt"/>
              <a:buNone/>
            </a:pPr>
            <a:r>
              <a:rPr sz="4400" b="1" i="0" u="none" cap="none" spc="0">
                <a:ln>
                  <a:noFill/>
                </a:ln>
                <a:gradFill rotWithShape="1">
                  <a:gsLst>
                    <a:gs pos="0">
                      <a:srgbClr val="029676">
                        <a:lumMod val="75000"/>
                      </a:srgbClr>
                    </a:gs>
                    <a:gs pos="100000">
                      <a:srgbClr val="38EF7D">
                        <a:lumMod val="75000"/>
                      </a:srgbClr>
                    </a:gs>
                  </a:gsLst>
                  <a:lin ang="16200000" scaled="1"/>
                  <a:tileRect/>
                </a:gradFill>
                <a:latin typeface="Times New Roman"/>
                <a:ea typeface="Times New Roman"/>
                <a:cs typeface="Times New Roman"/>
              </a:rPr>
              <a:t>Nội dung báo cáo</a:t>
            </a:r>
            <a:endParaRPr sz="4400" b="1" i="0" u="none" kern="1200" cap="none" spc="0" baseline="0">
              <a:ln>
                <a:noFill/>
              </a:ln>
              <a:gradFill flip="none" rotWithShape="1">
                <a:gsLst>
                  <a:gs pos="0">
                    <a:srgbClr val="029676">
                      <a:lumMod val="75000"/>
                    </a:srgbClr>
                  </a:gs>
                  <a:gs pos="100000">
                    <a:srgbClr val="38EF7D">
                      <a:lumMod val="75000"/>
                    </a:srgbClr>
                  </a:gs>
                </a:gsLst>
                <a:lin ang="16200000" scaled="1"/>
                <a:tileRect/>
              </a:gra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A81827F-8D8C-4A4F-A583-25727C93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6389" y="3100315"/>
            <a:ext cx="10637100" cy="1240553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solidFill>
              <a:srgbClr val="029676">
                <a:lumMod val="75000"/>
              </a:srgbClr>
            </a:solidFill>
            <a:prstDash val="solid"/>
          </a:ln>
          <a:effectLst xmlns:a="http://schemas.openxmlformats.org/drawingml/2006/main">
            <a:glow rad="63500">
              <a:srgbClr val="38EF7D">
                <a:satMod val="175000"/>
                <a:alpha val="40000"/>
              </a:srgbClr>
            </a:glo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200" b="0" i="0" u="none" kern="0" cap="none" spc="0" baseline="0">
              <a:ln>
                <a:noFill/>
              </a:ln>
              <a:solidFill>
                <a:sysClr val="windowText" lastClr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ED49AE86-094A-4598-894E-1881F097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9561" y="3323443"/>
            <a:ext cx="771824" cy="794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>
              <a:lumMod val="75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D8C522E-BE00-4BE2-AA5C-F7AB0B95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14" y="3412814"/>
            <a:ext cx="8822499" cy="61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Tổng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quan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đề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tài</a:t>
            </a:r>
            <a:endParaRPr sz="3400" b="0" i="0" u="none" kern="0" cap="none" spc="0" baseline="0">
              <a:ln>
                <a:noFill/>
              </a:ln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72E0192-B3B0-4B3E-ABF4-AF60CB824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6389" y="4706898"/>
            <a:ext cx="10637100" cy="1172924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029676">
              <a:lumMod val="75000"/>
            </a:srgbClr>
          </a:solidFill>
          <a:ln xmlns:a="http://schemas.openxmlformats.org/drawingml/2006/main" w="19050" cmpd="sng">
            <a:solidFill>
              <a:srgbClr val="029676">
                <a:lumMod val="75000"/>
              </a:srgbClr>
            </a:solidFill>
            <a:prstDash val="solid"/>
          </a:ln>
          <a:effectLst xmlns:a="http://schemas.openxmlformats.org/drawingml/2006/main">
            <a:glow rad="63500">
              <a:srgbClr val="38EF7D">
                <a:satMod val="175000"/>
                <a:alpha val="40000"/>
              </a:srgbClr>
            </a:glo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200" b="0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53EBFC7A-2D58-44DD-9A5C-CA25837E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9560" y="4917862"/>
            <a:ext cx="771824" cy="75099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>
              <a:lumMod val="75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20B3D791-7213-40CB-89BB-FA855C1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14" y="4985582"/>
            <a:ext cx="8400890" cy="61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Mục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tiêu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đề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tài</a:t>
            </a:r>
            <a:endParaRPr sz="3400" b="0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A6B4BE4-3DBB-4973-BC86-E5129EB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6388" y="6266909"/>
            <a:ext cx="10637100" cy="1152591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 cmpd="sng">
            <a:solidFill>
              <a:srgbClr val="029676">
                <a:lumMod val="75000"/>
              </a:srgbClr>
            </a:solidFill>
            <a:prstDash val="solid"/>
          </a:ln>
          <a:effectLst xmlns:a="http://schemas.openxmlformats.org/drawingml/2006/main">
            <a:glow rad="63500">
              <a:srgbClr val="38EF7D">
                <a:satMod val="175000"/>
                <a:alpha val="40000"/>
              </a:srgbClr>
            </a:glo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200" b="0" i="0" u="none" kern="0" cap="none" spc="0" baseline="0">
              <a:ln>
                <a:noFill/>
              </a:ln>
              <a:solidFill>
                <a:sysClr val="windowText" lastClr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7" name="Oval 46">
            <a:extLst xmlns:a="http://schemas.openxmlformats.org/drawingml/2006/main">
              <a:ext uri="{FF2B5EF4-FFF2-40B4-BE49-F238E27FC236}">
                <a16:creationId xmlns:a16="http://schemas.microsoft.com/office/drawing/2014/main" id="{A52A2C4E-CB8C-4734-9438-E52F27CD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9560" y="6474216"/>
            <a:ext cx="771824" cy="737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>
              <a:lumMod val="75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 sz="2800" b="1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22F57C2-FEB9-4C43-A8D0-211DC930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14" y="6535427"/>
            <a:ext cx="8400890" cy="61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Nội</a:t>
            </a:r>
            <a:r>
              <a:rPr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dung </a:t>
            </a:r>
            <a:r>
              <a:rPr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3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p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hương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pháp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thực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 b="0" i="0" u="non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hiện</a:t>
            </a:r>
            <a:endParaRPr sz="3400" b="0" i="0" u="none" kern="0" cap="none" spc="0" baseline="0">
              <a:ln>
                <a:noFill/>
              </a:ln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54058AA-0EA3-4F69-8D71-FAFFDCF3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6389" y="7806587"/>
            <a:ext cx="10637099" cy="1152591"/>
          </a:xfrm>
          <a:prstGeom xmlns:a="http://schemas.openxmlformats.org/drawingml/2006/main" prst="roundRect">
            <a:avLst>
              <a:gd name="adj" fmla="val 6767"/>
            </a:avLst>
          </a:prstGeom>
          <a:solidFill xmlns:a="http://schemas.openxmlformats.org/drawingml/2006/main">
            <a:srgbClr val="029676">
              <a:lumMod val="75000"/>
            </a:srgbClr>
          </a:solidFill>
          <a:ln xmlns:a="http://schemas.openxmlformats.org/drawingml/2006/main" w="19050" cmpd="sng">
            <a:solidFill>
              <a:srgbClr val="029676">
                <a:lumMod val="75000"/>
              </a:srgbClr>
            </a:solidFill>
            <a:prstDash val="solid"/>
          </a:ln>
          <a:effectLst xmlns:a="http://schemas.openxmlformats.org/drawingml/2006/main">
            <a:glow rad="63500">
              <a:srgbClr val="38EF7D">
                <a:satMod val="175000"/>
                <a:alpha val="40000"/>
              </a:srgbClr>
            </a:glo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200" b="0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1" name="Oval 50">
            <a:extLst xmlns:a="http://schemas.openxmlformats.org/drawingml/2006/main">
              <a:ext uri="{FF2B5EF4-FFF2-40B4-BE49-F238E27FC236}">
                <a16:creationId xmlns:a16="http://schemas.microsoft.com/office/drawing/2014/main" id="{11476B86-3994-4A27-B67C-D2C3B14F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09560" y="8013894"/>
            <a:ext cx="771824" cy="7379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>
              <a:lumMod val="75000"/>
            </a:srgbClr>
          </a:soli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 sz="2800" b="1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7704DA40-76A7-4487-8749-F8C82DEF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360414" y="8075107"/>
            <a:ext cx="8400890" cy="615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lvl="0" defTabSz="457200">
              <a:buNone/>
            </a:pP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Kế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hoạch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thực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hiện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và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tiêu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chí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đánh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3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giá</a:t>
            </a:r>
            <a:endParaRPr sz="3400" b="0" i="0" u="none" kern="0" cap="none" spc="0" baseline="0">
              <a:ln>
                <a:noFill/>
              </a:ln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74168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Picture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c671dafe654988"/>
          <a:srcRect xmlns:a="http://schemas.openxmlformats.org/drawingml/2006/main" l="0" t="0" r="0" b="7849"/>
          <a:stretch xmlns:a="http://schemas.openxmlformats.org/drawingml/2006/main"/>
        </p:blipFill>
        <p:spPr>
          <a:xfrm xmlns:a="http://schemas.openxmlformats.org/drawingml/2006/main">
            <a:off x="160394" y="2397344"/>
            <a:ext cx="10054072" cy="7491580"/>
          </a:xfrm>
          <a:prstGeom xmlns:a="http://schemas.openxmlformats.org/drawingml/2006/main" prst="rect">
            <a:avLst/>
          </a:prstGeom>
        </p:spPr>
      </p:pic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7AEA612B-45BA-42C5-AE75-58FDD9A8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9AD8E415-E544-4CB2-8F44-62CD80C8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3590a6a9c864654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9C7B45FF-4167-47FB-9008-4175EA76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72D3D682-CDAE-4CD3-BB7D-D9AA2730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84FAB926-91D1-4266-8A21-D6D46027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6AC07224-92D1-499D-8694-BFA17889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7DFEB014-466A-45CA-83FE-661B86B4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5ef577e62c51414e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289A243A-8F3B-4B03-9910-2B3E213D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dc0122baf5a4cde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1. Tổng quan đề tài">
            <a:extLst xmlns:a="http://schemas.openxmlformats.org/drawingml/2006/main">
              <a:ext uri="{FF2B5EF4-FFF2-40B4-BE49-F238E27FC236}">
                <a16:creationId xmlns:a16="http://schemas.microsoft.com/office/drawing/2014/main" id="{B75A9023-DE66-48E4-9BFD-D7E9B9CE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1.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Tổng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quan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tài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Nhu cầu xử lý nhiều tác vụ đồng thời">
            <a:extLst xmlns:a="http://schemas.openxmlformats.org/drawingml/2006/main">
              <a:ext uri="{FF2B5EF4-FFF2-40B4-BE49-F238E27FC236}">
                <a16:creationId xmlns:a16="http://schemas.microsoft.com/office/drawing/2014/main" id="{E19DA171-279E-4422-A328-81138E73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210" y="2518694"/>
            <a:ext cx="6862763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nhiều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tác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vụ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đồng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thời</a:t>
            </a:r>
            <a:endParaRPr sz="30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Các hệ thống nhúng như khối điều khiển bay UAV đặt ra nhu cầu xử lý dữ">
            <a:extLst xmlns:a="http://schemas.openxmlformats.org/drawingml/2006/main">
              <a:ext uri="{FF2B5EF4-FFF2-40B4-BE49-F238E27FC236}">
                <a16:creationId xmlns:a16="http://schemas.microsoft.com/office/drawing/2014/main" id="{1ED24323-0BEC-43F8-95D1-986ACFB7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2" y="3097622"/>
            <a:ext cx="7234238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Các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thống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nhúng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như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bay UAV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đặt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ra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cầu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điều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khiển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giao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tiếp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cùng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lúc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3" name="Lựa chọn kiến trúc RISC-V">
            <a:extLst xmlns:a="http://schemas.openxmlformats.org/drawingml/2006/main">
              <a:ext uri="{FF2B5EF4-FFF2-40B4-BE49-F238E27FC236}">
                <a16:creationId xmlns:a16="http://schemas.microsoft.com/office/drawing/2014/main" id="{18A9DD79-4549-45C1-9630-F9419F0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210" y="4848882"/>
            <a:ext cx="50196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Lựa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chọn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RISC-V</a:t>
            </a:r>
          </a:p>
        </p:txBody>
      </p:sp>
      <p:sp>
        <p:nvSpPr>
          <p:cNvPr id="234" name="Kiến trúc tập lệnh mở cho phép nhóm chủ động thiết kế và tùy biến bộ x">
            <a:extLst xmlns:a="http://schemas.openxmlformats.org/drawingml/2006/main">
              <a:ext uri="{FF2B5EF4-FFF2-40B4-BE49-F238E27FC236}">
                <a16:creationId xmlns:a16="http://schemas.microsoft.com/office/drawing/2014/main" id="{1524C8C5-54ED-4CEF-81F8-2598B62E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2" y="5436126"/>
            <a:ext cx="7905750" cy="1534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Kiến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trúc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phép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nhóm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chủ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tùy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biến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ở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mức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phù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hợp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với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nghiên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phần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cứng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Bài toán của khóa luận">
            <a:extLst xmlns:a="http://schemas.openxmlformats.org/drawingml/2006/main">
              <a:ext uri="{FF2B5EF4-FFF2-40B4-BE49-F238E27FC236}">
                <a16:creationId xmlns:a16="http://schemas.microsoft.com/office/drawing/2014/main" id="{F17D9D4B-CC26-458D-BB42-42557663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210" y="7287547"/>
            <a:ext cx="4348163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Bài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toán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của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khóa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luận</a:t>
            </a:r>
            <a:endParaRPr sz="30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Xây dựng hệ 4 lõi RV32IMA có bộ nhớ đệm và quản lý bộ nhớ, bảo đảm dữ ">
            <a:extLst xmlns:a="http://schemas.openxmlformats.org/drawingml/2006/main">
              <a:ext uri="{FF2B5EF4-FFF2-40B4-BE49-F238E27FC236}">
                <a16:creationId xmlns:a16="http://schemas.microsoft.com/office/drawing/2014/main" id="{F3ADFCFD-1820-40E6-9AEE-F28C1591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2" y="7837078"/>
            <a:ext cx="7519988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just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Xây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dựng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RV32IMA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có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đệm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quản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bộ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nhớ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bảo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đảm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dữ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liệu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chia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sẻ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nhất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quán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</a:t>
            </a:r>
          </a:p>
        </p:txBody>
      </p:sp>
    </p:spTree>
    <p:extLst>
      <p:ext uri="{BB962C8B-B14F-4D97-AF65-F5344CB8AC3E}">
        <p14:creationId xmlns:p14="http://schemas.microsoft.com/office/powerpoint/2010/main" val="37558507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E77E43C7-69BA-DFDE-40C8-CDD7988E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3858341C-4BB0-7398-4010-0EEC237C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c2c57b186ed4406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1F275C04-1EA7-EFB2-58EC-EB3F6A55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88AAF152-00AC-C496-7743-14F4BCDB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EEEA4F8F-6835-8996-9F20-2C578FEE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BA904E38-0A5D-E2E4-703B-94B49FA2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9836EA18-ECAC-F1C8-A57F-0D51086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bcfec051e3574390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0F196DA8-72BC-39DF-74B8-CB7AA6E1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1107a00f7354e82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2. Mục tiêu đề tài">
            <a:extLst xmlns:a="http://schemas.openxmlformats.org/drawingml/2006/main">
              <a:ext uri="{FF2B5EF4-FFF2-40B4-BE49-F238E27FC236}">
                <a16:creationId xmlns:a16="http://schemas.microsoft.com/office/drawing/2014/main" id="{9E292DB8-D387-43FA-8466-B7B2238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12" y="1768498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2. Mục tiêu đề tài</a:t>
            </a:r>
          </a:p>
        </p:txBody>
      </p:sp>
      <p:sp>
        <p:nvSpPr>
          <p:cNvPr id="231" name="Mục tiêu 1  Thiết kế và hiện thực hệ vi xử lý 4 lõi">
            <a:extLst xmlns:a="http://schemas.openxmlformats.org/drawingml/2006/main">
              <a:ext uri="{FF2B5EF4-FFF2-40B4-BE49-F238E27FC236}">
                <a16:creationId xmlns:a16="http://schemas.microsoft.com/office/drawing/2014/main" id="{7133C2D2-1B19-4DDD-BDF1-629A196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1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Thiết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xử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lý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4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lõi</a:t>
            </a:r>
            <a:endParaRPr sz="30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2" name="Lõi RV32IMA, cache L1 riêng và L2 dùng chung, cơ chế nhất quán dữ liệu">
            <a:extLst xmlns:a="http://schemas.openxmlformats.org/drawingml/2006/main">
              <a:ext uri="{FF2B5EF4-FFF2-40B4-BE49-F238E27FC236}">
                <a16:creationId xmlns:a16="http://schemas.microsoft.com/office/drawing/2014/main" id="{630B98C8-ADEA-4B78-9182-A332DA81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638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 RV32IMA, cache L1 riêng và L2 dùng chung, cơ chế nhất quán dữ liệu MESI, MMU/TLB cho từng lõi, giao tiếp bus và DMA.</a:t>
            </a:r>
          </a:p>
        </p:txBody>
      </p:sp>
      <p:sp>
        <p:nvSpPr>
          <p:cNvPr id="233" name="Mục tiêu 2  Kiểm chứng, đánh giá và triển khai trên FPGA">
            <a:extLst xmlns:a="http://schemas.openxmlformats.org/drawingml/2006/main">
              <a:ext uri="{FF2B5EF4-FFF2-40B4-BE49-F238E27FC236}">
                <a16:creationId xmlns:a16="http://schemas.microsoft.com/office/drawing/2014/main" id="{FB2B2FEB-A3C7-4F64-9A5D-4362BC4F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Mục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2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: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triển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khai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FPGA</a:t>
            </a:r>
          </a:p>
        </p:txBody>
      </p:sp>
      <p:sp>
        <p:nvSpPr>
          <p:cNvPr id="234" name="Kiểm tra đúng chức năng bằng mô phỏng RTL và demo tự động trên FPGA. Đ">
            <a:extLst xmlns:a="http://schemas.openxmlformats.org/drawingml/2006/main">
              <a:ext uri="{FF2B5EF4-FFF2-40B4-BE49-F238E27FC236}">
                <a16:creationId xmlns:a16="http://schemas.microsoft.com/office/drawing/2014/main" id="{6CD00D4E-C77F-486A-9CBA-BF6BF6F4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1638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tra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đúng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bằng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mô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phỏng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RTL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demo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tự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động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trên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FPGA.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Đánh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giá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hiệu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năng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tài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nguyên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timing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và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công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suất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ước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tính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35" name="Phạm vi thực hiện">
            <a:extLst xmlns:a="http://schemas.openxmlformats.org/drawingml/2006/main">
              <a:ext uri="{FF2B5EF4-FFF2-40B4-BE49-F238E27FC236}">
                <a16:creationId xmlns:a16="http://schemas.microsoft.com/office/drawing/2014/main" id="{93A5E84E-0002-439B-838C-6957861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72375"/>
            <a:ext cx="1638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Phạm vi thực hiện</a:t>
            </a:r>
          </a:p>
        </p:txBody>
      </p:sp>
      <p:sp>
        <p:nvSpPr>
          <p:cNvPr id="236" name="4 lõi, tập lệnh RV32I/M/A. Không mở rộng F/D hoặc C. MMU giới hạn tran">
            <a:extLst xmlns:a="http://schemas.openxmlformats.org/drawingml/2006/main">
              <a:ext uri="{FF2B5EF4-FFF2-40B4-BE49-F238E27FC236}">
                <a16:creationId xmlns:a16="http://schemas.microsoft.com/office/drawing/2014/main" id="{510ED214-9775-472C-93DF-0A76C05F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91500"/>
            <a:ext cx="1638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4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tập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lệnh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RV32I/M/A.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Không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mở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rộng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F/D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hoặc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C. MMU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giới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hạn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trang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4 KB; CSR/trap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ngoài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phạm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vi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đề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cương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62529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D7860EAB-80CD-B3CD-26E9-78633149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DC1937D5-981D-491E-C851-A8C0ADF6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79f6c3ee4644f23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57F404DD-C029-6714-6DFB-9274C55C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197D2A85-3385-63ED-A5CC-5D4AFA4C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ED874408-6986-1FE4-6E13-758C0508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04894B58-CC3F-7A85-88A1-7B099995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8F8F9C0E-7CEA-DCA0-7581-BCC2CB23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0570cb2a1a44072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B96425F5-9567-4B65-E61C-4D7184A0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36bc31b00af4f5c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Nội dung và phương pháp thực hiện">
            <a:extLst xmlns:a="http://schemas.openxmlformats.org/drawingml/2006/main">
              <a:ext uri="{FF2B5EF4-FFF2-40B4-BE49-F238E27FC236}">
                <a16:creationId xmlns:a16="http://schemas.microsoft.com/office/drawing/2014/main" id="{6B76308F-EAF1-45A4-A869-46D30DD8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1233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3. Nội dung và phương pháp thực hiện</a:t>
            </a:r>
          </a:p>
        </p:txBody>
      </p:sp>
      <p:graphicFrame>
        <p:nvGraphicFramePr>
          <p:cNvPr id="241" name="Table 241"/>
          <p:cNvGraphicFramePr/>
          <p:nvPr/>
        </p:nvGraphicFramePr>
        <p:xfrm>
          <a:off xmlns:a="http://schemas.openxmlformats.org/drawingml/2006/main" x="809625" y="2857500"/>
          <a:ext xmlns:a="http://schemas.openxmlformats.org/drawingml/2006/main" cx="16668750" cy="595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7239000"/>
                <a:gridCol w="4476750"/>
              </a:tblGrid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Nội dung chính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Phương pháp thực hiện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Kết quả dự kiến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1. Khảo sát và lựa chọn kiến trúc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Nghiên cứu ISA, đa lõi và tổ chức bộ nhớ. Đối chiếu các thiết kế tham khảo.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Đặc tả và kiến trúc tổng thể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2. Xây dựng lõi đơn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 thực lõi RV32IMA, cache L1 và MMU. Kiểm tra theo từng khối.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 đơn hoạt động đúng chức năng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3. Tích hợp hệ 4 lõi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Ghép 4 lõi, L2, MESI và bus AHB/AXI4. Tích hợp DMA.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Các lõi chia sẻ dữ liệu nhất quán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4. Đánh giá và hoàn thiện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testbench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cache/coherence;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Vivado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demo FPGA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Demo,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kết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quả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đánh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5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giá</a:t>
                      </a:r>
                      <a:endParaRPr sz="25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6214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c219e31def84874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f186e23a50748ba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2983b5f364de489a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 xmlns:a="http://schemas.openxmlformats.org/drawingml/2006/main"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99" y="1067457"/>
            <a:ext cx="3832991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Kiến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trúc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đề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xuất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0e8d4718d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0614" y="1593167"/>
            <a:ext cx="14130751" cy="86917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6525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1E52C618-F875-1443-64BA-C58F421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038795DC-7AAE-E472-E8BA-730CCEEF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39f694ddbc34c48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5E4B0504-2DDF-65FA-3D44-D48110D6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B06BFB91-F606-B659-25E6-2C29A9A3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CA841D89-D962-D472-5C78-26E705C3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E5A1C7D4-C516-302E-7FA6-1B375E2D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50A2744F-E543-77FD-B6C0-9CA16EA1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0dbc6cfcad744e9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B3BB28D9-0572-CD5B-DCAD-D077D32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c8ec03a423041f3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3. Kiểm chứng và demo hệ thống">
            <a:extLst xmlns:a="http://schemas.openxmlformats.org/drawingml/2006/main">
              <a:ext uri="{FF2B5EF4-FFF2-40B4-BE49-F238E27FC236}">
                <a16:creationId xmlns:a16="http://schemas.microsoft.com/office/drawing/2014/main" id="{0914514E-40A9-46FD-BF7E-DBFB40B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Kiểm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demo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hệ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thống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Khung sơ đồ">
            <a:extLst xmlns:a="http://schemas.openxmlformats.org/drawingml/2006/main">
              <a:ext uri="{FF2B5EF4-FFF2-40B4-BE49-F238E27FC236}">
                <a16:creationId xmlns:a16="http://schemas.microsoft.com/office/drawing/2014/main" id="{5DC8E18C-75BC-4DB3-9968-C81DF6AB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7524750" cy="604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4E50"/>
            </a:solidFill>
          </a:ln>
        </p:spPr>
      </p:sp>
      <p:sp>
        <p:nvSpPr>
          <p:cNvPr id="232" name="Khung sơ đồ">
            <a:extLst xmlns:a="http://schemas.openxmlformats.org/drawingml/2006/main">
              <a:ext uri="{FF2B5EF4-FFF2-40B4-BE49-F238E27FC236}">
                <a16:creationId xmlns:a16="http://schemas.microsoft.com/office/drawing/2014/main" id="{56DAD00F-9144-4FF1-8EA4-A06201F1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62250"/>
            <a:ext cx="7524750" cy="604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44E50"/>
            </a:solidFill>
          </a:ln>
        </p:spPr>
      </p:sp>
      <p:sp>
        <p:nvSpPr>
          <p:cNvPr id="233" name="Quy trình kiểm chứng">
            <a:extLst xmlns:a="http://schemas.openxmlformats.org/drawingml/2006/main">
              <a:ext uri="{FF2B5EF4-FFF2-40B4-BE49-F238E27FC236}">
                <a16:creationId xmlns:a16="http://schemas.microsoft.com/office/drawing/2014/main" id="{5A91B40A-3AA2-4C0D-8CEA-D2366B86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Quy trình kiểm chứng</a:t>
            </a:r>
          </a:p>
        </p:txBody>
      </p:sp>
      <p:sp>
        <p:nvSpPr>
          <p:cNvPr id="234" name="Demo dự kiến trên VCU129">
            <a:extLst xmlns:a="http://schemas.openxmlformats.org/drawingml/2006/main">
              <a:ext uri="{FF2B5EF4-FFF2-40B4-BE49-F238E27FC236}">
                <a16:creationId xmlns:a16="http://schemas.microsoft.com/office/drawing/2014/main" id="{AE111731-21A9-46DA-8A66-6FF79E7B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9085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2A"/>
                </a:solidFill>
                <a:latin typeface="Arial"/>
                <a:ea typeface="Arial"/>
                <a:cs typeface="Arial"/>
              </a:rPr>
              <a:t>Demo dự kiến trên VCU129</a:t>
            </a:r>
          </a:p>
        </p:txBody>
      </p:sp>
      <p:sp>
        <p:nvSpPr>
          <p:cNvPr id="235" name="Khối riêng">
            <a:extLst xmlns:a="http://schemas.openxmlformats.org/drawingml/2006/main">
              <a:ext uri="{FF2B5EF4-FFF2-40B4-BE49-F238E27FC236}">
                <a16:creationId xmlns:a16="http://schemas.microsoft.com/office/drawing/2014/main" id="{14D7AD86-5668-480E-9BCC-41AB5396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5762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Khối riêng</a:t>
            </a:r>
          </a:p>
        </p:txBody>
      </p:sp>
      <p:sp>
        <p:nvSpPr>
          <p:cNvPr id="236" name="Lõi đơn">
            <a:extLst xmlns:a="http://schemas.openxmlformats.org/drawingml/2006/main">
              <a:ext uri="{FF2B5EF4-FFF2-40B4-BE49-F238E27FC236}">
                <a16:creationId xmlns:a16="http://schemas.microsoft.com/office/drawing/2014/main" id="{AF4788A8-C749-4BEC-A3EF-9B2C6C8F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Lõi đơn</a:t>
            </a:r>
          </a:p>
        </p:txBody>
      </p:sp>
      <p:sp>
        <p:nvSpPr>
          <p:cNvPr id="237" name="Hệ 4 lõi">
            <a:extLst xmlns:a="http://schemas.openxmlformats.org/drawingml/2006/main">
              <a:ext uri="{FF2B5EF4-FFF2-40B4-BE49-F238E27FC236}">
                <a16:creationId xmlns:a16="http://schemas.microsoft.com/office/drawing/2014/main" id="{BF3F01E0-1CEA-4354-90DC-E747AC29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47712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Hệ 4 lõi</a:t>
            </a:r>
          </a:p>
        </p:txBody>
      </p:sp>
      <p:cxnSp>
        <p:nvCxnSpPr>
          <p:cNvPr id="314" name="Straight Arrow Connector 276"/>
          <p:cNvCxnSpPr>
            <a:stCxn xmlns:a="http://schemas.openxmlformats.org/drawingml/2006/main" id="235" idx="2"/>
            <a:endCxn xmlns:a="http://schemas.openxmlformats.org/drawingml/2006/main" id="236" idx="0"/>
          </p:cNvCxnSpPr>
          <p:nvPr/>
        </p:nvCxnSpPr>
        <p:spPr>
          <a:xfrm xmlns:a="http://schemas.openxmlformats.org/drawingml/2006/main">
            <a:off x="4572000" y="5000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cxnSp>
        <p:nvCxnSpPr>
          <p:cNvPr id="315" name="Straight Arrow Connector 277"/>
          <p:cNvCxnSpPr>
            <a:stCxn xmlns:a="http://schemas.openxmlformats.org/drawingml/2006/main" id="236" idx="2"/>
            <a:endCxn xmlns:a="http://schemas.openxmlformats.org/drawingml/2006/main" id="237" idx="0"/>
          </p:cNvCxnSpPr>
          <p:nvPr/>
        </p:nvCxnSpPr>
        <p:spPr>
          <a:xfrm xmlns:a="http://schemas.openxmlformats.org/drawingml/2006/main">
            <a:off x="4572000" y="68103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sp>
        <p:nvSpPr>
          <p:cNvPr id="240" name="PASS">
            <a:extLst xmlns:a="http://schemas.openxmlformats.org/drawingml/2006/main">
              <a:ext uri="{FF2B5EF4-FFF2-40B4-BE49-F238E27FC236}">
                <a16:creationId xmlns:a16="http://schemas.microsoft.com/office/drawing/2014/main" id="{74F7A6A0-C8FA-4FF9-9358-6E3E3E8D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911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1" name="PASS">
            <a:extLst xmlns:a="http://schemas.openxmlformats.org/drawingml/2006/main">
              <a:ext uri="{FF2B5EF4-FFF2-40B4-BE49-F238E27FC236}">
                <a16:creationId xmlns:a16="http://schemas.microsoft.com/office/drawing/2014/main" id="{8EC9EA5F-554B-4097-B10B-21C3CA29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700087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A6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42" name="Điểm nối nhánh kiểm tra lại">
            <a:extLst xmlns:a="http://schemas.openxmlformats.org/drawingml/2006/main">
              <a:ext uri="{FF2B5EF4-FFF2-40B4-BE49-F238E27FC236}">
                <a16:creationId xmlns:a16="http://schemas.microsoft.com/office/drawing/2014/main" id="{98F65D08-BC4C-41C5-8825-77C89821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238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3" name="Điểm nối nhánh kiểm tra lại">
            <a:extLst xmlns:a="http://schemas.openxmlformats.org/drawingml/2006/main">
              <a:ext uri="{FF2B5EF4-FFF2-40B4-BE49-F238E27FC236}">
                <a16:creationId xmlns:a16="http://schemas.microsoft.com/office/drawing/2014/main" id="{AA1477A7-B5C1-4FFC-980C-8F8D2973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Straight Arrow Connector 282"/>
          <p:cNvCxnSpPr>
            <a:stCxn xmlns:a="http://schemas.openxmlformats.org/drawingml/2006/main" id="236" idx="1"/>
            <a:endCxn xmlns:a="http://schemas.openxmlformats.org/drawingml/2006/main" id="242" idx="3"/>
          </p:cNvCxnSpPr>
          <p:nvPr/>
        </p:nvCxnSpPr>
        <p:spPr>
          <a:xfrm xmlns:a="http://schemas.openxmlformats.org/drawingml/2006/main" flipH="1">
            <a:off x="1477328" y="6238875"/>
            <a:ext cx="903922" cy="47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none" w="sm" len="sm"/>
          </a:ln>
        </p:spPr>
      </p:cxnSp>
      <p:cxnSp>
        <p:nvCxnSpPr>
          <p:cNvPr id="321" name="Straight Arrow Connector 283"/>
          <p:cNvCxnSpPr>
            <a:stCxn xmlns:a="http://schemas.openxmlformats.org/drawingml/2006/main" id="242" idx="0"/>
            <a:endCxn xmlns:a="http://schemas.openxmlformats.org/drawingml/2006/main" id="243" idx="2"/>
          </p:cNvCxnSpPr>
          <p:nvPr/>
        </p:nvCxnSpPr>
        <p:spPr>
          <a:xfrm xmlns:a="http://schemas.openxmlformats.org/drawingml/2006/main" flipV="1">
            <a:off x="1476852" y="443007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none" w="sm" len="sm"/>
          </a:ln>
        </p:spPr>
      </p:cxnSp>
      <p:cxnSp>
        <p:nvCxnSpPr>
          <p:cNvPr id="322" name="Straight Arrow Connector 284"/>
          <p:cNvCxnSpPr>
            <a:stCxn xmlns:a="http://schemas.openxmlformats.org/drawingml/2006/main" id="243" idx="3"/>
            <a:endCxn xmlns:a="http://schemas.openxmlformats.org/drawingml/2006/main" id="235" idx="1"/>
          </p:cNvCxnSpPr>
          <p:nvPr/>
        </p:nvCxnSpPr>
        <p:spPr>
          <a:xfrm xmlns:a="http://schemas.openxmlformats.org/drawingml/2006/main" flipV="1">
            <a:off x="1477328" y="4429125"/>
            <a:ext cx="903922" cy="476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sp>
        <p:nvSpPr>
          <p:cNvPr id="247" name="FAIL">
            <a:extLst xmlns:a="http://schemas.openxmlformats.org/drawingml/2006/main">
              <a:ext uri="{FF2B5EF4-FFF2-40B4-BE49-F238E27FC236}">
                <a16:creationId xmlns:a16="http://schemas.microsoft.com/office/drawing/2014/main" id="{B418EBB9-5DE2-4055-851F-A1E29662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206" y="5148500"/>
            <a:ext cx="58198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48" name="Điểm nối nhánh kiểm tra lại">
            <a:extLst xmlns:a="http://schemas.openxmlformats.org/drawingml/2006/main">
              <a:ext uri="{FF2B5EF4-FFF2-40B4-BE49-F238E27FC236}">
                <a16:creationId xmlns:a16="http://schemas.microsoft.com/office/drawing/2014/main" id="{08BF6DCA-B61E-4E67-BDAC-4899F0C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8048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9" name="Điểm nối nhánh kiểm tra lại">
            <a:extLst xmlns:a="http://schemas.openxmlformats.org/drawingml/2006/main">
              <a:ext uri="{FF2B5EF4-FFF2-40B4-BE49-F238E27FC236}">
                <a16:creationId xmlns:a16="http://schemas.microsoft.com/office/drawing/2014/main" id="{9A4D06B7-32DC-4DFB-BDDF-AE1B2366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Straight Arrow Connector 288"/>
          <p:cNvCxnSpPr>
            <a:stCxn xmlns:a="http://schemas.openxmlformats.org/drawingml/2006/main" id="237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6762750" y="8048625"/>
            <a:ext cx="952500" cy="47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none" w="sm" len="sm"/>
          </a:ln>
        </p:spPr>
      </p:cxnSp>
      <p:cxnSp>
        <p:nvCxnSpPr>
          <p:cNvPr id="327" name="Straight Arrow Connector 289"/>
          <p:cNvCxnSpPr>
            <a:stCxn xmlns:a="http://schemas.openxmlformats.org/drawingml/2006/main" id="248" idx="0"/>
            <a:endCxn xmlns:a="http://schemas.openxmlformats.org/drawingml/2006/main" id="249" idx="2"/>
          </p:cNvCxnSpPr>
          <p:nvPr/>
        </p:nvCxnSpPr>
        <p:spPr>
          <a:xfrm xmlns:a="http://schemas.openxmlformats.org/drawingml/2006/main" flipV="1">
            <a:off x="7715727" y="4430078"/>
            <a:ext cx="0" cy="3618547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none" w="sm" len="sm"/>
          </a:ln>
        </p:spPr>
      </p:cxnSp>
      <p:cxnSp>
        <p:nvCxnSpPr>
          <p:cNvPr id="328" name="Straight Arrow Connector 290"/>
          <p:cNvCxnSpPr>
            <a:stCxn xmlns:a="http://schemas.openxmlformats.org/drawingml/2006/main" id="249" idx="1"/>
            <a:endCxn xmlns:a="http://schemas.openxmlformats.org/drawingml/2006/main" id="235" idx="3"/>
          </p:cNvCxnSpPr>
          <p:nvPr/>
        </p:nvCxnSpPr>
        <p:spPr>
          <a:xfrm xmlns:a="http://schemas.openxmlformats.org/drawingml/2006/main" flipH="1" flipV="1">
            <a:off x="6762750" y="4429125"/>
            <a:ext cx="952500" cy="476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sp>
        <p:nvSpPr>
          <p:cNvPr id="253" name="FAIL">
            <a:extLst xmlns:a="http://schemas.openxmlformats.org/drawingml/2006/main">
              <a:ext uri="{FF2B5EF4-FFF2-40B4-BE49-F238E27FC236}">
                <a16:creationId xmlns:a16="http://schemas.microsoft.com/office/drawing/2014/main" id="{22EE04D5-DCB0-416F-9D0E-DF2DB51D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603" y="6064317"/>
            <a:ext cx="665793" cy="41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261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15E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254" name="Nạp chương trình vào DRAM">
            <a:extLst xmlns:a="http://schemas.openxmlformats.org/drawingml/2006/main">
              <a:ext uri="{FF2B5EF4-FFF2-40B4-BE49-F238E27FC236}">
                <a16:creationId xmlns:a16="http://schemas.microsoft.com/office/drawing/2014/main" id="{E436E3E1-0B70-461E-9E58-99F54E68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85762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Nạp chương trình vào DRAM</a:t>
            </a:r>
          </a:p>
        </p:txBody>
      </p:sp>
      <p:sp>
        <p:nvSpPr>
          <p:cNvPr id="255" name="CPU 4 lõi thực thi">
            <a:extLst xmlns:a="http://schemas.openxmlformats.org/drawingml/2006/main">
              <a:ext uri="{FF2B5EF4-FFF2-40B4-BE49-F238E27FC236}">
                <a16:creationId xmlns:a16="http://schemas.microsoft.com/office/drawing/2014/main" id="{B956066B-3A21-46BD-9C2E-371875AF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6737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CPU 4 lõi thực thi</a:t>
            </a:r>
          </a:p>
        </p:txBody>
      </p:sp>
      <p:sp>
        <p:nvSpPr>
          <p:cNvPr id="256" name="Kiểm tra kết quả PASS/FAIL">
            <a:extLst xmlns:a="http://schemas.openxmlformats.org/drawingml/2006/main">
              <a:ext uri="{FF2B5EF4-FFF2-40B4-BE49-F238E27FC236}">
                <a16:creationId xmlns:a16="http://schemas.microsoft.com/office/drawing/2014/main" id="{18DBA602-FAC4-4900-AECB-62A89BFB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477125"/>
            <a:ext cx="4381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1"/>
          </a:solidFill>
          <a:ln xmlns:a="http://schemas.openxmlformats.org/drawingml/2006/main" w="11430">
            <a:solidFill>
              <a:srgbClr val="244E50"/>
            </a:solidFill>
          </a:ln>
        </p:spPr>
        <p:txBody>
          <a:bodyPr xmlns:a="http://schemas.openxmlformats.org/drawingml/2006/main" lIns="152400" tIns="114300" rIns="1524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 tra kết quả PASS/FAIL</a:t>
            </a:r>
          </a:p>
        </p:txBody>
      </p:sp>
      <p:cxnSp>
        <p:nvCxnSpPr>
          <p:cNvPr id="333" name="Straight Arrow Connector 295"/>
          <p:cNvCxnSpPr>
            <a:stCxn xmlns:a="http://schemas.openxmlformats.org/drawingml/2006/main" id="254" idx="2"/>
            <a:endCxn xmlns:a="http://schemas.openxmlformats.org/drawingml/2006/main" id="255" idx="0"/>
          </p:cNvCxnSpPr>
          <p:nvPr/>
        </p:nvCxnSpPr>
        <p:spPr>
          <a:xfrm xmlns:a="http://schemas.openxmlformats.org/drawingml/2006/main">
            <a:off x="13430250" y="50006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  <p:cxnSp>
        <p:nvCxnSpPr>
          <p:cNvPr id="334" name="Straight Arrow Connector 296"/>
          <p:cNvCxnSpPr>
            <a:stCxn xmlns:a="http://schemas.openxmlformats.org/drawingml/2006/main" id="255" idx="2"/>
            <a:endCxn xmlns:a="http://schemas.openxmlformats.org/drawingml/2006/main" id="256" idx="0"/>
          </p:cNvCxnSpPr>
          <p:nvPr/>
        </p:nvCxnSpPr>
        <p:spPr>
          <a:xfrm xmlns:a="http://schemas.openxmlformats.org/drawingml/2006/main">
            <a:off x="13430250" y="681037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44E50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2214824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2d03afde5fb4b6e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00dde405c254fe9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2bda23e19934928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4. Kế hoạch thực hiện theo tháng">
            <a:extLst xmlns:a="http://schemas.openxmlformats.org/drawingml/2006/main">
              <a:ext uri="{FF2B5EF4-FFF2-40B4-BE49-F238E27FC236}">
                <a16:creationId xmlns:a16="http://schemas.microsoft.com/office/drawing/2014/main" id="{FBF85D8C-C357-43E1-A7EE-C30E6189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4.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hoạch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chí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44" name="Table 245"/>
          <p:cNvGraphicFramePr/>
          <p:nvPr/>
        </p:nvGraphicFramePr>
        <p:xfrm>
          <a:off xmlns:a="http://schemas.openxmlformats.org/drawingml/2006/main" x="952500" y="2622643"/>
          <a:ext xmlns:a="http://schemas.openxmlformats.org/drawingml/2006/main" cx="1666875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0"/>
                <a:gridCol w="1905000"/>
                <a:gridCol w="1905000"/>
                <a:gridCol w="1905000"/>
                <a:gridCol w="1905000"/>
                <a:gridCol w="1905000"/>
              </a:tblGrid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</a:t>
                      </a: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việc</a:t>
                      </a:r>
                      <a:endParaRPr sz="23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T9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T10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T11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T12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T1/27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Kiến trúc, lõi đơn, L1 và MMU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AHB/AXI4, L2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MESI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DMA và tích hợp hệ thống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2325" b="1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2325" b="1">
                        <a:solidFill>
                          <a:srgbClr val="007A6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RTL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toàn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hệ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thống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tổng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hợp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hiện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thực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FPGA</a:t>
                      </a:r>
                      <a:endParaRPr sz="2325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Đo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phòng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325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endParaRPr sz="2325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325" b="1">
                          <a:solidFill>
                            <a:srgbClr val="007A60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D0E8DB"/>
                    </a:solidFill>
                  </a:tcPr>
                </a:tc>
              </a:tr>
            </a:tbl>
          </a:graphicData>
        </a:graphic>
      </p:graphicFrame>
      <p:sp>
        <p:nvSpPr>
          <p:cNvPr id="233" name="Phân công nhóm">
            <a:extLst xmlns:a="http://schemas.openxmlformats.org/drawingml/2006/main">
              <a:ext uri="{FF2B5EF4-FFF2-40B4-BE49-F238E27FC236}">
                <a16:creationId xmlns:a16="http://schemas.microsoft.com/office/drawing/2014/main" id="{5108FF10-CFA0-4C1C-9CD2-7380DAE6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868" y="7582250"/>
            <a:ext cx="6469380" cy="21687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Lâm: lõi, L1, MMU/TLB.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endParaRPr sz="3000" b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Lam: bus, L2, MESI, DMA. </a:t>
            </a:r>
            <a:endParaRPr sz="3000" b="0">
              <a:solidFill>
                <a:srgbClr val="172A2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50000"/>
              </a:lnSpc>
              <a:buNone/>
              <a:defRPr sz="2250" b="0">
                <a:solidFill>
                  <a:srgbClr val="172A2A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Cả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hai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: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kiểm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chứng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, demo,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báo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 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cáo</a:t>
            </a:r>
            <a:r>
              <a:rPr sz="3000" b="0">
                <a:solidFill>
                  <a:srgbClr val="172A2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26650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0" name="Google Shape;220;p4">
            <a:extLst xmlns:a="http://schemas.openxmlformats.org/drawingml/2006/main">
              <a:ext uri="{FF2B5EF4-FFF2-40B4-BE49-F238E27FC236}">
                <a16:creationId xmlns:a16="http://schemas.microsoft.com/office/drawing/2014/main" id="{DC808253-1ED7-379A-C73C-599E8357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670767" y="-8672351"/>
            <a:ext cx="942755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10CD57"/>
              </a:gs>
              <a:gs pos="100000">
                <a:srgbClr val="027159"/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4">
            <a:extLst xmlns:a="http://schemas.openxmlformats.org/drawingml/2006/main">
              <a:ext uri="{FF2B5EF4-FFF2-40B4-BE49-F238E27FC236}">
                <a16:creationId xmlns:a16="http://schemas.microsoft.com/office/drawing/2014/main" id="{5912409C-2803-AB21-AE33-4169475C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 flipH="1">
            <a:off x="8672625" y="-8674476"/>
            <a:ext cx="942756" cy="18291714"/>
          </a:xfrm>
          <a:custGeom xmlns:a="http://schemas.openxmlformats.org/drawingml/2006/main">
            <a:rect l="l" t="t" r="r" b="b"/>
            <a:pathLst>
              <a:path w="1263142" h="24388953">
                <a:moveTo>
                  <a:pt x="0" y="0"/>
                </a:moveTo>
                <a:lnTo>
                  <a:pt x="1263142" y="0"/>
                </a:lnTo>
                <a:lnTo>
                  <a:pt x="1263142" y="24388953"/>
                </a:lnTo>
                <a:lnTo>
                  <a:pt x="0" y="24388953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e32fb5c1ed549a3">
              <a:alphaModFix/>
            </a:blip>
            <a:stretch>
              <a:fillRect l="-35090" t="0" r="-35085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3" name="Google Shape;223;p4">
            <a:extLst xmlns:a="http://schemas.openxmlformats.org/drawingml/2006/main">
              <a:ext uri="{FF2B5EF4-FFF2-40B4-BE49-F238E27FC236}">
                <a16:creationId xmlns:a16="http://schemas.microsoft.com/office/drawing/2014/main" id="{444CFF2D-3ED5-830B-27D7-43A8B350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212133"/>
            <a:ext cx="11130437" cy="506075"/>
          </a:xfrm>
          <a:custGeom xmlns:a="http://schemas.openxmlformats.org/drawingml/2006/main">
            <a:rect l="l" t="t" r="r" b="b"/>
            <a:pathLst>
              <a:path w="14840583" h="674766">
                <a:moveTo>
                  <a:pt x="0" y="0"/>
                </a:moveTo>
                <a:lnTo>
                  <a:pt x="14840583" y="0"/>
                </a:lnTo>
                <a:lnTo>
                  <a:pt x="14840583" y="674766"/>
                </a:lnTo>
                <a:lnTo>
                  <a:pt x="0" y="67476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4" name="Google Shape;224;p4">
            <a:extLst xmlns:a="http://schemas.openxmlformats.org/drawingml/2006/main">
              <a:ext uri="{FF2B5EF4-FFF2-40B4-BE49-F238E27FC236}">
                <a16:creationId xmlns:a16="http://schemas.microsoft.com/office/drawing/2014/main" id="{832DE0AF-E5FF-7DCD-B9BF-91CB90C0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22" y="176415"/>
            <a:ext cx="11130436" cy="5417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FACULTY OF COMPUTER ENGINEERING</a:t>
            </a:r>
            <a:endParaRPr/>
          </a:p>
        </p:txBody>
      </p:sp>
      <p:sp>
        <p:nvSpPr>
          <p:cNvPr id="225" name="Google Shape;225;p4">
            <a:extLst xmlns:a="http://schemas.openxmlformats.org/drawingml/2006/main">
              <a:ext uri="{FF2B5EF4-FFF2-40B4-BE49-F238E27FC236}">
                <a16:creationId xmlns:a16="http://schemas.microsoft.com/office/drawing/2014/main" id="{D44993FD-0D50-D839-6600-5F18159B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978" y="457932"/>
            <a:ext cx="4848130" cy="958025"/>
          </a:xfrm>
          <a:custGeom xmlns:a="http://schemas.openxmlformats.org/drawingml/2006/main">
            <a:rect l="l" t="t" r="r" b="b"/>
            <a:pathLst>
              <a:path w="6464173" h="1277366">
                <a:moveTo>
                  <a:pt x="0" y="638683"/>
                </a:moveTo>
                <a:cubicBezTo>
                  <a:pt x="0" y="285877"/>
                  <a:pt x="285877" y="0"/>
                  <a:pt x="638683" y="0"/>
                </a:cubicBezTo>
                <a:lnTo>
                  <a:pt x="5825490" y="0"/>
                </a:lnTo>
                <a:cubicBezTo>
                  <a:pt x="6178169" y="0"/>
                  <a:pt x="6464173" y="285877"/>
                  <a:pt x="6464173" y="638683"/>
                </a:cubicBezTo>
                <a:cubicBezTo>
                  <a:pt x="6464173" y="991489"/>
                  <a:pt x="6178296" y="1277366"/>
                  <a:pt x="5825490" y="1277366"/>
                </a:cubicBezTo>
                <a:lnTo>
                  <a:pt x="638683" y="1277366"/>
                </a:lnTo>
                <a:cubicBezTo>
                  <a:pt x="285877" y="1277239"/>
                  <a:pt x="0" y="991362"/>
                  <a:pt x="0" y="638683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38EF7D"/>
              </a:gs>
              <a:gs pos="100000">
                <a:srgbClr val="752AFF"/>
              </a:gs>
            </a:gsLst>
            <a:lin ang="472936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6" name="Google Shape;226;p4">
            <a:extLst xmlns:a="http://schemas.openxmlformats.org/drawingml/2006/main">
              <a:ext uri="{FF2B5EF4-FFF2-40B4-BE49-F238E27FC236}">
                <a16:creationId xmlns:a16="http://schemas.microsoft.com/office/drawing/2014/main" id="{5AF7D653-61AF-F707-0E27-F8EA21E6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463" y="535967"/>
            <a:ext cx="4673060" cy="801909"/>
          </a:xfrm>
          <a:custGeom xmlns:a="http://schemas.openxmlformats.org/drawingml/2006/main">
            <a:rect l="l" t="t" r="r" b="b"/>
            <a:pathLst>
              <a:path w="6230747" h="1069213">
                <a:moveTo>
                  <a:pt x="0" y="534543"/>
                </a:moveTo>
                <a:cubicBezTo>
                  <a:pt x="0" y="239395"/>
                  <a:pt x="239395" y="0"/>
                  <a:pt x="534543" y="0"/>
                </a:cubicBezTo>
                <a:lnTo>
                  <a:pt x="5696204" y="0"/>
                </a:lnTo>
                <a:cubicBezTo>
                  <a:pt x="5991479" y="0"/>
                  <a:pt x="6230747" y="239395"/>
                  <a:pt x="6230747" y="534543"/>
                </a:cubicBezTo>
                <a:cubicBezTo>
                  <a:pt x="6230747" y="829691"/>
                  <a:pt x="5991352" y="1069086"/>
                  <a:pt x="5696204" y="1069086"/>
                </a:cubicBezTo>
                <a:lnTo>
                  <a:pt x="534543" y="1069086"/>
                </a:lnTo>
                <a:cubicBezTo>
                  <a:pt x="239395" y="1069213"/>
                  <a:pt x="0" y="829818"/>
                  <a:pt x="0" y="53454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" name="Google Shape;227;p4">
            <a:extLst xmlns:a="http://schemas.openxmlformats.org/drawingml/2006/main">
              <a:ext uri="{FF2B5EF4-FFF2-40B4-BE49-F238E27FC236}">
                <a16:creationId xmlns:a16="http://schemas.microsoft.com/office/drawing/2014/main" id="{289AB586-BB02-5F14-3C9F-C76D8DC7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446" y="362541"/>
            <a:ext cx="1163307" cy="1152591"/>
          </a:xfrm>
          <a:custGeom xmlns:a="http://schemas.openxmlformats.org/drawingml/2006/main">
            <a:rect l="l" t="t" r="r" b="b"/>
            <a:pathLst>
              <a:path w="1163307" h="1152591">
                <a:moveTo>
                  <a:pt x="0" y="0"/>
                </a:moveTo>
                <a:lnTo>
                  <a:pt x="1163307" y="0"/>
                </a:lnTo>
                <a:lnTo>
                  <a:pt x="1163307" y="1152591"/>
                </a:lnTo>
                <a:lnTo>
                  <a:pt x="0" y="115259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f6ad9a4efe7a476d">
              <a:alphaModFix/>
            </a:blip>
            <a:stretch>
              <a:fillRect l="-73" t="0" r="-72" b="0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8" name="Google Shape;228;p4">
            <a:extLst xmlns:a="http://schemas.openxmlformats.org/drawingml/2006/main">
              <a:ext uri="{FF2B5EF4-FFF2-40B4-BE49-F238E27FC236}">
                <a16:creationId xmlns:a16="http://schemas.microsoft.com/office/drawing/2014/main" id="{9D7A377B-BF97-AA94-CA09-9423DAE4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48" y="398076"/>
            <a:ext cx="1307514" cy="1081521"/>
          </a:xfrm>
          <a:custGeom xmlns:a="http://schemas.openxmlformats.org/drawingml/2006/main">
            <a:rect l="l" t="t" r="r" b="b"/>
            <a:pathLst>
              <a:path w="1307514" h="1081521">
                <a:moveTo>
                  <a:pt x="0" y="0"/>
                </a:moveTo>
                <a:lnTo>
                  <a:pt x="1307514" y="0"/>
                </a:lnTo>
                <a:lnTo>
                  <a:pt x="1307514" y="1081521"/>
                </a:lnTo>
                <a:lnTo>
                  <a:pt x="0" y="10815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385e63b6b9c4850">
              <a:alphaModFix/>
            </a:blip>
            <a:stretch>
              <a:fillRect l="0" t="-74" r="0" b="-73"/>
            </a:stretch>
          </a:blip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0" name="4. Tiêu chí đánh giá và kế hoạch theo tuần">
            <a:extLst xmlns:a="http://schemas.openxmlformats.org/drawingml/2006/main">
              <a:ext uri="{FF2B5EF4-FFF2-40B4-BE49-F238E27FC236}">
                <a16:creationId xmlns:a16="http://schemas.microsoft.com/office/drawing/2014/main" id="{04A0627E-FD0F-4405-AAA8-FD588D91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695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4.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hoạch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thực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hiện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và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chí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đánh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giá</a:t>
            </a:r>
            <a:endParaRPr sz="3600" b="1">
              <a:solidFill>
                <a:srgbClr val="007A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1" name="Tiêu chí đánh giá">
            <a:extLst xmlns:a="http://schemas.openxmlformats.org/drawingml/2006/main">
              <a:ext uri="{FF2B5EF4-FFF2-40B4-BE49-F238E27FC236}">
                <a16:creationId xmlns:a16="http://schemas.microsoft.com/office/drawing/2014/main" id="{5F43F57D-9CBE-4577-A76B-24250259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647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Tiêu chí đánh giá</a:t>
            </a:r>
          </a:p>
        </p:txBody>
      </p:sp>
      <p:sp>
        <p:nvSpPr>
          <p:cNvPr id="232" name="Kế hoạch thực hiện">
            <a:extLst xmlns:a="http://schemas.openxmlformats.org/drawingml/2006/main">
              <a:ext uri="{FF2B5EF4-FFF2-40B4-BE49-F238E27FC236}">
                <a16:creationId xmlns:a16="http://schemas.microsoft.com/office/drawing/2014/main" id="{495A3DB7-B1BF-414A-9914-33AE8AA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923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7A6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A60"/>
                </a:solidFill>
                <a:latin typeface="Arial"/>
                <a:ea typeface="Arial"/>
                <a:cs typeface="Arial"/>
              </a:rPr>
              <a:t>Kế hoạch thực hiện</a:t>
            </a:r>
          </a:p>
        </p:txBody>
      </p:sp>
      <p:graphicFrame>
        <p:nvGraphicFramePr>
          <p:cNvPr id="246" name="Table 247"/>
          <p:cNvGraphicFramePr/>
          <p:nvPr/>
        </p:nvGraphicFramePr>
        <p:xfrm>
          <a:off xmlns:a="http://schemas.openxmlformats.org/drawingml/2006/main" x="809625" y="3524250"/>
          <a:ext xmlns:a="http://schemas.openxmlformats.org/drawingml/2006/main" cx="6524625" cy="5381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000500"/>
              </a:tblGrid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Tiêu chí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Cách đánh giá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Chức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năng</a:t>
                      </a:r>
                      <a:endParaRPr sz="22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PASS/FAIL; I/M/A, MMU, dữ liệu chia sẻ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Tài nguyên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LUT, FF, BRAM, DSP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Timing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Fmax, WNS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Hiệu năng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Chu kỳ / thời gian chạy; so sánh 1 và 4 lõi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969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Công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suất</a:t>
                      </a:r>
                      <a:endParaRPr sz="22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Ước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tính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từ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Vivado</a:t>
                      </a:r>
                      <a:endParaRPr sz="22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7" name="Table 248"/>
          <p:cNvGraphicFramePr/>
          <p:nvPr/>
        </p:nvGraphicFramePr>
        <p:xfrm>
          <a:off xmlns:a="http://schemas.openxmlformats.org/drawingml/2006/main" x="8096250" y="3524250"/>
          <a:ext xmlns:a="http://schemas.openxmlformats.org/drawingml/2006/main" cx="9382125" cy="53816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7810500"/>
              </a:tblGrid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Tuần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Công việc và mốc chính</a:t>
                      </a:r>
                    </a:p>
                  </a:txBody>
                  <a:tcPr marL="91440" marR="91440" marT="45720" marB="45720" anchor="ctr">
                    <a:solidFill>
                      <a:srgbClr val="007A60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1–5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Chốt kiến trúc; lõi đơn, L1, MMU; DMA v1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6–10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4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lõi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L2, MESI, interconnect; coherence 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11–12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DMA - DRAM PASS trong mô phỏng</a:t>
                      </a:r>
                      <a:endParaRPr sz="2250" b="0">
                        <a:solidFill>
                          <a:srgbClr val="172A2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13–15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Tích hợp, RTL toàn hệ thống PASS; tổng hợp Vivado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16–18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Bring-up, debug FPGA; demo tự động và đo hiệu năng</a:t>
                      </a:r>
                    </a:p>
                  </a:txBody>
                  <a:tcPr marL="91440" marR="91440" marT="45720" marB="45720" anchor="ctr">
                    <a:solidFill>
                      <a:srgbClr val="EDF5F1"/>
                    </a:solidFill>
                  </a:tcPr>
                </a:tc>
              </a:tr>
              <a:tr h="7688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19–20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Dự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phòng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;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báo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cáo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, slide 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và</a:t>
                      </a:r>
                      <a:r>
                        <a:rPr sz="2250" b="0">
                          <a:solidFill>
                            <a:srgbClr val="172A2A"/>
                          </a:solidFill>
                          <a:latin typeface="Arial"/>
                          <a:ea typeface="Arial"/>
                          <a:cs typeface="Arial"/>
                        </a:rPr>
                        <a:t> video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6650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2026-09-17T13:18:54.7150000Z</dcterms:created>
  <dcterms:modified xsi:type="dcterms:W3CDTF">2026-09-17T13:18:54.7150000Z</dcterms:modified>
</coreProperties>
</file>