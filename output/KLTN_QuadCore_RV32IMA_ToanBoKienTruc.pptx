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4ca30d4a854499" /><Relationship Type="http://schemas.openxmlformats.org/officeDocument/2006/relationships/extended-properties" Target="/docProps/app.xml" Id="R27a4867689d54069" /><Relationship Type="http://schemas.openxmlformats.org/officeDocument/2006/relationships/officeDocument" Target="/ppt/presentation.xml" Id="R892f40339daf4136" /></Relationships>
</file>

<file path=ppt/presentation.xml><?xml version="1.0" encoding="utf-8"?>
<p:presentation xmlns:p="http://schemas.openxmlformats.org/presentationml/2006/main">
  <p:sldMasterIdLst>
    <p:sldMasterId xmlns:r="http://schemas.openxmlformats.org/officeDocument/2006/relationships" id="2147483648" r:id="Rcaa3c47e05644a33"/>
  </p:sldMasterIdLst>
  <p:notesMasterIdLst>
    <p:notesMasterId xmlns:r="http://schemas.openxmlformats.org/officeDocument/2006/relationships" r:id="Ra0e45d36274d4fc4"/>
  </p:notesMasterIdLst>
  <p:sldIdLst>
    <p:sldId xmlns:r="http://schemas.openxmlformats.org/officeDocument/2006/relationships" id="256" r:id="Rf4873972302f4c40"/>
    <p:sldId xmlns:r="http://schemas.openxmlformats.org/officeDocument/2006/relationships" id="257" r:id="R9fbef6bcccec4e24"/>
    <p:sldId xmlns:r="http://schemas.openxmlformats.org/officeDocument/2006/relationships" id="258" r:id="Rf665d9732aa24544"/>
    <p:sldId xmlns:r="http://schemas.openxmlformats.org/officeDocument/2006/relationships" id="259" r:id="R7b8d8ef5ba1542c5"/>
    <p:sldId xmlns:r="http://schemas.openxmlformats.org/officeDocument/2006/relationships" id="260" r:id="Re356ab5e01d34efb"/>
    <p:sldId xmlns:r="http://schemas.openxmlformats.org/officeDocument/2006/relationships" id="261" r:id="R884acd77982c4f52"/>
    <p:sldId xmlns:r="http://schemas.openxmlformats.org/officeDocument/2006/relationships" id="262" r:id="Rcc3365f32cd34820"/>
    <p:sldId xmlns:r="http://schemas.openxmlformats.org/officeDocument/2006/relationships" id="263" r:id="Rb482c02e6d904270"/>
    <p:sldId xmlns:r="http://schemas.openxmlformats.org/officeDocument/2006/relationships" id="264" r:id="R53e375c4ec144198"/>
    <p:sldId xmlns:r="http://schemas.openxmlformats.org/officeDocument/2006/relationships" id="265" r:id="R1af8ae90bad74d2f"/>
    <p:sldId xmlns:r="http://schemas.openxmlformats.org/officeDocument/2006/relationships" id="266" r:id="Rae11b8f640854031"/>
    <p:sldId xmlns:r="http://schemas.openxmlformats.org/officeDocument/2006/relationships" id="267" r:id="R4e85ce8ce5254a95"/>
    <p:sldId xmlns:r="http://schemas.openxmlformats.org/officeDocument/2006/relationships" id="268" r:id="Rb604a1285f574f13"/>
    <p:sldId xmlns:r="http://schemas.openxmlformats.org/officeDocument/2006/relationships" id="269" r:id="Rd037af8053564e8e"/>
    <p:sldId xmlns:r="http://schemas.openxmlformats.org/officeDocument/2006/relationships" id="270" r:id="R7fef8bff8dc34a0b"/>
    <p:sldId xmlns:r="http://schemas.openxmlformats.org/officeDocument/2006/relationships" id="271" r:id="Rf861f908de604b7e"/>
    <p:sldId xmlns:r="http://schemas.openxmlformats.org/officeDocument/2006/relationships" id="272" r:id="Re2629039d97141a1"/>
    <p:sldId xmlns:r="http://schemas.openxmlformats.org/officeDocument/2006/relationships" id="273" r:id="R247ee697bb6e4f5f"/>
    <p:sldId xmlns:r="http://schemas.openxmlformats.org/officeDocument/2006/relationships" id="274" r:id="R107bed58111d4e08"/>
    <p:sldId xmlns:r="http://schemas.openxmlformats.org/officeDocument/2006/relationships" id="275" r:id="Rf0631dda7f6c48aa"/>
    <p:sldId xmlns:r="http://schemas.openxmlformats.org/officeDocument/2006/relationships" id="276" r:id="R58cd1a26f2f443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880ab9cf61485e" /><Relationship Type="http://schemas.openxmlformats.org/officeDocument/2006/relationships/slideMaster" Target="/ppt/slideMasters/slideMaster1.xml" Id="Rcaa3c47e05644a33" /><Relationship Type="http://schemas.openxmlformats.org/officeDocument/2006/relationships/notesMaster" Target="/ppt/notesMasters/notesMaster1.xml" Id="Ra0e45d36274d4fc4" /><Relationship Type="http://schemas.openxmlformats.org/officeDocument/2006/relationships/presProps" Target="/ppt/presProps.xml" Id="Rd331c671d0b245ef" /><Relationship Type="http://schemas.openxmlformats.org/officeDocument/2006/relationships/tableStyles" Target="/ppt/tableStyles.xml" Id="Rc1d2eadfd0f54b4b" /><Relationship Type="http://schemas.openxmlformats.org/officeDocument/2006/relationships/slide" Target="/ppt/slides/slide1.xml" Id="Rf4873972302f4c40" /><Relationship Type="http://schemas.openxmlformats.org/officeDocument/2006/relationships/slide" Target="/ppt/slides/slide2.xml" Id="R9fbef6bcccec4e24" /><Relationship Type="http://schemas.openxmlformats.org/officeDocument/2006/relationships/slide" Target="/ppt/slides/slide3.xml" Id="Rf665d9732aa24544" /><Relationship Type="http://schemas.openxmlformats.org/officeDocument/2006/relationships/slide" Target="/ppt/slides/slide4.xml" Id="R7b8d8ef5ba1542c5" /><Relationship Type="http://schemas.openxmlformats.org/officeDocument/2006/relationships/slide" Target="/ppt/slides/slide5.xml" Id="Re356ab5e01d34efb" /><Relationship Type="http://schemas.openxmlformats.org/officeDocument/2006/relationships/slide" Target="/ppt/slides/slide6.xml" Id="R884acd77982c4f52" /><Relationship Type="http://schemas.openxmlformats.org/officeDocument/2006/relationships/slide" Target="/ppt/slides/slide7.xml" Id="Rcc3365f32cd34820" /><Relationship Type="http://schemas.openxmlformats.org/officeDocument/2006/relationships/slide" Target="/ppt/slides/slide8.xml" Id="Rb482c02e6d904270" /><Relationship Type="http://schemas.openxmlformats.org/officeDocument/2006/relationships/slide" Target="/ppt/slides/slide9.xml" Id="R53e375c4ec144198" /><Relationship Type="http://schemas.openxmlformats.org/officeDocument/2006/relationships/slide" Target="/ppt/slides/slide10.xml" Id="R1af8ae90bad74d2f" /><Relationship Type="http://schemas.openxmlformats.org/officeDocument/2006/relationships/slide" Target="/ppt/slides/slide11.xml" Id="Rae11b8f640854031" /><Relationship Type="http://schemas.openxmlformats.org/officeDocument/2006/relationships/slide" Target="/ppt/slides/slide12.xml" Id="R4e85ce8ce5254a95" /><Relationship Type="http://schemas.openxmlformats.org/officeDocument/2006/relationships/slide" Target="/ppt/slides/slide13.xml" Id="Rb604a1285f574f13" /><Relationship Type="http://schemas.openxmlformats.org/officeDocument/2006/relationships/slide" Target="/ppt/slides/slide14.xml" Id="Rd037af8053564e8e" /><Relationship Type="http://schemas.openxmlformats.org/officeDocument/2006/relationships/slide" Target="/ppt/slides/slide15.xml" Id="R7fef8bff8dc34a0b" /><Relationship Type="http://schemas.openxmlformats.org/officeDocument/2006/relationships/slide" Target="/ppt/slides/slide16.xml" Id="Rf861f908de604b7e" /><Relationship Type="http://schemas.openxmlformats.org/officeDocument/2006/relationships/slide" Target="/ppt/slides/slide17.xml" Id="Re2629039d97141a1" /><Relationship Type="http://schemas.openxmlformats.org/officeDocument/2006/relationships/slide" Target="/ppt/slides/slide18.xml" Id="R247ee697bb6e4f5f" /><Relationship Type="http://schemas.openxmlformats.org/officeDocument/2006/relationships/slide" Target="/ppt/slides/slide19.xml" Id="R107bed58111d4e08" /><Relationship Type="http://schemas.openxmlformats.org/officeDocument/2006/relationships/slide" Target="/ppt/slides/slide20.xml" Id="Rf0631dda7f6c48aa" /><Relationship Type="http://schemas.openxmlformats.org/officeDocument/2006/relationships/slide" Target="/ppt/slides/slide21.xml" Id="R58cd1a26f2f443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41b5f98a194c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b49f97dedf4157" /><Relationship Type="http://schemas.openxmlformats.org/officeDocument/2006/relationships/notesMaster" Target="/ppt/notesMasters/notesMaster1.xml" Id="R605cdaba126741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28d7c28fc34bd2" /><Relationship Type="http://schemas.openxmlformats.org/officeDocument/2006/relationships/notesMaster" Target="/ppt/notesMasters/notesMaster1.xml" Id="Rb95e4ec624d84c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0a25264ed147d6" /><Relationship Type="http://schemas.openxmlformats.org/officeDocument/2006/relationships/notesMaster" Target="/ppt/notesMasters/notesMaster1.xml" Id="R78ae61bce6494d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0e6f81a3cb4bf1" /><Relationship Type="http://schemas.openxmlformats.org/officeDocument/2006/relationships/notesMaster" Target="/ppt/notesMasters/notesMaster1.xml" Id="Re19396e396b842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8bf2ef313d464e" /><Relationship Type="http://schemas.openxmlformats.org/officeDocument/2006/relationships/notesMaster" Target="/ppt/notesMasters/notesMaster1.xml" Id="R08f4d31f16914a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fb7334acd24cee" /><Relationship Type="http://schemas.openxmlformats.org/officeDocument/2006/relationships/notesMaster" Target="/ppt/notesMasters/notesMaster1.xml" Id="Re6062098c1b64d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7f1cc3183542df" /><Relationship Type="http://schemas.openxmlformats.org/officeDocument/2006/relationships/notesMaster" Target="/ppt/notesMasters/notesMaster1.xml" Id="R2da0e2f0d4a04f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ba0fc9bb3f4cf7" /><Relationship Type="http://schemas.openxmlformats.org/officeDocument/2006/relationships/notesMaster" Target="/ppt/notesMasters/notesMaster1.xml" Id="Rdffe1ee0bbf643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fced49f537436c" /><Relationship Type="http://schemas.openxmlformats.org/officeDocument/2006/relationships/notesMaster" Target="/ppt/notesMasters/notesMaster1.xml" Id="R031c6133ee7442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8e3d70ffbd4dc8" /><Relationship Type="http://schemas.openxmlformats.org/officeDocument/2006/relationships/notesMaster" Target="/ppt/notesMasters/notesMaster1.xml" Id="Re2fc09d0a1974d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07cc707136493a" /><Relationship Type="http://schemas.openxmlformats.org/officeDocument/2006/relationships/notesMaster" Target="/ppt/notesMasters/notesMaster1.xml" Id="R61e3d95d9bdc4d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6120186e1a4894" /><Relationship Type="http://schemas.openxmlformats.org/officeDocument/2006/relationships/notesMaster" Target="/ppt/notesMasters/notesMaster1.xml" Id="R29a82ddd699e42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57d54c1dcb4915" /><Relationship Type="http://schemas.openxmlformats.org/officeDocument/2006/relationships/notesMaster" Target="/ppt/notesMasters/notesMaster1.xml" Id="R8e828633b6b245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af41cae34c43e9" /><Relationship Type="http://schemas.openxmlformats.org/officeDocument/2006/relationships/notesMaster" Target="/ppt/notesMasters/notesMaster1.xml" Id="R638da24b5d854a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eb901d5fc644e1" /><Relationship Type="http://schemas.openxmlformats.org/officeDocument/2006/relationships/notesMaster" Target="/ppt/notesMasters/notesMaster1.xml" Id="R3035b4041cd140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25122c5a994007" /><Relationship Type="http://schemas.openxmlformats.org/officeDocument/2006/relationships/notesMaster" Target="/ppt/notesMasters/notesMaster1.xml" Id="R89125cacc56647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5aec657550479d" /><Relationship Type="http://schemas.openxmlformats.org/officeDocument/2006/relationships/notesMaster" Target="/ppt/notesMasters/notesMaster1.xml" Id="Rf7548c2ad21c40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a619169b534c70" /><Relationship Type="http://schemas.openxmlformats.org/officeDocument/2006/relationships/notesMaster" Target="/ppt/notesMasters/notesMaster1.xml" Id="R5d9af88c26a342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a2bdef234545ce" /><Relationship Type="http://schemas.openxmlformats.org/officeDocument/2006/relationships/notesMaster" Target="/ppt/notesMasters/notesMaster1.xml" Id="R7967edeead3b4a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e4ba18c757421c" /><Relationship Type="http://schemas.openxmlformats.org/officeDocument/2006/relationships/notesMaster" Target="/ppt/notesMasters/notesMaster1.xml" Id="R862a1400dd174d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7cfa2974914b19" /><Relationship Type="http://schemas.openxmlformats.org/officeDocument/2006/relationships/notesMaster" Target="/ppt/notesMasters/notesMaster1.xml" Id="Rd03c8222b40546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đề tài: xây dựng một hệ thống xử lý bốn lõi có đầy đủ đường xử lý, quản lý bộ nhớ, cache coherence và giao tiếp hệ thống. Người nghe đã biết logic số, HDL và SoC, vì vậy phần trình bày tập trung vào ranh giới block, luồng dữ liệu và các quyết định thiết kế.</a:t>
            </a:r>
          </a:p>
          <a:p xmlns:a="http://schemas.openxmlformats.org/drawingml/2006/main">
            <a:r>
              <a:t>Nguồn: đề cương KLTN và Risc_V_new/README.md.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chính cần truyền đạt: đa lõi giải quyết khả năng thực thi đồng thời, nhưng đồng thời tạo ra bài toán chia sẻ bộ nhớ. RV32A cung cấp thao tác nguyên tử ở mức ISA. Cache coherence bảo đảm các lõi quan sát dữ liệu nhất quán.</a:t>
            </a:r>
          </a:p>
          <a:p xmlns:a="http://schemas.openxmlformats.org/drawingml/2006/main">
            <a:r>
              <a:t>Nguồn: 23520840_23520838_DeCuongKLTN.docx.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mô tả đề tài như một bản vá cho đề tài cũ. Hãy bắt đầu từ nhu cầu ứng dụng, sau đó dùng các công trình trước để định vị phạm vi đóng góp. Hai mục tiêu này khớp với đề cương đã chỉnh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các giới hạn để tránh người nghe hiểu nhầm đây là một CPU thương mại hoàn chỉnh. Coherence manager hiện tuần tự hóa một transaction toàn hệ thống. Thiết kế chọn độ đơn giản để có thể kiểm chứng trong phạm vi khóa luận.</a:t>
            </a:r>
          </a:p>
          <a:p xmlns:a="http://schemas.openxmlformats.org/drawingml/2006/main">
            <a:r>
              <a:t>Nguồn: Risc_V_new/README.md mục -1.7.3.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sơ đồ từ trên xuống. Mỗi lõi có pipeline, MMU/TLB và L1 riêng. AHB-Lite tập trung các request. Coherence manager phối hợp snoop và L2. AXI4 nối hệ thống đến DMA, DRAM và ngoại vi. Hình nguồn: docs/architecture/system_overview.svg.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Cây thư mục giúp người mới tìm đúng block trước khi đọc code. files.f là danh sách source chuẩn. Ba script Vivado đã dùng hàm tìm file đệ quy nên không còn giả định source nằm phẳng ở rtl/. Hình nguồn: docs/architecture/rtl_tree.svg.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gồm IF, ID, EX, MEM và WB. Hazard unit xử lý forwarding, load-use và MDU nhiều chu kỳ. RV32A đi qua memory stage. CSR/trap unit tạo redirect và cung cấp satp, SUM, MXR cho MMU. Hình nguồn: docs/architecture/core_pipeline.svg; RTL: rtl/core/.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lõi có iTLB và dTLB 4 set x 4 way, cộng super-TLB cho trang 4 MiB. Hai phía dùng chung PTW hai cấp. Region policy chặn sớm truy cập sai vùng. U/S, SUM, MXR và quyền R/W/X được kiểm tra ở cả hit và refill. Hình nguồn: docs/architecture/mmu.svg; RTL: rtl/mmu/.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 D-cache lưu ba trạng thái I, S, M. Read miss nhận S. Write hit S phải phát RFO trước khi lên M. BusRd vào owner M buộc owner cung cấp dữ liệu và hạ xuống S. BusRdX invalidate các sharer. Hệ thống tuần tự hóa transaction để giảm race. Hình nguồn: docs/architecture/cache_coherence.svg; RTL: rtl/cache và rtl/coherence.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giải thích hành vi giao thức bằng ba ví dụ thay vì trình bày toàn bộ FSM. Điểm cần nhấn mạnh: MSI bỏ trạng thái Exclusive nên mọi chuyển S sang M đều quan sát được trên bus. Điều đó làm directory đơn giản hơn nhưng tăng một giao dịch upgrade.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AHB-Lite dùng ở ranh giới request từ L1 đến coherence engine. AXI4 là interface hệ thống cho memory controller và DMA. Hai bus không phải hai lựa chọn thay thế. Hình nguồn: docs/architecture/bus_domains.svg; RTL: rtl/interconnect/ahb và rtl/soc.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back-pressure: cache giữ request, AHB adapter giữ HREADY thấp trong lúc backend chưa sẵn sàng. RFO được phân biệt với read thường bằng HMASTLOCK. Regression AHB đã kiểm tra HREADY, RFO, invalidate, owner forward và full-line writeback.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cuối không nạp sẵn chương trình vào BlockRAM để chạy trực tiếp. Dữ liệu đi từ storage vào DRAM, boot controller đặt entry point và thả core, CPU thực thi, kết quả được ghi lại storage. Đường SD cụ thể phụ thuộc board: VCU129 cần xác nhận kết nối vật lý; Genesys ZU-5EV dùng PS-mediated SD. Hình nguồn: docs/architecture/boot_flow.svg.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tuyên bố privilege hoàn tất tuyệt đối. README ghi rõ tb_csr_priv còn ba check lỗi ở đường medeleg/cause. Các test MMU, CSR_MMU_BITS và CSR_TRAP đã PASS. RTL thuộc rtl/core/csr_trap_unit.v và sys_decoder.v.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Waveform dùng để chẩn đoán, không phải bằng chứng duy nhất. Mỗi testbench tự kiểm phải phát PASS/FAIL. Sau unit test là integration, regression, synthesis và hardware test. UVM nằm ngoài phạm vi để dành thời gian cho tích hợp toàn hệ thống và FPGA. Hình nguồn: docs/architecture/verification.svg.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test coherence được chạy lại trong phiên này sau khi di chuyển source. Cả hai PASS. Các test MMU và cache khác dựa trên log đã ghi trong README. Không gộp lỗi privilege vào kết luận MMU.</a:t>
            </a:r>
          </a:p>
          <a:p xmlns:a="http://schemas.openxmlformats.org/drawingml/2006/main">
            <a:r>
              <a:t>Nguồn: Risc_V_new/README.md và log regression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so hiệu năng giữa các board hoặc workload khác nhau rồi kết luận hơn kém. Baseline hữu ích nhất là 1 lõi, 2 lõi và 4 lõi trên cùng thiết kế. Performance counter trong coherence manager đã hỗ trợ đếm request, hit/miss, snoop, word DRAM và busy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giúp trình bày trung thực. RTL đã rộng và các regression chính đã PASS, nhưng chưa có bitstream và demo phần cứng. Không nên nói hệ thống gần hoàn thành nếu chưa có synthesis, timing và workload trên 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các giới hạn được ghi trực tiếp trong README, không phải giả định. Khi trình bày, nối mỗi rủi ro với một bước xử lý tiếp theo: uncached path, DMA flush protocol, error propagation, performance optimization, board verification và sửa privilege delegation.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phản ánh đề cương đã chỉnh: các block nền tảng MMU/TLB và hai miền bus phải ổn định sớm. Sau đó mới tập trung coherence nâng cao, DMA, boot và FPGA. Mỗi bước cần một tiêu chí PASS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bằng trạng thái thực tế: nền tảng RTL đã có cấu trúc rõ, coherence và bus regression đã PASS, nhưng mục tiêu khóa luận chỉ hoàn tất khi có báo cáo Vivado và demo phần cứng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899527921e42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b08b0b174748ac" /><Relationship Type="http://schemas.openxmlformats.org/officeDocument/2006/relationships/slideLayout" Target="/ppt/slideLayouts/slideLayout1.xml" Id="R86f37f468d8c49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f37f468d8c49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00429d47734f77" /><Relationship Type="http://schemas.openxmlformats.org/officeDocument/2006/relationships/notesSlide" Target="/ppt/notesSlides/notesSlide1.xml" Id="R3bedcb38844643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fa8059987f4a3d" /><Relationship Type="http://schemas.openxmlformats.org/officeDocument/2006/relationships/notesSlide" Target="/ppt/notesSlides/notesSlide2.xml" Id="R549bbe232bca44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48cd9898db4733" /><Relationship Type="http://schemas.openxmlformats.org/officeDocument/2006/relationships/notesSlide" Target="/ppt/notesSlides/notesSlide3.xml" Id="R3bb8476378af45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3faf6f6f144e3b" /><Relationship Type="http://schemas.openxmlformats.org/officeDocument/2006/relationships/notesSlide" Target="/ppt/notesSlides/notesSlide4.xml" Id="R60873ed31ac440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4face6eb23413b" /><Relationship Type="http://schemas.openxmlformats.org/officeDocument/2006/relationships/image" Target="/ppt/media/image.png" Id="Rc2c149a4ba864d39" /><Relationship Type="http://schemas.openxmlformats.org/officeDocument/2006/relationships/notesSlide" Target="/ppt/notesSlides/notesSlide5.xml" Id="R6d74518030fa4b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c6616c3ebc4a9e" /><Relationship Type="http://schemas.openxmlformats.org/officeDocument/2006/relationships/image" Target="/ppt/media/image2.png" Id="R3f86b99ec5604e17" /><Relationship Type="http://schemas.openxmlformats.org/officeDocument/2006/relationships/notesSlide" Target="/ppt/notesSlides/notesSlide6.xml" Id="R710d230092654c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232c29dd3a487e" /><Relationship Type="http://schemas.openxmlformats.org/officeDocument/2006/relationships/image" Target="/ppt/media/image3.png" Id="R82fd843e30f547a9" /><Relationship Type="http://schemas.openxmlformats.org/officeDocument/2006/relationships/notesSlide" Target="/ppt/notesSlides/notesSlide7.xml" Id="Rd6e32c4d55ab44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f70af3bb4146b7" /><Relationship Type="http://schemas.openxmlformats.org/officeDocument/2006/relationships/image" Target="/ppt/media/image4.png" Id="R88c327950b1849f2" /><Relationship Type="http://schemas.openxmlformats.org/officeDocument/2006/relationships/notesSlide" Target="/ppt/notesSlides/notesSlide8.xml" Id="R1f3a600405a248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2b1097b85e49c7" /><Relationship Type="http://schemas.openxmlformats.org/officeDocument/2006/relationships/image" Target="/ppt/media/image5.png" Id="Re963e6427b2b4175" /><Relationship Type="http://schemas.openxmlformats.org/officeDocument/2006/relationships/notesSlide" Target="/ppt/notesSlides/notesSlide9.xml" Id="R0140875dddb344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1a900aeedf44b0" /><Relationship Type="http://schemas.openxmlformats.org/officeDocument/2006/relationships/notesSlide" Target="/ppt/notesSlides/notesSlide10.xml" Id="R0554782deb754d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be30026fc14652" /><Relationship Type="http://schemas.openxmlformats.org/officeDocument/2006/relationships/image" Target="/ppt/media/image6.png" Id="R51944304c4ef4406" /><Relationship Type="http://schemas.openxmlformats.org/officeDocument/2006/relationships/notesSlide" Target="/ppt/notesSlides/notesSlide11.xml" Id="R1ead74e2526741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afbc15ac5474c77" /><Relationship Type="http://schemas.openxmlformats.org/officeDocument/2006/relationships/notesSlide" Target="/ppt/notesSlides/notesSlide12.xml" Id="R82531baeb3fa46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e625a5fbb14195" /><Relationship Type="http://schemas.openxmlformats.org/officeDocument/2006/relationships/image" Target="/ppt/media/image7.png" Id="R64427f31e2e94a5c" /><Relationship Type="http://schemas.openxmlformats.org/officeDocument/2006/relationships/notesSlide" Target="/ppt/notesSlides/notesSlide13.xml" Id="R0bfc5f7c0bb24e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d133f623dd423e" /><Relationship Type="http://schemas.openxmlformats.org/officeDocument/2006/relationships/notesSlide" Target="/ppt/notesSlides/notesSlide14.xml" Id="R3dd810c98a6944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073179fe4c4098" /><Relationship Type="http://schemas.openxmlformats.org/officeDocument/2006/relationships/image" Target="/ppt/media/image8.png" Id="R5a30be7b7f41436f" /><Relationship Type="http://schemas.openxmlformats.org/officeDocument/2006/relationships/notesSlide" Target="/ppt/notesSlides/notesSlide15.xml" Id="Rfdcc707b9a4f46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b1b0943c1644ea4" /><Relationship Type="http://schemas.openxmlformats.org/officeDocument/2006/relationships/notesSlide" Target="/ppt/notesSlides/notesSlide16.xml" Id="Re96d746d2bc4477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7e7c7272a64bd5" /><Relationship Type="http://schemas.openxmlformats.org/officeDocument/2006/relationships/notesSlide" Target="/ppt/notesSlides/notesSlide17.xml" Id="Rd98f99fd332d492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81b643c1a8a45c8" /><Relationship Type="http://schemas.openxmlformats.org/officeDocument/2006/relationships/notesSlide" Target="/ppt/notesSlides/notesSlide18.xml" Id="R75ce191abefb46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dc0259fe7224b33" /><Relationship Type="http://schemas.openxmlformats.org/officeDocument/2006/relationships/notesSlide" Target="/ppt/notesSlides/notesSlide19.xml" Id="Rf2c627dc8e824b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86ce7ca7ef74d7a" /><Relationship Type="http://schemas.openxmlformats.org/officeDocument/2006/relationships/notesSlide" Target="/ppt/notesSlides/notesSlide20.xml" Id="Ra7c10672260f42d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81cfe68d5bb41c5" /><Relationship Type="http://schemas.openxmlformats.org/officeDocument/2006/relationships/notesSlide" Target="/ppt/notesSlides/notesSlide21.xml" Id="R60e1e78d9ba34051" /></Relationships>
</file>

<file path=ppt/slides/slide1.xml><?xml version="1.0" encoding="utf-8"?>
<p:sld xmlns:p="http://schemas.openxmlformats.org/presentationml/2006/main">
  <p:cSld>
    <p:bg>
      <p:bgPr>
        <a:solidFill xmlns:a="http://schemas.openxmlformats.org/drawingml/2006/main">
          <a:srgbClr val="173F5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DC983C-4623-4434-8E59-13B592A093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3F5F"/>
          </a:solidFill>
          <a:ln xmlns:a="http://schemas.openxmlformats.org/drawingml/2006/main" w="19050">
            <a:solidFill>
              <a:srgbClr val="173F5F"/>
            </a:solidFill>
          </a:ln>
        </p:spPr>
      </p:sp>
      <p:sp>
        <p:nvSpPr>
          <p:cNvPr id="2" name="">
            <a:extLst xmlns:a="http://schemas.openxmlformats.org/drawingml/2006/main">
              <a:ext uri="{FF2B5EF4-FFF2-40B4-BE49-F238E27FC236}">
                <a16:creationId xmlns:a16="http://schemas.microsoft.com/office/drawing/2014/main" id="{771802BE-9FDE-4DC9-B220-53B188636D90}"/>
              </a:ext>
            </a:extLst>
          </p:cNvPr>
          <p:cNvSpPr>
            <a:spLocks xmlns:a="http://schemas.openxmlformats.org/drawingml/2006/main" noGrp="1"/>
          </p:cNvSpPr>
          <p:nvPr/>
        </p:nvSpPr>
        <p:spPr>
          <a:xfrm xmlns:a="http://schemas.openxmlformats.org/drawingml/2006/main">
            <a:off x="666750" y="876300"/>
            <a:ext cx="114300" cy="4191000"/>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C3A0F38A-DF63-40F8-ACB6-9F4C39B14BB5}"/>
              </a:ext>
            </a:extLst>
          </p:cNvPr>
          <p:cNvSpPr>
            <a:spLocks xmlns:a="http://schemas.openxmlformats.org/drawingml/2006/main" noGrp="1"/>
          </p:cNvSpPr>
          <p:nvPr/>
        </p:nvSpPr>
        <p:spPr>
          <a:xfrm xmlns:a="http://schemas.openxmlformats.org/drawingml/2006/main">
            <a:off x="1047750" y="971550"/>
            <a:ext cx="962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FFFFFF"/>
                </a:solidFill>
                <a:latin typeface="Segoe UI"/>
                <a:ea typeface="Segoe UI"/>
                <a:cs typeface="Segoe UI"/>
              </a:defRPr>
            </a:pPr>
            <a:r>
              <a:rPr sz="3150" b="1">
                <a:solidFill>
                  <a:srgbClr val="FFFFFF"/>
                </a:solidFill>
                <a:latin typeface="Segoe UI"/>
                <a:ea typeface="Segoe UI"/>
                <a:cs typeface="Segoe UI"/>
              </a:rPr>
              <a:t>THIẾT KẾ BỘ VI XỬ LÝ 4 LÕI RISC-V</a:t>
            </a:r>
          </a:p>
        </p:txBody>
      </p:sp>
      <p:sp>
        <p:nvSpPr>
          <p:cNvPr id="4" name="">
            <a:extLst xmlns:a="http://schemas.openxmlformats.org/drawingml/2006/main">
              <a:ext uri="{FF2B5EF4-FFF2-40B4-BE49-F238E27FC236}">
                <a16:creationId xmlns:a16="http://schemas.microsoft.com/office/drawing/2014/main" id="{9E66037C-BFF2-454D-A964-1B0084C106C3}"/>
              </a:ext>
            </a:extLst>
          </p:cNvPr>
          <p:cNvSpPr>
            <a:spLocks xmlns:a="http://schemas.openxmlformats.org/drawingml/2006/main" noGrp="1"/>
          </p:cNvSpPr>
          <p:nvPr/>
        </p:nvSpPr>
        <p:spPr>
          <a:xfrm xmlns:a="http://schemas.openxmlformats.org/drawingml/2006/main">
            <a:off x="1047750" y="171450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0">
                <a:solidFill>
                  <a:srgbClr val="D9EAF2"/>
                </a:solidFill>
                <a:latin typeface="Segoe UI"/>
                <a:ea typeface="Segoe UI"/>
                <a:cs typeface="Segoe UI"/>
              </a:defRPr>
            </a:pPr>
            <a:r>
              <a:rPr sz="2250" b="0">
                <a:solidFill>
                  <a:srgbClr val="D9EAF2"/>
                </a:solidFill>
                <a:latin typeface="Segoe UI"/>
                <a:ea typeface="Segoe UI"/>
                <a:cs typeface="Segoe UI"/>
              </a:rPr>
              <a:t>Dựa trên kiến trúc tập lệnh RV32IMA</a:t>
            </a:r>
          </a:p>
        </p:txBody>
      </p:sp>
      <p:sp>
        <p:nvSpPr>
          <p:cNvPr id="5" name="">
            <a:extLst xmlns:a="http://schemas.openxmlformats.org/drawingml/2006/main">
              <a:ext uri="{FF2B5EF4-FFF2-40B4-BE49-F238E27FC236}">
                <a16:creationId xmlns:a16="http://schemas.microsoft.com/office/drawing/2014/main" id="{035DB850-7B24-446B-9372-80F16F7402B2}"/>
              </a:ext>
            </a:extLst>
          </p:cNvPr>
          <p:cNvSpPr>
            <a:spLocks xmlns:a="http://schemas.openxmlformats.org/drawingml/2006/main" noGrp="1"/>
          </p:cNvSpPr>
          <p:nvPr/>
        </p:nvSpPr>
        <p:spPr>
          <a:xfrm xmlns:a="http://schemas.openxmlformats.org/drawingml/2006/main">
            <a:off x="1047750"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0">
                <a:solidFill>
                  <a:srgbClr val="FFFFFF"/>
                </a:solidFill>
                <a:latin typeface="Segoe UI"/>
                <a:ea typeface="Segoe UI"/>
                <a:cs typeface="Segoe UI"/>
              </a:defRPr>
            </a:pPr>
            <a:r>
              <a:rPr sz="1950" b="0">
                <a:solidFill>
                  <a:srgbClr val="FFFFFF"/>
                </a:solidFill>
                <a:latin typeface="Segoe UI"/>
                <a:ea typeface="Segoe UI"/>
                <a:cs typeface="Segoe UI"/>
              </a:rPr>
              <a:t>Kiến trúc RTL, MMU/TLB, cache coherence MSI, AHB-Lite, AXI4 và định hướng hiện thực FPGA</a:t>
            </a:r>
          </a:p>
        </p:txBody>
      </p:sp>
      <p:sp>
        <p:nvSpPr>
          <p:cNvPr id="6" name="">
            <a:extLst xmlns:a="http://schemas.openxmlformats.org/drawingml/2006/main">
              <a:ext uri="{FF2B5EF4-FFF2-40B4-BE49-F238E27FC236}">
                <a16:creationId xmlns:a16="http://schemas.microsoft.com/office/drawing/2014/main" id="{3ECF7D23-F322-468D-9A64-1AD77C44E2E1}"/>
              </a:ext>
            </a:extLst>
          </p:cNvPr>
          <p:cNvSpPr>
            <a:spLocks xmlns:a="http://schemas.openxmlformats.org/drawingml/2006/main" noGrp="1"/>
          </p:cNvSpPr>
          <p:nvPr/>
        </p:nvSpPr>
        <p:spPr>
          <a:xfrm xmlns:a="http://schemas.openxmlformats.org/drawingml/2006/main">
            <a:off x="1047750" y="5000625"/>
            <a:ext cx="923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FFFFFF"/>
                </a:solidFill>
                <a:latin typeface="Segoe UI"/>
                <a:ea typeface="Segoe UI"/>
                <a:cs typeface="Segoe UI"/>
              </a:defRPr>
            </a:pPr>
            <a:r>
              <a:rPr sz="1650" b="1">
                <a:solidFill>
                  <a:srgbClr val="FFFFFF"/>
                </a:solidFill>
                <a:latin typeface="Segoe UI"/>
                <a:ea typeface="Segoe UI"/>
                <a:cs typeface="Segoe UI"/>
              </a:rPr>
              <a:t>Vũ Thành Lam - 23520840</a:t>
            </a:r>
          </a:p>
          <a:p xmlns:a="http://schemas.openxmlformats.org/drawingml/2006/main">
            <a:pPr>
              <a:defRPr sz="1650" b="1">
                <a:solidFill>
                  <a:srgbClr val="FFFFFF"/>
                </a:solidFill>
                <a:latin typeface="Segoe UI"/>
                <a:ea typeface="Segoe UI"/>
                <a:cs typeface="Segoe UI"/>
              </a:defRPr>
            </a:pPr>
            <a:r>
              <a:rPr sz="1650" b="1">
                <a:solidFill>
                  <a:srgbClr val="FFFFFF"/>
                </a:solidFill>
                <a:latin typeface="Segoe UI"/>
                <a:ea typeface="Segoe UI"/>
                <a:cs typeface="Segoe UI"/>
              </a:rPr>
              <a:t>Võ Lê Phước Lâm - 23520838</a:t>
            </a:r>
          </a:p>
        </p:txBody>
      </p:sp>
      <p:sp>
        <p:nvSpPr>
          <p:cNvPr id="7" name="">
            <a:extLst xmlns:a="http://schemas.openxmlformats.org/drawingml/2006/main">
              <a:ext uri="{FF2B5EF4-FFF2-40B4-BE49-F238E27FC236}">
                <a16:creationId xmlns:a16="http://schemas.microsoft.com/office/drawing/2014/main" id="{6F2F3CA4-0D11-42DF-B251-C3F5EAD5E5BF}"/>
              </a:ext>
            </a:extLst>
          </p:cNvPr>
          <p:cNvSpPr>
            <a:spLocks xmlns:a="http://schemas.openxmlformats.org/drawingml/2006/main" noGrp="1"/>
          </p:cNvSpPr>
          <p:nvPr/>
        </p:nvSpPr>
        <p:spPr>
          <a:xfrm xmlns:a="http://schemas.openxmlformats.org/drawingml/2006/main">
            <a:off x="1047750" y="59531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D9EAF2"/>
                </a:solidFill>
                <a:latin typeface="Segoe UI"/>
                <a:ea typeface="Segoe UI"/>
                <a:cs typeface="Segoe UI"/>
              </a:defRPr>
            </a:pPr>
            <a:r>
              <a:rPr sz="1425" b="0">
                <a:solidFill>
                  <a:srgbClr val="D9EAF2"/>
                </a:solidFill>
                <a:latin typeface="Segoe UI"/>
                <a:ea typeface="Segoe UI"/>
                <a:cs typeface="Segoe UI"/>
              </a:rPr>
              <a:t>Giảng viên hướng dẫn: TS. Nguyễn Minh Sơn</a:t>
            </a:r>
          </a:p>
        </p:txBody>
      </p:sp>
    </p:spTree>
    <p:extLst>
      <p:ext uri="{BB962C8B-B14F-4D97-AF65-F5344CB8AC3E}">
        <p14:creationId xmlns:p14="http://schemas.microsoft.com/office/powerpoint/2010/main" val="58845944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07043D1-05BE-43BA-B819-78ECDABB2455}"/>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Bài toán xử lý đồng thời trong hệ thống nhúng</a:t>
            </a:r>
          </a:p>
        </p:txBody>
      </p:sp>
      <p:sp>
        <p:nvSpPr>
          <p:cNvPr id="2" name="">
            <a:extLst xmlns:a="http://schemas.openxmlformats.org/drawingml/2006/main">
              <a:ext uri="{FF2B5EF4-FFF2-40B4-BE49-F238E27FC236}">
                <a16:creationId xmlns:a16="http://schemas.microsoft.com/office/drawing/2014/main" id="{4C9930D2-BD4F-4D8B-8E4C-B383B7AF21F4}"/>
              </a:ext>
            </a:extLst>
          </p:cNvPr>
          <p:cNvSpPr>
            <a:spLocks xmlns:a="http://schemas.openxmlformats.org/drawingml/2006/main" noGrp="1"/>
          </p:cNvSpPr>
          <p:nvPr/>
        </p:nvSpPr>
        <p:spPr>
          <a:xfrm xmlns:a="http://schemas.openxmlformats.org/drawingml/2006/main">
            <a:off x="571500" y="8667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627D98"/>
                </a:solidFill>
                <a:latin typeface="Segoe UI"/>
                <a:ea typeface="Segoe UI"/>
                <a:cs typeface="Segoe UI"/>
              </a:defRPr>
            </a:pPr>
            <a:r>
              <a:rPr sz="1350" b="0">
                <a:solidFill>
                  <a:srgbClr val="627D98"/>
                </a:solidFill>
                <a:latin typeface="Segoe UI"/>
                <a:ea typeface="Segoe UI"/>
                <a:cs typeface="Segoe UI"/>
              </a:rPr>
              <a:t>Ví dụ định hướng: máy tính bay UAV</a:t>
            </a:r>
          </a:p>
        </p:txBody>
      </p:sp>
      <p:sp>
        <p:nvSpPr>
          <p:cNvPr id="3" name="">
            <a:extLst xmlns:a="http://schemas.openxmlformats.org/drawingml/2006/main">
              <a:ext uri="{FF2B5EF4-FFF2-40B4-BE49-F238E27FC236}">
                <a16:creationId xmlns:a16="http://schemas.microsoft.com/office/drawing/2014/main" id="{3368BA3D-3764-4E78-9A97-FF26FB3365F5}"/>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4" name="">
            <a:extLst xmlns:a="http://schemas.openxmlformats.org/drawingml/2006/main">
              <a:ext uri="{FF2B5EF4-FFF2-40B4-BE49-F238E27FC236}">
                <a16:creationId xmlns:a16="http://schemas.microsoft.com/office/drawing/2014/main" id="{A8E65769-2AEC-406A-8BC6-1A6140DA4077}"/>
              </a:ext>
            </a:extLst>
          </p:cNvPr>
          <p:cNvSpPr>
            <a:spLocks xmlns:a="http://schemas.openxmlformats.org/drawingml/2006/main" noGrp="1"/>
          </p:cNvSpPr>
          <p:nvPr/>
        </p:nvSpPr>
        <p:spPr>
          <a:xfrm xmlns:a="http://schemas.openxmlformats.org/drawingml/2006/main">
            <a:off x="666750" y="15716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173F5F"/>
                </a:solidFill>
                <a:latin typeface="Segoe UI"/>
                <a:ea typeface="Segoe UI"/>
                <a:cs typeface="Segoe UI"/>
              </a:defRPr>
            </a:pPr>
            <a:r>
              <a:rPr sz="2250" b="1">
                <a:solidFill>
                  <a:srgbClr val="173F5F"/>
                </a:solidFill>
                <a:latin typeface="Segoe UI"/>
                <a:ea typeface="Segoe UI"/>
                <a:cs typeface="Segoe UI"/>
              </a:rPr>
              <a:t>Một bộ xử lý phải phục vụ nhiều luồng thời gian thực</a:t>
            </a:r>
          </a:p>
        </p:txBody>
      </p:sp>
      <p:sp>
        <p:nvSpPr>
          <p:cNvPr id="5" name="">
            <a:extLst xmlns:a="http://schemas.openxmlformats.org/drawingml/2006/main">
              <a:ext uri="{FF2B5EF4-FFF2-40B4-BE49-F238E27FC236}">
                <a16:creationId xmlns:a16="http://schemas.microsoft.com/office/drawing/2014/main" id="{10818D82-AC98-4A6A-B58F-B145B0370096}"/>
              </a:ext>
            </a:extLst>
          </p:cNvPr>
          <p:cNvSpPr>
            <a:spLocks xmlns:a="http://schemas.openxmlformats.org/drawingml/2006/main" noGrp="1"/>
          </p:cNvSpPr>
          <p:nvPr/>
        </p:nvSpPr>
        <p:spPr>
          <a:xfrm xmlns:a="http://schemas.openxmlformats.org/drawingml/2006/main">
            <a:off x="742950" y="2571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6" name="">
            <a:extLst xmlns:a="http://schemas.openxmlformats.org/drawingml/2006/main">
              <a:ext uri="{FF2B5EF4-FFF2-40B4-BE49-F238E27FC236}">
                <a16:creationId xmlns:a16="http://schemas.microsoft.com/office/drawing/2014/main" id="{24031D3A-19C7-4EE0-85F5-97C662B31EF3}"/>
              </a:ext>
            </a:extLst>
          </p:cNvPr>
          <p:cNvSpPr>
            <a:spLocks xmlns:a="http://schemas.openxmlformats.org/drawingml/2006/main" noGrp="1"/>
          </p:cNvSpPr>
          <p:nvPr/>
        </p:nvSpPr>
        <p:spPr>
          <a:xfrm xmlns:a="http://schemas.openxmlformats.org/drawingml/2006/main">
            <a:off x="971550" y="2476500"/>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Thu nhận và lọc dữ liệu cảm biến</a:t>
            </a:r>
          </a:p>
        </p:txBody>
      </p:sp>
      <p:sp>
        <p:nvSpPr>
          <p:cNvPr id="7" name="">
            <a:extLst xmlns:a="http://schemas.openxmlformats.org/drawingml/2006/main">
              <a:ext uri="{FF2B5EF4-FFF2-40B4-BE49-F238E27FC236}">
                <a16:creationId xmlns:a16="http://schemas.microsoft.com/office/drawing/2014/main" id="{93EF3088-4CB7-4A6E-889C-C1EB860594DD}"/>
              </a:ext>
            </a:extLst>
          </p:cNvPr>
          <p:cNvSpPr>
            <a:spLocks xmlns:a="http://schemas.openxmlformats.org/drawingml/2006/main" noGrp="1"/>
          </p:cNvSpPr>
          <p:nvPr/>
        </p:nvSpPr>
        <p:spPr>
          <a:xfrm xmlns:a="http://schemas.openxmlformats.org/drawingml/2006/main">
            <a:off x="742950" y="32099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A8EB7EC0-80EA-4B92-B10C-55AC1E2EEE10}"/>
              </a:ext>
            </a:extLst>
          </p:cNvPr>
          <p:cNvSpPr>
            <a:spLocks xmlns:a="http://schemas.openxmlformats.org/drawingml/2006/main" noGrp="1"/>
          </p:cNvSpPr>
          <p:nvPr/>
        </p:nvSpPr>
        <p:spPr>
          <a:xfrm xmlns:a="http://schemas.openxmlformats.org/drawingml/2006/main">
            <a:off x="971550" y="3114675"/>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Điều khiển bay và ước lượng trạng thái</a:t>
            </a:r>
          </a:p>
        </p:txBody>
      </p:sp>
      <p:sp>
        <p:nvSpPr>
          <p:cNvPr id="9" name="">
            <a:extLst xmlns:a="http://schemas.openxmlformats.org/drawingml/2006/main">
              <a:ext uri="{FF2B5EF4-FFF2-40B4-BE49-F238E27FC236}">
                <a16:creationId xmlns:a16="http://schemas.microsoft.com/office/drawing/2014/main" id="{557C159B-9EA1-414C-847B-C5C444BD2719}"/>
              </a:ext>
            </a:extLst>
          </p:cNvPr>
          <p:cNvSpPr>
            <a:spLocks xmlns:a="http://schemas.openxmlformats.org/drawingml/2006/main" noGrp="1"/>
          </p:cNvSpPr>
          <p:nvPr/>
        </p:nvSpPr>
        <p:spPr>
          <a:xfrm xmlns:a="http://schemas.openxmlformats.org/drawingml/2006/main">
            <a:off x="742950" y="3848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09D333DE-CDB3-48EF-9E82-DD2E2F5DC763}"/>
              </a:ext>
            </a:extLst>
          </p:cNvPr>
          <p:cNvSpPr>
            <a:spLocks xmlns:a="http://schemas.openxmlformats.org/drawingml/2006/main" noGrp="1"/>
          </p:cNvSpPr>
          <p:nvPr/>
        </p:nvSpPr>
        <p:spPr>
          <a:xfrm xmlns:a="http://schemas.openxmlformats.org/drawingml/2006/main">
            <a:off x="971550" y="3752850"/>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Telemetry, logging và giao tiếp ngoại vi</a:t>
            </a:r>
          </a:p>
        </p:txBody>
      </p:sp>
      <p:sp>
        <p:nvSpPr>
          <p:cNvPr id="11" name="">
            <a:extLst xmlns:a="http://schemas.openxmlformats.org/drawingml/2006/main">
              <a:ext uri="{FF2B5EF4-FFF2-40B4-BE49-F238E27FC236}">
                <a16:creationId xmlns:a16="http://schemas.microsoft.com/office/drawing/2014/main" id="{69676838-0FBF-4299-BEB0-7D84DEC3AF4D}"/>
              </a:ext>
            </a:extLst>
          </p:cNvPr>
          <p:cNvSpPr>
            <a:spLocks xmlns:a="http://schemas.openxmlformats.org/drawingml/2006/main" noGrp="1"/>
          </p:cNvSpPr>
          <p:nvPr/>
        </p:nvSpPr>
        <p:spPr>
          <a:xfrm xmlns:a="http://schemas.openxmlformats.org/drawingml/2006/main">
            <a:off x="742950" y="44862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5BFE6E93-8EC4-46B3-8F31-8AD381D4584C}"/>
              </a:ext>
            </a:extLst>
          </p:cNvPr>
          <p:cNvSpPr>
            <a:spLocks xmlns:a="http://schemas.openxmlformats.org/drawingml/2006/main" noGrp="1"/>
          </p:cNvSpPr>
          <p:nvPr/>
        </p:nvSpPr>
        <p:spPr>
          <a:xfrm xmlns:a="http://schemas.openxmlformats.org/drawingml/2006/main">
            <a:off x="971550" y="4391025"/>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Tác vụ song song cần chia sẻ dữ liệu đúng</a:t>
            </a:r>
          </a:p>
        </p:txBody>
      </p:sp>
      <p:sp>
        <p:nvSpPr>
          <p:cNvPr id="13" name="">
            <a:extLst xmlns:a="http://schemas.openxmlformats.org/drawingml/2006/main">
              <a:ext uri="{FF2B5EF4-FFF2-40B4-BE49-F238E27FC236}">
                <a16:creationId xmlns:a16="http://schemas.microsoft.com/office/drawing/2014/main" id="{8371130F-560C-4939-B045-B7A986684BA8}"/>
              </a:ext>
            </a:extLst>
          </p:cNvPr>
          <p:cNvSpPr>
            <a:spLocks xmlns:a="http://schemas.openxmlformats.org/drawingml/2006/main" noGrp="1"/>
          </p:cNvSpPr>
          <p:nvPr/>
        </p:nvSpPr>
        <p:spPr>
          <a:xfrm xmlns:a="http://schemas.openxmlformats.org/drawingml/2006/main">
            <a:off x="6286500" y="1571625"/>
            <a:ext cx="47625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9050">
            <a:solidFill>
              <a:srgbClr val="20639B"/>
            </a:solidFill>
          </a:ln>
        </p:spPr>
      </p:sp>
      <p:sp>
        <p:nvSpPr>
          <p:cNvPr id="14" name="">
            <a:extLst xmlns:a="http://schemas.openxmlformats.org/drawingml/2006/main">
              <a:ext uri="{FF2B5EF4-FFF2-40B4-BE49-F238E27FC236}">
                <a16:creationId xmlns:a16="http://schemas.microsoft.com/office/drawing/2014/main" id="{86229516-ECB8-483C-9A78-B16A2B360B7E}"/>
              </a:ext>
            </a:extLst>
          </p:cNvPr>
          <p:cNvSpPr>
            <a:spLocks xmlns:a="http://schemas.openxmlformats.org/drawingml/2006/main" noGrp="1"/>
          </p:cNvSpPr>
          <p:nvPr/>
        </p:nvSpPr>
        <p:spPr>
          <a:xfrm xmlns:a="http://schemas.openxmlformats.org/drawingml/2006/main">
            <a:off x="6810375" y="180975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73F5F"/>
                </a:solidFill>
                <a:latin typeface="Segoe UI"/>
                <a:ea typeface="Segoe UI"/>
                <a:cs typeface="Segoe UI"/>
              </a:defRPr>
            </a:pPr>
            <a:r>
              <a:rPr sz="2025" b="1">
                <a:solidFill>
                  <a:srgbClr val="173F5F"/>
                </a:solidFill>
                <a:latin typeface="Segoe UI"/>
                <a:ea typeface="Segoe UI"/>
                <a:cs typeface="Segoe UI"/>
              </a:rPr>
              <a:t>Phân chia tải theo lõi</a:t>
            </a:r>
          </a:p>
        </p:txBody>
      </p:sp>
      <p:sp>
        <p:nvSpPr>
          <p:cNvPr id="15" name="">
            <a:extLst xmlns:a="http://schemas.openxmlformats.org/drawingml/2006/main">
              <a:ext uri="{FF2B5EF4-FFF2-40B4-BE49-F238E27FC236}">
                <a16:creationId xmlns:a16="http://schemas.microsoft.com/office/drawing/2014/main" id="{ACFD36AA-318D-4A2E-A994-4312467C7469}"/>
              </a:ext>
            </a:extLst>
          </p:cNvPr>
          <p:cNvSpPr>
            <a:spLocks xmlns:a="http://schemas.openxmlformats.org/drawingml/2006/main" noGrp="1"/>
          </p:cNvSpPr>
          <p:nvPr/>
        </p:nvSpPr>
        <p:spPr>
          <a:xfrm xmlns:a="http://schemas.openxmlformats.org/drawingml/2006/main">
            <a:off x="6762750" y="2571750"/>
            <a:ext cx="1476375" cy="476250"/>
          </a:xfrm>
          <a:prstGeom xmlns:a="http://schemas.openxmlformats.org/drawingml/2006/main" prst="roundRect">
            <a:avLst>
              <a:gd name="adj" fmla="val 16000"/>
            </a:avLst>
          </a:prstGeom>
          <a:solidFill xmlns:a="http://schemas.openxmlformats.org/drawingml/2006/main">
            <a:srgbClr val="ED553B"/>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DC5CF2A4-EF80-41DC-9479-2D81ECCD6762}"/>
              </a:ext>
            </a:extLst>
          </p:cNvPr>
          <p:cNvSpPr>
            <a:spLocks xmlns:a="http://schemas.openxmlformats.org/drawingml/2006/main" noGrp="1"/>
          </p:cNvSpPr>
          <p:nvPr/>
        </p:nvSpPr>
        <p:spPr>
          <a:xfrm xmlns:a="http://schemas.openxmlformats.org/drawingml/2006/main">
            <a:off x="6762750" y="25717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FFFFFF"/>
                </a:solidFill>
                <a:latin typeface="Segoe UI"/>
                <a:ea typeface="Segoe UI"/>
                <a:cs typeface="Segoe UI"/>
              </a:defRPr>
            </a:pPr>
            <a:r>
              <a:rPr sz="1500" b="1">
                <a:solidFill>
                  <a:srgbClr val="FFFFFF"/>
                </a:solidFill>
                <a:latin typeface="Segoe UI"/>
                <a:ea typeface="Segoe UI"/>
                <a:cs typeface="Segoe UI"/>
              </a:rPr>
              <a:t>Core 0</a:t>
            </a:r>
          </a:p>
        </p:txBody>
      </p:sp>
      <p:sp>
        <p:nvSpPr>
          <p:cNvPr id="17" name="">
            <a:extLst xmlns:a="http://schemas.openxmlformats.org/drawingml/2006/main">
              <a:ext uri="{FF2B5EF4-FFF2-40B4-BE49-F238E27FC236}">
                <a16:creationId xmlns:a16="http://schemas.microsoft.com/office/drawing/2014/main" id="{DC1D1733-D8CE-4C00-8CD8-FFFEC2950A5A}"/>
              </a:ext>
            </a:extLst>
          </p:cNvPr>
          <p:cNvSpPr>
            <a:spLocks xmlns:a="http://schemas.openxmlformats.org/drawingml/2006/main" noGrp="1"/>
          </p:cNvSpPr>
          <p:nvPr/>
        </p:nvSpPr>
        <p:spPr>
          <a:xfrm xmlns:a="http://schemas.openxmlformats.org/drawingml/2006/main">
            <a:off x="8477250" y="25717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Sensor fusion</a:t>
            </a:r>
          </a:p>
        </p:txBody>
      </p:sp>
      <p:sp>
        <p:nvSpPr>
          <p:cNvPr id="18" name="">
            <a:extLst xmlns:a="http://schemas.openxmlformats.org/drawingml/2006/main">
              <a:ext uri="{FF2B5EF4-FFF2-40B4-BE49-F238E27FC236}">
                <a16:creationId xmlns:a16="http://schemas.microsoft.com/office/drawing/2014/main" id="{BE21D1CB-60FF-4598-9CEB-532C6B1A1680}"/>
              </a:ext>
            </a:extLst>
          </p:cNvPr>
          <p:cNvSpPr>
            <a:spLocks xmlns:a="http://schemas.openxmlformats.org/drawingml/2006/main" noGrp="1"/>
          </p:cNvSpPr>
          <p:nvPr/>
        </p:nvSpPr>
        <p:spPr>
          <a:xfrm xmlns:a="http://schemas.openxmlformats.org/drawingml/2006/main">
            <a:off x="6762750" y="3219450"/>
            <a:ext cx="1476375" cy="476250"/>
          </a:xfrm>
          <a:prstGeom xmlns:a="http://schemas.openxmlformats.org/drawingml/2006/main" prst="roundRect">
            <a:avLst>
              <a:gd name="adj" fmla="val 16000"/>
            </a:avLst>
          </a:prstGeom>
          <a:solidFill xmlns:a="http://schemas.openxmlformats.org/drawingml/2006/main">
            <a:srgbClr val="E8F1F5"/>
          </a:solidFill>
          <a:ln xmlns:a="http://schemas.openxmlformats.org/drawingml/2006/main" w="19050">
            <a:solidFill>
              <a:srgbClr val="20639B"/>
            </a:solidFill>
          </a:ln>
        </p:spPr>
      </p:sp>
      <p:sp>
        <p:nvSpPr>
          <p:cNvPr id="19" name="">
            <a:extLst xmlns:a="http://schemas.openxmlformats.org/drawingml/2006/main">
              <a:ext uri="{FF2B5EF4-FFF2-40B4-BE49-F238E27FC236}">
                <a16:creationId xmlns:a16="http://schemas.microsoft.com/office/drawing/2014/main" id="{D26C64B1-6F4D-46DA-A5DC-8627087F4AF6}"/>
              </a:ext>
            </a:extLst>
          </p:cNvPr>
          <p:cNvSpPr>
            <a:spLocks xmlns:a="http://schemas.openxmlformats.org/drawingml/2006/main" noGrp="1"/>
          </p:cNvSpPr>
          <p:nvPr/>
        </p:nvSpPr>
        <p:spPr>
          <a:xfrm xmlns:a="http://schemas.openxmlformats.org/drawingml/2006/main">
            <a:off x="6762750" y="32194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02A43"/>
                </a:solidFill>
                <a:latin typeface="Segoe UI"/>
                <a:ea typeface="Segoe UI"/>
                <a:cs typeface="Segoe UI"/>
              </a:defRPr>
            </a:pPr>
            <a:r>
              <a:rPr sz="1500" b="1">
                <a:solidFill>
                  <a:srgbClr val="102A43"/>
                </a:solidFill>
                <a:latin typeface="Segoe UI"/>
                <a:ea typeface="Segoe UI"/>
                <a:cs typeface="Segoe UI"/>
              </a:rPr>
              <a:t>Core 1</a:t>
            </a:r>
          </a:p>
        </p:txBody>
      </p:sp>
      <p:sp>
        <p:nvSpPr>
          <p:cNvPr id="20" name="">
            <a:extLst xmlns:a="http://schemas.openxmlformats.org/drawingml/2006/main">
              <a:ext uri="{FF2B5EF4-FFF2-40B4-BE49-F238E27FC236}">
                <a16:creationId xmlns:a16="http://schemas.microsoft.com/office/drawing/2014/main" id="{64E3B0B3-D9B3-41A9-AC1D-FD8E6D32FFF0}"/>
              </a:ext>
            </a:extLst>
          </p:cNvPr>
          <p:cNvSpPr>
            <a:spLocks xmlns:a="http://schemas.openxmlformats.org/drawingml/2006/main" noGrp="1"/>
          </p:cNvSpPr>
          <p:nvPr/>
        </p:nvSpPr>
        <p:spPr>
          <a:xfrm xmlns:a="http://schemas.openxmlformats.org/drawingml/2006/main">
            <a:off x="8477250" y="32194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Control loop</a:t>
            </a:r>
          </a:p>
        </p:txBody>
      </p:sp>
      <p:sp>
        <p:nvSpPr>
          <p:cNvPr id="21" name="">
            <a:extLst xmlns:a="http://schemas.openxmlformats.org/drawingml/2006/main">
              <a:ext uri="{FF2B5EF4-FFF2-40B4-BE49-F238E27FC236}">
                <a16:creationId xmlns:a16="http://schemas.microsoft.com/office/drawing/2014/main" id="{7319787C-F751-4902-B495-7316FD124A79}"/>
              </a:ext>
            </a:extLst>
          </p:cNvPr>
          <p:cNvSpPr>
            <a:spLocks xmlns:a="http://schemas.openxmlformats.org/drawingml/2006/main" noGrp="1"/>
          </p:cNvSpPr>
          <p:nvPr/>
        </p:nvSpPr>
        <p:spPr>
          <a:xfrm xmlns:a="http://schemas.openxmlformats.org/drawingml/2006/main">
            <a:off x="6762750" y="3867150"/>
            <a:ext cx="1476375" cy="476250"/>
          </a:xfrm>
          <a:prstGeom xmlns:a="http://schemas.openxmlformats.org/drawingml/2006/main" prst="roundRect">
            <a:avLst>
              <a:gd name="adj" fmla="val 16000"/>
            </a:avLst>
          </a:prstGeom>
          <a:solidFill xmlns:a="http://schemas.openxmlformats.org/drawingml/2006/main">
            <a:srgbClr val="E8F1F5"/>
          </a:solidFill>
          <a:ln xmlns:a="http://schemas.openxmlformats.org/drawingml/2006/main" w="19050">
            <a:solidFill>
              <a:srgbClr val="20639B"/>
            </a:solidFill>
          </a:ln>
        </p:spPr>
      </p:sp>
      <p:sp>
        <p:nvSpPr>
          <p:cNvPr id="22" name="">
            <a:extLst xmlns:a="http://schemas.openxmlformats.org/drawingml/2006/main">
              <a:ext uri="{FF2B5EF4-FFF2-40B4-BE49-F238E27FC236}">
                <a16:creationId xmlns:a16="http://schemas.microsoft.com/office/drawing/2014/main" id="{921F3336-30A0-4951-A2C2-D060EFB4723D}"/>
              </a:ext>
            </a:extLst>
          </p:cNvPr>
          <p:cNvSpPr>
            <a:spLocks xmlns:a="http://schemas.openxmlformats.org/drawingml/2006/main" noGrp="1"/>
          </p:cNvSpPr>
          <p:nvPr/>
        </p:nvSpPr>
        <p:spPr>
          <a:xfrm xmlns:a="http://schemas.openxmlformats.org/drawingml/2006/main">
            <a:off x="6762750" y="38671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02A43"/>
                </a:solidFill>
                <a:latin typeface="Segoe UI"/>
                <a:ea typeface="Segoe UI"/>
                <a:cs typeface="Segoe UI"/>
              </a:defRPr>
            </a:pPr>
            <a:r>
              <a:rPr sz="1500" b="1">
                <a:solidFill>
                  <a:srgbClr val="102A43"/>
                </a:solidFill>
                <a:latin typeface="Segoe UI"/>
                <a:ea typeface="Segoe UI"/>
                <a:cs typeface="Segoe UI"/>
              </a:rPr>
              <a:t>Core 2</a:t>
            </a:r>
          </a:p>
        </p:txBody>
      </p:sp>
      <p:sp>
        <p:nvSpPr>
          <p:cNvPr id="23" name="">
            <a:extLst xmlns:a="http://schemas.openxmlformats.org/drawingml/2006/main">
              <a:ext uri="{FF2B5EF4-FFF2-40B4-BE49-F238E27FC236}">
                <a16:creationId xmlns:a16="http://schemas.microsoft.com/office/drawing/2014/main" id="{F351C1FA-F084-49EA-BA86-78AFE479F14E}"/>
              </a:ext>
            </a:extLst>
          </p:cNvPr>
          <p:cNvSpPr>
            <a:spLocks xmlns:a="http://schemas.openxmlformats.org/drawingml/2006/main" noGrp="1"/>
          </p:cNvSpPr>
          <p:nvPr/>
        </p:nvSpPr>
        <p:spPr>
          <a:xfrm xmlns:a="http://schemas.openxmlformats.org/drawingml/2006/main">
            <a:off x="8477250" y="38671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Navigation</a:t>
            </a:r>
          </a:p>
        </p:txBody>
      </p:sp>
      <p:sp>
        <p:nvSpPr>
          <p:cNvPr id="24" name="">
            <a:extLst xmlns:a="http://schemas.openxmlformats.org/drawingml/2006/main">
              <a:ext uri="{FF2B5EF4-FFF2-40B4-BE49-F238E27FC236}">
                <a16:creationId xmlns:a16="http://schemas.microsoft.com/office/drawing/2014/main" id="{230AE474-6B11-409F-878A-0559CB7339D9}"/>
              </a:ext>
            </a:extLst>
          </p:cNvPr>
          <p:cNvSpPr>
            <a:spLocks xmlns:a="http://schemas.openxmlformats.org/drawingml/2006/main" noGrp="1"/>
          </p:cNvSpPr>
          <p:nvPr/>
        </p:nvSpPr>
        <p:spPr>
          <a:xfrm xmlns:a="http://schemas.openxmlformats.org/drawingml/2006/main">
            <a:off x="6762750" y="4514850"/>
            <a:ext cx="1476375" cy="476250"/>
          </a:xfrm>
          <a:prstGeom xmlns:a="http://schemas.openxmlformats.org/drawingml/2006/main" prst="roundRect">
            <a:avLst>
              <a:gd name="adj" fmla="val 16000"/>
            </a:avLst>
          </a:prstGeom>
          <a:solidFill xmlns:a="http://schemas.openxmlformats.org/drawingml/2006/main">
            <a:srgbClr val="E8F1F5"/>
          </a:solidFill>
          <a:ln xmlns:a="http://schemas.openxmlformats.org/drawingml/2006/main" w="19050">
            <a:solidFill>
              <a:srgbClr val="20639B"/>
            </a:solidFill>
          </a:ln>
        </p:spPr>
      </p:sp>
      <p:sp>
        <p:nvSpPr>
          <p:cNvPr id="25" name="">
            <a:extLst xmlns:a="http://schemas.openxmlformats.org/drawingml/2006/main">
              <a:ext uri="{FF2B5EF4-FFF2-40B4-BE49-F238E27FC236}">
                <a16:creationId xmlns:a16="http://schemas.microsoft.com/office/drawing/2014/main" id="{5DD79CB0-009F-4906-A2EA-7D3ABEFD907C}"/>
              </a:ext>
            </a:extLst>
          </p:cNvPr>
          <p:cNvSpPr>
            <a:spLocks xmlns:a="http://schemas.openxmlformats.org/drawingml/2006/main" noGrp="1"/>
          </p:cNvSpPr>
          <p:nvPr/>
        </p:nvSpPr>
        <p:spPr>
          <a:xfrm xmlns:a="http://schemas.openxmlformats.org/drawingml/2006/main">
            <a:off x="6762750" y="45148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02A43"/>
                </a:solidFill>
                <a:latin typeface="Segoe UI"/>
                <a:ea typeface="Segoe UI"/>
                <a:cs typeface="Segoe UI"/>
              </a:defRPr>
            </a:pPr>
            <a:r>
              <a:rPr sz="1500" b="1">
                <a:solidFill>
                  <a:srgbClr val="102A43"/>
                </a:solidFill>
                <a:latin typeface="Segoe UI"/>
                <a:ea typeface="Segoe UI"/>
                <a:cs typeface="Segoe UI"/>
              </a:rPr>
              <a:t>Core 3</a:t>
            </a:r>
          </a:p>
        </p:txBody>
      </p:sp>
      <p:sp>
        <p:nvSpPr>
          <p:cNvPr id="26" name="">
            <a:extLst xmlns:a="http://schemas.openxmlformats.org/drawingml/2006/main">
              <a:ext uri="{FF2B5EF4-FFF2-40B4-BE49-F238E27FC236}">
                <a16:creationId xmlns:a16="http://schemas.microsoft.com/office/drawing/2014/main" id="{4F328659-BB99-4D63-B4E2-261841CF14F6}"/>
              </a:ext>
            </a:extLst>
          </p:cNvPr>
          <p:cNvSpPr>
            <a:spLocks xmlns:a="http://schemas.openxmlformats.org/drawingml/2006/main" noGrp="1"/>
          </p:cNvSpPr>
          <p:nvPr/>
        </p:nvSpPr>
        <p:spPr>
          <a:xfrm xmlns:a="http://schemas.openxmlformats.org/drawingml/2006/main">
            <a:off x="8477250" y="4514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Telemetry / logging</a:t>
            </a:r>
          </a:p>
        </p:txBody>
      </p:sp>
      <p:sp>
        <p:nvSpPr>
          <p:cNvPr id="27" name="">
            <a:extLst xmlns:a="http://schemas.openxmlformats.org/drawingml/2006/main">
              <a:ext uri="{FF2B5EF4-FFF2-40B4-BE49-F238E27FC236}">
                <a16:creationId xmlns:a16="http://schemas.microsoft.com/office/drawing/2014/main" id="{DECC0946-9688-4C5E-B096-3989F671A280}"/>
              </a:ext>
            </a:extLst>
          </p:cNvPr>
          <p:cNvSpPr>
            <a:spLocks xmlns:a="http://schemas.openxmlformats.org/drawingml/2006/main" noGrp="1"/>
          </p:cNvSpPr>
          <p:nvPr/>
        </p:nvSpPr>
        <p:spPr>
          <a:xfrm xmlns:a="http://schemas.openxmlformats.org/drawingml/2006/main">
            <a:off x="6667500" y="53530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ED553B"/>
                </a:solidFill>
                <a:latin typeface="Segoe UI"/>
                <a:ea typeface="Segoe UI"/>
                <a:cs typeface="Segoe UI"/>
              </a:defRPr>
            </a:pPr>
            <a:r>
              <a:rPr sz="1425" b="1">
                <a:solidFill>
                  <a:srgbClr val="ED553B"/>
                </a:solidFill>
                <a:latin typeface="Segoe UI"/>
                <a:ea typeface="Segoe UI"/>
                <a:cs typeface="Segoe UI"/>
              </a:rPr>
              <a:t>RV32A + coherence bảo vệ dữ liệu dùng chung</a:t>
            </a:r>
          </a:p>
        </p:txBody>
      </p:sp>
      <p:sp>
        <p:nvSpPr>
          <p:cNvPr id="28" name="">
            <a:extLst xmlns:a="http://schemas.openxmlformats.org/drawingml/2006/main">
              <a:ext uri="{FF2B5EF4-FFF2-40B4-BE49-F238E27FC236}">
                <a16:creationId xmlns:a16="http://schemas.microsoft.com/office/drawing/2014/main" id="{EA435FA9-CEFC-4C9A-A3DC-CC91172E81F7}"/>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9" name="">
            <a:extLst xmlns:a="http://schemas.openxmlformats.org/drawingml/2006/main">
              <a:ext uri="{FF2B5EF4-FFF2-40B4-BE49-F238E27FC236}">
                <a16:creationId xmlns:a16="http://schemas.microsoft.com/office/drawing/2014/main" id="{86A414D8-5AE0-4EB0-AFCB-8C29624187D2}"/>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02</a:t>
            </a:r>
          </a:p>
        </p:txBody>
      </p:sp>
    </p:spTree>
    <p:extLst>
      <p:ext uri="{BB962C8B-B14F-4D97-AF65-F5344CB8AC3E}">
        <p14:creationId xmlns:p14="http://schemas.microsoft.com/office/powerpoint/2010/main" val="685485531"/>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7247D2-F9A8-4492-BFE2-ED1B8C615BCA}"/>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Khoảng trống nghiên cứu và hai mục tiêu chính</a:t>
            </a:r>
          </a:p>
        </p:txBody>
      </p:sp>
      <p:sp>
        <p:nvSpPr>
          <p:cNvPr id="2" name="">
            <a:extLst xmlns:a="http://schemas.openxmlformats.org/drawingml/2006/main">
              <a:ext uri="{FF2B5EF4-FFF2-40B4-BE49-F238E27FC236}">
                <a16:creationId xmlns:a16="http://schemas.microsoft.com/office/drawing/2014/main" id="{6F120A2A-69DF-4938-BD47-AA2C2594753D}"/>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699C69F5-0DA0-472C-9592-375BA5F8A1D4}"/>
              </a:ext>
            </a:extLst>
          </p:cNvPr>
          <p:cNvSpPr>
            <a:spLocks xmlns:a="http://schemas.openxmlformats.org/drawingml/2006/main" noGrp="1"/>
          </p:cNvSpPr>
          <p:nvPr/>
        </p:nvSpPr>
        <p:spPr>
          <a:xfrm xmlns:a="http://schemas.openxmlformats.org/drawingml/2006/main">
            <a:off x="685800" y="1619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ED553B"/>
                </a:solidFill>
                <a:latin typeface="Segoe UI"/>
                <a:ea typeface="Segoe UI"/>
                <a:cs typeface="Segoe UI"/>
              </a:defRPr>
            </a:pPr>
            <a:r>
              <a:rPr sz="2100" b="1">
                <a:solidFill>
                  <a:srgbClr val="ED553B"/>
                </a:solidFill>
                <a:latin typeface="Segoe UI"/>
                <a:ea typeface="Segoe UI"/>
                <a:cs typeface="Segoe UI"/>
              </a:rPr>
              <a:t>Khoảng trống</a:t>
            </a:r>
          </a:p>
        </p:txBody>
      </p:sp>
      <p:sp>
        <p:nvSpPr>
          <p:cNvPr id="4" name="">
            <a:extLst xmlns:a="http://schemas.openxmlformats.org/drawingml/2006/main">
              <a:ext uri="{FF2B5EF4-FFF2-40B4-BE49-F238E27FC236}">
                <a16:creationId xmlns:a16="http://schemas.microsoft.com/office/drawing/2014/main" id="{3C593D9F-7C7D-473A-934E-871BB8C42F78}"/>
              </a:ext>
            </a:extLst>
          </p:cNvPr>
          <p:cNvSpPr>
            <a:spLocks xmlns:a="http://schemas.openxmlformats.org/drawingml/2006/main" noGrp="1"/>
          </p:cNvSpPr>
          <p:nvPr/>
        </p:nvSpPr>
        <p:spPr>
          <a:xfrm xmlns:a="http://schemas.openxmlformats.org/drawingml/2006/main">
            <a:off x="762000" y="22860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3734DB87-B988-4120-BEC6-326E369EBCEC}"/>
              </a:ext>
            </a:extLst>
          </p:cNvPr>
          <p:cNvSpPr>
            <a:spLocks xmlns:a="http://schemas.openxmlformats.org/drawingml/2006/main" noGrp="1"/>
          </p:cNvSpPr>
          <p:nvPr/>
        </p:nvSpPr>
        <p:spPr>
          <a:xfrm xmlns:a="http://schemas.openxmlformats.org/drawingml/2006/main">
            <a:off x="990600" y="2190750"/>
            <a:ext cx="4676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Các nền tảng trước chủ yếu dừng ở một hoặc hai lõi</a:t>
            </a:r>
          </a:p>
        </p:txBody>
      </p:sp>
      <p:sp>
        <p:nvSpPr>
          <p:cNvPr id="6" name="">
            <a:extLst xmlns:a="http://schemas.openxmlformats.org/drawingml/2006/main">
              <a:ext uri="{FF2B5EF4-FFF2-40B4-BE49-F238E27FC236}">
                <a16:creationId xmlns:a16="http://schemas.microsoft.com/office/drawing/2014/main" id="{440BD4E7-21D6-4693-8ACE-93E0DEBE14EE}"/>
              </a:ext>
            </a:extLst>
          </p:cNvPr>
          <p:cNvSpPr>
            <a:spLocks xmlns:a="http://schemas.openxmlformats.org/drawingml/2006/main" noGrp="1"/>
          </p:cNvSpPr>
          <p:nvPr/>
        </p:nvSpPr>
        <p:spPr>
          <a:xfrm xmlns:a="http://schemas.openxmlformats.org/drawingml/2006/main">
            <a:off x="762000" y="30670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7" name="">
            <a:extLst xmlns:a="http://schemas.openxmlformats.org/drawingml/2006/main">
              <a:ext uri="{FF2B5EF4-FFF2-40B4-BE49-F238E27FC236}">
                <a16:creationId xmlns:a16="http://schemas.microsoft.com/office/drawing/2014/main" id="{5E616742-95D9-4949-AFEF-D1248E9B4895}"/>
              </a:ext>
            </a:extLst>
          </p:cNvPr>
          <p:cNvSpPr>
            <a:spLocks xmlns:a="http://schemas.openxmlformats.org/drawingml/2006/main" noGrp="1"/>
          </p:cNvSpPr>
          <p:nvPr/>
        </p:nvSpPr>
        <p:spPr>
          <a:xfrm xmlns:a="http://schemas.openxmlformats.org/drawingml/2006/main">
            <a:off x="990600" y="2971800"/>
            <a:ext cx="4676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Cache nhiều cấp, MMU và coherence chưa được tích hợp trong cùng một hệ</a:t>
            </a:r>
          </a:p>
        </p:txBody>
      </p:sp>
      <p:sp>
        <p:nvSpPr>
          <p:cNvPr id="8" name="">
            <a:extLst xmlns:a="http://schemas.openxmlformats.org/drawingml/2006/main">
              <a:ext uri="{FF2B5EF4-FFF2-40B4-BE49-F238E27FC236}">
                <a16:creationId xmlns:a16="http://schemas.microsoft.com/office/drawing/2014/main" id="{D81DAAF4-63CF-4EF8-B57A-7EF5AF9DC96B}"/>
              </a:ext>
            </a:extLst>
          </p:cNvPr>
          <p:cNvSpPr>
            <a:spLocks xmlns:a="http://schemas.openxmlformats.org/drawingml/2006/main" noGrp="1"/>
          </p:cNvSpPr>
          <p:nvPr/>
        </p:nvSpPr>
        <p:spPr>
          <a:xfrm xmlns:a="http://schemas.openxmlformats.org/drawingml/2006/main">
            <a:off x="762000" y="3848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9" name="">
            <a:extLst xmlns:a="http://schemas.openxmlformats.org/drawingml/2006/main">
              <a:ext uri="{FF2B5EF4-FFF2-40B4-BE49-F238E27FC236}">
                <a16:creationId xmlns:a16="http://schemas.microsoft.com/office/drawing/2014/main" id="{679717DF-AC41-4E49-8497-7748FC77BBDC}"/>
              </a:ext>
            </a:extLst>
          </p:cNvPr>
          <p:cNvSpPr>
            <a:spLocks xmlns:a="http://schemas.openxmlformats.org/drawingml/2006/main" noGrp="1"/>
          </p:cNvSpPr>
          <p:nvPr/>
        </p:nvSpPr>
        <p:spPr>
          <a:xfrm xmlns:a="http://schemas.openxmlformats.org/drawingml/2006/main">
            <a:off x="990600" y="3752850"/>
            <a:ext cx="4676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Kịch bản FPGA thường chưa chứng minh luồng nạp chương trình từ storage</a:t>
            </a:r>
          </a:p>
        </p:txBody>
      </p:sp>
      <p:sp>
        <p:nvSpPr>
          <p:cNvPr id="10" name="">
            <a:extLst xmlns:a="http://schemas.openxmlformats.org/drawingml/2006/main">
              <a:ext uri="{FF2B5EF4-FFF2-40B4-BE49-F238E27FC236}">
                <a16:creationId xmlns:a16="http://schemas.microsoft.com/office/drawing/2014/main" id="{B72E882C-0CB8-466C-8043-A0EBECE32AE3}"/>
              </a:ext>
            </a:extLst>
          </p:cNvPr>
          <p:cNvSpPr>
            <a:spLocks xmlns:a="http://schemas.openxmlformats.org/drawingml/2006/main" noGrp="1"/>
          </p:cNvSpPr>
          <p:nvPr/>
        </p:nvSpPr>
        <p:spPr>
          <a:xfrm xmlns:a="http://schemas.openxmlformats.org/drawingml/2006/main">
            <a:off x="5905500" y="1571625"/>
            <a:ext cx="5334000"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20639B"/>
            </a:solidFill>
          </a:ln>
        </p:spPr>
      </p:sp>
      <p:sp>
        <p:nvSpPr>
          <p:cNvPr id="11" name="">
            <a:extLst xmlns:a="http://schemas.openxmlformats.org/drawingml/2006/main">
              <a:ext uri="{FF2B5EF4-FFF2-40B4-BE49-F238E27FC236}">
                <a16:creationId xmlns:a16="http://schemas.microsoft.com/office/drawing/2014/main" id="{371C10E9-E628-4A07-85CB-E40C6EC61FE4}"/>
              </a:ext>
            </a:extLst>
          </p:cNvPr>
          <p:cNvSpPr>
            <a:spLocks xmlns:a="http://schemas.openxmlformats.org/drawingml/2006/main" noGrp="1"/>
          </p:cNvSpPr>
          <p:nvPr/>
        </p:nvSpPr>
        <p:spPr>
          <a:xfrm xmlns:a="http://schemas.openxmlformats.org/drawingml/2006/main">
            <a:off x="6191250" y="1733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Mục tiêu 1</a:t>
            </a:r>
          </a:p>
        </p:txBody>
      </p:sp>
      <p:sp>
        <p:nvSpPr>
          <p:cNvPr id="12" name="">
            <a:extLst xmlns:a="http://schemas.openxmlformats.org/drawingml/2006/main">
              <a:ext uri="{FF2B5EF4-FFF2-40B4-BE49-F238E27FC236}">
                <a16:creationId xmlns:a16="http://schemas.microsoft.com/office/drawing/2014/main" id="{277B747F-4EE2-4839-9284-90CE0966527A}"/>
              </a:ext>
            </a:extLst>
          </p:cNvPr>
          <p:cNvSpPr>
            <a:spLocks xmlns:a="http://schemas.openxmlformats.org/drawingml/2006/main" noGrp="1"/>
          </p:cNvSpPr>
          <p:nvPr/>
        </p:nvSpPr>
        <p:spPr>
          <a:xfrm xmlns:a="http://schemas.openxmlformats.org/drawingml/2006/main">
            <a:off x="6191250" y="220980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Thiết kế hệ thống 4 lõi RV32IMA có MMU/TLB, L1/L2, MSI, AHB-Lite, AXI4 và DMA</a:t>
            </a:r>
          </a:p>
        </p:txBody>
      </p:sp>
      <p:sp>
        <p:nvSpPr>
          <p:cNvPr id="13" name="">
            <a:extLst xmlns:a="http://schemas.openxmlformats.org/drawingml/2006/main">
              <a:ext uri="{FF2B5EF4-FFF2-40B4-BE49-F238E27FC236}">
                <a16:creationId xmlns:a16="http://schemas.microsoft.com/office/drawing/2014/main" id="{4EF549F2-586A-430E-9E40-D677A110CED5}"/>
              </a:ext>
            </a:extLst>
          </p:cNvPr>
          <p:cNvSpPr>
            <a:spLocks xmlns:a="http://schemas.openxmlformats.org/drawingml/2006/main" noGrp="1"/>
          </p:cNvSpPr>
          <p:nvPr/>
        </p:nvSpPr>
        <p:spPr>
          <a:xfrm xmlns:a="http://schemas.openxmlformats.org/drawingml/2006/main">
            <a:off x="5905500" y="3571875"/>
            <a:ext cx="5334000"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3CAEA3"/>
            </a:solidFill>
          </a:ln>
        </p:spPr>
      </p:sp>
      <p:sp>
        <p:nvSpPr>
          <p:cNvPr id="14" name="">
            <a:extLst xmlns:a="http://schemas.openxmlformats.org/drawingml/2006/main">
              <a:ext uri="{FF2B5EF4-FFF2-40B4-BE49-F238E27FC236}">
                <a16:creationId xmlns:a16="http://schemas.microsoft.com/office/drawing/2014/main" id="{2D2E25D3-F199-475C-A0D1-A93386EB19C3}"/>
              </a:ext>
            </a:extLst>
          </p:cNvPr>
          <p:cNvSpPr>
            <a:spLocks xmlns:a="http://schemas.openxmlformats.org/drawingml/2006/main" noGrp="1"/>
          </p:cNvSpPr>
          <p:nvPr/>
        </p:nvSpPr>
        <p:spPr>
          <a:xfrm xmlns:a="http://schemas.openxmlformats.org/drawingml/2006/main">
            <a:off x="6191250" y="3733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Mục tiêu 2</a:t>
            </a:r>
          </a:p>
        </p:txBody>
      </p:sp>
      <p:sp>
        <p:nvSpPr>
          <p:cNvPr id="15" name="">
            <a:extLst xmlns:a="http://schemas.openxmlformats.org/drawingml/2006/main">
              <a:ext uri="{FF2B5EF4-FFF2-40B4-BE49-F238E27FC236}">
                <a16:creationId xmlns:a16="http://schemas.microsoft.com/office/drawing/2014/main" id="{9E73ED40-20C4-4F87-87E7-B5CD4AEFAE3A}"/>
              </a:ext>
            </a:extLst>
          </p:cNvPr>
          <p:cNvSpPr>
            <a:spLocks xmlns:a="http://schemas.openxmlformats.org/drawingml/2006/main" noGrp="1"/>
          </p:cNvSpPr>
          <p:nvPr/>
        </p:nvSpPr>
        <p:spPr>
          <a:xfrm xmlns:a="http://schemas.openxmlformats.org/drawingml/2006/main">
            <a:off x="6191250" y="421005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Mô phỏng RTL tự kiểm, tổng hợp, đánh giá tài nguyên và chạy kịch bản tự động trên FPGA</a:t>
            </a:r>
          </a:p>
        </p:txBody>
      </p:sp>
      <p:sp>
        <p:nvSpPr>
          <p:cNvPr id="16" name="">
            <a:extLst xmlns:a="http://schemas.openxmlformats.org/drawingml/2006/main">
              <a:ext uri="{FF2B5EF4-FFF2-40B4-BE49-F238E27FC236}">
                <a16:creationId xmlns:a16="http://schemas.microsoft.com/office/drawing/2014/main" id="{20BCAF69-DC0B-4E85-B502-3C1377097A73}"/>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17" name="">
            <a:extLst xmlns:a="http://schemas.openxmlformats.org/drawingml/2006/main">
              <a:ext uri="{FF2B5EF4-FFF2-40B4-BE49-F238E27FC236}">
                <a16:creationId xmlns:a16="http://schemas.microsoft.com/office/drawing/2014/main" id="{B6AEC3A8-8A49-417B-8F77-1F7FEDB70BB3}"/>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03</a:t>
            </a:r>
          </a:p>
        </p:txBody>
      </p:sp>
    </p:spTree>
    <p:extLst>
      <p:ext uri="{BB962C8B-B14F-4D97-AF65-F5344CB8AC3E}">
        <p14:creationId xmlns:p14="http://schemas.microsoft.com/office/powerpoint/2010/main" val="151303429"/>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D017F44-2865-4B27-8124-F91E09AB49EB}"/>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Phạm vi và quyết định kiến trúc</a:t>
            </a:r>
          </a:p>
        </p:txBody>
      </p:sp>
      <p:sp>
        <p:nvSpPr>
          <p:cNvPr id="2" name="">
            <a:extLst xmlns:a="http://schemas.openxmlformats.org/drawingml/2006/main">
              <a:ext uri="{FF2B5EF4-FFF2-40B4-BE49-F238E27FC236}">
                <a16:creationId xmlns:a16="http://schemas.microsoft.com/office/drawing/2014/main" id="{438892C7-55F5-40F8-BFE0-3F388479DFED}"/>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DF951A9D-8BD8-48DE-B436-0F8D856274C8}"/>
              </a:ext>
            </a:extLst>
          </p:cNvPr>
          <p:cNvSpPr>
            <a:spLocks xmlns:a="http://schemas.openxmlformats.org/drawingml/2006/main" noGrp="1"/>
          </p:cNvSpPr>
          <p:nvPr/>
        </p:nvSpPr>
        <p:spPr>
          <a:xfrm xmlns:a="http://schemas.openxmlformats.org/drawingml/2006/main">
            <a:off x="762000"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173F5F"/>
                </a:solidFill>
                <a:latin typeface="Segoe UI"/>
                <a:ea typeface="Segoe UI"/>
                <a:cs typeface="Segoe UI"/>
              </a:defRPr>
            </a:pPr>
            <a:r>
              <a:rPr sz="1875" b="1">
                <a:solidFill>
                  <a:srgbClr val="173F5F"/>
                </a:solidFill>
                <a:latin typeface="Segoe UI"/>
                <a:ea typeface="Segoe UI"/>
                <a:cs typeface="Segoe UI"/>
              </a:rPr>
              <a:t>ISA và lõi</a:t>
            </a:r>
          </a:p>
        </p:txBody>
      </p:sp>
      <p:sp>
        <p:nvSpPr>
          <p:cNvPr id="4" name="">
            <a:extLst xmlns:a="http://schemas.openxmlformats.org/drawingml/2006/main">
              <a:ext uri="{FF2B5EF4-FFF2-40B4-BE49-F238E27FC236}">
                <a16:creationId xmlns:a16="http://schemas.microsoft.com/office/drawing/2014/main" id="{6E30BE21-B5BD-4D84-B92E-9FB79BD0868D}"/>
              </a:ext>
            </a:extLst>
          </p:cNvPr>
          <p:cNvSpPr>
            <a:spLocks xmlns:a="http://schemas.openxmlformats.org/drawingml/2006/main" noGrp="1"/>
          </p:cNvSpPr>
          <p:nvPr/>
        </p:nvSpPr>
        <p:spPr>
          <a:xfrm xmlns:a="http://schemas.openxmlformats.org/drawingml/2006/main">
            <a:off x="762000" y="2133600"/>
            <a:ext cx="2857500"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E9048483-89F8-4062-BC2E-2CF36F66EC0C}"/>
              </a:ext>
            </a:extLst>
          </p:cNvPr>
          <p:cNvSpPr>
            <a:spLocks xmlns:a="http://schemas.openxmlformats.org/drawingml/2006/main" noGrp="1"/>
          </p:cNvSpPr>
          <p:nvPr/>
        </p:nvSpPr>
        <p:spPr>
          <a:xfrm xmlns:a="http://schemas.openxmlformats.org/drawingml/2006/main">
            <a:off x="762000" y="2476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6" name="">
            <a:extLst xmlns:a="http://schemas.openxmlformats.org/drawingml/2006/main">
              <a:ext uri="{FF2B5EF4-FFF2-40B4-BE49-F238E27FC236}">
                <a16:creationId xmlns:a16="http://schemas.microsoft.com/office/drawing/2014/main" id="{76B90801-8C9C-4D73-A5AC-5933A95BA9A2}"/>
              </a:ext>
            </a:extLst>
          </p:cNvPr>
          <p:cNvSpPr>
            <a:spLocks xmlns:a="http://schemas.openxmlformats.org/drawingml/2006/main" noGrp="1"/>
          </p:cNvSpPr>
          <p:nvPr/>
        </p:nvSpPr>
        <p:spPr>
          <a:xfrm xmlns:a="http://schemas.openxmlformats.org/drawingml/2006/main">
            <a:off x="990600" y="2381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RV32I + M + A</a:t>
            </a:r>
          </a:p>
        </p:txBody>
      </p:sp>
      <p:sp>
        <p:nvSpPr>
          <p:cNvPr id="7" name="">
            <a:extLst xmlns:a="http://schemas.openxmlformats.org/drawingml/2006/main">
              <a:ext uri="{FF2B5EF4-FFF2-40B4-BE49-F238E27FC236}">
                <a16:creationId xmlns:a16="http://schemas.microsoft.com/office/drawing/2014/main" id="{8224F57C-8110-46B6-835D-C47BD2268B95}"/>
              </a:ext>
            </a:extLst>
          </p:cNvPr>
          <p:cNvSpPr>
            <a:spLocks xmlns:a="http://schemas.openxmlformats.org/drawingml/2006/main" noGrp="1"/>
          </p:cNvSpPr>
          <p:nvPr/>
        </p:nvSpPr>
        <p:spPr>
          <a:xfrm xmlns:a="http://schemas.openxmlformats.org/drawingml/2006/main">
            <a:off x="76200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BAA63022-86D2-4AD3-A598-76CD33E0F6CF}"/>
              </a:ext>
            </a:extLst>
          </p:cNvPr>
          <p:cNvSpPr>
            <a:spLocks xmlns:a="http://schemas.openxmlformats.org/drawingml/2006/main" noGrp="1"/>
          </p:cNvSpPr>
          <p:nvPr/>
        </p:nvSpPr>
        <p:spPr>
          <a:xfrm xmlns:a="http://schemas.openxmlformats.org/drawingml/2006/main">
            <a:off x="990600" y="30289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Pipeline 5 tầng</a:t>
            </a:r>
          </a:p>
        </p:txBody>
      </p:sp>
      <p:sp>
        <p:nvSpPr>
          <p:cNvPr id="9" name="">
            <a:extLst xmlns:a="http://schemas.openxmlformats.org/drawingml/2006/main">
              <a:ext uri="{FF2B5EF4-FFF2-40B4-BE49-F238E27FC236}">
                <a16:creationId xmlns:a16="http://schemas.microsoft.com/office/drawing/2014/main" id="{9506CF25-AE9F-4A25-B657-70322D036842}"/>
              </a:ext>
            </a:extLst>
          </p:cNvPr>
          <p:cNvSpPr>
            <a:spLocks xmlns:a="http://schemas.openxmlformats.org/drawingml/2006/main" noGrp="1"/>
          </p:cNvSpPr>
          <p:nvPr/>
        </p:nvSpPr>
        <p:spPr>
          <a:xfrm xmlns:a="http://schemas.openxmlformats.org/drawingml/2006/main">
            <a:off x="762000" y="37719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5FCBC7AB-5196-4CAB-BB6C-8555A95F6A0F}"/>
              </a:ext>
            </a:extLst>
          </p:cNvPr>
          <p:cNvSpPr>
            <a:spLocks xmlns:a="http://schemas.openxmlformats.org/drawingml/2006/main" noGrp="1"/>
          </p:cNvSpPr>
          <p:nvPr/>
        </p:nvSpPr>
        <p:spPr>
          <a:xfrm xmlns:a="http://schemas.openxmlformats.org/drawingml/2006/main">
            <a:off x="990600" y="36766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CSR, trap, M/S/U</a:t>
            </a:r>
          </a:p>
        </p:txBody>
      </p:sp>
      <p:sp>
        <p:nvSpPr>
          <p:cNvPr id="11" name="">
            <a:extLst xmlns:a="http://schemas.openxmlformats.org/drawingml/2006/main">
              <a:ext uri="{FF2B5EF4-FFF2-40B4-BE49-F238E27FC236}">
                <a16:creationId xmlns:a16="http://schemas.microsoft.com/office/drawing/2014/main" id="{5BA1EB5C-F909-4306-A803-CCE3D676AD9B}"/>
              </a:ext>
            </a:extLst>
          </p:cNvPr>
          <p:cNvSpPr>
            <a:spLocks xmlns:a="http://schemas.openxmlformats.org/drawingml/2006/main" noGrp="1"/>
          </p:cNvSpPr>
          <p:nvPr/>
        </p:nvSpPr>
        <p:spPr>
          <a:xfrm xmlns:a="http://schemas.openxmlformats.org/drawingml/2006/main">
            <a:off x="762000" y="44196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DE3C8A4C-8E88-44A3-AAF6-65E7E715956E}"/>
              </a:ext>
            </a:extLst>
          </p:cNvPr>
          <p:cNvSpPr>
            <a:spLocks xmlns:a="http://schemas.openxmlformats.org/drawingml/2006/main" noGrp="1"/>
          </p:cNvSpPr>
          <p:nvPr/>
        </p:nvSpPr>
        <p:spPr>
          <a:xfrm xmlns:a="http://schemas.openxmlformats.org/drawingml/2006/main">
            <a:off x="990600" y="43243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Không triển khai F, D, C</a:t>
            </a:r>
          </a:p>
        </p:txBody>
      </p:sp>
      <p:sp>
        <p:nvSpPr>
          <p:cNvPr id="13" name="">
            <a:extLst xmlns:a="http://schemas.openxmlformats.org/drawingml/2006/main">
              <a:ext uri="{FF2B5EF4-FFF2-40B4-BE49-F238E27FC236}">
                <a16:creationId xmlns:a16="http://schemas.microsoft.com/office/drawing/2014/main" id="{B97597DB-5146-427D-9AFB-9F31E61690E2}"/>
              </a:ext>
            </a:extLst>
          </p:cNvPr>
          <p:cNvSpPr>
            <a:spLocks xmlns:a="http://schemas.openxmlformats.org/drawingml/2006/main" noGrp="1"/>
          </p:cNvSpPr>
          <p:nvPr/>
        </p:nvSpPr>
        <p:spPr>
          <a:xfrm xmlns:a="http://schemas.openxmlformats.org/drawingml/2006/main">
            <a:off x="4333875"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3CAEA3"/>
                </a:solidFill>
                <a:latin typeface="Segoe UI"/>
                <a:ea typeface="Segoe UI"/>
                <a:cs typeface="Segoe UI"/>
              </a:defRPr>
            </a:pPr>
            <a:r>
              <a:rPr sz="1875" b="1">
                <a:solidFill>
                  <a:srgbClr val="3CAEA3"/>
                </a:solidFill>
                <a:latin typeface="Segoe UI"/>
                <a:ea typeface="Segoe UI"/>
                <a:cs typeface="Segoe UI"/>
              </a:rPr>
              <a:t>Bộ nhớ</a:t>
            </a:r>
          </a:p>
        </p:txBody>
      </p:sp>
      <p:sp>
        <p:nvSpPr>
          <p:cNvPr id="14" name="">
            <a:extLst xmlns:a="http://schemas.openxmlformats.org/drawingml/2006/main">
              <a:ext uri="{FF2B5EF4-FFF2-40B4-BE49-F238E27FC236}">
                <a16:creationId xmlns:a16="http://schemas.microsoft.com/office/drawing/2014/main" id="{E4008629-1A72-4F2C-B74B-BB35B95EF191}"/>
              </a:ext>
            </a:extLst>
          </p:cNvPr>
          <p:cNvSpPr>
            <a:spLocks xmlns:a="http://schemas.openxmlformats.org/drawingml/2006/main" noGrp="1"/>
          </p:cNvSpPr>
          <p:nvPr/>
        </p:nvSpPr>
        <p:spPr>
          <a:xfrm xmlns:a="http://schemas.openxmlformats.org/drawingml/2006/main">
            <a:off x="4333875" y="2133600"/>
            <a:ext cx="2857500" cy="47625"/>
          </a:xfrm>
          <a:prstGeom xmlns:a="http://schemas.openxmlformats.org/drawingml/2006/main" prst="rect">
            <a:avLst/>
          </a:prstGeom>
          <a:solidFill xmlns:a="http://schemas.openxmlformats.org/drawingml/2006/main">
            <a:srgbClr val="3CAEA3"/>
          </a:solidFill>
          <a:ln xmlns:a="http://schemas.openxmlformats.org/drawingml/2006/main" w="19050">
            <a:solidFill>
              <a:srgbClr val="3CAEA3"/>
            </a:solidFill>
          </a:ln>
        </p:spPr>
      </p:sp>
      <p:sp>
        <p:nvSpPr>
          <p:cNvPr id="15" name="">
            <a:extLst xmlns:a="http://schemas.openxmlformats.org/drawingml/2006/main">
              <a:ext uri="{FF2B5EF4-FFF2-40B4-BE49-F238E27FC236}">
                <a16:creationId xmlns:a16="http://schemas.microsoft.com/office/drawing/2014/main" id="{048DE5C4-2506-4044-86FB-36B7B995722E}"/>
              </a:ext>
            </a:extLst>
          </p:cNvPr>
          <p:cNvSpPr>
            <a:spLocks xmlns:a="http://schemas.openxmlformats.org/drawingml/2006/main" noGrp="1"/>
          </p:cNvSpPr>
          <p:nvPr/>
        </p:nvSpPr>
        <p:spPr>
          <a:xfrm xmlns:a="http://schemas.openxmlformats.org/drawingml/2006/main">
            <a:off x="4333875" y="2476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45B33FEB-8570-41A5-946F-2EC74FDC1F72}"/>
              </a:ext>
            </a:extLst>
          </p:cNvPr>
          <p:cNvSpPr>
            <a:spLocks xmlns:a="http://schemas.openxmlformats.org/drawingml/2006/main" noGrp="1"/>
          </p:cNvSpPr>
          <p:nvPr/>
        </p:nvSpPr>
        <p:spPr>
          <a:xfrm xmlns:a="http://schemas.openxmlformats.org/drawingml/2006/main">
            <a:off x="4562475" y="2381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MMU Sv32 theo từng lõi</a:t>
            </a:r>
          </a:p>
        </p:txBody>
      </p:sp>
      <p:sp>
        <p:nvSpPr>
          <p:cNvPr id="17" name="">
            <a:extLst xmlns:a="http://schemas.openxmlformats.org/drawingml/2006/main">
              <a:ext uri="{FF2B5EF4-FFF2-40B4-BE49-F238E27FC236}">
                <a16:creationId xmlns:a16="http://schemas.microsoft.com/office/drawing/2014/main" id="{1569736F-711F-45AD-8199-4DBFAD2AE534}"/>
              </a:ext>
            </a:extLst>
          </p:cNvPr>
          <p:cNvSpPr>
            <a:spLocks xmlns:a="http://schemas.openxmlformats.org/drawingml/2006/main" noGrp="1"/>
          </p:cNvSpPr>
          <p:nvPr/>
        </p:nvSpPr>
        <p:spPr>
          <a:xfrm xmlns:a="http://schemas.openxmlformats.org/drawingml/2006/main">
            <a:off x="4333875"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8" name="">
            <a:extLst xmlns:a="http://schemas.openxmlformats.org/drawingml/2006/main">
              <a:ext uri="{FF2B5EF4-FFF2-40B4-BE49-F238E27FC236}">
                <a16:creationId xmlns:a16="http://schemas.microsoft.com/office/drawing/2014/main" id="{B81CAF9E-3514-4A28-B10A-337FF26C971E}"/>
              </a:ext>
            </a:extLst>
          </p:cNvPr>
          <p:cNvSpPr>
            <a:spLocks xmlns:a="http://schemas.openxmlformats.org/drawingml/2006/main" noGrp="1"/>
          </p:cNvSpPr>
          <p:nvPr/>
        </p:nvSpPr>
        <p:spPr>
          <a:xfrm xmlns:a="http://schemas.openxmlformats.org/drawingml/2006/main">
            <a:off x="4562475" y="30289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TLB 16 entry + superpage</a:t>
            </a:r>
          </a:p>
        </p:txBody>
      </p:sp>
      <p:sp>
        <p:nvSpPr>
          <p:cNvPr id="19" name="">
            <a:extLst xmlns:a="http://schemas.openxmlformats.org/drawingml/2006/main">
              <a:ext uri="{FF2B5EF4-FFF2-40B4-BE49-F238E27FC236}">
                <a16:creationId xmlns:a16="http://schemas.microsoft.com/office/drawing/2014/main" id="{C2F415B8-E61C-4C3A-9DAB-E457D3B206BF}"/>
              </a:ext>
            </a:extLst>
          </p:cNvPr>
          <p:cNvSpPr>
            <a:spLocks xmlns:a="http://schemas.openxmlformats.org/drawingml/2006/main" noGrp="1"/>
          </p:cNvSpPr>
          <p:nvPr/>
        </p:nvSpPr>
        <p:spPr>
          <a:xfrm xmlns:a="http://schemas.openxmlformats.org/drawingml/2006/main">
            <a:off x="4333875" y="37719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0" name="">
            <a:extLst xmlns:a="http://schemas.openxmlformats.org/drawingml/2006/main">
              <a:ext uri="{FF2B5EF4-FFF2-40B4-BE49-F238E27FC236}">
                <a16:creationId xmlns:a16="http://schemas.microsoft.com/office/drawing/2014/main" id="{A875D158-0ECA-4178-8161-917FC32F0D03}"/>
              </a:ext>
            </a:extLst>
          </p:cNvPr>
          <p:cNvSpPr>
            <a:spLocks xmlns:a="http://schemas.openxmlformats.org/drawingml/2006/main" noGrp="1"/>
          </p:cNvSpPr>
          <p:nvPr/>
        </p:nvSpPr>
        <p:spPr>
          <a:xfrm xmlns:a="http://schemas.openxmlformats.org/drawingml/2006/main">
            <a:off x="4562475" y="36766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L1 I/D riêng, L2 dùng chung</a:t>
            </a:r>
          </a:p>
        </p:txBody>
      </p:sp>
      <p:sp>
        <p:nvSpPr>
          <p:cNvPr id="21" name="">
            <a:extLst xmlns:a="http://schemas.openxmlformats.org/drawingml/2006/main">
              <a:ext uri="{FF2B5EF4-FFF2-40B4-BE49-F238E27FC236}">
                <a16:creationId xmlns:a16="http://schemas.microsoft.com/office/drawing/2014/main" id="{F08A7553-21D9-4892-AD68-00D9AD9C05A8}"/>
              </a:ext>
            </a:extLst>
          </p:cNvPr>
          <p:cNvSpPr>
            <a:spLocks xmlns:a="http://schemas.openxmlformats.org/drawingml/2006/main" noGrp="1"/>
          </p:cNvSpPr>
          <p:nvPr/>
        </p:nvSpPr>
        <p:spPr>
          <a:xfrm xmlns:a="http://schemas.openxmlformats.org/drawingml/2006/main">
            <a:off x="4333875" y="44196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CD221EDA-F171-4CD2-9B59-038D97DA5850}"/>
              </a:ext>
            </a:extLst>
          </p:cNvPr>
          <p:cNvSpPr>
            <a:spLocks xmlns:a="http://schemas.openxmlformats.org/drawingml/2006/main" noGrp="1"/>
          </p:cNvSpPr>
          <p:nvPr/>
        </p:nvSpPr>
        <p:spPr>
          <a:xfrm xmlns:a="http://schemas.openxmlformats.org/drawingml/2006/main">
            <a:off x="4562475" y="43243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Coherence MSI blocking</a:t>
            </a:r>
          </a:p>
        </p:txBody>
      </p:sp>
      <p:sp>
        <p:nvSpPr>
          <p:cNvPr id="23" name="">
            <a:extLst xmlns:a="http://schemas.openxmlformats.org/drawingml/2006/main">
              <a:ext uri="{FF2B5EF4-FFF2-40B4-BE49-F238E27FC236}">
                <a16:creationId xmlns:a16="http://schemas.microsoft.com/office/drawing/2014/main" id="{4193DE7D-DCD2-4071-83BD-B74A6AD5E710}"/>
              </a:ext>
            </a:extLst>
          </p:cNvPr>
          <p:cNvSpPr>
            <a:spLocks xmlns:a="http://schemas.openxmlformats.org/drawingml/2006/main" noGrp="1"/>
          </p:cNvSpPr>
          <p:nvPr/>
        </p:nvSpPr>
        <p:spPr>
          <a:xfrm xmlns:a="http://schemas.openxmlformats.org/drawingml/2006/main">
            <a:off x="7905750"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173F5F"/>
                </a:solidFill>
                <a:latin typeface="Segoe UI"/>
                <a:ea typeface="Segoe UI"/>
                <a:cs typeface="Segoe UI"/>
              </a:defRPr>
            </a:pPr>
            <a:r>
              <a:rPr sz="1875" b="1">
                <a:solidFill>
                  <a:srgbClr val="173F5F"/>
                </a:solidFill>
                <a:latin typeface="Segoe UI"/>
                <a:ea typeface="Segoe UI"/>
                <a:cs typeface="Segoe UI"/>
              </a:rPr>
              <a:t>Hệ thống</a:t>
            </a:r>
          </a:p>
        </p:txBody>
      </p:sp>
      <p:sp>
        <p:nvSpPr>
          <p:cNvPr id="24" name="">
            <a:extLst xmlns:a="http://schemas.openxmlformats.org/drawingml/2006/main">
              <a:ext uri="{FF2B5EF4-FFF2-40B4-BE49-F238E27FC236}">
                <a16:creationId xmlns:a16="http://schemas.microsoft.com/office/drawing/2014/main" id="{7CFF28E3-9F9F-42DE-9213-198DE420405A}"/>
              </a:ext>
            </a:extLst>
          </p:cNvPr>
          <p:cNvSpPr>
            <a:spLocks xmlns:a="http://schemas.openxmlformats.org/drawingml/2006/main" noGrp="1"/>
          </p:cNvSpPr>
          <p:nvPr/>
        </p:nvSpPr>
        <p:spPr>
          <a:xfrm xmlns:a="http://schemas.openxmlformats.org/drawingml/2006/main">
            <a:off x="7905750" y="2133600"/>
            <a:ext cx="2857500"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25" name="">
            <a:extLst xmlns:a="http://schemas.openxmlformats.org/drawingml/2006/main">
              <a:ext uri="{FF2B5EF4-FFF2-40B4-BE49-F238E27FC236}">
                <a16:creationId xmlns:a16="http://schemas.microsoft.com/office/drawing/2014/main" id="{E85C7309-D9AA-483C-AE19-168037355B18}"/>
              </a:ext>
            </a:extLst>
          </p:cNvPr>
          <p:cNvSpPr>
            <a:spLocks xmlns:a="http://schemas.openxmlformats.org/drawingml/2006/main" noGrp="1"/>
          </p:cNvSpPr>
          <p:nvPr/>
        </p:nvSpPr>
        <p:spPr>
          <a:xfrm xmlns:a="http://schemas.openxmlformats.org/drawingml/2006/main">
            <a:off x="7905750" y="2476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26" name="">
            <a:extLst xmlns:a="http://schemas.openxmlformats.org/drawingml/2006/main">
              <a:ext uri="{FF2B5EF4-FFF2-40B4-BE49-F238E27FC236}">
                <a16:creationId xmlns:a16="http://schemas.microsoft.com/office/drawing/2014/main" id="{3C442D88-F0E2-4FAF-A50A-A823AF0C0E39}"/>
              </a:ext>
            </a:extLst>
          </p:cNvPr>
          <p:cNvSpPr>
            <a:spLocks xmlns:a="http://schemas.openxmlformats.org/drawingml/2006/main" noGrp="1"/>
          </p:cNvSpPr>
          <p:nvPr/>
        </p:nvSpPr>
        <p:spPr>
          <a:xfrm xmlns:a="http://schemas.openxmlformats.org/drawingml/2006/main">
            <a:off x="8134350" y="2381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AHB-Lite phía core/L2</a:t>
            </a:r>
          </a:p>
        </p:txBody>
      </p:sp>
      <p:sp>
        <p:nvSpPr>
          <p:cNvPr id="27" name="">
            <a:extLst xmlns:a="http://schemas.openxmlformats.org/drawingml/2006/main">
              <a:ext uri="{FF2B5EF4-FFF2-40B4-BE49-F238E27FC236}">
                <a16:creationId xmlns:a16="http://schemas.microsoft.com/office/drawing/2014/main" id="{7F1FEB4F-2976-4919-A5E1-536C7EAD844D}"/>
              </a:ext>
            </a:extLst>
          </p:cNvPr>
          <p:cNvSpPr>
            <a:spLocks xmlns:a="http://schemas.openxmlformats.org/drawingml/2006/main" noGrp="1"/>
          </p:cNvSpPr>
          <p:nvPr/>
        </p:nvSpPr>
        <p:spPr>
          <a:xfrm xmlns:a="http://schemas.openxmlformats.org/drawingml/2006/main">
            <a:off x="790575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8" name="">
            <a:extLst xmlns:a="http://schemas.openxmlformats.org/drawingml/2006/main">
              <a:ext uri="{FF2B5EF4-FFF2-40B4-BE49-F238E27FC236}">
                <a16:creationId xmlns:a16="http://schemas.microsoft.com/office/drawing/2014/main" id="{84566FB4-4229-4736-8FB9-5B6D5B556EAC}"/>
              </a:ext>
            </a:extLst>
          </p:cNvPr>
          <p:cNvSpPr>
            <a:spLocks xmlns:a="http://schemas.openxmlformats.org/drawingml/2006/main" noGrp="1"/>
          </p:cNvSpPr>
          <p:nvPr/>
        </p:nvSpPr>
        <p:spPr>
          <a:xfrm xmlns:a="http://schemas.openxmlformats.org/drawingml/2006/main">
            <a:off x="8134350" y="30289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AXI4 phía DRAM/DMA</a:t>
            </a:r>
          </a:p>
        </p:txBody>
      </p:sp>
      <p:sp>
        <p:nvSpPr>
          <p:cNvPr id="29" name="">
            <a:extLst xmlns:a="http://schemas.openxmlformats.org/drawingml/2006/main">
              <a:ext uri="{FF2B5EF4-FFF2-40B4-BE49-F238E27FC236}">
                <a16:creationId xmlns:a16="http://schemas.microsoft.com/office/drawing/2014/main" id="{CE1606C3-2A60-481D-BDA3-DE39ED1EA9B4}"/>
              </a:ext>
            </a:extLst>
          </p:cNvPr>
          <p:cNvSpPr>
            <a:spLocks xmlns:a="http://schemas.openxmlformats.org/drawingml/2006/main" noGrp="1"/>
          </p:cNvSpPr>
          <p:nvPr/>
        </p:nvSpPr>
        <p:spPr>
          <a:xfrm xmlns:a="http://schemas.openxmlformats.org/drawingml/2006/main">
            <a:off x="7905750" y="37719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30" name="">
            <a:extLst xmlns:a="http://schemas.openxmlformats.org/drawingml/2006/main">
              <a:ext uri="{FF2B5EF4-FFF2-40B4-BE49-F238E27FC236}">
                <a16:creationId xmlns:a16="http://schemas.microsoft.com/office/drawing/2014/main" id="{BAD7B45C-ECFA-4A48-9291-8DC110D0DA27}"/>
              </a:ext>
            </a:extLst>
          </p:cNvPr>
          <p:cNvSpPr>
            <a:spLocks xmlns:a="http://schemas.openxmlformats.org/drawingml/2006/main" noGrp="1"/>
          </p:cNvSpPr>
          <p:nvPr/>
        </p:nvSpPr>
        <p:spPr>
          <a:xfrm xmlns:a="http://schemas.openxmlformats.org/drawingml/2006/main">
            <a:off x="8134350" y="36766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DMA chưa là coherence master</a:t>
            </a:r>
          </a:p>
        </p:txBody>
      </p:sp>
      <p:sp>
        <p:nvSpPr>
          <p:cNvPr id="31" name="">
            <a:extLst xmlns:a="http://schemas.openxmlformats.org/drawingml/2006/main">
              <a:ext uri="{FF2B5EF4-FFF2-40B4-BE49-F238E27FC236}">
                <a16:creationId xmlns:a16="http://schemas.microsoft.com/office/drawing/2014/main" id="{FC5AB7CF-1EE7-45AD-9C90-2426A426192F}"/>
              </a:ext>
            </a:extLst>
          </p:cNvPr>
          <p:cNvSpPr>
            <a:spLocks xmlns:a="http://schemas.openxmlformats.org/drawingml/2006/main" noGrp="1"/>
          </p:cNvSpPr>
          <p:nvPr/>
        </p:nvSpPr>
        <p:spPr>
          <a:xfrm xmlns:a="http://schemas.openxmlformats.org/drawingml/2006/main">
            <a:off x="7905750" y="44196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32" name="">
            <a:extLst xmlns:a="http://schemas.openxmlformats.org/drawingml/2006/main">
              <a:ext uri="{FF2B5EF4-FFF2-40B4-BE49-F238E27FC236}">
                <a16:creationId xmlns:a16="http://schemas.microsoft.com/office/drawing/2014/main" id="{DAF3AF10-7B92-4DB8-ABDF-450F65CF7371}"/>
              </a:ext>
            </a:extLst>
          </p:cNvPr>
          <p:cNvSpPr>
            <a:spLocks xmlns:a="http://schemas.openxmlformats.org/drawingml/2006/main" noGrp="1"/>
          </p:cNvSpPr>
          <p:nvPr/>
        </p:nvSpPr>
        <p:spPr>
          <a:xfrm xmlns:a="http://schemas.openxmlformats.org/drawingml/2006/main">
            <a:off x="8134350" y="43243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FPGA end-to-end còn phải chứng minh</a:t>
            </a:r>
          </a:p>
        </p:txBody>
      </p:sp>
      <p:sp>
        <p:nvSpPr>
          <p:cNvPr id="33" name="">
            <a:extLst xmlns:a="http://schemas.openxmlformats.org/drawingml/2006/main">
              <a:ext uri="{FF2B5EF4-FFF2-40B4-BE49-F238E27FC236}">
                <a16:creationId xmlns:a16="http://schemas.microsoft.com/office/drawing/2014/main" id="{886A8455-6079-48F5-B767-52E4CCB282EF}"/>
              </a:ext>
            </a:extLst>
          </p:cNvPr>
          <p:cNvSpPr>
            <a:spLocks xmlns:a="http://schemas.openxmlformats.org/drawingml/2006/main" noGrp="1"/>
          </p:cNvSpPr>
          <p:nvPr/>
        </p:nvSpPr>
        <p:spPr>
          <a:xfrm xmlns:a="http://schemas.openxmlformats.org/drawingml/2006/main">
            <a:off x="762000" y="56673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ED553B"/>
                </a:solidFill>
                <a:latin typeface="Segoe UI"/>
                <a:ea typeface="Segoe UI"/>
                <a:cs typeface="Segoe UI"/>
              </a:defRPr>
            </a:pPr>
            <a:r>
              <a:rPr sz="1875" b="1">
                <a:solidFill>
                  <a:srgbClr val="ED553B"/>
                </a:solidFill>
                <a:latin typeface="Segoe UI"/>
                <a:ea typeface="Segoe UI"/>
                <a:cs typeface="Segoe UI"/>
              </a:rPr>
              <a:t>Ưu tiên correctness và khả năng kiểm chứng trước throughput</a:t>
            </a:r>
          </a:p>
        </p:txBody>
      </p:sp>
      <p:sp>
        <p:nvSpPr>
          <p:cNvPr id="34" name="">
            <a:extLst xmlns:a="http://schemas.openxmlformats.org/drawingml/2006/main">
              <a:ext uri="{FF2B5EF4-FFF2-40B4-BE49-F238E27FC236}">
                <a16:creationId xmlns:a16="http://schemas.microsoft.com/office/drawing/2014/main" id="{00015888-4B56-40A7-B28A-C2496E363629}"/>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35" name="">
            <a:extLst xmlns:a="http://schemas.openxmlformats.org/drawingml/2006/main">
              <a:ext uri="{FF2B5EF4-FFF2-40B4-BE49-F238E27FC236}">
                <a16:creationId xmlns:a16="http://schemas.microsoft.com/office/drawing/2014/main" id="{EE4A2FD5-55A0-4E5D-8C88-2669E9B194A5}"/>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04</a:t>
            </a:r>
          </a:p>
        </p:txBody>
      </p:sp>
    </p:spTree>
    <p:extLst>
      <p:ext uri="{BB962C8B-B14F-4D97-AF65-F5344CB8AC3E}">
        <p14:creationId xmlns:p14="http://schemas.microsoft.com/office/powerpoint/2010/main" val="1979786414"/>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21A4E2-6EEB-4D9B-BE4D-C49B8C08F7A3}"/>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Kiến trúc tổng thể hệ thống</a:t>
            </a:r>
          </a:p>
        </p:txBody>
      </p:sp>
      <p:sp>
        <p:nvSpPr>
          <p:cNvPr id="2" name="">
            <a:extLst xmlns:a="http://schemas.openxmlformats.org/drawingml/2006/main">
              <a:ext uri="{FF2B5EF4-FFF2-40B4-BE49-F238E27FC236}">
                <a16:creationId xmlns:a16="http://schemas.microsoft.com/office/drawing/2014/main" id="{6DA51B5D-0FF5-4BAE-894E-F0150A1F1901}"/>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2c149a4ba864d39"/>
          <a:stretch xmlns:a="http://schemas.openxmlformats.org/drawingml/2006/main"/>
        </p:blipFill>
        <p:spPr>
          <a:xfrm xmlns:a="http://schemas.openxmlformats.org/drawingml/2006/main">
            <a:off x="1524000" y="1095375"/>
            <a:ext cx="9144000" cy="5143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40F3D6-92C6-451F-A2BC-42001623CC26}"/>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E8A5E54D-29DD-41C9-9CA4-0018E04DEFB7}"/>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05</a:t>
            </a:r>
          </a:p>
        </p:txBody>
      </p:sp>
    </p:spTree>
    <p:extLst>
      <p:ext uri="{BB962C8B-B14F-4D97-AF65-F5344CB8AC3E}">
        <p14:creationId xmlns:p14="http://schemas.microsoft.com/office/powerpoint/2010/main" val="237181922"/>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0976F0-8A2E-4C0E-B7F3-71E2742E78B9}"/>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Cấu trúc mã RTL theo block</a:t>
            </a:r>
          </a:p>
        </p:txBody>
      </p:sp>
      <p:sp>
        <p:nvSpPr>
          <p:cNvPr id="2" name="">
            <a:extLst xmlns:a="http://schemas.openxmlformats.org/drawingml/2006/main">
              <a:ext uri="{FF2B5EF4-FFF2-40B4-BE49-F238E27FC236}">
                <a16:creationId xmlns:a16="http://schemas.microsoft.com/office/drawing/2014/main" id="{5B683907-9AF4-42F5-A29E-EEC7C5F079F5}"/>
              </a:ext>
            </a:extLst>
          </p:cNvPr>
          <p:cNvSpPr>
            <a:spLocks xmlns:a="http://schemas.openxmlformats.org/drawingml/2006/main" noGrp="1"/>
          </p:cNvSpPr>
          <p:nvPr/>
        </p:nvSpPr>
        <p:spPr>
          <a:xfrm xmlns:a="http://schemas.openxmlformats.org/drawingml/2006/main">
            <a:off x="571500" y="8667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627D98"/>
                </a:solidFill>
                <a:latin typeface="Segoe UI"/>
                <a:ea typeface="Segoe UI"/>
                <a:cs typeface="Segoe UI"/>
              </a:defRPr>
            </a:pPr>
            <a:r>
              <a:rPr sz="1350" b="0">
                <a:solidFill>
                  <a:srgbClr val="627D98"/>
                </a:solidFill>
                <a:latin typeface="Segoe UI"/>
                <a:ea typeface="Segoe UI"/>
                <a:cs typeface="Segoe UI"/>
              </a:rPr>
              <a:t>Module và interface giữ nguyên; chỉ thay đổi vị trí source</a:t>
            </a:r>
          </a:p>
        </p:txBody>
      </p:sp>
      <p:sp>
        <p:nvSpPr>
          <p:cNvPr id="3" name="">
            <a:extLst xmlns:a="http://schemas.openxmlformats.org/drawingml/2006/main">
              <a:ext uri="{FF2B5EF4-FFF2-40B4-BE49-F238E27FC236}">
                <a16:creationId xmlns:a16="http://schemas.microsoft.com/office/drawing/2014/main" id="{6A84602C-54FA-4FB8-BDF5-ED437AE7AD6F}"/>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f86b99ec5604e17"/>
          <a:stretch xmlns:a="http://schemas.openxmlformats.org/drawingml/2006/main"/>
        </p:blipFill>
        <p:spPr>
          <a:xfrm xmlns:a="http://schemas.openxmlformats.org/drawingml/2006/main">
            <a:off x="1693333" y="1190625"/>
            <a:ext cx="8805333"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31BBD1-51F1-47FA-A1B5-B1E524635FFD}"/>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6" name="">
            <a:extLst xmlns:a="http://schemas.openxmlformats.org/drawingml/2006/main">
              <a:ext uri="{FF2B5EF4-FFF2-40B4-BE49-F238E27FC236}">
                <a16:creationId xmlns:a16="http://schemas.microsoft.com/office/drawing/2014/main" id="{BC271E7F-C1CD-4160-B58B-A02434BC0B7D}"/>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06</a:t>
            </a:r>
          </a:p>
        </p:txBody>
      </p:sp>
    </p:spTree>
    <p:extLst>
      <p:ext uri="{BB962C8B-B14F-4D97-AF65-F5344CB8AC3E}">
        <p14:creationId xmlns:p14="http://schemas.microsoft.com/office/powerpoint/2010/main" val="590630581"/>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825A79-614B-4B07-A67F-7B9F998B1F5D}"/>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Lõi RV32IMA pipeline 5 tầng</a:t>
            </a:r>
          </a:p>
        </p:txBody>
      </p:sp>
      <p:sp>
        <p:nvSpPr>
          <p:cNvPr id="2" name="">
            <a:extLst xmlns:a="http://schemas.openxmlformats.org/drawingml/2006/main">
              <a:ext uri="{FF2B5EF4-FFF2-40B4-BE49-F238E27FC236}">
                <a16:creationId xmlns:a16="http://schemas.microsoft.com/office/drawing/2014/main" id="{E3E8A8E5-D7F0-4FED-9FB0-6100CE748CDF}"/>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2fd843e30f547a9"/>
          <a:stretch xmlns:a="http://schemas.openxmlformats.org/drawingml/2006/main"/>
        </p:blipFill>
        <p:spPr>
          <a:xfrm xmlns:a="http://schemas.openxmlformats.org/drawingml/2006/main">
            <a:off x="1820333" y="1190625"/>
            <a:ext cx="8551333"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5D3F5E5-2316-42F8-BC91-55924B4033EB}"/>
              </a:ext>
            </a:extLst>
          </p:cNvPr>
          <p:cNvSpPr>
            <a:spLocks xmlns:a="http://schemas.openxmlformats.org/drawingml/2006/main" noGrp="1"/>
          </p:cNvSpPr>
          <p:nvPr/>
        </p:nvSpPr>
        <p:spPr>
          <a:xfrm xmlns:a="http://schemas.openxmlformats.org/drawingml/2006/main">
            <a:off x="762000" y="5962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ED553B"/>
                </a:solidFill>
                <a:latin typeface="Segoe UI"/>
                <a:ea typeface="Segoe UI"/>
                <a:cs typeface="Segoe UI"/>
              </a:defRPr>
            </a:pPr>
            <a:r>
              <a:rPr sz="1425" b="1">
                <a:solidFill>
                  <a:srgbClr val="ED553B"/>
                </a:solidFill>
                <a:latin typeface="Segoe UI"/>
                <a:ea typeface="Segoe UI"/>
                <a:cs typeface="Segoe UI"/>
              </a:rPr>
              <a:t>Stall ngoài đóng băng pipeline khi MMU walk, cache miss hoặc maintenance</a:t>
            </a:r>
          </a:p>
        </p:txBody>
      </p:sp>
      <p:sp>
        <p:nvSpPr>
          <p:cNvPr id="5" name="">
            <a:extLst xmlns:a="http://schemas.openxmlformats.org/drawingml/2006/main">
              <a:ext uri="{FF2B5EF4-FFF2-40B4-BE49-F238E27FC236}">
                <a16:creationId xmlns:a16="http://schemas.microsoft.com/office/drawing/2014/main" id="{FFC5EFF4-F17D-40D9-A99B-0A0ED0FAAF4D}"/>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6" name="">
            <a:extLst xmlns:a="http://schemas.openxmlformats.org/drawingml/2006/main">
              <a:ext uri="{FF2B5EF4-FFF2-40B4-BE49-F238E27FC236}">
                <a16:creationId xmlns:a16="http://schemas.microsoft.com/office/drawing/2014/main" id="{2885844B-C298-4595-9E74-00E1F08EEC5F}"/>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07</a:t>
            </a:r>
          </a:p>
        </p:txBody>
      </p:sp>
    </p:spTree>
    <p:extLst>
      <p:ext uri="{BB962C8B-B14F-4D97-AF65-F5344CB8AC3E}">
        <p14:creationId xmlns:p14="http://schemas.microsoft.com/office/powerpoint/2010/main" val="1399285756"/>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D26497-B085-417D-BB14-91E103DAFA21}"/>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MMU Sv32 theo từng lõi</a:t>
            </a:r>
          </a:p>
        </p:txBody>
      </p:sp>
      <p:sp>
        <p:nvSpPr>
          <p:cNvPr id="2" name="">
            <a:extLst xmlns:a="http://schemas.openxmlformats.org/drawingml/2006/main">
              <a:ext uri="{FF2B5EF4-FFF2-40B4-BE49-F238E27FC236}">
                <a16:creationId xmlns:a16="http://schemas.microsoft.com/office/drawing/2014/main" id="{368E50BD-0796-4D11-A1D0-96750FFCD8E0}"/>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8c327950b1849f2"/>
          <a:stretch xmlns:a="http://schemas.openxmlformats.org/drawingml/2006/main"/>
        </p:blipFill>
        <p:spPr>
          <a:xfrm xmlns:a="http://schemas.openxmlformats.org/drawingml/2006/main">
            <a:off x="1778000" y="1143000"/>
            <a:ext cx="863600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4507B1-44A1-4DA2-A5F3-1CB23461CE9E}"/>
              </a:ext>
            </a:extLst>
          </p:cNvPr>
          <p:cNvSpPr>
            <a:spLocks xmlns:a="http://schemas.openxmlformats.org/drawingml/2006/main" noGrp="1"/>
          </p:cNvSpPr>
          <p:nvPr/>
        </p:nvSpPr>
        <p:spPr>
          <a:xfrm xmlns:a="http://schemas.openxmlformats.org/drawingml/2006/main">
            <a:off x="809625" y="59245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ED553B"/>
                </a:solidFill>
                <a:latin typeface="Segoe UI"/>
                <a:ea typeface="Segoe UI"/>
                <a:cs typeface="Segoe UI"/>
              </a:defRPr>
            </a:pPr>
            <a:r>
              <a:rPr sz="1425" b="1">
                <a:solidFill>
                  <a:srgbClr val="ED553B"/>
                </a:solidFill>
                <a:latin typeface="Segoe UI"/>
                <a:ea typeface="Segoe UI"/>
                <a:cs typeface="Segoe UI"/>
              </a:rPr>
              <a:t>TLB hit trả PA trực tiếp; TLB miss khóa lõi, PTW đọc PTE, cập nhật A/D rồi refill</a:t>
            </a:r>
          </a:p>
        </p:txBody>
      </p:sp>
      <p:sp>
        <p:nvSpPr>
          <p:cNvPr id="5" name="">
            <a:extLst xmlns:a="http://schemas.openxmlformats.org/drawingml/2006/main">
              <a:ext uri="{FF2B5EF4-FFF2-40B4-BE49-F238E27FC236}">
                <a16:creationId xmlns:a16="http://schemas.microsoft.com/office/drawing/2014/main" id="{F03B6D6E-3D7D-4A83-A9DA-483529BCDF6A}"/>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6" name="">
            <a:extLst xmlns:a="http://schemas.openxmlformats.org/drawingml/2006/main">
              <a:ext uri="{FF2B5EF4-FFF2-40B4-BE49-F238E27FC236}">
                <a16:creationId xmlns:a16="http://schemas.microsoft.com/office/drawing/2014/main" id="{386B06A0-F323-404A-9C56-325B1023CCE7}"/>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08</a:t>
            </a:r>
          </a:p>
        </p:txBody>
      </p:sp>
    </p:spTree>
    <p:extLst>
      <p:ext uri="{BB962C8B-B14F-4D97-AF65-F5344CB8AC3E}">
        <p14:creationId xmlns:p14="http://schemas.microsoft.com/office/powerpoint/2010/main" val="64966903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80ED76-0670-4DAD-99C7-148F86C20C8C}"/>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Phân cấp cache và coherence MSI</a:t>
            </a:r>
          </a:p>
        </p:txBody>
      </p:sp>
      <p:sp>
        <p:nvSpPr>
          <p:cNvPr id="2" name="">
            <a:extLst xmlns:a="http://schemas.openxmlformats.org/drawingml/2006/main">
              <a:ext uri="{FF2B5EF4-FFF2-40B4-BE49-F238E27FC236}">
                <a16:creationId xmlns:a16="http://schemas.microsoft.com/office/drawing/2014/main" id="{71609D49-E394-42E8-9387-1B0FA7CCB088}"/>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963e6427b2b4175"/>
          <a:stretch xmlns:a="http://schemas.openxmlformats.org/drawingml/2006/main"/>
        </p:blipFill>
        <p:spPr>
          <a:xfrm xmlns:a="http://schemas.openxmlformats.org/drawingml/2006/main">
            <a:off x="1693333" y="1143000"/>
            <a:ext cx="8805333"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0BB44F0-9D34-431F-9847-6A4A957E456D}"/>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8C1D9897-589B-443A-856D-51E1FA0260A2}"/>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09</a:t>
            </a:r>
          </a:p>
        </p:txBody>
      </p:sp>
    </p:spTree>
    <p:extLst>
      <p:ext uri="{BB962C8B-B14F-4D97-AF65-F5344CB8AC3E}">
        <p14:creationId xmlns:p14="http://schemas.microsoft.com/office/powerpoint/2010/main" val="939810971"/>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B26ABB9-B2E0-40DD-928C-A392BAAABC8F}"/>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Ba luồng giao dịch MSI quan trọng</a:t>
            </a:r>
          </a:p>
        </p:txBody>
      </p:sp>
      <p:sp>
        <p:nvSpPr>
          <p:cNvPr id="2" name="">
            <a:extLst xmlns:a="http://schemas.openxmlformats.org/drawingml/2006/main">
              <a:ext uri="{FF2B5EF4-FFF2-40B4-BE49-F238E27FC236}">
                <a16:creationId xmlns:a16="http://schemas.microsoft.com/office/drawing/2014/main" id="{7A7E5920-F99F-439E-AFBF-EEDD6CEDE03B}"/>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5FDB8DFB-EE7F-418D-AB97-B850F4668E15}"/>
              </a:ext>
            </a:extLst>
          </p:cNvPr>
          <p:cNvSpPr>
            <a:spLocks xmlns:a="http://schemas.openxmlformats.org/drawingml/2006/main" noGrp="1"/>
          </p:cNvSpPr>
          <p:nvPr/>
        </p:nvSpPr>
        <p:spPr>
          <a:xfrm xmlns:a="http://schemas.openxmlformats.org/drawingml/2006/main">
            <a:off x="666750" y="16192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73F5F"/>
                </a:solidFill>
                <a:latin typeface="Segoe UI"/>
                <a:ea typeface="Segoe UI"/>
                <a:cs typeface="Segoe UI"/>
              </a:defRPr>
            </a:pPr>
            <a:r>
              <a:rPr sz="1725" b="1">
                <a:solidFill>
                  <a:srgbClr val="173F5F"/>
                </a:solidFill>
                <a:latin typeface="Segoe UI"/>
                <a:ea typeface="Segoe UI"/>
                <a:cs typeface="Segoe UI"/>
              </a:rPr>
              <a:t>Read miss</a:t>
            </a:r>
          </a:p>
        </p:txBody>
      </p:sp>
      <p:sp>
        <p:nvSpPr>
          <p:cNvPr id="4" name="">
            <a:extLst xmlns:a="http://schemas.openxmlformats.org/drawingml/2006/main">
              <a:ext uri="{FF2B5EF4-FFF2-40B4-BE49-F238E27FC236}">
                <a16:creationId xmlns:a16="http://schemas.microsoft.com/office/drawing/2014/main" id="{60B10060-AE70-47F9-A062-91D225B35840}"/>
              </a:ext>
            </a:extLst>
          </p:cNvPr>
          <p:cNvSpPr>
            <a:spLocks xmlns:a="http://schemas.openxmlformats.org/drawingml/2006/main" noGrp="1"/>
          </p:cNvSpPr>
          <p:nvPr/>
        </p:nvSpPr>
        <p:spPr>
          <a:xfrm xmlns:a="http://schemas.openxmlformats.org/drawingml/2006/main">
            <a:off x="2619375" y="1619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627D98"/>
            </a:solidFill>
          </a:ln>
        </p:spPr>
      </p:sp>
      <p:sp>
        <p:nvSpPr>
          <p:cNvPr id="5" name="">
            <a:extLst xmlns:a="http://schemas.openxmlformats.org/drawingml/2006/main">
              <a:ext uri="{FF2B5EF4-FFF2-40B4-BE49-F238E27FC236}">
                <a16:creationId xmlns:a16="http://schemas.microsoft.com/office/drawing/2014/main" id="{18D93886-71C4-4FAA-97BD-A1F04642CF19}"/>
              </a:ext>
            </a:extLst>
          </p:cNvPr>
          <p:cNvSpPr>
            <a:spLocks xmlns:a="http://schemas.openxmlformats.org/drawingml/2006/main" noGrp="1"/>
          </p:cNvSpPr>
          <p:nvPr/>
        </p:nvSpPr>
        <p:spPr>
          <a:xfrm xmlns:a="http://schemas.openxmlformats.org/drawingml/2006/main">
            <a:off x="2619375" y="1619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I</a:t>
            </a:r>
          </a:p>
        </p:txBody>
      </p:sp>
      <p:sp>
        <p:nvSpPr>
          <p:cNvPr id="6" name="">
            <a:extLst xmlns:a="http://schemas.openxmlformats.org/drawingml/2006/main">
              <a:ext uri="{FF2B5EF4-FFF2-40B4-BE49-F238E27FC236}">
                <a16:creationId xmlns:a16="http://schemas.microsoft.com/office/drawing/2014/main" id="{7A5FF0FC-A4FF-4CC7-8211-9709A04F14D6}"/>
              </a:ext>
            </a:extLst>
          </p:cNvPr>
          <p:cNvSpPr>
            <a:spLocks xmlns:a="http://schemas.openxmlformats.org/drawingml/2006/main" noGrp="1"/>
          </p:cNvSpPr>
          <p:nvPr/>
        </p:nvSpPr>
        <p:spPr>
          <a:xfrm xmlns:a="http://schemas.openxmlformats.org/drawingml/2006/main">
            <a:off x="3667125" y="161925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ED553B"/>
                </a:solidFill>
                <a:latin typeface="Segoe UI"/>
                <a:ea typeface="Segoe UI"/>
                <a:cs typeface="Segoe UI"/>
              </a:defRPr>
            </a:pPr>
            <a:r>
              <a:rPr sz="1575" b="1">
                <a:solidFill>
                  <a:srgbClr val="ED553B"/>
                </a:solidFill>
                <a:latin typeface="Segoe UI"/>
                <a:ea typeface="Segoe UI"/>
                <a:cs typeface="Segoe UI"/>
              </a:rPr>
              <a:t>BusRd</a:t>
            </a:r>
          </a:p>
        </p:txBody>
      </p:sp>
      <p:sp>
        <p:nvSpPr>
          <p:cNvPr id="7" name="">
            <a:extLst xmlns:a="http://schemas.openxmlformats.org/drawingml/2006/main">
              <a:ext uri="{FF2B5EF4-FFF2-40B4-BE49-F238E27FC236}">
                <a16:creationId xmlns:a16="http://schemas.microsoft.com/office/drawing/2014/main" id="{BD44FDFB-6C59-4D28-AAAE-E8441BA35DC7}"/>
              </a:ext>
            </a:extLst>
          </p:cNvPr>
          <p:cNvSpPr>
            <a:spLocks xmlns:a="http://schemas.openxmlformats.org/drawingml/2006/main" noGrp="1"/>
          </p:cNvSpPr>
          <p:nvPr/>
        </p:nvSpPr>
        <p:spPr>
          <a:xfrm xmlns:a="http://schemas.openxmlformats.org/drawingml/2006/main">
            <a:off x="6191250" y="1619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7A2802B0-91DC-4716-A64C-5421963B6E0F}"/>
              </a:ext>
            </a:extLst>
          </p:cNvPr>
          <p:cNvSpPr>
            <a:spLocks xmlns:a="http://schemas.openxmlformats.org/drawingml/2006/main" noGrp="1"/>
          </p:cNvSpPr>
          <p:nvPr/>
        </p:nvSpPr>
        <p:spPr>
          <a:xfrm xmlns:a="http://schemas.openxmlformats.org/drawingml/2006/main">
            <a:off x="6191250" y="1619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S</a:t>
            </a:r>
          </a:p>
        </p:txBody>
      </p:sp>
      <p:sp>
        <p:nvSpPr>
          <p:cNvPr id="9" name="">
            <a:extLst xmlns:a="http://schemas.openxmlformats.org/drawingml/2006/main">
              <a:ext uri="{FF2B5EF4-FFF2-40B4-BE49-F238E27FC236}">
                <a16:creationId xmlns:a16="http://schemas.microsoft.com/office/drawing/2014/main" id="{6886E5FD-704E-4AFD-8162-E3F9D8BA8044}"/>
              </a:ext>
            </a:extLst>
          </p:cNvPr>
          <p:cNvSpPr>
            <a:spLocks xmlns:a="http://schemas.openxmlformats.org/drawingml/2006/main" noGrp="1"/>
          </p:cNvSpPr>
          <p:nvPr/>
        </p:nvSpPr>
        <p:spPr>
          <a:xfrm xmlns:a="http://schemas.openxmlformats.org/drawingml/2006/main">
            <a:off x="7334250" y="1571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Nhận line từ owner, L2 hoặc DRAM</a:t>
            </a:r>
          </a:p>
        </p:txBody>
      </p:sp>
      <p:sp>
        <p:nvSpPr>
          <p:cNvPr id="10" name="">
            <a:extLst xmlns:a="http://schemas.openxmlformats.org/drawingml/2006/main">
              <a:ext uri="{FF2B5EF4-FFF2-40B4-BE49-F238E27FC236}">
                <a16:creationId xmlns:a16="http://schemas.microsoft.com/office/drawing/2014/main" id="{75C08804-E9BE-4303-9F80-2C3066C992A8}"/>
              </a:ext>
            </a:extLst>
          </p:cNvPr>
          <p:cNvSpPr>
            <a:spLocks xmlns:a="http://schemas.openxmlformats.org/drawingml/2006/main" noGrp="1"/>
          </p:cNvSpPr>
          <p:nvPr/>
        </p:nvSpPr>
        <p:spPr>
          <a:xfrm xmlns:a="http://schemas.openxmlformats.org/drawingml/2006/main">
            <a:off x="666750" y="31432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73F5F"/>
                </a:solidFill>
                <a:latin typeface="Segoe UI"/>
                <a:ea typeface="Segoe UI"/>
                <a:cs typeface="Segoe UI"/>
              </a:defRPr>
            </a:pPr>
            <a:r>
              <a:rPr sz="1725" b="1">
                <a:solidFill>
                  <a:srgbClr val="173F5F"/>
                </a:solidFill>
                <a:latin typeface="Segoe UI"/>
                <a:ea typeface="Segoe UI"/>
                <a:cs typeface="Segoe UI"/>
              </a:rPr>
              <a:t>Write upgrade</a:t>
            </a:r>
          </a:p>
        </p:txBody>
      </p:sp>
      <p:sp>
        <p:nvSpPr>
          <p:cNvPr id="11" name="">
            <a:extLst xmlns:a="http://schemas.openxmlformats.org/drawingml/2006/main">
              <a:ext uri="{FF2B5EF4-FFF2-40B4-BE49-F238E27FC236}">
                <a16:creationId xmlns:a16="http://schemas.microsoft.com/office/drawing/2014/main" id="{D56DB54F-153C-4CA7-B2AC-022CD267ECB0}"/>
              </a:ext>
            </a:extLst>
          </p:cNvPr>
          <p:cNvSpPr>
            <a:spLocks xmlns:a="http://schemas.openxmlformats.org/drawingml/2006/main" noGrp="1"/>
          </p:cNvSpPr>
          <p:nvPr/>
        </p:nvSpPr>
        <p:spPr>
          <a:xfrm xmlns:a="http://schemas.openxmlformats.org/drawingml/2006/main">
            <a:off x="2619375" y="3143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627D98"/>
            </a:solidFill>
          </a:ln>
        </p:spPr>
      </p:sp>
      <p:sp>
        <p:nvSpPr>
          <p:cNvPr id="12" name="">
            <a:extLst xmlns:a="http://schemas.openxmlformats.org/drawingml/2006/main">
              <a:ext uri="{FF2B5EF4-FFF2-40B4-BE49-F238E27FC236}">
                <a16:creationId xmlns:a16="http://schemas.microsoft.com/office/drawing/2014/main" id="{4FE0843D-58E0-41F4-B784-B23D86F62AAB}"/>
              </a:ext>
            </a:extLst>
          </p:cNvPr>
          <p:cNvSpPr>
            <a:spLocks xmlns:a="http://schemas.openxmlformats.org/drawingml/2006/main" noGrp="1"/>
          </p:cNvSpPr>
          <p:nvPr/>
        </p:nvSpPr>
        <p:spPr>
          <a:xfrm xmlns:a="http://schemas.openxmlformats.org/drawingml/2006/main">
            <a:off x="2619375" y="3143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S</a:t>
            </a:r>
          </a:p>
        </p:txBody>
      </p:sp>
      <p:sp>
        <p:nvSpPr>
          <p:cNvPr id="13" name="">
            <a:extLst xmlns:a="http://schemas.openxmlformats.org/drawingml/2006/main">
              <a:ext uri="{FF2B5EF4-FFF2-40B4-BE49-F238E27FC236}">
                <a16:creationId xmlns:a16="http://schemas.microsoft.com/office/drawing/2014/main" id="{DECC0981-EDEB-4FE6-AA50-F06D319525E6}"/>
              </a:ext>
            </a:extLst>
          </p:cNvPr>
          <p:cNvSpPr>
            <a:spLocks xmlns:a="http://schemas.openxmlformats.org/drawingml/2006/main" noGrp="1"/>
          </p:cNvSpPr>
          <p:nvPr/>
        </p:nvSpPr>
        <p:spPr>
          <a:xfrm xmlns:a="http://schemas.openxmlformats.org/drawingml/2006/main">
            <a:off x="3667125" y="314325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ED553B"/>
                </a:solidFill>
                <a:latin typeface="Segoe UI"/>
                <a:ea typeface="Segoe UI"/>
                <a:cs typeface="Segoe UI"/>
              </a:defRPr>
            </a:pPr>
            <a:r>
              <a:rPr sz="1575" b="1">
                <a:solidFill>
                  <a:srgbClr val="ED553B"/>
                </a:solidFill>
                <a:latin typeface="Segoe UI"/>
                <a:ea typeface="Segoe UI"/>
                <a:cs typeface="Segoe UI"/>
              </a:rPr>
              <a:t>RFO + invalidate</a:t>
            </a:r>
          </a:p>
        </p:txBody>
      </p:sp>
      <p:sp>
        <p:nvSpPr>
          <p:cNvPr id="14" name="">
            <a:extLst xmlns:a="http://schemas.openxmlformats.org/drawingml/2006/main">
              <a:ext uri="{FF2B5EF4-FFF2-40B4-BE49-F238E27FC236}">
                <a16:creationId xmlns:a16="http://schemas.microsoft.com/office/drawing/2014/main" id="{7A2A3A9E-53A4-4686-BA85-A687293AA02B}"/>
              </a:ext>
            </a:extLst>
          </p:cNvPr>
          <p:cNvSpPr>
            <a:spLocks xmlns:a="http://schemas.openxmlformats.org/drawingml/2006/main" noGrp="1"/>
          </p:cNvSpPr>
          <p:nvPr/>
        </p:nvSpPr>
        <p:spPr>
          <a:xfrm xmlns:a="http://schemas.openxmlformats.org/drawingml/2006/main">
            <a:off x="6191250" y="3143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ED553B"/>
            </a:solidFill>
          </a:ln>
        </p:spPr>
      </p:sp>
      <p:sp>
        <p:nvSpPr>
          <p:cNvPr id="15" name="">
            <a:extLst xmlns:a="http://schemas.openxmlformats.org/drawingml/2006/main">
              <a:ext uri="{FF2B5EF4-FFF2-40B4-BE49-F238E27FC236}">
                <a16:creationId xmlns:a16="http://schemas.microsoft.com/office/drawing/2014/main" id="{7970D260-6321-466A-837F-DBD712C8D8AF}"/>
              </a:ext>
            </a:extLst>
          </p:cNvPr>
          <p:cNvSpPr>
            <a:spLocks xmlns:a="http://schemas.openxmlformats.org/drawingml/2006/main" noGrp="1"/>
          </p:cNvSpPr>
          <p:nvPr/>
        </p:nvSpPr>
        <p:spPr>
          <a:xfrm xmlns:a="http://schemas.openxmlformats.org/drawingml/2006/main">
            <a:off x="6191250" y="3143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M</a:t>
            </a:r>
          </a:p>
        </p:txBody>
      </p:sp>
      <p:sp>
        <p:nvSpPr>
          <p:cNvPr id="16" name="">
            <a:extLst xmlns:a="http://schemas.openxmlformats.org/drawingml/2006/main">
              <a:ext uri="{FF2B5EF4-FFF2-40B4-BE49-F238E27FC236}">
                <a16:creationId xmlns:a16="http://schemas.microsoft.com/office/drawing/2014/main" id="{2E90B32C-78B0-4004-98AE-F41BBB1B5DAB}"/>
              </a:ext>
            </a:extLst>
          </p:cNvPr>
          <p:cNvSpPr>
            <a:spLocks xmlns:a="http://schemas.openxmlformats.org/drawingml/2006/main" noGrp="1"/>
          </p:cNvSpPr>
          <p:nvPr/>
        </p:nvSpPr>
        <p:spPr>
          <a:xfrm xmlns:a="http://schemas.openxmlformats.org/drawingml/2006/main">
            <a:off x="7334250" y="3095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Chỉ ghi sau khi các sharer đã ack</a:t>
            </a:r>
          </a:p>
        </p:txBody>
      </p:sp>
      <p:sp>
        <p:nvSpPr>
          <p:cNvPr id="17" name="">
            <a:extLst xmlns:a="http://schemas.openxmlformats.org/drawingml/2006/main">
              <a:ext uri="{FF2B5EF4-FFF2-40B4-BE49-F238E27FC236}">
                <a16:creationId xmlns:a16="http://schemas.microsoft.com/office/drawing/2014/main" id="{B5024F81-2409-4B1C-BB56-352ED88C31E1}"/>
              </a:ext>
            </a:extLst>
          </p:cNvPr>
          <p:cNvSpPr>
            <a:spLocks xmlns:a="http://schemas.openxmlformats.org/drawingml/2006/main" noGrp="1"/>
          </p:cNvSpPr>
          <p:nvPr/>
        </p:nvSpPr>
        <p:spPr>
          <a:xfrm xmlns:a="http://schemas.openxmlformats.org/drawingml/2006/main">
            <a:off x="666750" y="46672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73F5F"/>
                </a:solidFill>
                <a:latin typeface="Segoe UI"/>
                <a:ea typeface="Segoe UI"/>
                <a:cs typeface="Segoe UI"/>
              </a:defRPr>
            </a:pPr>
            <a:r>
              <a:rPr sz="1725" b="1">
                <a:solidFill>
                  <a:srgbClr val="173F5F"/>
                </a:solidFill>
                <a:latin typeface="Segoe UI"/>
                <a:ea typeface="Segoe UI"/>
                <a:cs typeface="Segoe UI"/>
              </a:rPr>
              <a:t>Remote read</a:t>
            </a:r>
          </a:p>
        </p:txBody>
      </p:sp>
      <p:sp>
        <p:nvSpPr>
          <p:cNvPr id="18" name="">
            <a:extLst xmlns:a="http://schemas.openxmlformats.org/drawingml/2006/main">
              <a:ext uri="{FF2B5EF4-FFF2-40B4-BE49-F238E27FC236}">
                <a16:creationId xmlns:a16="http://schemas.microsoft.com/office/drawing/2014/main" id="{7DCC118F-D5B2-4F01-BCEE-189E4F69F333}"/>
              </a:ext>
            </a:extLst>
          </p:cNvPr>
          <p:cNvSpPr>
            <a:spLocks xmlns:a="http://schemas.openxmlformats.org/drawingml/2006/main" noGrp="1"/>
          </p:cNvSpPr>
          <p:nvPr/>
        </p:nvSpPr>
        <p:spPr>
          <a:xfrm xmlns:a="http://schemas.openxmlformats.org/drawingml/2006/main">
            <a:off x="2619375" y="4667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7F3625C7-CDAD-44A8-A48A-7B27C71FE93E}"/>
              </a:ext>
            </a:extLst>
          </p:cNvPr>
          <p:cNvSpPr>
            <a:spLocks xmlns:a="http://schemas.openxmlformats.org/drawingml/2006/main" noGrp="1"/>
          </p:cNvSpPr>
          <p:nvPr/>
        </p:nvSpPr>
        <p:spPr>
          <a:xfrm xmlns:a="http://schemas.openxmlformats.org/drawingml/2006/main">
            <a:off x="2619375" y="4667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M</a:t>
            </a:r>
          </a:p>
        </p:txBody>
      </p:sp>
      <p:sp>
        <p:nvSpPr>
          <p:cNvPr id="20" name="">
            <a:extLst xmlns:a="http://schemas.openxmlformats.org/drawingml/2006/main">
              <a:ext uri="{FF2B5EF4-FFF2-40B4-BE49-F238E27FC236}">
                <a16:creationId xmlns:a16="http://schemas.microsoft.com/office/drawing/2014/main" id="{15D174E4-776B-47CE-B91E-E13FFE6EE5B1}"/>
              </a:ext>
            </a:extLst>
          </p:cNvPr>
          <p:cNvSpPr>
            <a:spLocks xmlns:a="http://schemas.openxmlformats.org/drawingml/2006/main" noGrp="1"/>
          </p:cNvSpPr>
          <p:nvPr/>
        </p:nvSpPr>
        <p:spPr>
          <a:xfrm xmlns:a="http://schemas.openxmlformats.org/drawingml/2006/main">
            <a:off x="3667125" y="466725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ED553B"/>
                </a:solidFill>
                <a:latin typeface="Segoe UI"/>
                <a:ea typeface="Segoe UI"/>
                <a:cs typeface="Segoe UI"/>
              </a:defRPr>
            </a:pPr>
            <a:r>
              <a:rPr sz="1575" b="1">
                <a:solidFill>
                  <a:srgbClr val="ED553B"/>
                </a:solidFill>
                <a:latin typeface="Segoe UI"/>
                <a:ea typeface="Segoe UI"/>
                <a:cs typeface="Segoe UI"/>
              </a:rPr>
              <a:t>Snoop BusRd</a:t>
            </a:r>
          </a:p>
        </p:txBody>
      </p:sp>
      <p:sp>
        <p:nvSpPr>
          <p:cNvPr id="21" name="">
            <a:extLst xmlns:a="http://schemas.openxmlformats.org/drawingml/2006/main">
              <a:ext uri="{FF2B5EF4-FFF2-40B4-BE49-F238E27FC236}">
                <a16:creationId xmlns:a16="http://schemas.microsoft.com/office/drawing/2014/main" id="{1475DE5A-5781-489E-BE9A-EEDC7F18B0FF}"/>
              </a:ext>
            </a:extLst>
          </p:cNvPr>
          <p:cNvSpPr>
            <a:spLocks xmlns:a="http://schemas.openxmlformats.org/drawingml/2006/main" noGrp="1"/>
          </p:cNvSpPr>
          <p:nvPr/>
        </p:nvSpPr>
        <p:spPr>
          <a:xfrm xmlns:a="http://schemas.openxmlformats.org/drawingml/2006/main">
            <a:off x="6191250" y="4667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EE3C8E51-7BB3-421D-99A0-B2B8BC1B71AD}"/>
              </a:ext>
            </a:extLst>
          </p:cNvPr>
          <p:cNvSpPr>
            <a:spLocks xmlns:a="http://schemas.openxmlformats.org/drawingml/2006/main" noGrp="1"/>
          </p:cNvSpPr>
          <p:nvPr/>
        </p:nvSpPr>
        <p:spPr>
          <a:xfrm xmlns:a="http://schemas.openxmlformats.org/drawingml/2006/main">
            <a:off x="6191250" y="4667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S</a:t>
            </a:r>
          </a:p>
        </p:txBody>
      </p:sp>
      <p:sp>
        <p:nvSpPr>
          <p:cNvPr id="23" name="">
            <a:extLst xmlns:a="http://schemas.openxmlformats.org/drawingml/2006/main">
              <a:ext uri="{FF2B5EF4-FFF2-40B4-BE49-F238E27FC236}">
                <a16:creationId xmlns:a16="http://schemas.microsoft.com/office/drawing/2014/main" id="{DB58A295-F391-4A7F-B05B-2D4A09F73AA8}"/>
              </a:ext>
            </a:extLst>
          </p:cNvPr>
          <p:cNvSpPr>
            <a:spLocks xmlns:a="http://schemas.openxmlformats.org/drawingml/2006/main" noGrp="1"/>
          </p:cNvSpPr>
          <p:nvPr/>
        </p:nvSpPr>
        <p:spPr>
          <a:xfrm xmlns:a="http://schemas.openxmlformats.org/drawingml/2006/main">
            <a:off x="7334250" y="4619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Owner forward dirty line và cập nhật L2</a:t>
            </a:r>
          </a:p>
        </p:txBody>
      </p:sp>
      <p:sp>
        <p:nvSpPr>
          <p:cNvPr id="24" name="">
            <a:extLst xmlns:a="http://schemas.openxmlformats.org/drawingml/2006/main">
              <a:ext uri="{FF2B5EF4-FFF2-40B4-BE49-F238E27FC236}">
                <a16:creationId xmlns:a16="http://schemas.microsoft.com/office/drawing/2014/main" id="{8A27B9BC-35DE-49F3-A017-8125F81CEE45}"/>
              </a:ext>
            </a:extLst>
          </p:cNvPr>
          <p:cNvSpPr>
            <a:spLocks xmlns:a="http://schemas.openxmlformats.org/drawingml/2006/main" noGrp="1"/>
          </p:cNvSpPr>
          <p:nvPr/>
        </p:nvSpPr>
        <p:spPr>
          <a:xfrm xmlns:a="http://schemas.openxmlformats.org/drawingml/2006/main">
            <a:off x="2667000" y="58102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627D98"/>
                </a:solidFill>
                <a:latin typeface="Segoe UI"/>
                <a:ea typeface="Segoe UI"/>
                <a:cs typeface="Segoe UI"/>
              </a:defRPr>
            </a:pPr>
            <a:r>
              <a:rPr sz="1500" b="1">
                <a:solidFill>
                  <a:srgbClr val="627D98"/>
                </a:solidFill>
                <a:latin typeface="Segoe UI"/>
                <a:ea typeface="Segoe UI"/>
                <a:cs typeface="Segoe UI"/>
              </a:rPr>
              <a:t>Directory chỉ lưu sharer bitmap; MSI bảo đảm M có đúng một owner</a:t>
            </a:r>
          </a:p>
        </p:txBody>
      </p:sp>
      <p:sp>
        <p:nvSpPr>
          <p:cNvPr id="25" name="">
            <a:extLst xmlns:a="http://schemas.openxmlformats.org/drawingml/2006/main">
              <a:ext uri="{FF2B5EF4-FFF2-40B4-BE49-F238E27FC236}">
                <a16:creationId xmlns:a16="http://schemas.microsoft.com/office/drawing/2014/main" id="{8341F80C-5ADC-4354-8594-544FE32003F4}"/>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6" name="">
            <a:extLst xmlns:a="http://schemas.openxmlformats.org/drawingml/2006/main">
              <a:ext uri="{FF2B5EF4-FFF2-40B4-BE49-F238E27FC236}">
                <a16:creationId xmlns:a16="http://schemas.microsoft.com/office/drawing/2014/main" id="{A70AE1B3-2209-4B95-87B0-A07566E04211}"/>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10</a:t>
            </a:r>
          </a:p>
        </p:txBody>
      </p:sp>
    </p:spTree>
    <p:extLst>
      <p:ext uri="{BB962C8B-B14F-4D97-AF65-F5344CB8AC3E}">
        <p14:creationId xmlns:p14="http://schemas.microsoft.com/office/powerpoint/2010/main" val="117940019"/>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410898-7EC0-4FD3-9CF3-FD600200232F}"/>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AHB-Lite và AXI4 giữ hai vai trò khác nhau</a:t>
            </a:r>
          </a:p>
        </p:txBody>
      </p:sp>
      <p:sp>
        <p:nvSpPr>
          <p:cNvPr id="2" name="">
            <a:extLst xmlns:a="http://schemas.openxmlformats.org/drawingml/2006/main">
              <a:ext uri="{FF2B5EF4-FFF2-40B4-BE49-F238E27FC236}">
                <a16:creationId xmlns:a16="http://schemas.microsoft.com/office/drawing/2014/main" id="{BC115165-ACBC-4817-9910-1BB600579DE4}"/>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1944304c4ef4406"/>
          <a:stretch xmlns:a="http://schemas.openxmlformats.org/drawingml/2006/main"/>
        </p:blipFill>
        <p:spPr>
          <a:xfrm xmlns:a="http://schemas.openxmlformats.org/drawingml/2006/main">
            <a:off x="1778000" y="1190625"/>
            <a:ext cx="863600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FD3873-4E0E-4D90-9608-FA3A3F550B0F}"/>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4B72621D-068C-432E-9B9D-891CD80A7793}"/>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11</a:t>
            </a:r>
          </a:p>
        </p:txBody>
      </p:sp>
    </p:spTree>
    <p:extLst>
      <p:ext uri="{BB962C8B-B14F-4D97-AF65-F5344CB8AC3E}">
        <p14:creationId xmlns:p14="http://schemas.microsoft.com/office/powerpoint/2010/main" val="2056279178"/>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F58D52-5225-4514-B88B-F2830C3E56E6}"/>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Giao dịch AHB-Lite qua cache adapter</a:t>
            </a:r>
          </a:p>
        </p:txBody>
      </p:sp>
      <p:sp>
        <p:nvSpPr>
          <p:cNvPr id="2" name="">
            <a:extLst xmlns:a="http://schemas.openxmlformats.org/drawingml/2006/main">
              <a:ext uri="{FF2B5EF4-FFF2-40B4-BE49-F238E27FC236}">
                <a16:creationId xmlns:a16="http://schemas.microsoft.com/office/drawing/2014/main" id="{E60ADAB4-C051-4A0F-BD75-B85245EB87FC}"/>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30A7C447-9A54-442C-B41C-739571603708}"/>
              </a:ext>
            </a:extLst>
          </p:cNvPr>
          <p:cNvSpPr>
            <a:spLocks xmlns:a="http://schemas.openxmlformats.org/drawingml/2006/main" noGrp="1"/>
          </p:cNvSpPr>
          <p:nvPr/>
        </p:nvSpPr>
        <p:spPr>
          <a:xfrm xmlns:a="http://schemas.openxmlformats.org/drawingml/2006/main">
            <a:off x="762000" y="1476375"/>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Một request cache được tách thành address phase và data/response phase</a:t>
            </a:r>
          </a:p>
        </p:txBody>
      </p:sp>
      <p:sp>
        <p:nvSpPr>
          <p:cNvPr id="4" name="">
            <a:extLst xmlns:a="http://schemas.openxmlformats.org/drawingml/2006/main">
              <a:ext uri="{FF2B5EF4-FFF2-40B4-BE49-F238E27FC236}">
                <a16:creationId xmlns:a16="http://schemas.microsoft.com/office/drawing/2014/main" id="{B5CA9821-D2C5-48E2-B6EB-F65E297B4AA4}"/>
              </a:ext>
            </a:extLst>
          </p:cNvPr>
          <p:cNvSpPr>
            <a:spLocks xmlns:a="http://schemas.openxmlformats.org/drawingml/2006/main" noGrp="1"/>
          </p:cNvSpPr>
          <p:nvPr/>
        </p:nvSpPr>
        <p:spPr>
          <a:xfrm xmlns:a="http://schemas.openxmlformats.org/drawingml/2006/main">
            <a:off x="1143000" y="2476500"/>
            <a:ext cx="3143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19050">
            <a:solidFill>
              <a:srgbClr val="20639B"/>
            </a:solidFill>
          </a:ln>
        </p:spPr>
      </p:sp>
      <p:sp>
        <p:nvSpPr>
          <p:cNvPr id="5" name="">
            <a:extLst xmlns:a="http://schemas.openxmlformats.org/drawingml/2006/main">
              <a:ext uri="{FF2B5EF4-FFF2-40B4-BE49-F238E27FC236}">
                <a16:creationId xmlns:a16="http://schemas.microsoft.com/office/drawing/2014/main" id="{EAD73B53-12D5-4BDF-B6C4-870292B3A3B1}"/>
              </a:ext>
            </a:extLst>
          </p:cNvPr>
          <p:cNvSpPr>
            <a:spLocks xmlns:a="http://schemas.openxmlformats.org/drawingml/2006/main" noGrp="1"/>
          </p:cNvSpPr>
          <p:nvPr/>
        </p:nvSpPr>
        <p:spPr>
          <a:xfrm xmlns:a="http://schemas.openxmlformats.org/drawingml/2006/main">
            <a:off x="1381125" y="2619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20639B"/>
                </a:solidFill>
                <a:latin typeface="Segoe UI"/>
                <a:ea typeface="Segoe UI"/>
                <a:cs typeface="Segoe UI"/>
              </a:defRPr>
            </a:pPr>
            <a:r>
              <a:rPr sz="1800" b="1">
                <a:solidFill>
                  <a:srgbClr val="20639B"/>
                </a:solidFill>
                <a:latin typeface="Segoe UI"/>
                <a:ea typeface="Segoe UI"/>
                <a:cs typeface="Segoe UI"/>
              </a:rPr>
              <a:t>1  Address</a:t>
            </a:r>
          </a:p>
        </p:txBody>
      </p:sp>
      <p:sp>
        <p:nvSpPr>
          <p:cNvPr id="6" name="">
            <a:extLst xmlns:a="http://schemas.openxmlformats.org/drawingml/2006/main">
              <a:ext uri="{FF2B5EF4-FFF2-40B4-BE49-F238E27FC236}">
                <a16:creationId xmlns:a16="http://schemas.microsoft.com/office/drawing/2014/main" id="{B199CC3E-E679-4BED-8F61-177A6E651E4F}"/>
              </a:ext>
            </a:extLst>
          </p:cNvPr>
          <p:cNvSpPr>
            <a:spLocks xmlns:a="http://schemas.openxmlformats.org/drawingml/2006/main" noGrp="1"/>
          </p:cNvSpPr>
          <p:nvPr/>
        </p:nvSpPr>
        <p:spPr>
          <a:xfrm xmlns:a="http://schemas.openxmlformats.org/drawingml/2006/main">
            <a:off x="138112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HADDR, HWRITE, HTRANS, HMASTLOCK</a:t>
            </a:r>
          </a:p>
        </p:txBody>
      </p:sp>
      <p:sp>
        <p:nvSpPr>
          <p:cNvPr id="7" name="">
            <a:extLst xmlns:a="http://schemas.openxmlformats.org/drawingml/2006/main">
              <a:ext uri="{FF2B5EF4-FFF2-40B4-BE49-F238E27FC236}">
                <a16:creationId xmlns:a16="http://schemas.microsoft.com/office/drawing/2014/main" id="{0FDF61E2-66CC-4B13-B324-8534CD022840}"/>
              </a:ext>
            </a:extLst>
          </p:cNvPr>
          <p:cNvSpPr>
            <a:spLocks xmlns:a="http://schemas.openxmlformats.org/drawingml/2006/main" noGrp="1"/>
          </p:cNvSpPr>
          <p:nvPr/>
        </p:nvSpPr>
        <p:spPr>
          <a:xfrm xmlns:a="http://schemas.openxmlformats.org/drawingml/2006/main">
            <a:off x="4762500" y="2476500"/>
            <a:ext cx="3143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19050">
            <a:solidFill>
              <a:srgbClr val="ED553B"/>
            </a:solidFill>
          </a:ln>
        </p:spPr>
      </p:sp>
      <p:sp>
        <p:nvSpPr>
          <p:cNvPr id="8" name="">
            <a:extLst xmlns:a="http://schemas.openxmlformats.org/drawingml/2006/main">
              <a:ext uri="{FF2B5EF4-FFF2-40B4-BE49-F238E27FC236}">
                <a16:creationId xmlns:a16="http://schemas.microsoft.com/office/drawing/2014/main" id="{C038C048-23B2-427C-AA54-882CF1A88698}"/>
              </a:ext>
            </a:extLst>
          </p:cNvPr>
          <p:cNvSpPr>
            <a:spLocks xmlns:a="http://schemas.openxmlformats.org/drawingml/2006/main" noGrp="1"/>
          </p:cNvSpPr>
          <p:nvPr/>
        </p:nvSpPr>
        <p:spPr>
          <a:xfrm xmlns:a="http://schemas.openxmlformats.org/drawingml/2006/main">
            <a:off x="5000625" y="2619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ED553B"/>
                </a:solidFill>
                <a:latin typeface="Segoe UI"/>
                <a:ea typeface="Segoe UI"/>
                <a:cs typeface="Segoe UI"/>
              </a:defRPr>
            </a:pPr>
            <a:r>
              <a:rPr sz="1800" b="1">
                <a:solidFill>
                  <a:srgbClr val="ED553B"/>
                </a:solidFill>
                <a:latin typeface="Segoe UI"/>
                <a:ea typeface="Segoe UI"/>
                <a:cs typeface="Segoe UI"/>
              </a:rPr>
              <a:t>2  Wait</a:t>
            </a:r>
          </a:p>
        </p:txBody>
      </p:sp>
      <p:sp>
        <p:nvSpPr>
          <p:cNvPr id="9" name="">
            <a:extLst xmlns:a="http://schemas.openxmlformats.org/drawingml/2006/main">
              <a:ext uri="{FF2B5EF4-FFF2-40B4-BE49-F238E27FC236}">
                <a16:creationId xmlns:a16="http://schemas.microsoft.com/office/drawing/2014/main" id="{1085E948-D6FC-4A00-BCE7-9FA4AE4CA1DA}"/>
              </a:ext>
            </a:extLst>
          </p:cNvPr>
          <p:cNvSpPr>
            <a:spLocks xmlns:a="http://schemas.openxmlformats.org/drawingml/2006/main" noGrp="1"/>
          </p:cNvSpPr>
          <p:nvPr/>
        </p:nvSpPr>
        <p:spPr>
          <a:xfrm xmlns:a="http://schemas.openxmlformats.org/drawingml/2006/main">
            <a:off x="500062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HREADY giữ low khi coherence manager đang bận</a:t>
            </a:r>
          </a:p>
        </p:txBody>
      </p:sp>
      <p:sp>
        <p:nvSpPr>
          <p:cNvPr id="10" name="">
            <a:extLst xmlns:a="http://schemas.openxmlformats.org/drawingml/2006/main">
              <a:ext uri="{FF2B5EF4-FFF2-40B4-BE49-F238E27FC236}">
                <a16:creationId xmlns:a16="http://schemas.microsoft.com/office/drawing/2014/main" id="{E7E311A0-2890-43BC-ABCB-7E2A2BBA7FB1}"/>
              </a:ext>
            </a:extLst>
          </p:cNvPr>
          <p:cNvSpPr>
            <a:spLocks xmlns:a="http://schemas.openxmlformats.org/drawingml/2006/main" noGrp="1"/>
          </p:cNvSpPr>
          <p:nvPr/>
        </p:nvSpPr>
        <p:spPr>
          <a:xfrm xmlns:a="http://schemas.openxmlformats.org/drawingml/2006/main">
            <a:off x="8382000" y="2476500"/>
            <a:ext cx="3143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19050">
            <a:solidFill>
              <a:srgbClr val="3CAEA3"/>
            </a:solidFill>
          </a:ln>
        </p:spPr>
      </p:sp>
      <p:sp>
        <p:nvSpPr>
          <p:cNvPr id="11" name="">
            <a:extLst xmlns:a="http://schemas.openxmlformats.org/drawingml/2006/main">
              <a:ext uri="{FF2B5EF4-FFF2-40B4-BE49-F238E27FC236}">
                <a16:creationId xmlns:a16="http://schemas.microsoft.com/office/drawing/2014/main" id="{944F74B9-FA72-4044-A8C4-6F3F4D2BB7ED}"/>
              </a:ext>
            </a:extLst>
          </p:cNvPr>
          <p:cNvSpPr>
            <a:spLocks xmlns:a="http://schemas.openxmlformats.org/drawingml/2006/main" noGrp="1"/>
          </p:cNvSpPr>
          <p:nvPr/>
        </p:nvSpPr>
        <p:spPr>
          <a:xfrm xmlns:a="http://schemas.openxmlformats.org/drawingml/2006/main">
            <a:off x="8620125" y="2619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3CAEA3"/>
                </a:solidFill>
                <a:latin typeface="Segoe UI"/>
                <a:ea typeface="Segoe UI"/>
                <a:cs typeface="Segoe UI"/>
              </a:defRPr>
            </a:pPr>
            <a:r>
              <a:rPr sz="1800" b="1">
                <a:solidFill>
                  <a:srgbClr val="3CAEA3"/>
                </a:solidFill>
                <a:latin typeface="Segoe UI"/>
                <a:ea typeface="Segoe UI"/>
                <a:cs typeface="Segoe UI"/>
              </a:rPr>
              <a:t>3  Response</a:t>
            </a:r>
          </a:p>
        </p:txBody>
      </p:sp>
      <p:sp>
        <p:nvSpPr>
          <p:cNvPr id="12" name="">
            <a:extLst xmlns:a="http://schemas.openxmlformats.org/drawingml/2006/main">
              <a:ext uri="{FF2B5EF4-FFF2-40B4-BE49-F238E27FC236}">
                <a16:creationId xmlns:a16="http://schemas.microsoft.com/office/drawing/2014/main" id="{49E8D9E8-F041-49A0-874F-DEE9BF8D1149}"/>
              </a:ext>
            </a:extLst>
          </p:cNvPr>
          <p:cNvSpPr>
            <a:spLocks xmlns:a="http://schemas.openxmlformats.org/drawingml/2006/main" noGrp="1"/>
          </p:cNvSpPr>
          <p:nvPr/>
        </p:nvSpPr>
        <p:spPr>
          <a:xfrm xmlns:a="http://schemas.openxmlformats.org/drawingml/2006/main">
            <a:off x="862012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HRDATA hoặc write acknowledgement; HRESP báo lỗi</a:t>
            </a:r>
          </a:p>
        </p:txBody>
      </p:sp>
      <p:sp>
        <p:nvSpPr>
          <p:cNvPr id="13" name="">
            <a:extLst xmlns:a="http://schemas.openxmlformats.org/drawingml/2006/main">
              <a:ext uri="{FF2B5EF4-FFF2-40B4-BE49-F238E27FC236}">
                <a16:creationId xmlns:a16="http://schemas.microsoft.com/office/drawing/2014/main" id="{F725880A-FFF2-4CCB-BD90-515FFA8C7127}"/>
              </a:ext>
            </a:extLst>
          </p:cNvPr>
          <p:cNvSpPr>
            <a:spLocks xmlns:a="http://schemas.openxmlformats.org/drawingml/2006/main" noGrp="1"/>
          </p:cNvSpPr>
          <p:nvPr/>
        </p:nvSpPr>
        <p:spPr>
          <a:xfrm xmlns:a="http://schemas.openxmlformats.org/drawingml/2006/main">
            <a:off x="1047750" y="4667250"/>
            <a:ext cx="1009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RFO sử dụng HMASTLOCK để không mất ý nghĩa giành quyền ghi. Adapter slave giữ backend valid đến khi coherence manager nhận request.</a:t>
            </a:r>
          </a:p>
        </p:txBody>
      </p:sp>
      <p:sp>
        <p:nvSpPr>
          <p:cNvPr id="14" name="">
            <a:extLst xmlns:a="http://schemas.openxmlformats.org/drawingml/2006/main">
              <a:ext uri="{FF2B5EF4-FFF2-40B4-BE49-F238E27FC236}">
                <a16:creationId xmlns:a16="http://schemas.microsoft.com/office/drawing/2014/main" id="{33442345-13DF-4F53-A124-B07B94AA0E0D}"/>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15" name="">
            <a:extLst xmlns:a="http://schemas.openxmlformats.org/drawingml/2006/main">
              <a:ext uri="{FF2B5EF4-FFF2-40B4-BE49-F238E27FC236}">
                <a16:creationId xmlns:a16="http://schemas.microsoft.com/office/drawing/2014/main" id="{5E109D65-E5AB-483C-B695-09AC9C6D0D95}"/>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12</a:t>
            </a:r>
          </a:p>
        </p:txBody>
      </p:sp>
    </p:spTree>
    <p:extLst>
      <p:ext uri="{BB962C8B-B14F-4D97-AF65-F5344CB8AC3E}">
        <p14:creationId xmlns:p14="http://schemas.microsoft.com/office/powerpoint/2010/main" val="1495058760"/>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5662F3-E185-4E90-AB7D-DB771A209B63}"/>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Luồng boot, DMA và kiểm tra end-to-end</a:t>
            </a:r>
          </a:p>
        </p:txBody>
      </p:sp>
      <p:sp>
        <p:nvSpPr>
          <p:cNvPr id="2" name="">
            <a:extLst xmlns:a="http://schemas.openxmlformats.org/drawingml/2006/main">
              <a:ext uri="{FF2B5EF4-FFF2-40B4-BE49-F238E27FC236}">
                <a16:creationId xmlns:a16="http://schemas.microsoft.com/office/drawing/2014/main" id="{6C5263F5-B95C-41D3-9220-F1D28CE2C9EE}"/>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4427f31e2e94a5c"/>
          <a:stretch xmlns:a="http://schemas.openxmlformats.org/drawingml/2006/main"/>
        </p:blipFill>
        <p:spPr>
          <a:xfrm xmlns:a="http://schemas.openxmlformats.org/drawingml/2006/main">
            <a:off x="1778000" y="1143000"/>
            <a:ext cx="863600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EF3C01-D711-4AD0-AC60-950D533BE6F4}"/>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44DBA274-E649-4C6F-8CF3-648599B70C44}"/>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13</a:t>
            </a:r>
          </a:p>
        </p:txBody>
      </p:sp>
    </p:spTree>
    <p:extLst>
      <p:ext uri="{BB962C8B-B14F-4D97-AF65-F5344CB8AC3E}">
        <p14:creationId xmlns:p14="http://schemas.microsoft.com/office/powerpoint/2010/main" val="1004943664"/>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D72B39A-34A5-43CB-8A9C-374AF1CDBA5A}"/>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CSR, trap và chế độ đặc quyền</a:t>
            </a:r>
          </a:p>
        </p:txBody>
      </p:sp>
      <p:sp>
        <p:nvSpPr>
          <p:cNvPr id="2" name="">
            <a:extLst xmlns:a="http://schemas.openxmlformats.org/drawingml/2006/main">
              <a:ext uri="{FF2B5EF4-FFF2-40B4-BE49-F238E27FC236}">
                <a16:creationId xmlns:a16="http://schemas.microsoft.com/office/drawing/2014/main" id="{257004DF-3B32-40A2-A28E-73BBFE146AAF}"/>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0E419B7E-6592-4BF0-A0DF-C3456E808940}"/>
              </a:ext>
            </a:extLst>
          </p:cNvPr>
          <p:cNvSpPr>
            <a:spLocks xmlns:a="http://schemas.openxmlformats.org/drawingml/2006/main" noGrp="1"/>
          </p:cNvSpPr>
          <p:nvPr/>
        </p:nvSpPr>
        <p:spPr>
          <a:xfrm xmlns:a="http://schemas.openxmlformats.org/drawingml/2006/main">
            <a:off x="666750" y="15240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Nguồn sự kiện</a:t>
            </a:r>
          </a:p>
        </p:txBody>
      </p:sp>
      <p:sp>
        <p:nvSpPr>
          <p:cNvPr id="4" name="">
            <a:extLst xmlns:a="http://schemas.openxmlformats.org/drawingml/2006/main">
              <a:ext uri="{FF2B5EF4-FFF2-40B4-BE49-F238E27FC236}">
                <a16:creationId xmlns:a16="http://schemas.microsoft.com/office/drawing/2014/main" id="{A10AB1F6-5780-493A-ABD4-FF029C2BF5A1}"/>
              </a:ext>
            </a:extLst>
          </p:cNvPr>
          <p:cNvSpPr>
            <a:spLocks xmlns:a="http://schemas.openxmlformats.org/drawingml/2006/main" noGrp="1"/>
          </p:cNvSpPr>
          <p:nvPr/>
        </p:nvSpPr>
        <p:spPr>
          <a:xfrm xmlns:a="http://schemas.openxmlformats.org/drawingml/2006/main">
            <a:off x="71437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4EBC52E5-A293-4E2C-873E-515A8C65513D}"/>
              </a:ext>
            </a:extLst>
          </p:cNvPr>
          <p:cNvSpPr>
            <a:spLocks xmlns:a="http://schemas.openxmlformats.org/drawingml/2006/main" noGrp="1"/>
          </p:cNvSpPr>
          <p:nvPr/>
        </p:nvSpPr>
        <p:spPr>
          <a:xfrm xmlns:a="http://schemas.openxmlformats.org/drawingml/2006/main">
            <a:off x="942975" y="20955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ECALL, EBREAK, illegal instruction</a:t>
            </a:r>
          </a:p>
        </p:txBody>
      </p:sp>
      <p:sp>
        <p:nvSpPr>
          <p:cNvPr id="6" name="">
            <a:extLst xmlns:a="http://schemas.openxmlformats.org/drawingml/2006/main">
              <a:ext uri="{FF2B5EF4-FFF2-40B4-BE49-F238E27FC236}">
                <a16:creationId xmlns:a16="http://schemas.microsoft.com/office/drawing/2014/main" id="{B98D7293-607B-49D0-9CC5-535F4914E360}"/>
              </a:ext>
            </a:extLst>
          </p:cNvPr>
          <p:cNvSpPr>
            <a:spLocks xmlns:a="http://schemas.openxmlformats.org/drawingml/2006/main" noGrp="1"/>
          </p:cNvSpPr>
          <p:nvPr/>
        </p:nvSpPr>
        <p:spPr>
          <a:xfrm xmlns:a="http://schemas.openxmlformats.org/drawingml/2006/main">
            <a:off x="714375" y="28765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7" name="">
            <a:extLst xmlns:a="http://schemas.openxmlformats.org/drawingml/2006/main">
              <a:ext uri="{FF2B5EF4-FFF2-40B4-BE49-F238E27FC236}">
                <a16:creationId xmlns:a16="http://schemas.microsoft.com/office/drawing/2014/main" id="{59D6E6A0-F73F-42BE-8920-07B8F51D71DA}"/>
              </a:ext>
            </a:extLst>
          </p:cNvPr>
          <p:cNvSpPr>
            <a:spLocks xmlns:a="http://schemas.openxmlformats.org/drawingml/2006/main" noGrp="1"/>
          </p:cNvSpPr>
          <p:nvPr/>
        </p:nvSpPr>
        <p:spPr>
          <a:xfrm xmlns:a="http://schemas.openxmlformats.org/drawingml/2006/main">
            <a:off x="942975" y="27813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Instruction/data page fault</a:t>
            </a:r>
          </a:p>
        </p:txBody>
      </p:sp>
      <p:sp>
        <p:nvSpPr>
          <p:cNvPr id="8" name="">
            <a:extLst xmlns:a="http://schemas.openxmlformats.org/drawingml/2006/main">
              <a:ext uri="{FF2B5EF4-FFF2-40B4-BE49-F238E27FC236}">
                <a16:creationId xmlns:a16="http://schemas.microsoft.com/office/drawing/2014/main" id="{B72E950E-F566-4956-8387-9CBCB07412EA}"/>
              </a:ext>
            </a:extLst>
          </p:cNvPr>
          <p:cNvSpPr>
            <a:spLocks xmlns:a="http://schemas.openxmlformats.org/drawingml/2006/main" noGrp="1"/>
          </p:cNvSpPr>
          <p:nvPr/>
        </p:nvSpPr>
        <p:spPr>
          <a:xfrm xmlns:a="http://schemas.openxmlformats.org/drawingml/2006/main">
            <a:off x="714375" y="35623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9" name="">
            <a:extLst xmlns:a="http://schemas.openxmlformats.org/drawingml/2006/main">
              <a:ext uri="{FF2B5EF4-FFF2-40B4-BE49-F238E27FC236}">
                <a16:creationId xmlns:a16="http://schemas.microsoft.com/office/drawing/2014/main" id="{30D8AB95-C984-4083-AF6D-C1D33D839882}"/>
              </a:ext>
            </a:extLst>
          </p:cNvPr>
          <p:cNvSpPr>
            <a:spLocks xmlns:a="http://schemas.openxmlformats.org/drawingml/2006/main" noGrp="1"/>
          </p:cNvSpPr>
          <p:nvPr/>
        </p:nvSpPr>
        <p:spPr>
          <a:xfrm xmlns:a="http://schemas.openxmlformats.org/drawingml/2006/main">
            <a:off x="942975" y="34671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MRET, SRET và SFENCE.VMA</a:t>
            </a:r>
          </a:p>
        </p:txBody>
      </p:sp>
      <p:sp>
        <p:nvSpPr>
          <p:cNvPr id="10" name="">
            <a:extLst xmlns:a="http://schemas.openxmlformats.org/drawingml/2006/main">
              <a:ext uri="{FF2B5EF4-FFF2-40B4-BE49-F238E27FC236}">
                <a16:creationId xmlns:a16="http://schemas.microsoft.com/office/drawing/2014/main" id="{65819A3E-B063-4B52-9FF4-7488F1042BF1}"/>
              </a:ext>
            </a:extLst>
          </p:cNvPr>
          <p:cNvSpPr>
            <a:spLocks xmlns:a="http://schemas.openxmlformats.org/drawingml/2006/main" noGrp="1"/>
          </p:cNvSpPr>
          <p:nvPr/>
        </p:nvSpPr>
        <p:spPr>
          <a:xfrm xmlns:a="http://schemas.openxmlformats.org/drawingml/2006/main">
            <a:off x="4476750" y="1666875"/>
            <a:ext cx="31432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ED553B"/>
            </a:solidFill>
          </a:ln>
        </p:spPr>
      </p:sp>
      <p:sp>
        <p:nvSpPr>
          <p:cNvPr id="11" name="">
            <a:extLst xmlns:a="http://schemas.openxmlformats.org/drawingml/2006/main">
              <a:ext uri="{FF2B5EF4-FFF2-40B4-BE49-F238E27FC236}">
                <a16:creationId xmlns:a16="http://schemas.microsoft.com/office/drawing/2014/main" id="{CC95957B-CD3A-4B23-AAC8-A2EECA0469B8}"/>
              </a:ext>
            </a:extLst>
          </p:cNvPr>
          <p:cNvSpPr>
            <a:spLocks xmlns:a="http://schemas.openxmlformats.org/drawingml/2006/main" noGrp="1"/>
          </p:cNvSpPr>
          <p:nvPr/>
        </p:nvSpPr>
        <p:spPr>
          <a:xfrm xmlns:a="http://schemas.openxmlformats.org/drawingml/2006/main">
            <a:off x="4762500" y="18573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ED553B"/>
                </a:solidFill>
                <a:latin typeface="Segoe UI"/>
                <a:ea typeface="Segoe UI"/>
                <a:cs typeface="Segoe UI"/>
              </a:defRPr>
            </a:pPr>
            <a:r>
              <a:rPr sz="2025" b="1">
                <a:solidFill>
                  <a:srgbClr val="ED553B"/>
                </a:solidFill>
                <a:latin typeface="Segoe UI"/>
                <a:ea typeface="Segoe UI"/>
                <a:cs typeface="Segoe UI"/>
              </a:rPr>
              <a:t>csr_trap_unit</a:t>
            </a:r>
          </a:p>
        </p:txBody>
      </p:sp>
      <p:sp>
        <p:nvSpPr>
          <p:cNvPr id="12" name="">
            <a:extLst xmlns:a="http://schemas.openxmlformats.org/drawingml/2006/main">
              <a:ext uri="{FF2B5EF4-FFF2-40B4-BE49-F238E27FC236}">
                <a16:creationId xmlns:a16="http://schemas.microsoft.com/office/drawing/2014/main" id="{49F32585-E3CA-4930-ABC0-8AC952645D55}"/>
              </a:ext>
            </a:extLst>
          </p:cNvPr>
          <p:cNvSpPr>
            <a:spLocks xmlns:a="http://schemas.openxmlformats.org/drawingml/2006/main" noGrp="1"/>
          </p:cNvSpPr>
          <p:nvPr/>
        </p:nvSpPr>
        <p:spPr>
          <a:xfrm xmlns:a="http://schemas.openxmlformats.org/drawingml/2006/main">
            <a:off x="4810125" y="2619375"/>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3" name="">
            <a:extLst xmlns:a="http://schemas.openxmlformats.org/drawingml/2006/main">
              <a:ext uri="{FF2B5EF4-FFF2-40B4-BE49-F238E27FC236}">
                <a16:creationId xmlns:a16="http://schemas.microsoft.com/office/drawing/2014/main" id="{A43593F0-0A41-41AB-A743-F5301C256A80}"/>
              </a:ext>
            </a:extLst>
          </p:cNvPr>
          <p:cNvSpPr>
            <a:spLocks xmlns:a="http://schemas.openxmlformats.org/drawingml/2006/main" noGrp="1"/>
          </p:cNvSpPr>
          <p:nvPr/>
        </p:nvSpPr>
        <p:spPr>
          <a:xfrm xmlns:a="http://schemas.openxmlformats.org/drawingml/2006/main">
            <a:off x="5038725" y="2524125"/>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CSR M/S</a:t>
            </a:r>
          </a:p>
        </p:txBody>
      </p:sp>
      <p:sp>
        <p:nvSpPr>
          <p:cNvPr id="14" name="">
            <a:extLst xmlns:a="http://schemas.openxmlformats.org/drawingml/2006/main">
              <a:ext uri="{FF2B5EF4-FFF2-40B4-BE49-F238E27FC236}">
                <a16:creationId xmlns:a16="http://schemas.microsoft.com/office/drawing/2014/main" id="{BB931DF3-3562-41A7-B49D-0E14276269F1}"/>
              </a:ext>
            </a:extLst>
          </p:cNvPr>
          <p:cNvSpPr>
            <a:spLocks xmlns:a="http://schemas.openxmlformats.org/drawingml/2006/main" noGrp="1"/>
          </p:cNvSpPr>
          <p:nvPr/>
        </p:nvSpPr>
        <p:spPr>
          <a:xfrm xmlns:a="http://schemas.openxmlformats.org/drawingml/2006/main">
            <a:off x="4810125" y="30765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5" name="">
            <a:extLst xmlns:a="http://schemas.openxmlformats.org/drawingml/2006/main">
              <a:ext uri="{FF2B5EF4-FFF2-40B4-BE49-F238E27FC236}">
                <a16:creationId xmlns:a16="http://schemas.microsoft.com/office/drawing/2014/main" id="{3A9245D6-8D10-4EFD-B409-CE3C158E9BBF}"/>
              </a:ext>
            </a:extLst>
          </p:cNvPr>
          <p:cNvSpPr>
            <a:spLocks xmlns:a="http://schemas.openxmlformats.org/drawingml/2006/main" noGrp="1"/>
          </p:cNvSpPr>
          <p:nvPr/>
        </p:nvSpPr>
        <p:spPr>
          <a:xfrm xmlns:a="http://schemas.openxmlformats.org/drawingml/2006/main">
            <a:off x="5038725" y="2981325"/>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CurrentPriv M/S/U</a:t>
            </a:r>
          </a:p>
        </p:txBody>
      </p:sp>
      <p:sp>
        <p:nvSpPr>
          <p:cNvPr id="16" name="">
            <a:extLst xmlns:a="http://schemas.openxmlformats.org/drawingml/2006/main">
              <a:ext uri="{FF2B5EF4-FFF2-40B4-BE49-F238E27FC236}">
                <a16:creationId xmlns:a16="http://schemas.microsoft.com/office/drawing/2014/main" id="{BD44EA58-FC2C-4577-8E77-3F4293634054}"/>
              </a:ext>
            </a:extLst>
          </p:cNvPr>
          <p:cNvSpPr>
            <a:spLocks xmlns:a="http://schemas.openxmlformats.org/drawingml/2006/main" noGrp="1"/>
          </p:cNvSpPr>
          <p:nvPr/>
        </p:nvSpPr>
        <p:spPr>
          <a:xfrm xmlns:a="http://schemas.openxmlformats.org/drawingml/2006/main">
            <a:off x="4810125" y="35337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7" name="">
            <a:extLst xmlns:a="http://schemas.openxmlformats.org/drawingml/2006/main">
              <a:ext uri="{FF2B5EF4-FFF2-40B4-BE49-F238E27FC236}">
                <a16:creationId xmlns:a16="http://schemas.microsoft.com/office/drawing/2014/main" id="{240DED9B-1D69-46C5-BD01-6B3418F513D7}"/>
              </a:ext>
            </a:extLst>
          </p:cNvPr>
          <p:cNvSpPr>
            <a:spLocks xmlns:a="http://schemas.openxmlformats.org/drawingml/2006/main" noGrp="1"/>
          </p:cNvSpPr>
          <p:nvPr/>
        </p:nvSpPr>
        <p:spPr>
          <a:xfrm xmlns:a="http://schemas.openxmlformats.org/drawingml/2006/main">
            <a:off x="5038725" y="3438525"/>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Delegation</a:t>
            </a:r>
          </a:p>
        </p:txBody>
      </p:sp>
      <p:sp>
        <p:nvSpPr>
          <p:cNvPr id="18" name="">
            <a:extLst xmlns:a="http://schemas.openxmlformats.org/drawingml/2006/main">
              <a:ext uri="{FF2B5EF4-FFF2-40B4-BE49-F238E27FC236}">
                <a16:creationId xmlns:a16="http://schemas.microsoft.com/office/drawing/2014/main" id="{8C01145D-EA89-432B-831C-738A67579B64}"/>
              </a:ext>
            </a:extLst>
          </p:cNvPr>
          <p:cNvSpPr>
            <a:spLocks xmlns:a="http://schemas.openxmlformats.org/drawingml/2006/main" noGrp="1"/>
          </p:cNvSpPr>
          <p:nvPr/>
        </p:nvSpPr>
        <p:spPr>
          <a:xfrm xmlns:a="http://schemas.openxmlformats.org/drawingml/2006/main">
            <a:off x="4810125" y="39909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9" name="">
            <a:extLst xmlns:a="http://schemas.openxmlformats.org/drawingml/2006/main">
              <a:ext uri="{FF2B5EF4-FFF2-40B4-BE49-F238E27FC236}">
                <a16:creationId xmlns:a16="http://schemas.microsoft.com/office/drawing/2014/main" id="{5AE06F59-0E98-4166-9D41-3AFB9C524329}"/>
              </a:ext>
            </a:extLst>
          </p:cNvPr>
          <p:cNvSpPr>
            <a:spLocks xmlns:a="http://schemas.openxmlformats.org/drawingml/2006/main" noGrp="1"/>
          </p:cNvSpPr>
          <p:nvPr/>
        </p:nvSpPr>
        <p:spPr>
          <a:xfrm xmlns:a="http://schemas.openxmlformats.org/drawingml/2006/main">
            <a:off x="5038725" y="3895725"/>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PC redirect</a:t>
            </a:r>
          </a:p>
        </p:txBody>
      </p:sp>
      <p:sp>
        <p:nvSpPr>
          <p:cNvPr id="20" name="">
            <a:extLst xmlns:a="http://schemas.openxmlformats.org/drawingml/2006/main">
              <a:ext uri="{FF2B5EF4-FFF2-40B4-BE49-F238E27FC236}">
                <a16:creationId xmlns:a16="http://schemas.microsoft.com/office/drawing/2014/main" id="{2632C8B6-6CE8-4719-8A56-7F614963AF00}"/>
              </a:ext>
            </a:extLst>
          </p:cNvPr>
          <p:cNvSpPr>
            <a:spLocks xmlns:a="http://schemas.openxmlformats.org/drawingml/2006/main" noGrp="1"/>
          </p:cNvSpPr>
          <p:nvPr/>
        </p:nvSpPr>
        <p:spPr>
          <a:xfrm xmlns:a="http://schemas.openxmlformats.org/drawingml/2006/main">
            <a:off x="4810125" y="44481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1" name="">
            <a:extLst xmlns:a="http://schemas.openxmlformats.org/drawingml/2006/main">
              <a:ext uri="{FF2B5EF4-FFF2-40B4-BE49-F238E27FC236}">
                <a16:creationId xmlns:a16="http://schemas.microsoft.com/office/drawing/2014/main" id="{FE4035C8-2637-4190-B426-A4ED9A04F3A7}"/>
              </a:ext>
            </a:extLst>
          </p:cNvPr>
          <p:cNvSpPr>
            <a:spLocks xmlns:a="http://schemas.openxmlformats.org/drawingml/2006/main" noGrp="1"/>
          </p:cNvSpPr>
          <p:nvPr/>
        </p:nvSpPr>
        <p:spPr>
          <a:xfrm xmlns:a="http://schemas.openxmlformats.org/drawingml/2006/main">
            <a:off x="5038725" y="4352925"/>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satp, SUM, MXR</a:t>
            </a:r>
          </a:p>
        </p:txBody>
      </p:sp>
      <p:sp>
        <p:nvSpPr>
          <p:cNvPr id="22" name="">
            <a:extLst xmlns:a="http://schemas.openxmlformats.org/drawingml/2006/main">
              <a:ext uri="{FF2B5EF4-FFF2-40B4-BE49-F238E27FC236}">
                <a16:creationId xmlns:a16="http://schemas.microsoft.com/office/drawing/2014/main" id="{A70F24C6-938C-436F-9D3E-DC63C56AB98C}"/>
              </a:ext>
            </a:extLst>
          </p:cNvPr>
          <p:cNvSpPr>
            <a:spLocks xmlns:a="http://schemas.openxmlformats.org/drawingml/2006/main" noGrp="1"/>
          </p:cNvSpPr>
          <p:nvPr/>
        </p:nvSpPr>
        <p:spPr>
          <a:xfrm xmlns:a="http://schemas.openxmlformats.org/drawingml/2006/main">
            <a:off x="8096250" y="15240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Đầu ra hệ thống</a:t>
            </a:r>
          </a:p>
        </p:txBody>
      </p:sp>
      <p:sp>
        <p:nvSpPr>
          <p:cNvPr id="23" name="">
            <a:extLst xmlns:a="http://schemas.openxmlformats.org/drawingml/2006/main">
              <a:ext uri="{FF2B5EF4-FFF2-40B4-BE49-F238E27FC236}">
                <a16:creationId xmlns:a16="http://schemas.microsoft.com/office/drawing/2014/main" id="{0E1CA99B-1EAB-4A89-B0E7-B2696B724E2B}"/>
              </a:ext>
            </a:extLst>
          </p:cNvPr>
          <p:cNvSpPr>
            <a:spLocks xmlns:a="http://schemas.openxmlformats.org/drawingml/2006/main" noGrp="1"/>
          </p:cNvSpPr>
          <p:nvPr/>
        </p:nvSpPr>
        <p:spPr>
          <a:xfrm xmlns:a="http://schemas.openxmlformats.org/drawingml/2006/main">
            <a:off x="814387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24" name="">
            <a:extLst xmlns:a="http://schemas.openxmlformats.org/drawingml/2006/main">
              <a:ext uri="{FF2B5EF4-FFF2-40B4-BE49-F238E27FC236}">
                <a16:creationId xmlns:a16="http://schemas.microsoft.com/office/drawing/2014/main" id="{BD033D44-7EF3-4914-927F-9795A2489696}"/>
              </a:ext>
            </a:extLst>
          </p:cNvPr>
          <p:cNvSpPr>
            <a:spLocks xmlns:a="http://schemas.openxmlformats.org/drawingml/2006/main" noGrp="1"/>
          </p:cNvSpPr>
          <p:nvPr/>
        </p:nvSpPr>
        <p:spPr>
          <a:xfrm xmlns:a="http://schemas.openxmlformats.org/drawingml/2006/main">
            <a:off x="8372475" y="209550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Trap vector và cause</a:t>
            </a:r>
          </a:p>
        </p:txBody>
      </p:sp>
      <p:sp>
        <p:nvSpPr>
          <p:cNvPr id="25" name="">
            <a:extLst xmlns:a="http://schemas.openxmlformats.org/drawingml/2006/main">
              <a:ext uri="{FF2B5EF4-FFF2-40B4-BE49-F238E27FC236}">
                <a16:creationId xmlns:a16="http://schemas.microsoft.com/office/drawing/2014/main" id="{33F7062D-0B39-4E0D-8B06-81B1B9F501F8}"/>
              </a:ext>
            </a:extLst>
          </p:cNvPr>
          <p:cNvSpPr>
            <a:spLocks xmlns:a="http://schemas.openxmlformats.org/drawingml/2006/main" noGrp="1"/>
          </p:cNvSpPr>
          <p:nvPr/>
        </p:nvSpPr>
        <p:spPr>
          <a:xfrm xmlns:a="http://schemas.openxmlformats.org/drawingml/2006/main">
            <a:off x="8143875" y="28194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6" name="">
            <a:extLst xmlns:a="http://schemas.openxmlformats.org/drawingml/2006/main">
              <a:ext uri="{FF2B5EF4-FFF2-40B4-BE49-F238E27FC236}">
                <a16:creationId xmlns:a16="http://schemas.microsoft.com/office/drawing/2014/main" id="{D1D8E53D-E851-4F09-8DD2-EFB18D4CC278}"/>
              </a:ext>
            </a:extLst>
          </p:cNvPr>
          <p:cNvSpPr>
            <a:spLocks xmlns:a="http://schemas.openxmlformats.org/drawingml/2006/main" noGrp="1"/>
          </p:cNvSpPr>
          <p:nvPr/>
        </p:nvSpPr>
        <p:spPr>
          <a:xfrm xmlns:a="http://schemas.openxmlformats.org/drawingml/2006/main">
            <a:off x="8372475" y="272415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MMU enable / flush</a:t>
            </a:r>
          </a:p>
        </p:txBody>
      </p:sp>
      <p:sp>
        <p:nvSpPr>
          <p:cNvPr id="27" name="">
            <a:extLst xmlns:a="http://schemas.openxmlformats.org/drawingml/2006/main">
              <a:ext uri="{FF2B5EF4-FFF2-40B4-BE49-F238E27FC236}">
                <a16:creationId xmlns:a16="http://schemas.microsoft.com/office/drawing/2014/main" id="{F932EB9B-DA3E-4BD8-AABF-67A13DA7576A}"/>
              </a:ext>
            </a:extLst>
          </p:cNvPr>
          <p:cNvSpPr>
            <a:spLocks xmlns:a="http://schemas.openxmlformats.org/drawingml/2006/main" noGrp="1"/>
          </p:cNvSpPr>
          <p:nvPr/>
        </p:nvSpPr>
        <p:spPr>
          <a:xfrm xmlns:a="http://schemas.openxmlformats.org/drawingml/2006/main">
            <a:off x="8143875" y="34480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8" name="">
            <a:extLst xmlns:a="http://schemas.openxmlformats.org/drawingml/2006/main">
              <a:ext uri="{FF2B5EF4-FFF2-40B4-BE49-F238E27FC236}">
                <a16:creationId xmlns:a16="http://schemas.microsoft.com/office/drawing/2014/main" id="{A44AB6CB-7B4B-4441-A358-6AA5CDB49D9B}"/>
              </a:ext>
            </a:extLst>
          </p:cNvPr>
          <p:cNvSpPr>
            <a:spLocks xmlns:a="http://schemas.openxmlformats.org/drawingml/2006/main" noGrp="1"/>
          </p:cNvSpPr>
          <p:nvPr/>
        </p:nvSpPr>
        <p:spPr>
          <a:xfrm xmlns:a="http://schemas.openxmlformats.org/drawingml/2006/main">
            <a:off x="8372475" y="335280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Quyền truy cập U/S</a:t>
            </a:r>
          </a:p>
        </p:txBody>
      </p:sp>
      <p:sp>
        <p:nvSpPr>
          <p:cNvPr id="29" name="">
            <a:extLst xmlns:a="http://schemas.openxmlformats.org/drawingml/2006/main">
              <a:ext uri="{FF2B5EF4-FFF2-40B4-BE49-F238E27FC236}">
                <a16:creationId xmlns:a16="http://schemas.microsoft.com/office/drawing/2014/main" id="{DA095959-C14D-428F-B17E-6DA245A04BC7}"/>
              </a:ext>
            </a:extLst>
          </p:cNvPr>
          <p:cNvSpPr>
            <a:spLocks xmlns:a="http://schemas.openxmlformats.org/drawingml/2006/main" noGrp="1"/>
          </p:cNvSpPr>
          <p:nvPr/>
        </p:nvSpPr>
        <p:spPr>
          <a:xfrm xmlns:a="http://schemas.openxmlformats.org/drawingml/2006/main">
            <a:off x="8143875" y="40767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30" name="">
            <a:extLst xmlns:a="http://schemas.openxmlformats.org/drawingml/2006/main">
              <a:ext uri="{FF2B5EF4-FFF2-40B4-BE49-F238E27FC236}">
                <a16:creationId xmlns:a16="http://schemas.microsoft.com/office/drawing/2014/main" id="{68E416E1-AF20-4D0D-9935-010A001D0816}"/>
              </a:ext>
            </a:extLst>
          </p:cNvPr>
          <p:cNvSpPr>
            <a:spLocks xmlns:a="http://schemas.openxmlformats.org/drawingml/2006/main" noGrp="1"/>
          </p:cNvSpPr>
          <p:nvPr/>
        </p:nvSpPr>
        <p:spPr>
          <a:xfrm xmlns:a="http://schemas.openxmlformats.org/drawingml/2006/main">
            <a:off x="8372475" y="398145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Địa chỉ lỗi mtval/stval</a:t>
            </a:r>
          </a:p>
        </p:txBody>
      </p:sp>
      <p:sp>
        <p:nvSpPr>
          <p:cNvPr id="31" name="">
            <a:extLst xmlns:a="http://schemas.openxmlformats.org/drawingml/2006/main">
              <a:ext uri="{FF2B5EF4-FFF2-40B4-BE49-F238E27FC236}">
                <a16:creationId xmlns:a16="http://schemas.microsoft.com/office/drawing/2014/main" id="{3B3C95A9-B9C6-4D2F-8AC6-EF8F755FD637}"/>
              </a:ext>
            </a:extLst>
          </p:cNvPr>
          <p:cNvSpPr>
            <a:spLocks xmlns:a="http://schemas.openxmlformats.org/drawingml/2006/main" noGrp="1"/>
          </p:cNvSpPr>
          <p:nvPr/>
        </p:nvSpPr>
        <p:spPr>
          <a:xfrm xmlns:a="http://schemas.openxmlformats.org/drawingml/2006/main">
            <a:off x="1143000" y="52863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C43D3D"/>
                </a:solidFill>
                <a:latin typeface="Segoe UI"/>
                <a:ea typeface="Segoe UI"/>
                <a:cs typeface="Segoe UI"/>
              </a:defRPr>
            </a:pPr>
            <a:r>
              <a:rPr sz="1500" b="1">
                <a:solidFill>
                  <a:srgbClr val="C43D3D"/>
                </a:solidFill>
                <a:latin typeface="Segoe UI"/>
                <a:ea typeface="Segoe UI"/>
                <a:cs typeface="Segoe UI"/>
              </a:rPr>
              <a:t>Giới hạn còn theo dõi: regression medeleg/ECALL đặc quyền chưa sạch hoàn toàn</a:t>
            </a:r>
          </a:p>
        </p:txBody>
      </p:sp>
      <p:sp>
        <p:nvSpPr>
          <p:cNvPr id="32" name="">
            <a:extLst xmlns:a="http://schemas.openxmlformats.org/drawingml/2006/main">
              <a:ext uri="{FF2B5EF4-FFF2-40B4-BE49-F238E27FC236}">
                <a16:creationId xmlns:a16="http://schemas.microsoft.com/office/drawing/2014/main" id="{E8C32B12-748E-419B-899C-5DCEFA8CC7D5}"/>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33" name="">
            <a:extLst xmlns:a="http://schemas.openxmlformats.org/drawingml/2006/main">
              <a:ext uri="{FF2B5EF4-FFF2-40B4-BE49-F238E27FC236}">
                <a16:creationId xmlns:a16="http://schemas.microsoft.com/office/drawing/2014/main" id="{56A47755-D7AB-471B-BF45-1CB5C593B4AE}"/>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14</a:t>
            </a:r>
          </a:p>
        </p:txBody>
      </p:sp>
    </p:spTree>
    <p:extLst>
      <p:ext uri="{BB962C8B-B14F-4D97-AF65-F5344CB8AC3E}">
        <p14:creationId xmlns:p14="http://schemas.microsoft.com/office/powerpoint/2010/main" val="1021709755"/>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0BD281-2F88-4F86-9D3C-99EA0C867C17}"/>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Chiến lược kiểm chứng không dùng UVM</a:t>
            </a:r>
          </a:p>
        </p:txBody>
      </p:sp>
      <p:sp>
        <p:nvSpPr>
          <p:cNvPr id="2" name="">
            <a:extLst xmlns:a="http://schemas.openxmlformats.org/drawingml/2006/main">
              <a:ext uri="{FF2B5EF4-FFF2-40B4-BE49-F238E27FC236}">
                <a16:creationId xmlns:a16="http://schemas.microsoft.com/office/drawing/2014/main" id="{EF3C1F83-FC3E-40BF-A3AB-A058DAD81D82}"/>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a30be7b7f41436f"/>
          <a:stretch xmlns:a="http://schemas.openxmlformats.org/drawingml/2006/main"/>
        </p:blipFill>
        <p:spPr>
          <a:xfrm xmlns:a="http://schemas.openxmlformats.org/drawingml/2006/main">
            <a:off x="1735667" y="1143000"/>
            <a:ext cx="8720667"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11D129-85C5-4906-A0E8-8F8C4C476E06}"/>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A579F105-1643-4EE2-9B66-1572F2CA90E8}"/>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15</a:t>
            </a:r>
          </a:p>
        </p:txBody>
      </p:sp>
    </p:spTree>
    <p:extLst>
      <p:ext uri="{BB962C8B-B14F-4D97-AF65-F5344CB8AC3E}">
        <p14:creationId xmlns:p14="http://schemas.microsoft.com/office/powerpoint/2010/main" val="1857654738"/>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C1E6120-AD20-4FAB-834E-D7BF6ED6C973}"/>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Bằng chứng mô phỏng RTL hiện có</a:t>
            </a:r>
          </a:p>
        </p:txBody>
      </p:sp>
      <p:sp>
        <p:nvSpPr>
          <p:cNvPr id="2" name="">
            <a:extLst xmlns:a="http://schemas.openxmlformats.org/drawingml/2006/main">
              <a:ext uri="{FF2B5EF4-FFF2-40B4-BE49-F238E27FC236}">
                <a16:creationId xmlns:a16="http://schemas.microsoft.com/office/drawing/2014/main" id="{BB385257-F3DF-449C-BFFF-8FD37C72C416}"/>
              </a:ext>
            </a:extLst>
          </p:cNvPr>
          <p:cNvSpPr>
            <a:spLocks xmlns:a="http://schemas.openxmlformats.org/drawingml/2006/main" noGrp="1"/>
          </p:cNvSpPr>
          <p:nvPr/>
        </p:nvSpPr>
        <p:spPr>
          <a:xfrm xmlns:a="http://schemas.openxmlformats.org/drawingml/2006/main">
            <a:off x="571500" y="8667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627D98"/>
                </a:solidFill>
                <a:latin typeface="Segoe UI"/>
                <a:ea typeface="Segoe UI"/>
                <a:cs typeface="Segoe UI"/>
              </a:defRPr>
            </a:pPr>
            <a:r>
              <a:rPr sz="1350" b="0">
                <a:solidFill>
                  <a:srgbClr val="627D98"/>
                </a:solidFill>
                <a:latin typeface="Segoe UI"/>
                <a:ea typeface="Segoe UI"/>
                <a:cs typeface="Segoe UI"/>
              </a:rPr>
              <a:t>Kết quả đã chạy lại sau khi tổ chức thư mục</a:t>
            </a:r>
          </a:p>
        </p:txBody>
      </p:sp>
      <p:sp>
        <p:nvSpPr>
          <p:cNvPr id="3" name="">
            <a:extLst xmlns:a="http://schemas.openxmlformats.org/drawingml/2006/main">
              <a:ext uri="{FF2B5EF4-FFF2-40B4-BE49-F238E27FC236}">
                <a16:creationId xmlns:a16="http://schemas.microsoft.com/office/drawing/2014/main" id="{3C708BC6-F254-4750-83B4-DF7F35B00E18}"/>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4" name="">
            <a:extLst xmlns:a="http://schemas.openxmlformats.org/drawingml/2006/main">
              <a:ext uri="{FF2B5EF4-FFF2-40B4-BE49-F238E27FC236}">
                <a16:creationId xmlns:a16="http://schemas.microsoft.com/office/drawing/2014/main" id="{88D718FE-F902-4968-BA7D-CEAB0B78E93A}"/>
              </a:ext>
            </a:extLst>
          </p:cNvPr>
          <p:cNvSpPr>
            <a:spLocks xmlns:a="http://schemas.openxmlformats.org/drawingml/2006/main" noGrp="1"/>
          </p:cNvSpPr>
          <p:nvPr/>
        </p:nvSpPr>
        <p:spPr>
          <a:xfrm xmlns:a="http://schemas.openxmlformats.org/drawingml/2006/main">
            <a:off x="685800" y="15240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MSI_COHERENCE_TB</a:t>
            </a:r>
          </a:p>
        </p:txBody>
      </p:sp>
      <p:sp>
        <p:nvSpPr>
          <p:cNvPr id="5" name="">
            <a:extLst xmlns:a="http://schemas.openxmlformats.org/drawingml/2006/main">
              <a:ext uri="{FF2B5EF4-FFF2-40B4-BE49-F238E27FC236}">
                <a16:creationId xmlns:a16="http://schemas.microsoft.com/office/drawing/2014/main" id="{DCA8A666-B9D5-4FDB-9722-A46F8B0F2000}"/>
              </a:ext>
            </a:extLst>
          </p:cNvPr>
          <p:cNvSpPr>
            <a:spLocks xmlns:a="http://schemas.openxmlformats.org/drawingml/2006/main" noGrp="1"/>
          </p:cNvSpPr>
          <p:nvPr/>
        </p:nvSpPr>
        <p:spPr>
          <a:xfrm xmlns:a="http://schemas.openxmlformats.org/drawingml/2006/main">
            <a:off x="4286250" y="1600200"/>
            <a:ext cx="1143000" cy="400050"/>
          </a:xfrm>
          <a:prstGeom xmlns:a="http://schemas.openxmlformats.org/drawingml/2006/main" prst="roundRect">
            <a:avLst>
              <a:gd name="adj" fmla="val 19048"/>
            </a:avLst>
          </a:prstGeom>
          <a:solidFill xmlns:a="http://schemas.openxmlformats.org/drawingml/2006/main">
            <a:srgbClr val="16856B"/>
          </a:solidFill>
          <a:ln xmlns:a="http://schemas.openxmlformats.org/drawingml/2006/main" w="19050">
            <a:solidFill>
              <a:srgbClr val="16856B"/>
            </a:solidFill>
          </a:ln>
        </p:spPr>
      </p:sp>
      <p:sp>
        <p:nvSpPr>
          <p:cNvPr id="6" name="">
            <a:extLst xmlns:a="http://schemas.openxmlformats.org/drawingml/2006/main">
              <a:ext uri="{FF2B5EF4-FFF2-40B4-BE49-F238E27FC236}">
                <a16:creationId xmlns:a16="http://schemas.microsoft.com/office/drawing/2014/main" id="{093D0BAE-E4C5-4FEE-A081-EC0B04C90893}"/>
              </a:ext>
            </a:extLst>
          </p:cNvPr>
          <p:cNvSpPr>
            <a:spLocks xmlns:a="http://schemas.openxmlformats.org/drawingml/2006/main" noGrp="1"/>
          </p:cNvSpPr>
          <p:nvPr/>
        </p:nvSpPr>
        <p:spPr>
          <a:xfrm xmlns:a="http://schemas.openxmlformats.org/drawingml/2006/main">
            <a:off x="4286250" y="16002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PASS</a:t>
            </a:r>
          </a:p>
        </p:txBody>
      </p:sp>
      <p:sp>
        <p:nvSpPr>
          <p:cNvPr id="7" name="">
            <a:extLst xmlns:a="http://schemas.openxmlformats.org/drawingml/2006/main">
              <a:ext uri="{FF2B5EF4-FFF2-40B4-BE49-F238E27FC236}">
                <a16:creationId xmlns:a16="http://schemas.microsoft.com/office/drawing/2014/main" id="{A7F74617-20BA-4CE3-A5C8-0894CBEA19E5}"/>
              </a:ext>
            </a:extLst>
          </p:cNvPr>
          <p:cNvSpPr>
            <a:spLocks xmlns:a="http://schemas.openxmlformats.org/drawingml/2006/main" noGrp="1"/>
          </p:cNvSpPr>
          <p:nvPr/>
        </p:nvSpPr>
        <p:spPr>
          <a:xfrm xmlns:a="http://schemas.openxmlformats.org/drawingml/2006/main">
            <a:off x="5810250" y="15240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I/S/M, 4 sharer, eviction, flush, AMO</a:t>
            </a:r>
          </a:p>
        </p:txBody>
      </p:sp>
      <p:sp>
        <p:nvSpPr>
          <p:cNvPr id="8" name="">
            <a:extLst xmlns:a="http://schemas.openxmlformats.org/drawingml/2006/main">
              <a:ext uri="{FF2B5EF4-FFF2-40B4-BE49-F238E27FC236}">
                <a16:creationId xmlns:a16="http://schemas.microsoft.com/office/drawing/2014/main" id="{67208378-C585-4F73-ACE4-20EC3148619A}"/>
              </a:ext>
            </a:extLst>
          </p:cNvPr>
          <p:cNvSpPr>
            <a:spLocks xmlns:a="http://schemas.openxmlformats.org/drawingml/2006/main" noGrp="1"/>
          </p:cNvSpPr>
          <p:nvPr/>
        </p:nvSpPr>
        <p:spPr>
          <a:xfrm xmlns:a="http://schemas.openxmlformats.org/drawingml/2006/main">
            <a:off x="685800" y="23622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MSI_COHERENCE_AHB_TB</a:t>
            </a:r>
          </a:p>
        </p:txBody>
      </p:sp>
      <p:sp>
        <p:nvSpPr>
          <p:cNvPr id="9" name="">
            <a:extLst xmlns:a="http://schemas.openxmlformats.org/drawingml/2006/main">
              <a:ext uri="{FF2B5EF4-FFF2-40B4-BE49-F238E27FC236}">
                <a16:creationId xmlns:a16="http://schemas.microsoft.com/office/drawing/2014/main" id="{843A5277-0A8D-401C-B315-A0A544F15389}"/>
              </a:ext>
            </a:extLst>
          </p:cNvPr>
          <p:cNvSpPr>
            <a:spLocks xmlns:a="http://schemas.openxmlformats.org/drawingml/2006/main" noGrp="1"/>
          </p:cNvSpPr>
          <p:nvPr/>
        </p:nvSpPr>
        <p:spPr>
          <a:xfrm xmlns:a="http://schemas.openxmlformats.org/drawingml/2006/main">
            <a:off x="4286250" y="2438400"/>
            <a:ext cx="1143000" cy="400050"/>
          </a:xfrm>
          <a:prstGeom xmlns:a="http://schemas.openxmlformats.org/drawingml/2006/main" prst="roundRect">
            <a:avLst>
              <a:gd name="adj" fmla="val 19048"/>
            </a:avLst>
          </a:prstGeom>
          <a:solidFill xmlns:a="http://schemas.openxmlformats.org/drawingml/2006/main">
            <a:srgbClr val="16856B"/>
          </a:solidFill>
          <a:ln xmlns:a="http://schemas.openxmlformats.org/drawingml/2006/main" w="19050">
            <a:solidFill>
              <a:srgbClr val="16856B"/>
            </a:solidFill>
          </a:ln>
        </p:spPr>
      </p:sp>
      <p:sp>
        <p:nvSpPr>
          <p:cNvPr id="10" name="">
            <a:extLst xmlns:a="http://schemas.openxmlformats.org/drawingml/2006/main">
              <a:ext uri="{FF2B5EF4-FFF2-40B4-BE49-F238E27FC236}">
                <a16:creationId xmlns:a16="http://schemas.microsoft.com/office/drawing/2014/main" id="{30341D58-D7A2-45FF-9B40-6D797EAD2B19}"/>
              </a:ext>
            </a:extLst>
          </p:cNvPr>
          <p:cNvSpPr>
            <a:spLocks xmlns:a="http://schemas.openxmlformats.org/drawingml/2006/main" noGrp="1"/>
          </p:cNvSpPr>
          <p:nvPr/>
        </p:nvSpPr>
        <p:spPr>
          <a:xfrm xmlns:a="http://schemas.openxmlformats.org/drawingml/2006/main">
            <a:off x="4286250" y="24384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PASS</a:t>
            </a:r>
          </a:p>
        </p:txBody>
      </p:sp>
      <p:sp>
        <p:nvSpPr>
          <p:cNvPr id="11" name="">
            <a:extLst xmlns:a="http://schemas.openxmlformats.org/drawingml/2006/main">
              <a:ext uri="{FF2B5EF4-FFF2-40B4-BE49-F238E27FC236}">
                <a16:creationId xmlns:a16="http://schemas.microsoft.com/office/drawing/2014/main" id="{7917EE58-118C-4352-A216-C53C0A7606BB}"/>
              </a:ext>
            </a:extLst>
          </p:cNvPr>
          <p:cNvSpPr>
            <a:spLocks xmlns:a="http://schemas.openxmlformats.org/drawingml/2006/main" noGrp="1"/>
          </p:cNvSpPr>
          <p:nvPr/>
        </p:nvSpPr>
        <p:spPr>
          <a:xfrm xmlns:a="http://schemas.openxmlformats.org/drawingml/2006/main">
            <a:off x="5810250" y="23622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RFO/HMASTLOCK, HREADY, snoop, writeback</a:t>
            </a:r>
          </a:p>
        </p:txBody>
      </p:sp>
      <p:sp>
        <p:nvSpPr>
          <p:cNvPr id="12" name="">
            <a:extLst xmlns:a="http://schemas.openxmlformats.org/drawingml/2006/main">
              <a:ext uri="{FF2B5EF4-FFF2-40B4-BE49-F238E27FC236}">
                <a16:creationId xmlns:a16="http://schemas.microsoft.com/office/drawing/2014/main" id="{D7EDD492-AC59-453B-A3FD-BB64B0EC918D}"/>
              </a:ext>
            </a:extLst>
          </p:cNvPr>
          <p:cNvSpPr>
            <a:spLocks xmlns:a="http://schemas.openxmlformats.org/drawingml/2006/main" noGrp="1"/>
          </p:cNvSpPr>
          <p:nvPr/>
        </p:nvSpPr>
        <p:spPr>
          <a:xfrm xmlns:a="http://schemas.openxmlformats.org/drawingml/2006/main">
            <a:off x="685800" y="32004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MMU_ADVANCED / UPGRADE / POLICY</a:t>
            </a:r>
          </a:p>
        </p:txBody>
      </p:sp>
      <p:sp>
        <p:nvSpPr>
          <p:cNvPr id="13" name="">
            <a:extLst xmlns:a="http://schemas.openxmlformats.org/drawingml/2006/main">
              <a:ext uri="{FF2B5EF4-FFF2-40B4-BE49-F238E27FC236}">
                <a16:creationId xmlns:a16="http://schemas.microsoft.com/office/drawing/2014/main" id="{87E94E0F-2008-4D4A-897C-13CAEEADA09B}"/>
              </a:ext>
            </a:extLst>
          </p:cNvPr>
          <p:cNvSpPr>
            <a:spLocks xmlns:a="http://schemas.openxmlformats.org/drawingml/2006/main" noGrp="1"/>
          </p:cNvSpPr>
          <p:nvPr/>
        </p:nvSpPr>
        <p:spPr>
          <a:xfrm xmlns:a="http://schemas.openxmlformats.org/drawingml/2006/main">
            <a:off x="4286250" y="3276600"/>
            <a:ext cx="1143000" cy="400050"/>
          </a:xfrm>
          <a:prstGeom xmlns:a="http://schemas.openxmlformats.org/drawingml/2006/main" prst="roundRect">
            <a:avLst>
              <a:gd name="adj" fmla="val 19048"/>
            </a:avLst>
          </a:prstGeom>
          <a:solidFill xmlns:a="http://schemas.openxmlformats.org/drawingml/2006/main">
            <a:srgbClr val="16856B"/>
          </a:solidFill>
          <a:ln xmlns:a="http://schemas.openxmlformats.org/drawingml/2006/main" w="19050">
            <a:solidFill>
              <a:srgbClr val="16856B"/>
            </a:solidFill>
          </a:ln>
        </p:spPr>
      </p:sp>
      <p:sp>
        <p:nvSpPr>
          <p:cNvPr id="14" name="">
            <a:extLst xmlns:a="http://schemas.openxmlformats.org/drawingml/2006/main">
              <a:ext uri="{FF2B5EF4-FFF2-40B4-BE49-F238E27FC236}">
                <a16:creationId xmlns:a16="http://schemas.microsoft.com/office/drawing/2014/main" id="{CC2B2815-87A0-473C-B42B-1D61A8D7CE54}"/>
              </a:ext>
            </a:extLst>
          </p:cNvPr>
          <p:cNvSpPr>
            <a:spLocks xmlns:a="http://schemas.openxmlformats.org/drawingml/2006/main" noGrp="1"/>
          </p:cNvSpPr>
          <p:nvPr/>
        </p:nvSpPr>
        <p:spPr>
          <a:xfrm xmlns:a="http://schemas.openxmlformats.org/drawingml/2006/main">
            <a:off x="4286250" y="32766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PASS</a:t>
            </a:r>
          </a:p>
        </p:txBody>
      </p:sp>
      <p:sp>
        <p:nvSpPr>
          <p:cNvPr id="15" name="">
            <a:extLst xmlns:a="http://schemas.openxmlformats.org/drawingml/2006/main">
              <a:ext uri="{FF2B5EF4-FFF2-40B4-BE49-F238E27FC236}">
                <a16:creationId xmlns:a16="http://schemas.microsoft.com/office/drawing/2014/main" id="{E6AA0141-A69A-4639-BE54-550B2D73FD66}"/>
              </a:ext>
            </a:extLst>
          </p:cNvPr>
          <p:cNvSpPr>
            <a:spLocks xmlns:a="http://schemas.openxmlformats.org/drawingml/2006/main" noGrp="1"/>
          </p:cNvSpPr>
          <p:nvPr/>
        </p:nvSpPr>
        <p:spPr>
          <a:xfrm xmlns:a="http://schemas.openxmlformats.org/drawingml/2006/main">
            <a:off x="5810250" y="32004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U/S, SUM/MXR, A/D, superpage, region</a:t>
            </a:r>
          </a:p>
        </p:txBody>
      </p:sp>
      <p:sp>
        <p:nvSpPr>
          <p:cNvPr id="16" name="">
            <a:extLst xmlns:a="http://schemas.openxmlformats.org/drawingml/2006/main">
              <a:ext uri="{FF2B5EF4-FFF2-40B4-BE49-F238E27FC236}">
                <a16:creationId xmlns:a16="http://schemas.microsoft.com/office/drawing/2014/main" id="{F3EEF8DA-B987-450E-9721-2DD91E57A1A4}"/>
              </a:ext>
            </a:extLst>
          </p:cNvPr>
          <p:cNvSpPr>
            <a:spLocks xmlns:a="http://schemas.openxmlformats.org/drawingml/2006/main" noGrp="1"/>
          </p:cNvSpPr>
          <p:nvPr/>
        </p:nvSpPr>
        <p:spPr>
          <a:xfrm xmlns:a="http://schemas.openxmlformats.org/drawingml/2006/main">
            <a:off x="685800" y="40386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CACHE_FENCE_I / AMO / LRSC</a:t>
            </a:r>
          </a:p>
        </p:txBody>
      </p:sp>
      <p:sp>
        <p:nvSpPr>
          <p:cNvPr id="17" name="">
            <a:extLst xmlns:a="http://schemas.openxmlformats.org/drawingml/2006/main">
              <a:ext uri="{FF2B5EF4-FFF2-40B4-BE49-F238E27FC236}">
                <a16:creationId xmlns:a16="http://schemas.microsoft.com/office/drawing/2014/main" id="{A2C44252-4A54-459E-9F5F-0A1C2AFD6267}"/>
              </a:ext>
            </a:extLst>
          </p:cNvPr>
          <p:cNvSpPr>
            <a:spLocks xmlns:a="http://schemas.openxmlformats.org/drawingml/2006/main" noGrp="1"/>
          </p:cNvSpPr>
          <p:nvPr/>
        </p:nvSpPr>
        <p:spPr>
          <a:xfrm xmlns:a="http://schemas.openxmlformats.org/drawingml/2006/main">
            <a:off x="4286250" y="4114800"/>
            <a:ext cx="1143000" cy="400050"/>
          </a:xfrm>
          <a:prstGeom xmlns:a="http://schemas.openxmlformats.org/drawingml/2006/main" prst="roundRect">
            <a:avLst>
              <a:gd name="adj" fmla="val 19048"/>
            </a:avLst>
          </a:prstGeom>
          <a:solidFill xmlns:a="http://schemas.openxmlformats.org/drawingml/2006/main">
            <a:srgbClr val="16856B"/>
          </a:solidFill>
          <a:ln xmlns:a="http://schemas.openxmlformats.org/drawingml/2006/main" w="19050">
            <a:solidFill>
              <a:srgbClr val="16856B"/>
            </a:solidFill>
          </a:ln>
        </p:spPr>
      </p:sp>
      <p:sp>
        <p:nvSpPr>
          <p:cNvPr id="18" name="">
            <a:extLst xmlns:a="http://schemas.openxmlformats.org/drawingml/2006/main">
              <a:ext uri="{FF2B5EF4-FFF2-40B4-BE49-F238E27FC236}">
                <a16:creationId xmlns:a16="http://schemas.microsoft.com/office/drawing/2014/main" id="{DE02A5F5-82C2-4A32-862C-EE4C9F577F5C}"/>
              </a:ext>
            </a:extLst>
          </p:cNvPr>
          <p:cNvSpPr>
            <a:spLocks xmlns:a="http://schemas.openxmlformats.org/drawingml/2006/main" noGrp="1"/>
          </p:cNvSpPr>
          <p:nvPr/>
        </p:nvSpPr>
        <p:spPr>
          <a:xfrm xmlns:a="http://schemas.openxmlformats.org/drawingml/2006/main">
            <a:off x="4286250" y="41148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PASS</a:t>
            </a:r>
          </a:p>
        </p:txBody>
      </p:sp>
      <p:sp>
        <p:nvSpPr>
          <p:cNvPr id="19" name="">
            <a:extLst xmlns:a="http://schemas.openxmlformats.org/drawingml/2006/main">
              <a:ext uri="{FF2B5EF4-FFF2-40B4-BE49-F238E27FC236}">
                <a16:creationId xmlns:a16="http://schemas.microsoft.com/office/drawing/2014/main" id="{686CD0AE-6570-4C9A-9680-9026572EE4BD}"/>
              </a:ext>
            </a:extLst>
          </p:cNvPr>
          <p:cNvSpPr>
            <a:spLocks xmlns:a="http://schemas.openxmlformats.org/drawingml/2006/main" noGrp="1"/>
          </p:cNvSpPr>
          <p:nvPr/>
        </p:nvSpPr>
        <p:spPr>
          <a:xfrm xmlns:a="http://schemas.openxmlformats.org/drawingml/2006/main">
            <a:off x="5810250" y="40386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Pipeline đến cache và coherence</a:t>
            </a:r>
          </a:p>
        </p:txBody>
      </p:sp>
      <p:sp>
        <p:nvSpPr>
          <p:cNvPr id="20" name="">
            <a:extLst xmlns:a="http://schemas.openxmlformats.org/drawingml/2006/main">
              <a:ext uri="{FF2B5EF4-FFF2-40B4-BE49-F238E27FC236}">
                <a16:creationId xmlns:a16="http://schemas.microsoft.com/office/drawing/2014/main" id="{894F7F28-717E-4C5A-890B-C9F3255AF03A}"/>
              </a:ext>
            </a:extLst>
          </p:cNvPr>
          <p:cNvSpPr>
            <a:spLocks xmlns:a="http://schemas.openxmlformats.org/drawingml/2006/main" noGrp="1"/>
          </p:cNvSpPr>
          <p:nvPr/>
        </p:nvSpPr>
        <p:spPr>
          <a:xfrm xmlns:a="http://schemas.openxmlformats.org/drawingml/2006/main">
            <a:off x="685800" y="48768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CSR privilege delegation</a:t>
            </a:r>
          </a:p>
        </p:txBody>
      </p:sp>
      <p:sp>
        <p:nvSpPr>
          <p:cNvPr id="21" name="">
            <a:extLst xmlns:a="http://schemas.openxmlformats.org/drawingml/2006/main">
              <a:ext uri="{FF2B5EF4-FFF2-40B4-BE49-F238E27FC236}">
                <a16:creationId xmlns:a16="http://schemas.microsoft.com/office/drawing/2014/main" id="{B2C2C5F9-D851-4E65-9233-4C5D64662539}"/>
              </a:ext>
            </a:extLst>
          </p:cNvPr>
          <p:cNvSpPr>
            <a:spLocks xmlns:a="http://schemas.openxmlformats.org/drawingml/2006/main" noGrp="1"/>
          </p:cNvSpPr>
          <p:nvPr/>
        </p:nvSpPr>
        <p:spPr>
          <a:xfrm xmlns:a="http://schemas.openxmlformats.org/drawingml/2006/main">
            <a:off x="4286250" y="4953000"/>
            <a:ext cx="1143000" cy="400050"/>
          </a:xfrm>
          <a:prstGeom xmlns:a="http://schemas.openxmlformats.org/drawingml/2006/main" prst="roundRect">
            <a:avLst>
              <a:gd name="adj" fmla="val 19048"/>
            </a:avLst>
          </a:prstGeom>
          <a:solidFill xmlns:a="http://schemas.openxmlformats.org/drawingml/2006/main">
            <a:srgbClr val="ED553B"/>
          </a:solidFill>
          <a:ln xmlns:a="http://schemas.openxmlformats.org/drawingml/2006/main" w="19050">
            <a:solidFill>
              <a:srgbClr val="ED553B"/>
            </a:solidFill>
          </a:ln>
        </p:spPr>
      </p:sp>
      <p:sp>
        <p:nvSpPr>
          <p:cNvPr id="22" name="">
            <a:extLst xmlns:a="http://schemas.openxmlformats.org/drawingml/2006/main">
              <a:ext uri="{FF2B5EF4-FFF2-40B4-BE49-F238E27FC236}">
                <a16:creationId xmlns:a16="http://schemas.microsoft.com/office/drawing/2014/main" id="{29C908E2-42D1-4A38-8487-ADB44E8C4F0D}"/>
              </a:ext>
            </a:extLst>
          </p:cNvPr>
          <p:cNvSpPr>
            <a:spLocks xmlns:a="http://schemas.openxmlformats.org/drawingml/2006/main" noGrp="1"/>
          </p:cNvSpPr>
          <p:nvPr/>
        </p:nvSpPr>
        <p:spPr>
          <a:xfrm xmlns:a="http://schemas.openxmlformats.org/drawingml/2006/main">
            <a:off x="4286250" y="49530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OPEN</a:t>
            </a:r>
          </a:p>
        </p:txBody>
      </p:sp>
      <p:sp>
        <p:nvSpPr>
          <p:cNvPr id="23" name="">
            <a:extLst xmlns:a="http://schemas.openxmlformats.org/drawingml/2006/main">
              <a:ext uri="{FF2B5EF4-FFF2-40B4-BE49-F238E27FC236}">
                <a16:creationId xmlns:a16="http://schemas.microsoft.com/office/drawing/2014/main" id="{62A7F95A-EFA8-4A8A-BCF7-481F99370BA0}"/>
              </a:ext>
            </a:extLst>
          </p:cNvPr>
          <p:cNvSpPr>
            <a:spLocks xmlns:a="http://schemas.openxmlformats.org/drawingml/2006/main" noGrp="1"/>
          </p:cNvSpPr>
          <p:nvPr/>
        </p:nvSpPr>
        <p:spPr>
          <a:xfrm xmlns:a="http://schemas.openxmlformats.org/drawingml/2006/main">
            <a:off x="5810250" y="48768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medeleg/cause còn lỗi cần sửa</a:t>
            </a:r>
          </a:p>
        </p:txBody>
      </p:sp>
      <p:sp>
        <p:nvSpPr>
          <p:cNvPr id="24" name="">
            <a:extLst xmlns:a="http://schemas.openxmlformats.org/drawingml/2006/main">
              <a:ext uri="{FF2B5EF4-FFF2-40B4-BE49-F238E27FC236}">
                <a16:creationId xmlns:a16="http://schemas.microsoft.com/office/drawing/2014/main" id="{484E6A2A-721B-44D3-AD7E-E7FAE6AC752C}"/>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5" name="">
            <a:extLst xmlns:a="http://schemas.openxmlformats.org/drawingml/2006/main">
              <a:ext uri="{FF2B5EF4-FFF2-40B4-BE49-F238E27FC236}">
                <a16:creationId xmlns:a16="http://schemas.microsoft.com/office/drawing/2014/main" id="{9AF8B4E7-FE04-4D58-807D-DE9888DFF25A}"/>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16</a:t>
            </a:r>
          </a:p>
        </p:txBody>
      </p:sp>
    </p:spTree>
    <p:extLst>
      <p:ext uri="{BB962C8B-B14F-4D97-AF65-F5344CB8AC3E}">
        <p14:creationId xmlns:p14="http://schemas.microsoft.com/office/powerpoint/2010/main" val="687629164"/>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3CF60D0-CEC7-4CFF-B7E7-A0D6272B035B}"/>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Kịch bản đánh giá trên FPGA</a:t>
            </a:r>
          </a:p>
        </p:txBody>
      </p:sp>
      <p:sp>
        <p:nvSpPr>
          <p:cNvPr id="2" name="">
            <a:extLst xmlns:a="http://schemas.openxmlformats.org/drawingml/2006/main">
              <a:ext uri="{FF2B5EF4-FFF2-40B4-BE49-F238E27FC236}">
                <a16:creationId xmlns:a16="http://schemas.microsoft.com/office/drawing/2014/main" id="{8F47D5B2-2FB4-44B5-9F2D-ABDF38F4B90F}"/>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7A4430EA-7C65-4384-9B8D-2BCBD32F60B4}"/>
              </a:ext>
            </a:extLst>
          </p:cNvPr>
          <p:cNvSpPr>
            <a:spLocks xmlns:a="http://schemas.openxmlformats.org/drawingml/2006/main" noGrp="1"/>
          </p:cNvSpPr>
          <p:nvPr/>
        </p:nvSpPr>
        <p:spPr>
          <a:xfrm xmlns:a="http://schemas.openxmlformats.org/drawingml/2006/main">
            <a:off x="762000" y="147637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73F5F"/>
                </a:solidFill>
                <a:latin typeface="Segoe UI"/>
                <a:ea typeface="Segoe UI"/>
                <a:cs typeface="Segoe UI"/>
              </a:defRPr>
            </a:pPr>
            <a:r>
              <a:rPr sz="2025" b="1">
                <a:solidFill>
                  <a:srgbClr val="173F5F"/>
                </a:solidFill>
                <a:latin typeface="Segoe UI"/>
                <a:ea typeface="Segoe UI"/>
                <a:cs typeface="Segoe UI"/>
              </a:rPr>
              <a:t>Workload đề xuất</a:t>
            </a:r>
          </a:p>
        </p:txBody>
      </p:sp>
      <p:sp>
        <p:nvSpPr>
          <p:cNvPr id="4" name="">
            <a:extLst xmlns:a="http://schemas.openxmlformats.org/drawingml/2006/main">
              <a:ext uri="{FF2B5EF4-FFF2-40B4-BE49-F238E27FC236}">
                <a16:creationId xmlns:a16="http://schemas.microsoft.com/office/drawing/2014/main" id="{88CD6AE4-252F-4B48-BA73-4F8575CBB9B5}"/>
              </a:ext>
            </a:extLst>
          </p:cNvPr>
          <p:cNvSpPr>
            <a:spLocks xmlns:a="http://schemas.openxmlformats.org/drawingml/2006/main" noGrp="1"/>
          </p:cNvSpPr>
          <p:nvPr/>
        </p:nvSpPr>
        <p:spPr>
          <a:xfrm xmlns:a="http://schemas.openxmlformats.org/drawingml/2006/main">
            <a:off x="80962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E09A48C6-8179-45B8-8EEA-F1292A8F09E4}"/>
              </a:ext>
            </a:extLst>
          </p:cNvPr>
          <p:cNvSpPr>
            <a:spLocks xmlns:a="http://schemas.openxmlformats.org/drawingml/2006/main" noGrp="1"/>
          </p:cNvSpPr>
          <p:nvPr/>
        </p:nvSpPr>
        <p:spPr>
          <a:xfrm xmlns:a="http://schemas.openxmlformats.org/drawingml/2006/main">
            <a:off x="1038225" y="2095500"/>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Compute-bound: vùng dữ liệu độc lập</a:t>
            </a:r>
          </a:p>
        </p:txBody>
      </p:sp>
      <p:sp>
        <p:nvSpPr>
          <p:cNvPr id="6" name="">
            <a:extLst xmlns:a="http://schemas.openxmlformats.org/drawingml/2006/main">
              <a:ext uri="{FF2B5EF4-FFF2-40B4-BE49-F238E27FC236}">
                <a16:creationId xmlns:a16="http://schemas.microsoft.com/office/drawing/2014/main" id="{1EB660F4-607F-4999-9103-A737BB5DDD14}"/>
              </a:ext>
            </a:extLst>
          </p:cNvPr>
          <p:cNvSpPr>
            <a:spLocks xmlns:a="http://schemas.openxmlformats.org/drawingml/2006/main" noGrp="1"/>
          </p:cNvSpPr>
          <p:nvPr/>
        </p:nvSpPr>
        <p:spPr>
          <a:xfrm xmlns:a="http://schemas.openxmlformats.org/drawingml/2006/main">
            <a:off x="809625" y="28098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7" name="">
            <a:extLst xmlns:a="http://schemas.openxmlformats.org/drawingml/2006/main">
              <a:ext uri="{FF2B5EF4-FFF2-40B4-BE49-F238E27FC236}">
                <a16:creationId xmlns:a16="http://schemas.microsoft.com/office/drawing/2014/main" id="{7F7B4546-1462-478D-9EB8-718DB96EB0AF}"/>
              </a:ext>
            </a:extLst>
          </p:cNvPr>
          <p:cNvSpPr>
            <a:spLocks xmlns:a="http://schemas.openxmlformats.org/drawingml/2006/main" noGrp="1"/>
          </p:cNvSpPr>
          <p:nvPr/>
        </p:nvSpPr>
        <p:spPr>
          <a:xfrm xmlns:a="http://schemas.openxmlformats.org/drawingml/2006/main">
            <a:off x="1038225" y="2714625"/>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Memory-bound: duyệt mảng lớn</a:t>
            </a:r>
          </a:p>
        </p:txBody>
      </p:sp>
      <p:sp>
        <p:nvSpPr>
          <p:cNvPr id="8" name="">
            <a:extLst xmlns:a="http://schemas.openxmlformats.org/drawingml/2006/main">
              <a:ext uri="{FF2B5EF4-FFF2-40B4-BE49-F238E27FC236}">
                <a16:creationId xmlns:a16="http://schemas.microsoft.com/office/drawing/2014/main" id="{16940435-B3BC-4191-B9ED-EF0D13632C82}"/>
              </a:ext>
            </a:extLst>
          </p:cNvPr>
          <p:cNvSpPr>
            <a:spLocks xmlns:a="http://schemas.openxmlformats.org/drawingml/2006/main" noGrp="1"/>
          </p:cNvSpPr>
          <p:nvPr/>
        </p:nvSpPr>
        <p:spPr>
          <a:xfrm xmlns:a="http://schemas.openxmlformats.org/drawingml/2006/main">
            <a:off x="809625" y="3429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9" name="">
            <a:extLst xmlns:a="http://schemas.openxmlformats.org/drawingml/2006/main">
              <a:ext uri="{FF2B5EF4-FFF2-40B4-BE49-F238E27FC236}">
                <a16:creationId xmlns:a16="http://schemas.microsoft.com/office/drawing/2014/main" id="{94B7C246-0ADB-4CCC-9390-3246C394E8FA}"/>
              </a:ext>
            </a:extLst>
          </p:cNvPr>
          <p:cNvSpPr>
            <a:spLocks xmlns:a="http://schemas.openxmlformats.org/drawingml/2006/main" noGrp="1"/>
          </p:cNvSpPr>
          <p:nvPr/>
        </p:nvSpPr>
        <p:spPr>
          <a:xfrm xmlns:a="http://schemas.openxmlformats.org/drawingml/2006/main">
            <a:off x="1038225" y="3333750"/>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Producer-consumer: dữ liệu dùng chung</a:t>
            </a:r>
          </a:p>
        </p:txBody>
      </p:sp>
      <p:sp>
        <p:nvSpPr>
          <p:cNvPr id="10" name="">
            <a:extLst xmlns:a="http://schemas.openxmlformats.org/drawingml/2006/main">
              <a:ext uri="{FF2B5EF4-FFF2-40B4-BE49-F238E27FC236}">
                <a16:creationId xmlns:a16="http://schemas.microsoft.com/office/drawing/2014/main" id="{89358BA5-8BF7-47D6-B6A3-01FE66E57186}"/>
              </a:ext>
            </a:extLst>
          </p:cNvPr>
          <p:cNvSpPr>
            <a:spLocks xmlns:a="http://schemas.openxmlformats.org/drawingml/2006/main" noGrp="1"/>
          </p:cNvSpPr>
          <p:nvPr/>
        </p:nvSpPr>
        <p:spPr>
          <a:xfrm xmlns:a="http://schemas.openxmlformats.org/drawingml/2006/main">
            <a:off x="809625" y="40481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1" name="">
            <a:extLst xmlns:a="http://schemas.openxmlformats.org/drawingml/2006/main">
              <a:ext uri="{FF2B5EF4-FFF2-40B4-BE49-F238E27FC236}">
                <a16:creationId xmlns:a16="http://schemas.microsoft.com/office/drawing/2014/main" id="{3C4F48B5-4669-41DE-912D-EDFC80AD99C3}"/>
              </a:ext>
            </a:extLst>
          </p:cNvPr>
          <p:cNvSpPr>
            <a:spLocks xmlns:a="http://schemas.openxmlformats.org/drawingml/2006/main" noGrp="1"/>
          </p:cNvSpPr>
          <p:nvPr/>
        </p:nvSpPr>
        <p:spPr>
          <a:xfrm xmlns:a="http://schemas.openxmlformats.org/drawingml/2006/main">
            <a:off x="1038225" y="3952875"/>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Contention và false sharing</a:t>
            </a:r>
          </a:p>
        </p:txBody>
      </p:sp>
      <p:sp>
        <p:nvSpPr>
          <p:cNvPr id="12" name="">
            <a:extLst xmlns:a="http://schemas.openxmlformats.org/drawingml/2006/main">
              <a:ext uri="{FF2B5EF4-FFF2-40B4-BE49-F238E27FC236}">
                <a16:creationId xmlns:a16="http://schemas.microsoft.com/office/drawing/2014/main" id="{ACEFED58-35EF-466F-A3C9-3D6C4BBF77CB}"/>
              </a:ext>
            </a:extLst>
          </p:cNvPr>
          <p:cNvSpPr>
            <a:spLocks xmlns:a="http://schemas.openxmlformats.org/drawingml/2006/main" noGrp="1"/>
          </p:cNvSpPr>
          <p:nvPr/>
        </p:nvSpPr>
        <p:spPr>
          <a:xfrm xmlns:a="http://schemas.openxmlformats.org/drawingml/2006/main">
            <a:off x="809625" y="46672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3" name="">
            <a:extLst xmlns:a="http://schemas.openxmlformats.org/drawingml/2006/main">
              <a:ext uri="{FF2B5EF4-FFF2-40B4-BE49-F238E27FC236}">
                <a16:creationId xmlns:a16="http://schemas.microsoft.com/office/drawing/2014/main" id="{9962B2D9-58AD-4980-ABDC-3C83CC2B6AB6}"/>
              </a:ext>
            </a:extLst>
          </p:cNvPr>
          <p:cNvSpPr>
            <a:spLocks xmlns:a="http://schemas.openxmlformats.org/drawingml/2006/main" noGrp="1"/>
          </p:cNvSpPr>
          <p:nvPr/>
        </p:nvSpPr>
        <p:spPr>
          <a:xfrm xmlns:a="http://schemas.openxmlformats.org/drawingml/2006/main">
            <a:off x="1038225" y="4572000"/>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FIR hoặc PID fixed-point định hướng UAV</a:t>
            </a:r>
          </a:p>
        </p:txBody>
      </p:sp>
      <p:sp>
        <p:nvSpPr>
          <p:cNvPr id="14" name="">
            <a:extLst xmlns:a="http://schemas.openxmlformats.org/drawingml/2006/main">
              <a:ext uri="{FF2B5EF4-FFF2-40B4-BE49-F238E27FC236}">
                <a16:creationId xmlns:a16="http://schemas.microsoft.com/office/drawing/2014/main" id="{01ED02AA-654E-4B35-96AE-D56B9E7D5465}"/>
              </a:ext>
            </a:extLst>
          </p:cNvPr>
          <p:cNvSpPr>
            <a:spLocks xmlns:a="http://schemas.openxmlformats.org/drawingml/2006/main" noGrp="1"/>
          </p:cNvSpPr>
          <p:nvPr/>
        </p:nvSpPr>
        <p:spPr>
          <a:xfrm xmlns:a="http://schemas.openxmlformats.org/drawingml/2006/main">
            <a:off x="6191250" y="147637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73F5F"/>
                </a:solidFill>
                <a:latin typeface="Segoe UI"/>
                <a:ea typeface="Segoe UI"/>
                <a:cs typeface="Segoe UI"/>
              </a:defRPr>
            </a:pPr>
            <a:r>
              <a:rPr sz="2025" b="1">
                <a:solidFill>
                  <a:srgbClr val="173F5F"/>
                </a:solidFill>
                <a:latin typeface="Segoe UI"/>
                <a:ea typeface="Segoe UI"/>
                <a:cs typeface="Segoe UI"/>
              </a:rPr>
              <a:t>Chỉ số cần thu</a:t>
            </a:r>
          </a:p>
        </p:txBody>
      </p:sp>
      <p:sp>
        <p:nvSpPr>
          <p:cNvPr id="15" name="">
            <a:extLst xmlns:a="http://schemas.openxmlformats.org/drawingml/2006/main">
              <a:ext uri="{FF2B5EF4-FFF2-40B4-BE49-F238E27FC236}">
                <a16:creationId xmlns:a16="http://schemas.microsoft.com/office/drawing/2014/main" id="{103AD80C-11A1-4BD5-BB23-A67A7168333D}"/>
              </a:ext>
            </a:extLst>
          </p:cNvPr>
          <p:cNvSpPr>
            <a:spLocks xmlns:a="http://schemas.openxmlformats.org/drawingml/2006/main" noGrp="1"/>
          </p:cNvSpPr>
          <p:nvPr/>
        </p:nvSpPr>
        <p:spPr>
          <a:xfrm xmlns:a="http://schemas.openxmlformats.org/drawingml/2006/main">
            <a:off x="623887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F0D81278-560C-4A93-942E-81252129FE0A}"/>
              </a:ext>
            </a:extLst>
          </p:cNvPr>
          <p:cNvSpPr>
            <a:spLocks xmlns:a="http://schemas.openxmlformats.org/drawingml/2006/main" noGrp="1"/>
          </p:cNvSpPr>
          <p:nvPr/>
        </p:nvSpPr>
        <p:spPr>
          <a:xfrm xmlns:a="http://schemas.openxmlformats.org/drawingml/2006/main">
            <a:off x="6467475" y="2095500"/>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PASS/FAIL và dữ liệu đầu ra</a:t>
            </a:r>
          </a:p>
        </p:txBody>
      </p:sp>
      <p:sp>
        <p:nvSpPr>
          <p:cNvPr id="17" name="">
            <a:extLst xmlns:a="http://schemas.openxmlformats.org/drawingml/2006/main">
              <a:ext uri="{FF2B5EF4-FFF2-40B4-BE49-F238E27FC236}">
                <a16:creationId xmlns:a16="http://schemas.microsoft.com/office/drawing/2014/main" id="{F9EBA233-0720-4C85-A9A8-753E0F5110CE}"/>
              </a:ext>
            </a:extLst>
          </p:cNvPr>
          <p:cNvSpPr>
            <a:spLocks xmlns:a="http://schemas.openxmlformats.org/drawingml/2006/main" noGrp="1"/>
          </p:cNvSpPr>
          <p:nvPr/>
        </p:nvSpPr>
        <p:spPr>
          <a:xfrm xmlns:a="http://schemas.openxmlformats.org/drawingml/2006/main">
            <a:off x="6238875" y="28098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8" name="">
            <a:extLst xmlns:a="http://schemas.openxmlformats.org/drawingml/2006/main">
              <a:ext uri="{FF2B5EF4-FFF2-40B4-BE49-F238E27FC236}">
                <a16:creationId xmlns:a16="http://schemas.microsoft.com/office/drawing/2014/main" id="{2325ABD1-2B31-4496-B05D-F06530D040D7}"/>
              </a:ext>
            </a:extLst>
          </p:cNvPr>
          <p:cNvSpPr>
            <a:spLocks xmlns:a="http://schemas.openxmlformats.org/drawingml/2006/main" noGrp="1"/>
          </p:cNvSpPr>
          <p:nvPr/>
        </p:nvSpPr>
        <p:spPr>
          <a:xfrm xmlns:a="http://schemas.openxmlformats.org/drawingml/2006/main">
            <a:off x="6467475" y="2714625"/>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Cycle, thời gian, speedup 1/2/4 lõi</a:t>
            </a:r>
          </a:p>
        </p:txBody>
      </p:sp>
      <p:sp>
        <p:nvSpPr>
          <p:cNvPr id="19" name="">
            <a:extLst xmlns:a="http://schemas.openxmlformats.org/drawingml/2006/main">
              <a:ext uri="{FF2B5EF4-FFF2-40B4-BE49-F238E27FC236}">
                <a16:creationId xmlns:a16="http://schemas.microsoft.com/office/drawing/2014/main" id="{6583F705-0EEF-4CCB-A7B1-6123CC1FC973}"/>
              </a:ext>
            </a:extLst>
          </p:cNvPr>
          <p:cNvSpPr>
            <a:spLocks xmlns:a="http://schemas.openxmlformats.org/drawingml/2006/main" noGrp="1"/>
          </p:cNvSpPr>
          <p:nvPr/>
        </p:nvSpPr>
        <p:spPr>
          <a:xfrm xmlns:a="http://schemas.openxmlformats.org/drawingml/2006/main">
            <a:off x="6238875" y="3429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0" name="">
            <a:extLst xmlns:a="http://schemas.openxmlformats.org/drawingml/2006/main">
              <a:ext uri="{FF2B5EF4-FFF2-40B4-BE49-F238E27FC236}">
                <a16:creationId xmlns:a16="http://schemas.microsoft.com/office/drawing/2014/main" id="{35E63F6C-5901-492D-ABA8-E09F65F1E424}"/>
              </a:ext>
            </a:extLst>
          </p:cNvPr>
          <p:cNvSpPr>
            <a:spLocks xmlns:a="http://schemas.openxmlformats.org/drawingml/2006/main" noGrp="1"/>
          </p:cNvSpPr>
          <p:nvPr/>
        </p:nvSpPr>
        <p:spPr>
          <a:xfrm xmlns:a="http://schemas.openxmlformats.org/drawingml/2006/main">
            <a:off x="6467475" y="3333750"/>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L1/L2 hit-miss và coherence traffic</a:t>
            </a:r>
          </a:p>
        </p:txBody>
      </p:sp>
      <p:sp>
        <p:nvSpPr>
          <p:cNvPr id="21" name="">
            <a:extLst xmlns:a="http://schemas.openxmlformats.org/drawingml/2006/main">
              <a:ext uri="{FF2B5EF4-FFF2-40B4-BE49-F238E27FC236}">
                <a16:creationId xmlns:a16="http://schemas.microsoft.com/office/drawing/2014/main" id="{75C8F83F-9AA9-4B02-9073-124173C5493B}"/>
              </a:ext>
            </a:extLst>
          </p:cNvPr>
          <p:cNvSpPr>
            <a:spLocks xmlns:a="http://schemas.openxmlformats.org/drawingml/2006/main" noGrp="1"/>
          </p:cNvSpPr>
          <p:nvPr/>
        </p:nvSpPr>
        <p:spPr>
          <a:xfrm xmlns:a="http://schemas.openxmlformats.org/drawingml/2006/main">
            <a:off x="6238875" y="40481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33ABB492-5436-4EEE-B7CC-AF0CE6C4C90E}"/>
              </a:ext>
            </a:extLst>
          </p:cNvPr>
          <p:cNvSpPr>
            <a:spLocks xmlns:a="http://schemas.openxmlformats.org/drawingml/2006/main" noGrp="1"/>
          </p:cNvSpPr>
          <p:nvPr/>
        </p:nvSpPr>
        <p:spPr>
          <a:xfrm xmlns:a="http://schemas.openxmlformats.org/drawingml/2006/main">
            <a:off x="6467475" y="3952875"/>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LUT, FF, BRAM, Fmax và timing</a:t>
            </a:r>
          </a:p>
        </p:txBody>
      </p:sp>
      <p:sp>
        <p:nvSpPr>
          <p:cNvPr id="23" name="">
            <a:extLst xmlns:a="http://schemas.openxmlformats.org/drawingml/2006/main">
              <a:ext uri="{FF2B5EF4-FFF2-40B4-BE49-F238E27FC236}">
                <a16:creationId xmlns:a16="http://schemas.microsoft.com/office/drawing/2014/main" id="{3E7451B3-C9D2-491E-BC56-673BCE606488}"/>
              </a:ext>
            </a:extLst>
          </p:cNvPr>
          <p:cNvSpPr>
            <a:spLocks xmlns:a="http://schemas.openxmlformats.org/drawingml/2006/main" noGrp="1"/>
          </p:cNvSpPr>
          <p:nvPr/>
        </p:nvSpPr>
        <p:spPr>
          <a:xfrm xmlns:a="http://schemas.openxmlformats.org/drawingml/2006/main">
            <a:off x="6238875" y="46672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4" name="">
            <a:extLst xmlns:a="http://schemas.openxmlformats.org/drawingml/2006/main">
              <a:ext uri="{FF2B5EF4-FFF2-40B4-BE49-F238E27FC236}">
                <a16:creationId xmlns:a16="http://schemas.microsoft.com/office/drawing/2014/main" id="{990FFFC6-03D3-4E15-876A-189570DB4FD7}"/>
              </a:ext>
            </a:extLst>
          </p:cNvPr>
          <p:cNvSpPr>
            <a:spLocks xmlns:a="http://schemas.openxmlformats.org/drawingml/2006/main" noGrp="1"/>
          </p:cNvSpPr>
          <p:nvPr/>
        </p:nvSpPr>
        <p:spPr>
          <a:xfrm xmlns:a="http://schemas.openxmlformats.org/drawingml/2006/main">
            <a:off x="6467475" y="4572000"/>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Power và năng lượng mỗi tác vụ nếu đo được</a:t>
            </a:r>
          </a:p>
        </p:txBody>
      </p:sp>
      <p:sp>
        <p:nvSpPr>
          <p:cNvPr id="25" name="">
            <a:extLst xmlns:a="http://schemas.openxmlformats.org/drawingml/2006/main">
              <a:ext uri="{FF2B5EF4-FFF2-40B4-BE49-F238E27FC236}">
                <a16:creationId xmlns:a16="http://schemas.microsoft.com/office/drawing/2014/main" id="{96F97988-B142-42F7-A80A-709A8B6E5C0C}"/>
              </a:ext>
            </a:extLst>
          </p:cNvPr>
          <p:cNvSpPr>
            <a:spLocks xmlns:a="http://schemas.openxmlformats.org/drawingml/2006/main" noGrp="1"/>
          </p:cNvSpPr>
          <p:nvPr/>
        </p:nvSpPr>
        <p:spPr>
          <a:xfrm xmlns:a="http://schemas.openxmlformats.org/drawingml/2006/main">
            <a:off x="1143000" y="5572125"/>
            <a:ext cx="9906000" cy="457200"/>
          </a:xfrm>
          <a:prstGeom xmlns:a="http://schemas.openxmlformats.org/drawingml/2006/main" prst="roundRect">
            <a:avLst>
              <a:gd name="adj" fmla="val 16667"/>
            </a:avLst>
          </a:prstGeom>
          <a:solidFill xmlns:a="http://schemas.openxmlformats.org/drawingml/2006/main">
            <a:srgbClr val="E8F1F5"/>
          </a:solidFill>
          <a:ln xmlns:a="http://schemas.openxmlformats.org/drawingml/2006/main" w="19050">
            <a:solidFill>
              <a:srgbClr val="20639B"/>
            </a:solidFill>
          </a:ln>
        </p:spPr>
      </p:sp>
      <p:sp>
        <p:nvSpPr>
          <p:cNvPr id="26" name="">
            <a:extLst xmlns:a="http://schemas.openxmlformats.org/drawingml/2006/main">
              <a:ext uri="{FF2B5EF4-FFF2-40B4-BE49-F238E27FC236}">
                <a16:creationId xmlns:a16="http://schemas.microsoft.com/office/drawing/2014/main" id="{25F1D634-51EF-4655-A441-BBFE2FFC77E2}"/>
              </a:ext>
            </a:extLst>
          </p:cNvPr>
          <p:cNvSpPr>
            <a:spLocks xmlns:a="http://schemas.openxmlformats.org/drawingml/2006/main" noGrp="1"/>
          </p:cNvSpPr>
          <p:nvPr/>
        </p:nvSpPr>
        <p:spPr>
          <a:xfrm xmlns:a="http://schemas.openxmlformats.org/drawingml/2006/main">
            <a:off x="1333500" y="55721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73F5F"/>
                </a:solidFill>
                <a:latin typeface="Segoe UI"/>
                <a:ea typeface="Segoe UI"/>
                <a:cs typeface="Segoe UI"/>
              </a:defRPr>
            </a:pPr>
            <a:r>
              <a:rPr sz="1500" b="1">
                <a:solidFill>
                  <a:srgbClr val="173F5F"/>
                </a:solidFill>
                <a:latin typeface="Segoe UI"/>
                <a:ea typeface="Segoe UI"/>
                <a:cs typeface="Segoe UI"/>
              </a:rPr>
              <a:t>Mọi cấu hình phải dùng cùng board, clock, compiler flags, workload và input</a:t>
            </a:r>
          </a:p>
        </p:txBody>
      </p:sp>
      <p:sp>
        <p:nvSpPr>
          <p:cNvPr id="27" name="">
            <a:extLst xmlns:a="http://schemas.openxmlformats.org/drawingml/2006/main">
              <a:ext uri="{FF2B5EF4-FFF2-40B4-BE49-F238E27FC236}">
                <a16:creationId xmlns:a16="http://schemas.microsoft.com/office/drawing/2014/main" id="{30CA00DF-2D99-40D0-AC1D-434E384A83C7}"/>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8" name="">
            <a:extLst xmlns:a="http://schemas.openxmlformats.org/drawingml/2006/main">
              <a:ext uri="{FF2B5EF4-FFF2-40B4-BE49-F238E27FC236}">
                <a16:creationId xmlns:a16="http://schemas.microsoft.com/office/drawing/2014/main" id="{4DBA9057-27C6-42D9-B1F3-E5957A3798BB}"/>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17</a:t>
            </a:r>
          </a:p>
        </p:txBody>
      </p:sp>
    </p:spTree>
    <p:extLst>
      <p:ext uri="{BB962C8B-B14F-4D97-AF65-F5344CB8AC3E}">
        <p14:creationId xmlns:p14="http://schemas.microsoft.com/office/powerpoint/2010/main" val="491876960"/>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A8FB876-1693-4E30-B748-0DED894191E2}"/>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Trạng thái hiện tại của khóa luận</a:t>
            </a:r>
          </a:p>
        </p:txBody>
      </p:sp>
      <p:sp>
        <p:nvSpPr>
          <p:cNvPr id="2" name="">
            <a:extLst xmlns:a="http://schemas.openxmlformats.org/drawingml/2006/main">
              <a:ext uri="{FF2B5EF4-FFF2-40B4-BE49-F238E27FC236}">
                <a16:creationId xmlns:a16="http://schemas.microsoft.com/office/drawing/2014/main" id="{BC0B8C08-D4A9-480D-8A91-B612EE46B7F7}"/>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078D7196-A113-4CE5-B40C-D39D92FEC31A}"/>
              </a:ext>
            </a:extLst>
          </p:cNvPr>
          <p:cNvSpPr>
            <a:spLocks xmlns:a="http://schemas.openxmlformats.org/drawingml/2006/main" noGrp="1"/>
          </p:cNvSpPr>
          <p:nvPr/>
        </p:nvSpPr>
        <p:spPr>
          <a:xfrm xmlns:a="http://schemas.openxmlformats.org/drawingml/2006/main">
            <a:off x="762000" y="1619250"/>
            <a:ext cx="4953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19050">
            <a:solidFill>
              <a:srgbClr val="16856B"/>
            </a:solidFill>
          </a:ln>
        </p:spPr>
      </p:sp>
      <p:sp>
        <p:nvSpPr>
          <p:cNvPr id="4" name="">
            <a:extLst xmlns:a="http://schemas.openxmlformats.org/drawingml/2006/main">
              <a:ext uri="{FF2B5EF4-FFF2-40B4-BE49-F238E27FC236}">
                <a16:creationId xmlns:a16="http://schemas.microsoft.com/office/drawing/2014/main" id="{A6123B16-74A3-4336-827C-B9A67BA84527}"/>
              </a:ext>
            </a:extLst>
          </p:cNvPr>
          <p:cNvSpPr>
            <a:spLocks xmlns:a="http://schemas.openxmlformats.org/drawingml/2006/main" noGrp="1"/>
          </p:cNvSpPr>
          <p:nvPr/>
        </p:nvSpPr>
        <p:spPr>
          <a:xfrm xmlns:a="http://schemas.openxmlformats.org/drawingml/2006/main">
            <a:off x="1047750" y="180975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6856B"/>
                </a:solidFill>
                <a:latin typeface="Segoe UI"/>
                <a:ea typeface="Segoe UI"/>
                <a:cs typeface="Segoe UI"/>
              </a:defRPr>
            </a:pPr>
            <a:r>
              <a:rPr sz="2025" b="1">
                <a:solidFill>
                  <a:srgbClr val="16856B"/>
                </a:solidFill>
                <a:latin typeface="Segoe UI"/>
                <a:ea typeface="Segoe UI"/>
                <a:cs typeface="Segoe UI"/>
              </a:rPr>
              <a:t>Đã có RTL và regression</a:t>
            </a:r>
          </a:p>
        </p:txBody>
      </p:sp>
      <p:sp>
        <p:nvSpPr>
          <p:cNvPr id="5" name="">
            <a:extLst xmlns:a="http://schemas.openxmlformats.org/drawingml/2006/main">
              <a:ext uri="{FF2B5EF4-FFF2-40B4-BE49-F238E27FC236}">
                <a16:creationId xmlns:a16="http://schemas.microsoft.com/office/drawing/2014/main" id="{EAB8BE9C-9559-4BB5-B8B7-EBC4E8D24FCF}"/>
              </a:ext>
            </a:extLst>
          </p:cNvPr>
          <p:cNvSpPr>
            <a:spLocks xmlns:a="http://schemas.openxmlformats.org/drawingml/2006/main" noGrp="1"/>
          </p:cNvSpPr>
          <p:nvPr/>
        </p:nvSpPr>
        <p:spPr>
          <a:xfrm xmlns:a="http://schemas.openxmlformats.org/drawingml/2006/main">
            <a:off x="1123950" y="2571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6" name="">
            <a:extLst xmlns:a="http://schemas.openxmlformats.org/drawingml/2006/main">
              <a:ext uri="{FF2B5EF4-FFF2-40B4-BE49-F238E27FC236}">
                <a16:creationId xmlns:a16="http://schemas.microsoft.com/office/drawing/2014/main" id="{49A9A70C-11D6-4C30-A15E-1CBC359C252A}"/>
              </a:ext>
            </a:extLst>
          </p:cNvPr>
          <p:cNvSpPr>
            <a:spLocks xmlns:a="http://schemas.openxmlformats.org/drawingml/2006/main" noGrp="1"/>
          </p:cNvSpPr>
          <p:nvPr/>
        </p:nvSpPr>
        <p:spPr>
          <a:xfrm xmlns:a="http://schemas.openxmlformats.org/drawingml/2006/main">
            <a:off x="1352550" y="24765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RV32IMA pipeline</a:t>
            </a:r>
          </a:p>
        </p:txBody>
      </p:sp>
      <p:sp>
        <p:nvSpPr>
          <p:cNvPr id="7" name="">
            <a:extLst xmlns:a="http://schemas.openxmlformats.org/drawingml/2006/main">
              <a:ext uri="{FF2B5EF4-FFF2-40B4-BE49-F238E27FC236}">
                <a16:creationId xmlns:a16="http://schemas.microsoft.com/office/drawing/2014/main" id="{43F31852-59E3-48F3-8FC7-87BE5D6913D1}"/>
              </a:ext>
            </a:extLst>
          </p:cNvPr>
          <p:cNvSpPr>
            <a:spLocks xmlns:a="http://schemas.openxmlformats.org/drawingml/2006/main" noGrp="1"/>
          </p:cNvSpPr>
          <p:nvPr/>
        </p:nvSpPr>
        <p:spPr>
          <a:xfrm xmlns:a="http://schemas.openxmlformats.org/drawingml/2006/main">
            <a:off x="112395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1280525F-452B-47FB-B7D1-44DAD74B8167}"/>
              </a:ext>
            </a:extLst>
          </p:cNvPr>
          <p:cNvSpPr>
            <a:spLocks xmlns:a="http://schemas.openxmlformats.org/drawingml/2006/main" noGrp="1"/>
          </p:cNvSpPr>
          <p:nvPr/>
        </p:nvSpPr>
        <p:spPr>
          <a:xfrm xmlns:a="http://schemas.openxmlformats.org/drawingml/2006/main">
            <a:off x="1352550" y="30289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MMU/TLB/PTW</a:t>
            </a:r>
          </a:p>
        </p:txBody>
      </p:sp>
      <p:sp>
        <p:nvSpPr>
          <p:cNvPr id="9" name="">
            <a:extLst xmlns:a="http://schemas.openxmlformats.org/drawingml/2006/main">
              <a:ext uri="{FF2B5EF4-FFF2-40B4-BE49-F238E27FC236}">
                <a16:creationId xmlns:a16="http://schemas.microsoft.com/office/drawing/2014/main" id="{DA6840DE-70C3-4B3A-8D42-144F0789B0AA}"/>
              </a:ext>
            </a:extLst>
          </p:cNvPr>
          <p:cNvSpPr>
            <a:spLocks xmlns:a="http://schemas.openxmlformats.org/drawingml/2006/main" noGrp="1"/>
          </p:cNvSpPr>
          <p:nvPr/>
        </p:nvSpPr>
        <p:spPr>
          <a:xfrm xmlns:a="http://schemas.openxmlformats.org/drawingml/2006/main">
            <a:off x="1123950" y="36766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0604D675-A001-4840-A32C-9F34C2BC30FE}"/>
              </a:ext>
            </a:extLst>
          </p:cNvPr>
          <p:cNvSpPr>
            <a:spLocks xmlns:a="http://schemas.openxmlformats.org/drawingml/2006/main" noGrp="1"/>
          </p:cNvSpPr>
          <p:nvPr/>
        </p:nvSpPr>
        <p:spPr>
          <a:xfrm xmlns:a="http://schemas.openxmlformats.org/drawingml/2006/main">
            <a:off x="1352550" y="35814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L1/L2 + MSI</a:t>
            </a:r>
          </a:p>
        </p:txBody>
      </p:sp>
      <p:sp>
        <p:nvSpPr>
          <p:cNvPr id="11" name="">
            <a:extLst xmlns:a="http://schemas.openxmlformats.org/drawingml/2006/main">
              <a:ext uri="{FF2B5EF4-FFF2-40B4-BE49-F238E27FC236}">
                <a16:creationId xmlns:a16="http://schemas.microsoft.com/office/drawing/2014/main" id="{DAA35B21-6C97-4B8D-BD04-0485B4503A70}"/>
              </a:ext>
            </a:extLst>
          </p:cNvPr>
          <p:cNvSpPr>
            <a:spLocks xmlns:a="http://schemas.openxmlformats.org/drawingml/2006/main" noGrp="1"/>
          </p:cNvSpPr>
          <p:nvPr/>
        </p:nvSpPr>
        <p:spPr>
          <a:xfrm xmlns:a="http://schemas.openxmlformats.org/drawingml/2006/main">
            <a:off x="1123950" y="4229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540153F7-CF03-453E-9388-0CAF2A95CB9C}"/>
              </a:ext>
            </a:extLst>
          </p:cNvPr>
          <p:cNvSpPr>
            <a:spLocks xmlns:a="http://schemas.openxmlformats.org/drawingml/2006/main" noGrp="1"/>
          </p:cNvSpPr>
          <p:nvPr/>
        </p:nvSpPr>
        <p:spPr>
          <a:xfrm xmlns:a="http://schemas.openxmlformats.org/drawingml/2006/main">
            <a:off x="1352550" y="41338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AHB-Lite adapters</a:t>
            </a:r>
          </a:p>
        </p:txBody>
      </p:sp>
      <p:sp>
        <p:nvSpPr>
          <p:cNvPr id="13" name="">
            <a:extLst xmlns:a="http://schemas.openxmlformats.org/drawingml/2006/main">
              <a:ext uri="{FF2B5EF4-FFF2-40B4-BE49-F238E27FC236}">
                <a16:creationId xmlns:a16="http://schemas.microsoft.com/office/drawing/2014/main" id="{76183019-8AD9-40D5-AAA0-EBE1E0FDF959}"/>
              </a:ext>
            </a:extLst>
          </p:cNvPr>
          <p:cNvSpPr>
            <a:spLocks xmlns:a="http://schemas.openxmlformats.org/drawingml/2006/main" noGrp="1"/>
          </p:cNvSpPr>
          <p:nvPr/>
        </p:nvSpPr>
        <p:spPr>
          <a:xfrm xmlns:a="http://schemas.openxmlformats.org/drawingml/2006/main">
            <a:off x="1123950" y="47815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4" name="">
            <a:extLst xmlns:a="http://schemas.openxmlformats.org/drawingml/2006/main">
              <a:ext uri="{FF2B5EF4-FFF2-40B4-BE49-F238E27FC236}">
                <a16:creationId xmlns:a16="http://schemas.microsoft.com/office/drawing/2014/main" id="{1EB7409E-3158-4CF1-838F-3CFBBF83BAB9}"/>
              </a:ext>
            </a:extLst>
          </p:cNvPr>
          <p:cNvSpPr>
            <a:spLocks xmlns:a="http://schemas.openxmlformats.org/drawingml/2006/main" noGrp="1"/>
          </p:cNvSpPr>
          <p:nvPr/>
        </p:nvSpPr>
        <p:spPr>
          <a:xfrm xmlns:a="http://schemas.openxmlformats.org/drawingml/2006/main">
            <a:off x="1352550" y="46863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AXI4 wrappers + boot control</a:t>
            </a:r>
          </a:p>
        </p:txBody>
      </p:sp>
      <p:sp>
        <p:nvSpPr>
          <p:cNvPr id="15" name="">
            <a:extLst xmlns:a="http://schemas.openxmlformats.org/drawingml/2006/main">
              <a:ext uri="{FF2B5EF4-FFF2-40B4-BE49-F238E27FC236}">
                <a16:creationId xmlns:a16="http://schemas.microsoft.com/office/drawing/2014/main" id="{431192B8-5F04-437C-9096-A11C55FD0B2B}"/>
              </a:ext>
            </a:extLst>
          </p:cNvPr>
          <p:cNvSpPr>
            <a:spLocks xmlns:a="http://schemas.openxmlformats.org/drawingml/2006/main" noGrp="1"/>
          </p:cNvSpPr>
          <p:nvPr/>
        </p:nvSpPr>
        <p:spPr>
          <a:xfrm xmlns:a="http://schemas.openxmlformats.org/drawingml/2006/main">
            <a:off x="6381750" y="1619250"/>
            <a:ext cx="4953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0A829065-F87F-410C-BC83-82E810BC7E9C}"/>
              </a:ext>
            </a:extLst>
          </p:cNvPr>
          <p:cNvSpPr>
            <a:spLocks xmlns:a="http://schemas.openxmlformats.org/drawingml/2006/main" noGrp="1"/>
          </p:cNvSpPr>
          <p:nvPr/>
        </p:nvSpPr>
        <p:spPr>
          <a:xfrm xmlns:a="http://schemas.openxmlformats.org/drawingml/2006/main">
            <a:off x="6667500" y="180975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ED553B"/>
                </a:solidFill>
                <a:latin typeface="Segoe UI"/>
                <a:ea typeface="Segoe UI"/>
                <a:cs typeface="Segoe UI"/>
              </a:defRPr>
            </a:pPr>
            <a:r>
              <a:rPr sz="2025" b="1">
                <a:solidFill>
                  <a:srgbClr val="ED553B"/>
                </a:solidFill>
                <a:latin typeface="Segoe UI"/>
                <a:ea typeface="Segoe UI"/>
                <a:cs typeface="Segoe UI"/>
              </a:rPr>
              <a:t>Còn phải chứng minh</a:t>
            </a:r>
          </a:p>
        </p:txBody>
      </p:sp>
      <p:sp>
        <p:nvSpPr>
          <p:cNvPr id="17" name="">
            <a:extLst xmlns:a="http://schemas.openxmlformats.org/drawingml/2006/main">
              <a:ext uri="{FF2B5EF4-FFF2-40B4-BE49-F238E27FC236}">
                <a16:creationId xmlns:a16="http://schemas.microsoft.com/office/drawing/2014/main" id="{FCC248CC-589D-4130-B6F2-8657288BED7B}"/>
              </a:ext>
            </a:extLst>
          </p:cNvPr>
          <p:cNvSpPr>
            <a:spLocks xmlns:a="http://schemas.openxmlformats.org/drawingml/2006/main" noGrp="1"/>
          </p:cNvSpPr>
          <p:nvPr/>
        </p:nvSpPr>
        <p:spPr>
          <a:xfrm xmlns:a="http://schemas.openxmlformats.org/drawingml/2006/main">
            <a:off x="6743700" y="2571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8" name="">
            <a:extLst xmlns:a="http://schemas.openxmlformats.org/drawingml/2006/main">
              <a:ext uri="{FF2B5EF4-FFF2-40B4-BE49-F238E27FC236}">
                <a16:creationId xmlns:a16="http://schemas.microsoft.com/office/drawing/2014/main" id="{7D3DEC18-EB0F-4C44-9141-92C3C3D4D632}"/>
              </a:ext>
            </a:extLst>
          </p:cNvPr>
          <p:cNvSpPr>
            <a:spLocks xmlns:a="http://schemas.openxmlformats.org/drawingml/2006/main" noGrp="1"/>
          </p:cNvSpPr>
          <p:nvPr/>
        </p:nvSpPr>
        <p:spPr>
          <a:xfrm xmlns:a="http://schemas.openxmlformats.org/drawingml/2006/main">
            <a:off x="6972300" y="24765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Vivado synthesis/implementation</a:t>
            </a:r>
          </a:p>
        </p:txBody>
      </p:sp>
      <p:sp>
        <p:nvSpPr>
          <p:cNvPr id="19" name="">
            <a:extLst xmlns:a="http://schemas.openxmlformats.org/drawingml/2006/main">
              <a:ext uri="{FF2B5EF4-FFF2-40B4-BE49-F238E27FC236}">
                <a16:creationId xmlns:a16="http://schemas.microsoft.com/office/drawing/2014/main" id="{A1684EAD-5913-4956-B341-18D2C3976928}"/>
              </a:ext>
            </a:extLst>
          </p:cNvPr>
          <p:cNvSpPr>
            <a:spLocks xmlns:a="http://schemas.openxmlformats.org/drawingml/2006/main" noGrp="1"/>
          </p:cNvSpPr>
          <p:nvPr/>
        </p:nvSpPr>
        <p:spPr>
          <a:xfrm xmlns:a="http://schemas.openxmlformats.org/drawingml/2006/main">
            <a:off x="674370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0" name="">
            <a:extLst xmlns:a="http://schemas.openxmlformats.org/drawingml/2006/main">
              <a:ext uri="{FF2B5EF4-FFF2-40B4-BE49-F238E27FC236}">
                <a16:creationId xmlns:a16="http://schemas.microsoft.com/office/drawing/2014/main" id="{B9BDDB46-3BBF-4BDA-9980-0DE6DCBEE827}"/>
              </a:ext>
            </a:extLst>
          </p:cNvPr>
          <p:cNvSpPr>
            <a:spLocks xmlns:a="http://schemas.openxmlformats.org/drawingml/2006/main" noGrp="1"/>
          </p:cNvSpPr>
          <p:nvPr/>
        </p:nvSpPr>
        <p:spPr>
          <a:xfrm xmlns:a="http://schemas.openxmlformats.org/drawingml/2006/main">
            <a:off x="6972300" y="30289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Timing và power</a:t>
            </a:r>
          </a:p>
        </p:txBody>
      </p:sp>
      <p:sp>
        <p:nvSpPr>
          <p:cNvPr id="21" name="">
            <a:extLst xmlns:a="http://schemas.openxmlformats.org/drawingml/2006/main">
              <a:ext uri="{FF2B5EF4-FFF2-40B4-BE49-F238E27FC236}">
                <a16:creationId xmlns:a16="http://schemas.microsoft.com/office/drawing/2014/main" id="{FEE1424C-4FD3-43B6-A929-7E18C851B075}"/>
              </a:ext>
            </a:extLst>
          </p:cNvPr>
          <p:cNvSpPr>
            <a:spLocks xmlns:a="http://schemas.openxmlformats.org/drawingml/2006/main" noGrp="1"/>
          </p:cNvSpPr>
          <p:nvPr/>
        </p:nvSpPr>
        <p:spPr>
          <a:xfrm xmlns:a="http://schemas.openxmlformats.org/drawingml/2006/main">
            <a:off x="6743700" y="36766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65A4DFE8-ADDB-4212-B2BA-377C398A7F7F}"/>
              </a:ext>
            </a:extLst>
          </p:cNvPr>
          <p:cNvSpPr>
            <a:spLocks xmlns:a="http://schemas.openxmlformats.org/drawingml/2006/main" noGrp="1"/>
          </p:cNvSpPr>
          <p:nvPr/>
        </p:nvSpPr>
        <p:spPr>
          <a:xfrm xmlns:a="http://schemas.openxmlformats.org/drawingml/2006/main">
            <a:off x="6972300" y="35814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DRAM/SD trên board thật</a:t>
            </a:r>
          </a:p>
        </p:txBody>
      </p:sp>
      <p:sp>
        <p:nvSpPr>
          <p:cNvPr id="23" name="">
            <a:extLst xmlns:a="http://schemas.openxmlformats.org/drawingml/2006/main">
              <a:ext uri="{FF2B5EF4-FFF2-40B4-BE49-F238E27FC236}">
                <a16:creationId xmlns:a16="http://schemas.microsoft.com/office/drawing/2014/main" id="{E23D8C99-A0BB-41DD-85B6-E57F115D325B}"/>
              </a:ext>
            </a:extLst>
          </p:cNvPr>
          <p:cNvSpPr>
            <a:spLocks xmlns:a="http://schemas.openxmlformats.org/drawingml/2006/main" noGrp="1"/>
          </p:cNvSpPr>
          <p:nvPr/>
        </p:nvSpPr>
        <p:spPr>
          <a:xfrm xmlns:a="http://schemas.openxmlformats.org/drawingml/2006/main">
            <a:off x="6743700" y="4229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4" name="">
            <a:extLst xmlns:a="http://schemas.openxmlformats.org/drawingml/2006/main">
              <a:ext uri="{FF2B5EF4-FFF2-40B4-BE49-F238E27FC236}">
                <a16:creationId xmlns:a16="http://schemas.microsoft.com/office/drawing/2014/main" id="{3C5E6D9E-432E-4C35-806C-44993DEB287E}"/>
              </a:ext>
            </a:extLst>
          </p:cNvPr>
          <p:cNvSpPr>
            <a:spLocks xmlns:a="http://schemas.openxmlformats.org/drawingml/2006/main" noGrp="1"/>
          </p:cNvSpPr>
          <p:nvPr/>
        </p:nvSpPr>
        <p:spPr>
          <a:xfrm xmlns:a="http://schemas.openxmlformats.org/drawingml/2006/main">
            <a:off x="6972300" y="41338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DMA-coherence handshake</a:t>
            </a:r>
          </a:p>
        </p:txBody>
      </p:sp>
      <p:sp>
        <p:nvSpPr>
          <p:cNvPr id="25" name="">
            <a:extLst xmlns:a="http://schemas.openxmlformats.org/drawingml/2006/main">
              <a:ext uri="{FF2B5EF4-FFF2-40B4-BE49-F238E27FC236}">
                <a16:creationId xmlns:a16="http://schemas.microsoft.com/office/drawing/2014/main" id="{125B014D-DB03-40DA-9386-872BBDB33207}"/>
              </a:ext>
            </a:extLst>
          </p:cNvPr>
          <p:cNvSpPr>
            <a:spLocks xmlns:a="http://schemas.openxmlformats.org/drawingml/2006/main" noGrp="1"/>
          </p:cNvSpPr>
          <p:nvPr/>
        </p:nvSpPr>
        <p:spPr>
          <a:xfrm xmlns:a="http://schemas.openxmlformats.org/drawingml/2006/main">
            <a:off x="6743700" y="47815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6" name="">
            <a:extLst xmlns:a="http://schemas.openxmlformats.org/drawingml/2006/main">
              <a:ext uri="{FF2B5EF4-FFF2-40B4-BE49-F238E27FC236}">
                <a16:creationId xmlns:a16="http://schemas.microsoft.com/office/drawing/2014/main" id="{923BB3F8-656A-4C5B-AF7A-83B0A32FA6FF}"/>
              </a:ext>
            </a:extLst>
          </p:cNvPr>
          <p:cNvSpPr>
            <a:spLocks xmlns:a="http://schemas.openxmlformats.org/drawingml/2006/main" noGrp="1"/>
          </p:cNvSpPr>
          <p:nvPr/>
        </p:nvSpPr>
        <p:spPr>
          <a:xfrm xmlns:a="http://schemas.openxmlformats.org/drawingml/2006/main">
            <a:off x="6972300" y="46863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Workload 4 lõi end-to-end</a:t>
            </a:r>
          </a:p>
        </p:txBody>
      </p:sp>
      <p:sp>
        <p:nvSpPr>
          <p:cNvPr id="27" name="">
            <a:extLst xmlns:a="http://schemas.openxmlformats.org/drawingml/2006/main">
              <a:ext uri="{FF2B5EF4-FFF2-40B4-BE49-F238E27FC236}">
                <a16:creationId xmlns:a16="http://schemas.microsoft.com/office/drawing/2014/main" id="{807E7E24-236A-47A4-B356-515E4B26E4E3}"/>
              </a:ext>
            </a:extLst>
          </p:cNvPr>
          <p:cNvSpPr>
            <a:spLocks xmlns:a="http://schemas.openxmlformats.org/drawingml/2006/main" noGrp="1"/>
          </p:cNvSpPr>
          <p:nvPr/>
        </p:nvSpPr>
        <p:spPr>
          <a:xfrm xmlns:a="http://schemas.openxmlformats.org/drawingml/2006/main">
            <a:off x="1238250" y="567690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173F5F"/>
                </a:solidFill>
                <a:latin typeface="Segoe UI"/>
                <a:ea typeface="Segoe UI"/>
                <a:cs typeface="Segoe UI"/>
              </a:defRPr>
            </a:pPr>
            <a:r>
              <a:rPr sz="1425" b="1">
                <a:solidFill>
                  <a:srgbClr val="173F5F"/>
                </a:solidFill>
                <a:latin typeface="Segoe UI"/>
                <a:ea typeface="Segoe UI"/>
                <a:cs typeface="Segoe UI"/>
              </a:rPr>
              <a:t>Không dùng số dòng RTL làm thước đo hoàn thành; bằng chứng cuối là regression, report và demo phần cứng</a:t>
            </a:r>
          </a:p>
        </p:txBody>
      </p:sp>
      <p:sp>
        <p:nvSpPr>
          <p:cNvPr id="28" name="">
            <a:extLst xmlns:a="http://schemas.openxmlformats.org/drawingml/2006/main">
              <a:ext uri="{FF2B5EF4-FFF2-40B4-BE49-F238E27FC236}">
                <a16:creationId xmlns:a16="http://schemas.microsoft.com/office/drawing/2014/main" id="{31E589F7-EAE8-4A0B-B6B7-5A47E3BCCCF2}"/>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9" name="">
            <a:extLst xmlns:a="http://schemas.openxmlformats.org/drawingml/2006/main">
              <a:ext uri="{FF2B5EF4-FFF2-40B4-BE49-F238E27FC236}">
                <a16:creationId xmlns:a16="http://schemas.microsoft.com/office/drawing/2014/main" id="{7EC31660-41C3-410E-82D9-426A6E7F4045}"/>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18</a:t>
            </a:r>
          </a:p>
        </p:txBody>
      </p:sp>
    </p:spTree>
    <p:extLst>
      <p:ext uri="{BB962C8B-B14F-4D97-AF65-F5344CB8AC3E}">
        <p14:creationId xmlns:p14="http://schemas.microsoft.com/office/powerpoint/2010/main" val="998192157"/>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CF3191-A3CE-4B81-B3B2-56B079F25B84}"/>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Rủi ro kỹ thuật và giới hạn</a:t>
            </a:r>
          </a:p>
        </p:txBody>
      </p:sp>
      <p:sp>
        <p:nvSpPr>
          <p:cNvPr id="2" name="">
            <a:extLst xmlns:a="http://schemas.openxmlformats.org/drawingml/2006/main">
              <a:ext uri="{FF2B5EF4-FFF2-40B4-BE49-F238E27FC236}">
                <a16:creationId xmlns:a16="http://schemas.microsoft.com/office/drawing/2014/main" id="{2F2B7424-3286-44A8-A778-0EF4D4107666}"/>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6A4BDB13-A69D-4734-A766-E7B4A2BC7AEB}"/>
              </a:ext>
            </a:extLst>
          </p:cNvPr>
          <p:cNvSpPr>
            <a:spLocks xmlns:a="http://schemas.openxmlformats.org/drawingml/2006/main" noGrp="1"/>
          </p:cNvSpPr>
          <p:nvPr/>
        </p:nvSpPr>
        <p:spPr>
          <a:xfrm xmlns:a="http://schemas.openxmlformats.org/drawingml/2006/main">
            <a:off x="762000" y="14763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ED553B"/>
                </a:solidFill>
                <a:latin typeface="Segoe UI"/>
                <a:ea typeface="Segoe UI"/>
                <a:cs typeface="Segoe UI"/>
              </a:defRPr>
            </a:pPr>
            <a:r>
              <a:rPr sz="1650" b="1">
                <a:solidFill>
                  <a:srgbClr val="ED553B"/>
                </a:solidFill>
                <a:latin typeface="Segoe UI"/>
                <a:ea typeface="Segoe UI"/>
                <a:cs typeface="Segoe UI"/>
              </a:rPr>
              <a:t>MMIO</a:t>
            </a:r>
          </a:p>
        </p:txBody>
      </p:sp>
      <p:sp>
        <p:nvSpPr>
          <p:cNvPr id="4" name="">
            <a:extLst xmlns:a="http://schemas.openxmlformats.org/drawingml/2006/main">
              <a:ext uri="{FF2B5EF4-FFF2-40B4-BE49-F238E27FC236}">
                <a16:creationId xmlns:a16="http://schemas.microsoft.com/office/drawing/2014/main" id="{32E677E1-F215-4FF8-8415-344DAF69E911}"/>
              </a:ext>
            </a:extLst>
          </p:cNvPr>
          <p:cNvSpPr>
            <a:spLocks xmlns:a="http://schemas.openxmlformats.org/drawingml/2006/main" noGrp="1"/>
          </p:cNvSpPr>
          <p:nvPr/>
        </p:nvSpPr>
        <p:spPr>
          <a:xfrm xmlns:a="http://schemas.openxmlformats.org/drawingml/2006/main">
            <a:off x="2619375" y="147637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Memory port chưa có byte strobe và uncached bypass hoàn chỉnh</a:t>
            </a:r>
          </a:p>
        </p:txBody>
      </p:sp>
      <p:sp>
        <p:nvSpPr>
          <p:cNvPr id="5" name="">
            <a:extLst xmlns:a="http://schemas.openxmlformats.org/drawingml/2006/main">
              <a:ext uri="{FF2B5EF4-FFF2-40B4-BE49-F238E27FC236}">
                <a16:creationId xmlns:a16="http://schemas.microsoft.com/office/drawing/2014/main" id="{78B433E8-19C3-49A2-93B3-2F7128A81FF2}"/>
              </a:ext>
            </a:extLst>
          </p:cNvPr>
          <p:cNvSpPr>
            <a:spLocks xmlns:a="http://schemas.openxmlformats.org/drawingml/2006/main" noGrp="1"/>
          </p:cNvSpPr>
          <p:nvPr/>
        </p:nvSpPr>
        <p:spPr>
          <a:xfrm xmlns:a="http://schemas.openxmlformats.org/drawingml/2006/main">
            <a:off x="762000" y="204787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6" name="">
            <a:extLst xmlns:a="http://schemas.openxmlformats.org/drawingml/2006/main">
              <a:ext uri="{FF2B5EF4-FFF2-40B4-BE49-F238E27FC236}">
                <a16:creationId xmlns:a16="http://schemas.microsoft.com/office/drawing/2014/main" id="{07E14B2F-64A7-454B-8CD2-BE43976DE3E0}"/>
              </a:ext>
            </a:extLst>
          </p:cNvPr>
          <p:cNvSpPr>
            <a:spLocks xmlns:a="http://schemas.openxmlformats.org/drawingml/2006/main" noGrp="1"/>
          </p:cNvSpPr>
          <p:nvPr/>
        </p:nvSpPr>
        <p:spPr>
          <a:xfrm xmlns:a="http://schemas.openxmlformats.org/drawingml/2006/main">
            <a:off x="762000" y="22193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ED553B"/>
                </a:solidFill>
                <a:latin typeface="Segoe UI"/>
                <a:ea typeface="Segoe UI"/>
                <a:cs typeface="Segoe UI"/>
              </a:defRPr>
            </a:pPr>
            <a:r>
              <a:rPr sz="1650" b="1">
                <a:solidFill>
                  <a:srgbClr val="ED553B"/>
                </a:solidFill>
                <a:latin typeface="Segoe UI"/>
                <a:ea typeface="Segoe UI"/>
                <a:cs typeface="Segoe UI"/>
              </a:rPr>
              <a:t>DMA</a:t>
            </a:r>
          </a:p>
        </p:txBody>
      </p:sp>
      <p:sp>
        <p:nvSpPr>
          <p:cNvPr id="7" name="">
            <a:extLst xmlns:a="http://schemas.openxmlformats.org/drawingml/2006/main">
              <a:ext uri="{FF2B5EF4-FFF2-40B4-BE49-F238E27FC236}">
                <a16:creationId xmlns:a16="http://schemas.microsoft.com/office/drawing/2014/main" id="{21470070-9C08-474C-8E9F-55A22D01775C}"/>
              </a:ext>
            </a:extLst>
          </p:cNvPr>
          <p:cNvSpPr>
            <a:spLocks xmlns:a="http://schemas.openxmlformats.org/drawingml/2006/main" noGrp="1"/>
          </p:cNvSpPr>
          <p:nvPr/>
        </p:nvSpPr>
        <p:spPr>
          <a:xfrm xmlns:a="http://schemas.openxmlformats.org/drawingml/2006/main">
            <a:off x="2619375" y="221932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Chưa là coherence master; cần flush trước và sau transfer</a:t>
            </a:r>
          </a:p>
        </p:txBody>
      </p:sp>
      <p:sp>
        <p:nvSpPr>
          <p:cNvPr id="8" name="">
            <a:extLst xmlns:a="http://schemas.openxmlformats.org/drawingml/2006/main">
              <a:ext uri="{FF2B5EF4-FFF2-40B4-BE49-F238E27FC236}">
                <a16:creationId xmlns:a16="http://schemas.microsoft.com/office/drawing/2014/main" id="{FEF0A56C-4943-4CFB-BB29-B4F827BA889D}"/>
              </a:ext>
            </a:extLst>
          </p:cNvPr>
          <p:cNvSpPr>
            <a:spLocks xmlns:a="http://schemas.openxmlformats.org/drawingml/2006/main" noGrp="1"/>
          </p:cNvSpPr>
          <p:nvPr/>
        </p:nvSpPr>
        <p:spPr>
          <a:xfrm xmlns:a="http://schemas.openxmlformats.org/drawingml/2006/main">
            <a:off x="762000" y="279082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9" name="">
            <a:extLst xmlns:a="http://schemas.openxmlformats.org/drawingml/2006/main">
              <a:ext uri="{FF2B5EF4-FFF2-40B4-BE49-F238E27FC236}">
                <a16:creationId xmlns:a16="http://schemas.microsoft.com/office/drawing/2014/main" id="{1ABF8957-684F-4CED-B63F-8D51B326936B}"/>
              </a:ext>
            </a:extLst>
          </p:cNvPr>
          <p:cNvSpPr>
            <a:spLocks xmlns:a="http://schemas.openxmlformats.org/drawingml/2006/main" noGrp="1"/>
          </p:cNvSpPr>
          <p:nvPr/>
        </p:nvSpPr>
        <p:spPr>
          <a:xfrm xmlns:a="http://schemas.openxmlformats.org/drawingml/2006/main">
            <a:off x="762000" y="29622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ED553B"/>
                </a:solidFill>
                <a:latin typeface="Segoe UI"/>
                <a:ea typeface="Segoe UI"/>
                <a:cs typeface="Segoe UI"/>
              </a:defRPr>
            </a:pPr>
            <a:r>
              <a:rPr sz="1650" b="1">
                <a:solidFill>
                  <a:srgbClr val="ED553B"/>
                </a:solidFill>
                <a:latin typeface="Segoe UI"/>
                <a:ea typeface="Segoe UI"/>
                <a:cs typeface="Segoe UI"/>
              </a:rPr>
              <a:t>Error path</a:t>
            </a:r>
          </a:p>
        </p:txBody>
      </p:sp>
      <p:sp>
        <p:nvSpPr>
          <p:cNvPr id="10" name="">
            <a:extLst xmlns:a="http://schemas.openxmlformats.org/drawingml/2006/main">
              <a:ext uri="{FF2B5EF4-FFF2-40B4-BE49-F238E27FC236}">
                <a16:creationId xmlns:a16="http://schemas.microsoft.com/office/drawing/2014/main" id="{E47C251F-B3E6-4D99-920E-3F6572FCB1F2}"/>
              </a:ext>
            </a:extLst>
          </p:cNvPr>
          <p:cNvSpPr>
            <a:spLocks xmlns:a="http://schemas.openxmlformats.org/drawingml/2006/main" noGrp="1"/>
          </p:cNvSpPr>
          <p:nvPr/>
        </p:nvSpPr>
        <p:spPr>
          <a:xfrm xmlns:a="http://schemas.openxmlformats.org/drawingml/2006/main">
            <a:off x="2619375" y="296227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HRESP/AXI error chưa đi ngược thành architectural access fault</a:t>
            </a:r>
          </a:p>
        </p:txBody>
      </p:sp>
      <p:sp>
        <p:nvSpPr>
          <p:cNvPr id="11" name="">
            <a:extLst xmlns:a="http://schemas.openxmlformats.org/drawingml/2006/main">
              <a:ext uri="{FF2B5EF4-FFF2-40B4-BE49-F238E27FC236}">
                <a16:creationId xmlns:a16="http://schemas.microsoft.com/office/drawing/2014/main" id="{F900D1F1-E291-4F20-B0CA-D58A0F956463}"/>
              </a:ext>
            </a:extLst>
          </p:cNvPr>
          <p:cNvSpPr>
            <a:spLocks xmlns:a="http://schemas.openxmlformats.org/drawingml/2006/main" noGrp="1"/>
          </p:cNvSpPr>
          <p:nvPr/>
        </p:nvSpPr>
        <p:spPr>
          <a:xfrm xmlns:a="http://schemas.openxmlformats.org/drawingml/2006/main">
            <a:off x="762000" y="353377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12" name="">
            <a:extLst xmlns:a="http://schemas.openxmlformats.org/drawingml/2006/main">
              <a:ext uri="{FF2B5EF4-FFF2-40B4-BE49-F238E27FC236}">
                <a16:creationId xmlns:a16="http://schemas.microsoft.com/office/drawing/2014/main" id="{D0151E89-6949-4055-9B1E-60FD51B410BC}"/>
              </a:ext>
            </a:extLst>
          </p:cNvPr>
          <p:cNvSpPr>
            <a:spLocks xmlns:a="http://schemas.openxmlformats.org/drawingml/2006/main" noGrp="1"/>
          </p:cNvSpPr>
          <p:nvPr/>
        </p:nvSpPr>
        <p:spPr>
          <a:xfrm xmlns:a="http://schemas.openxmlformats.org/drawingml/2006/main">
            <a:off x="762000" y="37052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173F5F"/>
                </a:solidFill>
                <a:latin typeface="Segoe UI"/>
                <a:ea typeface="Segoe UI"/>
                <a:cs typeface="Segoe UI"/>
              </a:defRPr>
            </a:pPr>
            <a:r>
              <a:rPr sz="1650" b="1">
                <a:solidFill>
                  <a:srgbClr val="173F5F"/>
                </a:solidFill>
                <a:latin typeface="Segoe UI"/>
                <a:ea typeface="Segoe UI"/>
                <a:cs typeface="Segoe UI"/>
              </a:rPr>
              <a:t>Throughput</a:t>
            </a:r>
          </a:p>
        </p:txBody>
      </p:sp>
      <p:sp>
        <p:nvSpPr>
          <p:cNvPr id="13" name="">
            <a:extLst xmlns:a="http://schemas.openxmlformats.org/drawingml/2006/main">
              <a:ext uri="{FF2B5EF4-FFF2-40B4-BE49-F238E27FC236}">
                <a16:creationId xmlns:a16="http://schemas.microsoft.com/office/drawing/2014/main" id="{B0A1823E-A5D8-4F09-8844-9E476F515115}"/>
              </a:ext>
            </a:extLst>
          </p:cNvPr>
          <p:cNvSpPr>
            <a:spLocks xmlns:a="http://schemas.openxmlformats.org/drawingml/2006/main" noGrp="1"/>
          </p:cNvSpPr>
          <p:nvPr/>
        </p:nvSpPr>
        <p:spPr>
          <a:xfrm xmlns:a="http://schemas.openxmlformats.org/drawingml/2006/main">
            <a:off x="2619375" y="370522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Coherence manager blocking, một transaction toàn hệ thống</a:t>
            </a:r>
          </a:p>
        </p:txBody>
      </p:sp>
      <p:sp>
        <p:nvSpPr>
          <p:cNvPr id="14" name="">
            <a:extLst xmlns:a="http://schemas.openxmlformats.org/drawingml/2006/main">
              <a:ext uri="{FF2B5EF4-FFF2-40B4-BE49-F238E27FC236}">
                <a16:creationId xmlns:a16="http://schemas.microsoft.com/office/drawing/2014/main" id="{CD6A7AB1-22AF-4ABC-9442-DB1B67DB2BBB}"/>
              </a:ext>
            </a:extLst>
          </p:cNvPr>
          <p:cNvSpPr>
            <a:spLocks xmlns:a="http://schemas.openxmlformats.org/drawingml/2006/main" noGrp="1"/>
          </p:cNvSpPr>
          <p:nvPr/>
        </p:nvSpPr>
        <p:spPr>
          <a:xfrm xmlns:a="http://schemas.openxmlformats.org/drawingml/2006/main">
            <a:off x="762000" y="427672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15" name="">
            <a:extLst xmlns:a="http://schemas.openxmlformats.org/drawingml/2006/main">
              <a:ext uri="{FF2B5EF4-FFF2-40B4-BE49-F238E27FC236}">
                <a16:creationId xmlns:a16="http://schemas.microsoft.com/office/drawing/2014/main" id="{0C9DAD2B-3F98-43FA-8FF6-66D77CACEF9B}"/>
              </a:ext>
            </a:extLst>
          </p:cNvPr>
          <p:cNvSpPr>
            <a:spLocks xmlns:a="http://schemas.openxmlformats.org/drawingml/2006/main" noGrp="1"/>
          </p:cNvSpPr>
          <p:nvPr/>
        </p:nvSpPr>
        <p:spPr>
          <a:xfrm xmlns:a="http://schemas.openxmlformats.org/drawingml/2006/main">
            <a:off x="762000" y="44481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173F5F"/>
                </a:solidFill>
                <a:latin typeface="Segoe UI"/>
                <a:ea typeface="Segoe UI"/>
                <a:cs typeface="Segoe UI"/>
              </a:defRPr>
            </a:pPr>
            <a:r>
              <a:rPr sz="1650" b="1">
                <a:solidFill>
                  <a:srgbClr val="173F5F"/>
                </a:solidFill>
                <a:latin typeface="Segoe UI"/>
                <a:ea typeface="Segoe UI"/>
                <a:cs typeface="Segoe UI"/>
              </a:rPr>
              <a:t>Board</a:t>
            </a:r>
          </a:p>
        </p:txBody>
      </p:sp>
      <p:sp>
        <p:nvSpPr>
          <p:cNvPr id="16" name="">
            <a:extLst xmlns:a="http://schemas.openxmlformats.org/drawingml/2006/main">
              <a:ext uri="{FF2B5EF4-FFF2-40B4-BE49-F238E27FC236}">
                <a16:creationId xmlns:a16="http://schemas.microsoft.com/office/drawing/2014/main" id="{CE6D03DC-009C-4352-AEEF-B074B978DC68}"/>
              </a:ext>
            </a:extLst>
          </p:cNvPr>
          <p:cNvSpPr>
            <a:spLocks xmlns:a="http://schemas.openxmlformats.org/drawingml/2006/main" noGrp="1"/>
          </p:cNvSpPr>
          <p:nvPr/>
        </p:nvSpPr>
        <p:spPr>
          <a:xfrm xmlns:a="http://schemas.openxmlformats.org/drawingml/2006/main">
            <a:off x="2619375" y="444817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Đường SD khác nhau theo board; phải xác nhận kết nối vật lý</a:t>
            </a:r>
          </a:p>
        </p:txBody>
      </p:sp>
      <p:sp>
        <p:nvSpPr>
          <p:cNvPr id="17" name="">
            <a:extLst xmlns:a="http://schemas.openxmlformats.org/drawingml/2006/main">
              <a:ext uri="{FF2B5EF4-FFF2-40B4-BE49-F238E27FC236}">
                <a16:creationId xmlns:a16="http://schemas.microsoft.com/office/drawing/2014/main" id="{A4CD8B38-9A83-4DB7-A1F7-5C5FA3BF15E7}"/>
              </a:ext>
            </a:extLst>
          </p:cNvPr>
          <p:cNvSpPr>
            <a:spLocks xmlns:a="http://schemas.openxmlformats.org/drawingml/2006/main" noGrp="1"/>
          </p:cNvSpPr>
          <p:nvPr/>
        </p:nvSpPr>
        <p:spPr>
          <a:xfrm xmlns:a="http://schemas.openxmlformats.org/drawingml/2006/main">
            <a:off x="762000" y="501967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18" name="">
            <a:extLst xmlns:a="http://schemas.openxmlformats.org/drawingml/2006/main">
              <a:ext uri="{FF2B5EF4-FFF2-40B4-BE49-F238E27FC236}">
                <a16:creationId xmlns:a16="http://schemas.microsoft.com/office/drawing/2014/main" id="{254637EB-6CC2-44D6-9097-939E0B40B6FF}"/>
              </a:ext>
            </a:extLst>
          </p:cNvPr>
          <p:cNvSpPr>
            <a:spLocks xmlns:a="http://schemas.openxmlformats.org/drawingml/2006/main" noGrp="1"/>
          </p:cNvSpPr>
          <p:nvPr/>
        </p:nvSpPr>
        <p:spPr>
          <a:xfrm xmlns:a="http://schemas.openxmlformats.org/drawingml/2006/main">
            <a:off x="762000" y="51911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173F5F"/>
                </a:solidFill>
                <a:latin typeface="Segoe UI"/>
                <a:ea typeface="Segoe UI"/>
                <a:cs typeface="Segoe UI"/>
              </a:defRPr>
            </a:pPr>
            <a:r>
              <a:rPr sz="1650" b="1">
                <a:solidFill>
                  <a:srgbClr val="173F5F"/>
                </a:solidFill>
                <a:latin typeface="Segoe UI"/>
                <a:ea typeface="Segoe UI"/>
                <a:cs typeface="Segoe UI"/>
              </a:rPr>
              <a:t>Privilege</a:t>
            </a:r>
          </a:p>
        </p:txBody>
      </p:sp>
      <p:sp>
        <p:nvSpPr>
          <p:cNvPr id="19" name="">
            <a:extLst xmlns:a="http://schemas.openxmlformats.org/drawingml/2006/main">
              <a:ext uri="{FF2B5EF4-FFF2-40B4-BE49-F238E27FC236}">
                <a16:creationId xmlns:a16="http://schemas.microsoft.com/office/drawing/2014/main" id="{F6ECFFF8-21FA-4810-848F-0892F76486A7}"/>
              </a:ext>
            </a:extLst>
          </p:cNvPr>
          <p:cNvSpPr>
            <a:spLocks xmlns:a="http://schemas.openxmlformats.org/drawingml/2006/main" noGrp="1"/>
          </p:cNvSpPr>
          <p:nvPr/>
        </p:nvSpPr>
        <p:spPr>
          <a:xfrm xmlns:a="http://schemas.openxmlformats.org/drawingml/2006/main">
            <a:off x="2619375" y="519112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medeleg/cause còn regression chưa sạch</a:t>
            </a:r>
          </a:p>
        </p:txBody>
      </p:sp>
      <p:sp>
        <p:nvSpPr>
          <p:cNvPr id="20" name="">
            <a:extLst xmlns:a="http://schemas.openxmlformats.org/drawingml/2006/main">
              <a:ext uri="{FF2B5EF4-FFF2-40B4-BE49-F238E27FC236}">
                <a16:creationId xmlns:a16="http://schemas.microsoft.com/office/drawing/2014/main" id="{DFFFEA36-329F-43FA-A7A2-311FC734F12C}"/>
              </a:ext>
            </a:extLst>
          </p:cNvPr>
          <p:cNvSpPr>
            <a:spLocks xmlns:a="http://schemas.openxmlformats.org/drawingml/2006/main" noGrp="1"/>
          </p:cNvSpPr>
          <p:nvPr/>
        </p:nvSpPr>
        <p:spPr>
          <a:xfrm xmlns:a="http://schemas.openxmlformats.org/drawingml/2006/main">
            <a:off x="762000" y="576262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21" name="">
            <a:extLst xmlns:a="http://schemas.openxmlformats.org/drawingml/2006/main">
              <a:ext uri="{FF2B5EF4-FFF2-40B4-BE49-F238E27FC236}">
                <a16:creationId xmlns:a16="http://schemas.microsoft.com/office/drawing/2014/main" id="{C017B14C-204E-486C-9151-0536D6EFDD0E}"/>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2" name="">
            <a:extLst xmlns:a="http://schemas.openxmlformats.org/drawingml/2006/main">
              <a:ext uri="{FF2B5EF4-FFF2-40B4-BE49-F238E27FC236}">
                <a16:creationId xmlns:a16="http://schemas.microsoft.com/office/drawing/2014/main" id="{DC55E724-F06F-43BA-99F3-F14A1170D514}"/>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19</a:t>
            </a:r>
          </a:p>
        </p:txBody>
      </p:sp>
    </p:spTree>
    <p:extLst>
      <p:ext uri="{BB962C8B-B14F-4D97-AF65-F5344CB8AC3E}">
        <p14:creationId xmlns:p14="http://schemas.microsoft.com/office/powerpoint/2010/main" val="924425762"/>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770F152-836A-4048-8310-2AB109C52F10}"/>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Lộ trình hoàn thiện</a:t>
            </a:r>
          </a:p>
        </p:txBody>
      </p:sp>
      <p:sp>
        <p:nvSpPr>
          <p:cNvPr id="2" name="">
            <a:extLst xmlns:a="http://schemas.openxmlformats.org/drawingml/2006/main">
              <a:ext uri="{FF2B5EF4-FFF2-40B4-BE49-F238E27FC236}">
                <a16:creationId xmlns:a16="http://schemas.microsoft.com/office/drawing/2014/main" id="{2FD6CCAA-8829-4545-AB5C-BA626DEAB676}"/>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11FD079E-A2F1-4EC1-80B4-4EB05CA7496F}"/>
              </a:ext>
            </a:extLst>
          </p:cNvPr>
          <p:cNvSpPr>
            <a:spLocks xmlns:a="http://schemas.openxmlformats.org/drawingml/2006/main" noGrp="1"/>
          </p:cNvSpPr>
          <p:nvPr/>
        </p:nvSpPr>
        <p:spPr>
          <a:xfrm xmlns:a="http://schemas.openxmlformats.org/drawingml/2006/main">
            <a:off x="523875"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4" name="">
            <a:extLst xmlns:a="http://schemas.openxmlformats.org/drawingml/2006/main">
              <a:ext uri="{FF2B5EF4-FFF2-40B4-BE49-F238E27FC236}">
                <a16:creationId xmlns:a16="http://schemas.microsoft.com/office/drawing/2014/main" id="{A9FC8C5F-C494-4596-A489-2772F11939F9}"/>
              </a:ext>
            </a:extLst>
          </p:cNvPr>
          <p:cNvSpPr>
            <a:spLocks xmlns:a="http://schemas.openxmlformats.org/drawingml/2006/main" noGrp="1"/>
          </p:cNvSpPr>
          <p:nvPr/>
        </p:nvSpPr>
        <p:spPr>
          <a:xfrm xmlns:a="http://schemas.openxmlformats.org/drawingml/2006/main">
            <a:off x="1095375"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1</a:t>
            </a:r>
          </a:p>
        </p:txBody>
      </p:sp>
      <p:sp>
        <p:nvSpPr>
          <p:cNvPr id="5" name="">
            <a:extLst xmlns:a="http://schemas.openxmlformats.org/drawingml/2006/main">
              <a:ext uri="{FF2B5EF4-FFF2-40B4-BE49-F238E27FC236}">
                <a16:creationId xmlns:a16="http://schemas.microsoft.com/office/drawing/2014/main" id="{8159D12D-F997-4E5B-AE5C-EA09A6B76D4E}"/>
              </a:ext>
            </a:extLst>
          </p:cNvPr>
          <p:cNvSpPr>
            <a:spLocks xmlns:a="http://schemas.openxmlformats.org/drawingml/2006/main" noGrp="1"/>
          </p:cNvSpPr>
          <p:nvPr/>
        </p:nvSpPr>
        <p:spPr>
          <a:xfrm xmlns:a="http://schemas.openxmlformats.org/drawingml/2006/main">
            <a:off x="714375"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Khóa regression</a:t>
            </a:r>
          </a:p>
        </p:txBody>
      </p:sp>
      <p:sp>
        <p:nvSpPr>
          <p:cNvPr id="6" name="">
            <a:extLst xmlns:a="http://schemas.openxmlformats.org/drawingml/2006/main">
              <a:ext uri="{FF2B5EF4-FFF2-40B4-BE49-F238E27FC236}">
                <a16:creationId xmlns:a16="http://schemas.microsoft.com/office/drawing/2014/main" id="{C58BD5B3-39FA-418A-B561-6B8FFBB0305F}"/>
              </a:ext>
            </a:extLst>
          </p:cNvPr>
          <p:cNvSpPr>
            <a:spLocks xmlns:a="http://schemas.openxmlformats.org/drawingml/2006/main" noGrp="1"/>
          </p:cNvSpPr>
          <p:nvPr/>
        </p:nvSpPr>
        <p:spPr>
          <a:xfrm xmlns:a="http://schemas.openxmlformats.org/drawingml/2006/main">
            <a:off x="666750"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Core, MMU, MSI, AHB-Lite</a:t>
            </a:r>
          </a:p>
        </p:txBody>
      </p:sp>
      <p:sp>
        <p:nvSpPr>
          <p:cNvPr id="7" name="">
            <a:extLst xmlns:a="http://schemas.openxmlformats.org/drawingml/2006/main">
              <a:ext uri="{FF2B5EF4-FFF2-40B4-BE49-F238E27FC236}">
                <a16:creationId xmlns:a16="http://schemas.microsoft.com/office/drawing/2014/main" id="{EFED2973-6C13-41B6-942F-7F0BD0F7D013}"/>
              </a:ext>
            </a:extLst>
          </p:cNvPr>
          <p:cNvSpPr>
            <a:spLocks xmlns:a="http://schemas.openxmlformats.org/drawingml/2006/main" noGrp="1"/>
          </p:cNvSpPr>
          <p:nvPr/>
        </p:nvSpPr>
        <p:spPr>
          <a:xfrm xmlns:a="http://schemas.openxmlformats.org/drawingml/2006/main">
            <a:off x="2857500"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8" name="">
            <a:extLst xmlns:a="http://schemas.openxmlformats.org/drawingml/2006/main">
              <a:ext uri="{FF2B5EF4-FFF2-40B4-BE49-F238E27FC236}">
                <a16:creationId xmlns:a16="http://schemas.microsoft.com/office/drawing/2014/main" id="{5A4EA823-FBBA-4481-8696-6A1503C1C9B9}"/>
              </a:ext>
            </a:extLst>
          </p:cNvPr>
          <p:cNvSpPr>
            <a:spLocks xmlns:a="http://schemas.openxmlformats.org/drawingml/2006/main" noGrp="1"/>
          </p:cNvSpPr>
          <p:nvPr/>
        </p:nvSpPr>
        <p:spPr>
          <a:xfrm xmlns:a="http://schemas.openxmlformats.org/drawingml/2006/main">
            <a:off x="3429000"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2</a:t>
            </a:r>
          </a:p>
        </p:txBody>
      </p:sp>
      <p:sp>
        <p:nvSpPr>
          <p:cNvPr id="9" name="">
            <a:extLst xmlns:a="http://schemas.openxmlformats.org/drawingml/2006/main">
              <a:ext uri="{FF2B5EF4-FFF2-40B4-BE49-F238E27FC236}">
                <a16:creationId xmlns:a16="http://schemas.microsoft.com/office/drawing/2014/main" id="{62EF37C9-3D02-4C8E-9602-033E29834686}"/>
              </a:ext>
            </a:extLst>
          </p:cNvPr>
          <p:cNvSpPr>
            <a:spLocks xmlns:a="http://schemas.openxmlformats.org/drawingml/2006/main" noGrp="1"/>
          </p:cNvSpPr>
          <p:nvPr/>
        </p:nvSpPr>
        <p:spPr>
          <a:xfrm xmlns:a="http://schemas.openxmlformats.org/drawingml/2006/main">
            <a:off x="3048000"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Tổng hợp Vivado</a:t>
            </a:r>
          </a:p>
        </p:txBody>
      </p:sp>
      <p:sp>
        <p:nvSpPr>
          <p:cNvPr id="10" name="">
            <a:extLst xmlns:a="http://schemas.openxmlformats.org/drawingml/2006/main">
              <a:ext uri="{FF2B5EF4-FFF2-40B4-BE49-F238E27FC236}">
                <a16:creationId xmlns:a16="http://schemas.microsoft.com/office/drawing/2014/main" id="{DCA43010-7D6C-45F5-A65F-C2C1F72F5539}"/>
              </a:ext>
            </a:extLst>
          </p:cNvPr>
          <p:cNvSpPr>
            <a:spLocks xmlns:a="http://schemas.openxmlformats.org/drawingml/2006/main" noGrp="1"/>
          </p:cNvSpPr>
          <p:nvPr/>
        </p:nvSpPr>
        <p:spPr>
          <a:xfrm xmlns:a="http://schemas.openxmlformats.org/drawingml/2006/main">
            <a:off x="3000375"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Resource, timing, power</a:t>
            </a:r>
          </a:p>
        </p:txBody>
      </p:sp>
      <p:sp>
        <p:nvSpPr>
          <p:cNvPr id="11" name="">
            <a:extLst xmlns:a="http://schemas.openxmlformats.org/drawingml/2006/main">
              <a:ext uri="{FF2B5EF4-FFF2-40B4-BE49-F238E27FC236}">
                <a16:creationId xmlns:a16="http://schemas.microsoft.com/office/drawing/2014/main" id="{D907029F-5876-4DE8-858B-5CA7F4299C6A}"/>
              </a:ext>
            </a:extLst>
          </p:cNvPr>
          <p:cNvSpPr>
            <a:spLocks xmlns:a="http://schemas.openxmlformats.org/drawingml/2006/main" noGrp="1"/>
          </p:cNvSpPr>
          <p:nvPr/>
        </p:nvSpPr>
        <p:spPr>
          <a:xfrm xmlns:a="http://schemas.openxmlformats.org/drawingml/2006/main">
            <a:off x="5191125"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12" name="">
            <a:extLst xmlns:a="http://schemas.openxmlformats.org/drawingml/2006/main">
              <a:ext uri="{FF2B5EF4-FFF2-40B4-BE49-F238E27FC236}">
                <a16:creationId xmlns:a16="http://schemas.microsoft.com/office/drawing/2014/main" id="{CE414D49-0E71-44CC-A7BE-ED048137F17E}"/>
              </a:ext>
            </a:extLst>
          </p:cNvPr>
          <p:cNvSpPr>
            <a:spLocks xmlns:a="http://schemas.openxmlformats.org/drawingml/2006/main" noGrp="1"/>
          </p:cNvSpPr>
          <p:nvPr/>
        </p:nvSpPr>
        <p:spPr>
          <a:xfrm xmlns:a="http://schemas.openxmlformats.org/drawingml/2006/main">
            <a:off x="5762625"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3</a:t>
            </a:r>
          </a:p>
        </p:txBody>
      </p:sp>
      <p:sp>
        <p:nvSpPr>
          <p:cNvPr id="13" name="">
            <a:extLst xmlns:a="http://schemas.openxmlformats.org/drawingml/2006/main">
              <a:ext uri="{FF2B5EF4-FFF2-40B4-BE49-F238E27FC236}">
                <a16:creationId xmlns:a16="http://schemas.microsoft.com/office/drawing/2014/main" id="{27D0BCAF-4E83-46AA-8253-27BC0341D6D2}"/>
              </a:ext>
            </a:extLst>
          </p:cNvPr>
          <p:cNvSpPr>
            <a:spLocks xmlns:a="http://schemas.openxmlformats.org/drawingml/2006/main" noGrp="1"/>
          </p:cNvSpPr>
          <p:nvPr/>
        </p:nvSpPr>
        <p:spPr>
          <a:xfrm xmlns:a="http://schemas.openxmlformats.org/drawingml/2006/main">
            <a:off x="5381625"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Bring-up board</a:t>
            </a:r>
          </a:p>
        </p:txBody>
      </p:sp>
      <p:sp>
        <p:nvSpPr>
          <p:cNvPr id="14" name="">
            <a:extLst xmlns:a="http://schemas.openxmlformats.org/drawingml/2006/main">
              <a:ext uri="{FF2B5EF4-FFF2-40B4-BE49-F238E27FC236}">
                <a16:creationId xmlns:a16="http://schemas.microsoft.com/office/drawing/2014/main" id="{45EBA52E-30C2-4BA1-B725-F451AB71EDC8}"/>
              </a:ext>
            </a:extLst>
          </p:cNvPr>
          <p:cNvSpPr>
            <a:spLocks xmlns:a="http://schemas.openxmlformats.org/drawingml/2006/main" noGrp="1"/>
          </p:cNvSpPr>
          <p:nvPr/>
        </p:nvSpPr>
        <p:spPr>
          <a:xfrm xmlns:a="http://schemas.openxmlformats.org/drawingml/2006/main">
            <a:off x="5334000"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Clock, reset, DRAM, UART</a:t>
            </a:r>
          </a:p>
        </p:txBody>
      </p:sp>
      <p:sp>
        <p:nvSpPr>
          <p:cNvPr id="15" name="">
            <a:extLst xmlns:a="http://schemas.openxmlformats.org/drawingml/2006/main">
              <a:ext uri="{FF2B5EF4-FFF2-40B4-BE49-F238E27FC236}">
                <a16:creationId xmlns:a16="http://schemas.microsoft.com/office/drawing/2014/main" id="{3050DBA0-54E9-49C9-8A82-D010BDDFA590}"/>
              </a:ext>
            </a:extLst>
          </p:cNvPr>
          <p:cNvSpPr>
            <a:spLocks xmlns:a="http://schemas.openxmlformats.org/drawingml/2006/main" noGrp="1"/>
          </p:cNvSpPr>
          <p:nvPr/>
        </p:nvSpPr>
        <p:spPr>
          <a:xfrm xmlns:a="http://schemas.openxmlformats.org/drawingml/2006/main">
            <a:off x="7524750"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7D357AF9-A957-4E58-8F4D-9E6924A3DB9E}"/>
              </a:ext>
            </a:extLst>
          </p:cNvPr>
          <p:cNvSpPr>
            <a:spLocks xmlns:a="http://schemas.openxmlformats.org/drawingml/2006/main" noGrp="1"/>
          </p:cNvSpPr>
          <p:nvPr/>
        </p:nvSpPr>
        <p:spPr>
          <a:xfrm xmlns:a="http://schemas.openxmlformats.org/drawingml/2006/main">
            <a:off x="8096250"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ED553B"/>
                </a:solidFill>
                <a:latin typeface="Segoe UI"/>
                <a:ea typeface="Segoe UI"/>
                <a:cs typeface="Segoe UI"/>
              </a:defRPr>
            </a:pPr>
            <a:r>
              <a:rPr sz="2400" b="1">
                <a:solidFill>
                  <a:srgbClr val="ED553B"/>
                </a:solidFill>
                <a:latin typeface="Segoe UI"/>
                <a:ea typeface="Segoe UI"/>
                <a:cs typeface="Segoe UI"/>
              </a:rPr>
              <a:t>4</a:t>
            </a:r>
          </a:p>
        </p:txBody>
      </p:sp>
      <p:sp>
        <p:nvSpPr>
          <p:cNvPr id="17" name="">
            <a:extLst xmlns:a="http://schemas.openxmlformats.org/drawingml/2006/main">
              <a:ext uri="{FF2B5EF4-FFF2-40B4-BE49-F238E27FC236}">
                <a16:creationId xmlns:a16="http://schemas.microsoft.com/office/drawing/2014/main" id="{2F4CF348-CDEE-4CC6-91CE-DA9E94A7EFE4}"/>
              </a:ext>
            </a:extLst>
          </p:cNvPr>
          <p:cNvSpPr>
            <a:spLocks xmlns:a="http://schemas.openxmlformats.org/drawingml/2006/main" noGrp="1"/>
          </p:cNvSpPr>
          <p:nvPr/>
        </p:nvSpPr>
        <p:spPr>
          <a:xfrm xmlns:a="http://schemas.openxmlformats.org/drawingml/2006/main">
            <a:off x="7715250"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Boot và DMA</a:t>
            </a:r>
          </a:p>
        </p:txBody>
      </p:sp>
      <p:sp>
        <p:nvSpPr>
          <p:cNvPr id="18" name="">
            <a:extLst xmlns:a="http://schemas.openxmlformats.org/drawingml/2006/main">
              <a:ext uri="{FF2B5EF4-FFF2-40B4-BE49-F238E27FC236}">
                <a16:creationId xmlns:a16="http://schemas.microsoft.com/office/drawing/2014/main" id="{E55F9002-3DA3-4228-82F4-506A4047D3EA}"/>
              </a:ext>
            </a:extLst>
          </p:cNvPr>
          <p:cNvSpPr>
            <a:spLocks xmlns:a="http://schemas.openxmlformats.org/drawingml/2006/main" noGrp="1"/>
          </p:cNvSpPr>
          <p:nvPr/>
        </p:nvSpPr>
        <p:spPr>
          <a:xfrm xmlns:a="http://schemas.openxmlformats.org/drawingml/2006/main">
            <a:off x="7667625"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SD - DRAM - CPU - SD</a:t>
            </a:r>
          </a:p>
        </p:txBody>
      </p:sp>
      <p:sp>
        <p:nvSpPr>
          <p:cNvPr id="19" name="">
            <a:extLst xmlns:a="http://schemas.openxmlformats.org/drawingml/2006/main">
              <a:ext uri="{FF2B5EF4-FFF2-40B4-BE49-F238E27FC236}">
                <a16:creationId xmlns:a16="http://schemas.microsoft.com/office/drawing/2014/main" id="{6E8C0C35-4EA5-4C31-B653-9BEC806A5BCE}"/>
              </a:ext>
            </a:extLst>
          </p:cNvPr>
          <p:cNvSpPr>
            <a:spLocks xmlns:a="http://schemas.openxmlformats.org/drawingml/2006/main" noGrp="1"/>
          </p:cNvSpPr>
          <p:nvPr/>
        </p:nvSpPr>
        <p:spPr>
          <a:xfrm xmlns:a="http://schemas.openxmlformats.org/drawingml/2006/main">
            <a:off x="9858375"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20" name="">
            <a:extLst xmlns:a="http://schemas.openxmlformats.org/drawingml/2006/main">
              <a:ext uri="{FF2B5EF4-FFF2-40B4-BE49-F238E27FC236}">
                <a16:creationId xmlns:a16="http://schemas.microsoft.com/office/drawing/2014/main" id="{A69E31F7-498B-468E-85CA-8FEFE8981276}"/>
              </a:ext>
            </a:extLst>
          </p:cNvPr>
          <p:cNvSpPr>
            <a:spLocks xmlns:a="http://schemas.openxmlformats.org/drawingml/2006/main" noGrp="1"/>
          </p:cNvSpPr>
          <p:nvPr/>
        </p:nvSpPr>
        <p:spPr>
          <a:xfrm xmlns:a="http://schemas.openxmlformats.org/drawingml/2006/main">
            <a:off x="10429875"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5</a:t>
            </a:r>
          </a:p>
        </p:txBody>
      </p:sp>
      <p:sp>
        <p:nvSpPr>
          <p:cNvPr id="21" name="">
            <a:extLst xmlns:a="http://schemas.openxmlformats.org/drawingml/2006/main">
              <a:ext uri="{FF2B5EF4-FFF2-40B4-BE49-F238E27FC236}">
                <a16:creationId xmlns:a16="http://schemas.microsoft.com/office/drawing/2014/main" id="{675FD5D9-E1DE-4FE7-971C-D1E2D5BD89CB}"/>
              </a:ext>
            </a:extLst>
          </p:cNvPr>
          <p:cNvSpPr>
            <a:spLocks xmlns:a="http://schemas.openxmlformats.org/drawingml/2006/main" noGrp="1"/>
          </p:cNvSpPr>
          <p:nvPr/>
        </p:nvSpPr>
        <p:spPr>
          <a:xfrm xmlns:a="http://schemas.openxmlformats.org/drawingml/2006/main">
            <a:off x="10048875"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Đánh giá</a:t>
            </a:r>
          </a:p>
        </p:txBody>
      </p:sp>
      <p:sp>
        <p:nvSpPr>
          <p:cNvPr id="22" name="">
            <a:extLst xmlns:a="http://schemas.openxmlformats.org/drawingml/2006/main">
              <a:ext uri="{FF2B5EF4-FFF2-40B4-BE49-F238E27FC236}">
                <a16:creationId xmlns:a16="http://schemas.microsoft.com/office/drawing/2014/main" id="{FC3497A1-921B-4422-9459-95AD836E00F5}"/>
              </a:ext>
            </a:extLst>
          </p:cNvPr>
          <p:cNvSpPr>
            <a:spLocks xmlns:a="http://schemas.openxmlformats.org/drawingml/2006/main" noGrp="1"/>
          </p:cNvSpPr>
          <p:nvPr/>
        </p:nvSpPr>
        <p:spPr>
          <a:xfrm xmlns:a="http://schemas.openxmlformats.org/drawingml/2006/main">
            <a:off x="10001250"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1/2/4 lõi và workload</a:t>
            </a:r>
          </a:p>
        </p:txBody>
      </p:sp>
      <p:sp>
        <p:nvSpPr>
          <p:cNvPr id="23" name="">
            <a:extLst xmlns:a="http://schemas.openxmlformats.org/drawingml/2006/main">
              <a:ext uri="{FF2B5EF4-FFF2-40B4-BE49-F238E27FC236}">
                <a16:creationId xmlns:a16="http://schemas.microsoft.com/office/drawing/2014/main" id="{A96D9502-39FF-4BAC-8456-8D4D9B7B8595}"/>
              </a:ext>
            </a:extLst>
          </p:cNvPr>
          <p:cNvSpPr>
            <a:spLocks xmlns:a="http://schemas.openxmlformats.org/drawingml/2006/main" noGrp="1"/>
          </p:cNvSpPr>
          <p:nvPr/>
        </p:nvSpPr>
        <p:spPr>
          <a:xfrm xmlns:a="http://schemas.openxmlformats.org/drawingml/2006/main">
            <a:off x="1095375" y="49530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ED553B"/>
                </a:solidFill>
                <a:latin typeface="Segoe UI"/>
                <a:ea typeface="Segoe UI"/>
                <a:cs typeface="Segoe UI"/>
              </a:defRPr>
            </a:pPr>
            <a:r>
              <a:rPr sz="1725" b="1">
                <a:solidFill>
                  <a:srgbClr val="ED553B"/>
                </a:solidFill>
                <a:latin typeface="Segoe UI"/>
                <a:ea typeface="Segoe UI"/>
                <a:cs typeface="Segoe UI"/>
              </a:rPr>
              <a:t>Ưu tiên tháng 9-10: MMU/TLB, AHB-Lite và AXI4 ổn định trước khi mở rộng phần còn lại</a:t>
            </a:r>
          </a:p>
        </p:txBody>
      </p:sp>
      <p:sp>
        <p:nvSpPr>
          <p:cNvPr id="24" name="">
            <a:extLst xmlns:a="http://schemas.openxmlformats.org/drawingml/2006/main">
              <a:ext uri="{FF2B5EF4-FFF2-40B4-BE49-F238E27FC236}">
                <a16:creationId xmlns:a16="http://schemas.microsoft.com/office/drawing/2014/main" id="{0DD2A4FB-EA73-4EB4-AE59-3B3FCA1EE1AF}"/>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5" name="">
            <a:extLst xmlns:a="http://schemas.openxmlformats.org/drawingml/2006/main">
              <a:ext uri="{FF2B5EF4-FFF2-40B4-BE49-F238E27FC236}">
                <a16:creationId xmlns:a16="http://schemas.microsoft.com/office/drawing/2014/main" id="{EBFBFE47-AC97-46FC-B620-2F85A1BBC5D2}"/>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20</a:t>
            </a:r>
          </a:p>
        </p:txBody>
      </p:sp>
    </p:spTree>
    <p:extLst>
      <p:ext uri="{BB962C8B-B14F-4D97-AF65-F5344CB8AC3E}">
        <p14:creationId xmlns:p14="http://schemas.microsoft.com/office/powerpoint/2010/main" val="109226773"/>
      </p:ext>
    </p:extLst>
  </p:cSld>
</p:sld>
</file>

<file path=ppt/slides/slide21.xml><?xml version="1.0" encoding="utf-8"?>
<p:sld xmlns:p="http://schemas.openxmlformats.org/presentationml/2006/main">
  <p:cSld>
    <p:bg>
      <p:bgPr>
        <a:solidFill xmlns:a="http://schemas.openxmlformats.org/drawingml/2006/main">
          <a:srgbClr val="173F5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3232C0-9884-4152-8BB6-B6AA605F5C1A}"/>
              </a:ext>
            </a:extLst>
          </p:cNvPr>
          <p:cNvSpPr>
            <a:spLocks xmlns:a="http://schemas.openxmlformats.org/drawingml/2006/main" noGrp="1"/>
          </p:cNvSpPr>
          <p:nvPr/>
        </p:nvSpPr>
        <p:spPr>
          <a:xfrm xmlns:a="http://schemas.openxmlformats.org/drawingml/2006/main">
            <a:off x="714375" y="619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850" b="1">
                <a:solidFill>
                  <a:srgbClr val="FFFFFF"/>
                </a:solidFill>
                <a:latin typeface="Segoe UI"/>
                <a:ea typeface="Segoe UI"/>
                <a:cs typeface="Segoe UI"/>
              </a:defRPr>
            </a:pPr>
            <a:r>
              <a:rPr sz="2850" b="1">
                <a:solidFill>
                  <a:srgbClr val="FFFFFF"/>
                </a:solidFill>
                <a:latin typeface="Segoe UI"/>
                <a:ea typeface="Segoe UI"/>
                <a:cs typeface="Segoe UI"/>
              </a:rPr>
              <a:t>Kết luận</a:t>
            </a:r>
          </a:p>
        </p:txBody>
      </p:sp>
      <p:sp>
        <p:nvSpPr>
          <p:cNvPr id="2" name="">
            <a:extLst xmlns:a="http://schemas.openxmlformats.org/drawingml/2006/main">
              <a:ext uri="{FF2B5EF4-FFF2-40B4-BE49-F238E27FC236}">
                <a16:creationId xmlns:a16="http://schemas.microsoft.com/office/drawing/2014/main" id="{3626383B-F624-452D-9DDE-1A54BD28EE70}"/>
              </a:ext>
            </a:extLst>
          </p:cNvPr>
          <p:cNvSpPr>
            <a:spLocks xmlns:a="http://schemas.openxmlformats.org/drawingml/2006/main" noGrp="1"/>
          </p:cNvSpPr>
          <p:nvPr/>
        </p:nvSpPr>
        <p:spPr>
          <a:xfrm xmlns:a="http://schemas.openxmlformats.org/drawingml/2006/main">
            <a:off x="904875" y="157162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FFFFFF"/>
                </a:solidFill>
                <a:latin typeface="Segoe UI"/>
                <a:ea typeface="Segoe UI"/>
                <a:cs typeface="Segoe UI"/>
              </a:defRPr>
            </a:pPr>
            <a:r>
              <a:rPr sz="2250" b="1">
                <a:solidFill>
                  <a:srgbClr val="FFFFFF"/>
                </a:solidFill>
                <a:latin typeface="Segoe UI"/>
                <a:ea typeface="Segoe UI"/>
                <a:cs typeface="Segoe UI"/>
              </a:rPr>
              <a:t>Thiết kế đã hình thành một kiến trúc 4 lõi có đầy đủ đường xử lý và phân cấp bộ nhớ</a:t>
            </a:r>
          </a:p>
        </p:txBody>
      </p:sp>
      <p:sp>
        <p:nvSpPr>
          <p:cNvPr id="3" name="">
            <a:extLst xmlns:a="http://schemas.openxmlformats.org/drawingml/2006/main">
              <a:ext uri="{FF2B5EF4-FFF2-40B4-BE49-F238E27FC236}">
                <a16:creationId xmlns:a16="http://schemas.microsoft.com/office/drawing/2014/main" id="{C573DA46-E959-4424-8321-683195DB2BBE}"/>
              </a:ext>
            </a:extLst>
          </p:cNvPr>
          <p:cNvSpPr>
            <a:spLocks xmlns:a="http://schemas.openxmlformats.org/drawingml/2006/main" noGrp="1"/>
          </p:cNvSpPr>
          <p:nvPr/>
        </p:nvSpPr>
        <p:spPr>
          <a:xfrm xmlns:a="http://schemas.openxmlformats.org/drawingml/2006/main">
            <a:off x="1381125" y="2857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4" name="">
            <a:extLst xmlns:a="http://schemas.openxmlformats.org/drawingml/2006/main">
              <a:ext uri="{FF2B5EF4-FFF2-40B4-BE49-F238E27FC236}">
                <a16:creationId xmlns:a16="http://schemas.microsoft.com/office/drawing/2014/main" id="{354ACF49-4B44-4527-B928-599AAED913F7}"/>
              </a:ext>
            </a:extLst>
          </p:cNvPr>
          <p:cNvSpPr>
            <a:spLocks xmlns:a="http://schemas.openxmlformats.org/drawingml/2006/main" noGrp="1"/>
          </p:cNvSpPr>
          <p:nvPr/>
        </p:nvSpPr>
        <p:spPr>
          <a:xfrm xmlns:a="http://schemas.openxmlformats.org/drawingml/2006/main">
            <a:off x="1609725" y="27622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RV32IMA pipeline, CSR và chế độ đặc quyền</a:t>
            </a:r>
          </a:p>
        </p:txBody>
      </p:sp>
      <p:sp>
        <p:nvSpPr>
          <p:cNvPr id="5" name="">
            <a:extLst xmlns:a="http://schemas.openxmlformats.org/drawingml/2006/main">
              <a:ext uri="{FF2B5EF4-FFF2-40B4-BE49-F238E27FC236}">
                <a16:creationId xmlns:a16="http://schemas.microsoft.com/office/drawing/2014/main" id="{41D4496E-E69F-47D8-A3BC-64272DB95626}"/>
              </a:ext>
            </a:extLst>
          </p:cNvPr>
          <p:cNvSpPr>
            <a:spLocks xmlns:a="http://schemas.openxmlformats.org/drawingml/2006/main" noGrp="1"/>
          </p:cNvSpPr>
          <p:nvPr/>
        </p:nvSpPr>
        <p:spPr>
          <a:xfrm xmlns:a="http://schemas.openxmlformats.org/drawingml/2006/main">
            <a:off x="1381125" y="3429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6" name="">
            <a:extLst xmlns:a="http://schemas.openxmlformats.org/drawingml/2006/main">
              <a:ext uri="{FF2B5EF4-FFF2-40B4-BE49-F238E27FC236}">
                <a16:creationId xmlns:a16="http://schemas.microsoft.com/office/drawing/2014/main" id="{1E225973-A368-409D-8F02-04AD11550A0F}"/>
              </a:ext>
            </a:extLst>
          </p:cNvPr>
          <p:cNvSpPr>
            <a:spLocks xmlns:a="http://schemas.openxmlformats.org/drawingml/2006/main" noGrp="1"/>
          </p:cNvSpPr>
          <p:nvPr/>
        </p:nvSpPr>
        <p:spPr>
          <a:xfrm xmlns:a="http://schemas.openxmlformats.org/drawingml/2006/main">
            <a:off x="1609725" y="33337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MMU/TLB/PTW Sv32 theo từng lõi</a:t>
            </a:r>
          </a:p>
        </p:txBody>
      </p:sp>
      <p:sp>
        <p:nvSpPr>
          <p:cNvPr id="7" name="">
            <a:extLst xmlns:a="http://schemas.openxmlformats.org/drawingml/2006/main">
              <a:ext uri="{FF2B5EF4-FFF2-40B4-BE49-F238E27FC236}">
                <a16:creationId xmlns:a16="http://schemas.microsoft.com/office/drawing/2014/main" id="{10649E9D-11FC-4DA8-9A5D-AFF4074E88CC}"/>
              </a:ext>
            </a:extLst>
          </p:cNvPr>
          <p:cNvSpPr>
            <a:spLocks xmlns:a="http://schemas.openxmlformats.org/drawingml/2006/main" noGrp="1"/>
          </p:cNvSpPr>
          <p:nvPr/>
        </p:nvSpPr>
        <p:spPr>
          <a:xfrm xmlns:a="http://schemas.openxmlformats.org/drawingml/2006/main">
            <a:off x="1381125" y="40005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B5C68182-F1C4-4572-8888-6792FE152CB7}"/>
              </a:ext>
            </a:extLst>
          </p:cNvPr>
          <p:cNvSpPr>
            <a:spLocks xmlns:a="http://schemas.openxmlformats.org/drawingml/2006/main" noGrp="1"/>
          </p:cNvSpPr>
          <p:nvPr/>
        </p:nvSpPr>
        <p:spPr>
          <a:xfrm xmlns:a="http://schemas.openxmlformats.org/drawingml/2006/main">
            <a:off x="1609725" y="39052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L1/L2 và coherence MSI đã có regression PASS</a:t>
            </a:r>
          </a:p>
        </p:txBody>
      </p:sp>
      <p:sp>
        <p:nvSpPr>
          <p:cNvPr id="9" name="">
            <a:extLst xmlns:a="http://schemas.openxmlformats.org/drawingml/2006/main">
              <a:ext uri="{FF2B5EF4-FFF2-40B4-BE49-F238E27FC236}">
                <a16:creationId xmlns:a16="http://schemas.microsoft.com/office/drawing/2014/main" id="{A204EC7C-64DE-4AF2-9BFA-6541D9156870}"/>
              </a:ext>
            </a:extLst>
          </p:cNvPr>
          <p:cNvSpPr>
            <a:spLocks xmlns:a="http://schemas.openxmlformats.org/drawingml/2006/main" noGrp="1"/>
          </p:cNvSpPr>
          <p:nvPr/>
        </p:nvSpPr>
        <p:spPr>
          <a:xfrm xmlns:a="http://schemas.openxmlformats.org/drawingml/2006/main">
            <a:off x="1381125" y="4572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FDEEDCB7-2C9E-4F4F-AC4E-DE8D4EB7AD9C}"/>
              </a:ext>
            </a:extLst>
          </p:cNvPr>
          <p:cNvSpPr>
            <a:spLocks xmlns:a="http://schemas.openxmlformats.org/drawingml/2006/main" noGrp="1"/>
          </p:cNvSpPr>
          <p:nvPr/>
        </p:nvSpPr>
        <p:spPr>
          <a:xfrm xmlns:a="http://schemas.openxmlformats.org/drawingml/2006/main">
            <a:off x="1609725" y="44767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AHB-Lite và AXI4 tách theo hai miền chức năng</a:t>
            </a:r>
          </a:p>
        </p:txBody>
      </p:sp>
      <p:sp>
        <p:nvSpPr>
          <p:cNvPr id="11" name="">
            <a:extLst xmlns:a="http://schemas.openxmlformats.org/drawingml/2006/main">
              <a:ext uri="{FF2B5EF4-FFF2-40B4-BE49-F238E27FC236}">
                <a16:creationId xmlns:a16="http://schemas.microsoft.com/office/drawing/2014/main" id="{9C6089C8-6174-4638-A82C-6FE637739B85}"/>
              </a:ext>
            </a:extLst>
          </p:cNvPr>
          <p:cNvSpPr>
            <a:spLocks xmlns:a="http://schemas.openxmlformats.org/drawingml/2006/main" noGrp="1"/>
          </p:cNvSpPr>
          <p:nvPr/>
        </p:nvSpPr>
        <p:spPr>
          <a:xfrm xmlns:a="http://schemas.openxmlformats.org/drawingml/2006/main">
            <a:off x="1381125" y="51435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1BE549D0-F03E-4C52-BC3D-D4B34D26BEDC}"/>
              </a:ext>
            </a:extLst>
          </p:cNvPr>
          <p:cNvSpPr>
            <a:spLocks xmlns:a="http://schemas.openxmlformats.org/drawingml/2006/main" noGrp="1"/>
          </p:cNvSpPr>
          <p:nvPr/>
        </p:nvSpPr>
        <p:spPr>
          <a:xfrm xmlns:a="http://schemas.openxmlformats.org/drawingml/2006/main">
            <a:off x="1609725" y="50482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Giá trị còn lại nằm ở synthesis và demo FPGA end-to-end</a:t>
            </a:r>
          </a:p>
        </p:txBody>
      </p:sp>
      <p:sp>
        <p:nvSpPr>
          <p:cNvPr id="13" name="">
            <a:extLst xmlns:a="http://schemas.openxmlformats.org/drawingml/2006/main">
              <a:ext uri="{FF2B5EF4-FFF2-40B4-BE49-F238E27FC236}">
                <a16:creationId xmlns:a16="http://schemas.microsoft.com/office/drawing/2014/main" id="{BCE19727-A689-4D09-93C0-E42E01855F39}"/>
              </a:ext>
            </a:extLst>
          </p:cNvPr>
          <p:cNvSpPr>
            <a:spLocks xmlns:a="http://schemas.openxmlformats.org/drawingml/2006/main" noGrp="1"/>
          </p:cNvSpPr>
          <p:nvPr/>
        </p:nvSpPr>
        <p:spPr>
          <a:xfrm xmlns:a="http://schemas.openxmlformats.org/drawingml/2006/main">
            <a:off x="2381250" y="595312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D9EAF2"/>
                </a:solidFill>
                <a:latin typeface="Segoe UI"/>
                <a:ea typeface="Segoe UI"/>
                <a:cs typeface="Segoe UI"/>
              </a:defRPr>
            </a:pPr>
            <a:r>
              <a:rPr sz="1875" b="1">
                <a:solidFill>
                  <a:srgbClr val="D9EAF2"/>
                </a:solidFill>
                <a:latin typeface="Segoe UI"/>
                <a:ea typeface="Segoe UI"/>
                <a:cs typeface="Segoe UI"/>
              </a:rPr>
              <a:t>Câu hỏi và thảo luận</a:t>
            </a:r>
          </a:p>
        </p:txBody>
      </p:sp>
    </p:spTree>
    <p:extLst>
      <p:ext uri="{BB962C8B-B14F-4D97-AF65-F5344CB8AC3E}">
        <p14:creationId xmlns:p14="http://schemas.microsoft.com/office/powerpoint/2010/main" val="645859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2026-09-26T15:52:37.9670000Z</dcterms:created>
  <dcterms:modified xsi:type="dcterms:W3CDTF">2026-09-26T15:52:37.9670000Z</dcterms:modified>
</coreProperties>
</file>