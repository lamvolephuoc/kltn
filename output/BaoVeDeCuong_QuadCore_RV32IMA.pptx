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Calibri" panose="020F0502020204030204" pitchFamily="34" charset="0"/>
      <p:regular r:id="rId10"/>
      <p:bold r:id="rId11"/>
      <p:italic r:id="rId12"/>
      <p:boldItalic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75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Nhóm trình bày đề cương thiết kế bộ vi xử lý RISC-V 4 lõi RV32IMA. Báo cáo gồm tổng quan đề tài, mục tiêu, nội dung và phương pháp thực hiện, kế hoạch thực hiện.</a:t>
            </a:r>
          </a:p>
          <a:p>
            <a:pPr marL="0" lvl="0" indent="0" algn="l">
              <a:spcBef>
                <a:spcPts val="0"/>
              </a:spcBef>
              <a:spcAft>
                <a:spcPts val="0"/>
              </a:spcAft>
              <a:buNone/>
            </a:pPr>
            <a:r>
              <a:t>Nguồn: 23520840_23520838_DeCuongKLTN.docx, tên đề tài và thông tin nhóm.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Mở đầu bằng nhu cầu ứng dụng thực tế. UAV chỉ là ví dụ tạo động lực, khóa luận không cam kết xây dựng hoặc chứng nhận hệ điều khiển bay. Nền tảng tham khảo trong khoa gồm hệ 2 lõi RV32IMFA và hệ 2 lõi RV32IA có cache/coherence. Đóng góp nhóm hướng tới là tích hợp hệ 4 lõi RV32IMA với L1/L2, coherence và MMU theo từng lõi, rồi đánh giá bằng mô phỏng và FPGA. Tránh khẳng định mọi nghiên cứu quốc tế đều chưa giải quyết cache.</a:t>
            </a:r>
          </a:p>
          <a:p>
            <a:pPr marL="0" lvl="0" indent="0" algn="l">
              <a:spcBef>
                <a:spcPts val="0"/>
              </a:spcBef>
              <a:spcAft>
                <a:spcPts val="0"/>
              </a:spcAft>
              <a:buNone/>
            </a:pPr>
            <a:r>
              <a:t>Nguồn: 23520840_23520838_DeCuongKLTN.docx, Tổng quan đề tài và tài liệu [4], [5]. README.md, mục Cấu trúc repo và Các thư mục tham khảo.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RV32I là tập lệnh số nguyên cơ sở, M bổ sung nhân/chia, A bổ sung thao tác nguyên tử phục vụ chia sẻ dữ liệu giữa các lõi. Hai mục tiêu bao quát phần thiết kế và phần chứng minh thiết kế hoạt động. RTL hiện có chủ yếu là Verilog .v, đề cương định hướng Verilog/SystemVerilog và môi trường kiểm chứng. MMU hiện thực theo cấu trúc Sv32 2 cấp nhưng dùng định dạng PTE/PA tùy biến 32 bit, không tuyên bố tuân thủ đầy đủ Sv32. Không có superpage, không tự cập nhật A/D, không áp dụng đầy đủ phân quyền truy cập trang S/U. Các CSR và chuyển chế độ M/S/U mới có RTL và chưa mô phỏng; không cam kết chạy hệ điều hành. Công suất là ước tính từ công cụ, cần dữ liệu hoạt động thích hợp để đánh giá.</a:t>
            </a:r>
          </a:p>
          <a:p>
            <a:pPr marL="0" lvl="0" indent="0" algn="l">
              <a:spcBef>
                <a:spcPts val="0"/>
              </a:spcBef>
              <a:spcAft>
                <a:spcPts val="0"/>
              </a:spcAft>
              <a:buNone/>
            </a:pPr>
            <a:r>
              <a:t>Nguồn: 23520840_23520838_DeCuongKLTN.docx, Mục tiêu và Giới hạn. Risc_V_new/Risc_V/rtl/RV32IMA.v, memory_stage.v, mmu_ptw.v, csr_trap_unit.v.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Thiết kế tăng dần độ phức tạp để cô lập lỗi: kiểm tra khối riêng, ghép lõi đơn, tích hợp nhiều lõi, cuối cùng chạy toàn hệ thống. Vai trò các thành phần: L1 giảm truy cập bộ nhớ cho từng lõi, L2 là bộ nhớ đệm dùng chung, MESI quản lý bản sao dữ liệu giữa các cache, MMU dịch địa chỉ. AHB-Lite ở biên L1 và khối coherence, AXI4 nối phía hệ thống. RTL hiện tại có các liên kết AHB-Lite điểm nối điểm và bus snoop riêng, trọng tài nằm trong coherence_manager; không trình bày là một crossbar AHB nhiều master hoàn chỉnh. DMA hiện chọn IP axi_cdma trong Tcl, công việc nhóm là cấu hình, tích hợp và kiểm chứng.</a:t>
            </a:r>
          </a:p>
          <a:p>
            <a:pPr marL="0" lvl="0" indent="0" algn="l">
              <a:spcBef>
                <a:spcPts val="0"/>
              </a:spcBef>
              <a:spcAft>
                <a:spcPts val="0"/>
              </a:spcAft>
              <a:buNone/>
            </a:pPr>
            <a:r>
              <a:t>Nguồn: đề cương, Nội dung 1–4. Risc_V_new/README.md, quyết định kiến trúc. rtl/core_l1_wrapper.v, quad_core_soc_ahb.v, coherence_manager.v và scripts/build_soc_4core_trial.tcl.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Hai mức bắt buộc là mô phỏng RTL và phần cứng FPGA. UVM là phần khuyến khích, thực hiện khi phần chức năng bắt buộc đã ổn định. Spike chỉ dùng đối chiếu trong phạm vi thực thi I/M/A, không coi đây là kiểm chứng toàn bộ hệ thống cache/MMU hoặc tuân thủ mọi đặc tả RISC-V. Luồng demo là kết quả dự kiến, chưa hoàn tất trong repo. Trên Genesys ZU-5EV, README đã đề xuất PS hỗ trợ đọc SD và nạp chương trình trước khi nhả reset cho RISC-V; script hiện vẫn dùng BRAM thử nghiệm, phần loader PS và đường DDR thật chưa có. Với VCU129 cần chốt kết nối SD hoặc module ngoài và bộ điều khiển DDR tương ứng. Không xem một lần validate Block Design là bằng chứng demo phần cứng đã chạy.</a:t>
            </a:r>
          </a:p>
          <a:p>
            <a:pPr marL="0" lvl="0" indent="0" algn="l">
              <a:spcBef>
                <a:spcPts val="0"/>
              </a:spcBef>
              <a:spcAft>
                <a:spcPts val="0"/>
              </a:spcAft>
              <a:buNone/>
            </a:pPr>
            <a:r>
              <a:t>Nguồn: 23520840_23520838_DeCuongKLTN.docx, Nội dung 4 và Demo dự kiến. Risc_V_new/README.md, mục -0.05 và Bảng khoảng cách. scripts/build_soc_zu5ev_boot.tcl, host_eval_uart.py, rtl/boot_ctrl.v.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Tiến độ phản ánh mã nguồn trên đĩa và tracker Risc_V_new/README.md, không suy ra đã chạy đúng chỉ vì có module hay testbench. Nền tảng 2 lõi từng chạy FPGA là kết quả kế thừa được README ghi nhận; mã nguồn core dùng chung đã thay đổi sau đó, nên cần chạy regression nếu build lại. Hệ mới instantiate 4 core_l1_wrapper, mỗi lõi có MMU và I/D cache riêng. L1 hiện 32 KB I-cache và 32 KB D-cache mỗi lõi, L2 dùng chung 512 KB theo các tham số RTL. Coherence chưa có kết quả mô phỏng xác nhận. Testbench hiện ưu tiên một số chuyển trạng thái dữ liệu và chưa bao phủ hết eviction/writeback, traffic I-cache, atomic và toàn bộ pipeline. Kịch bản boot/DMA/DDR/SD còn cần tích hợp thực tế.</a:t>
            </a:r>
          </a:p>
          <a:p>
            <a:pPr marL="0" lvl="0" indent="0" algn="l">
              <a:spcBef>
                <a:spcPts val="0"/>
              </a:spcBef>
              <a:spcAft>
                <a:spcPts val="0"/>
              </a:spcAft>
              <a:buNone/>
            </a:pPr>
            <a:r>
              <a:t>Nguồn: Risc_V_new/README.md, mục 0, mục 4, mục 5 và mục 9. rtl/quad_core_soc_ahb.v, l1_icache.v, l1_dcache.v, l2_cache.v. sim/tb_coherence.v, tb_coherence_ahb.v, tb_csr_trap.v, tb_csr_priv.v, tb_mmu_core.v.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Bảng giữ mốc và giai đoạn theo đề cương chính thức. Các tháng thể hiện giai đoạn tập trung công việc, không phải xác nhận các hạng mục đã hoàn thành. Phân công theo tên đầy đủ để tránh nhầm Lam và Lâm. Kế hoạch nội bộ KeHoach_20Tuan_NoiBo.txt ghi phạm vi 07/09/2026–25/01/2027, khác hạn 27/12/2026 trong đề cương. Nhóm cần thống nhất mốc với GVHD trước khi cam kết chính thức. Ưu tiên xác nhận các testbench hiện có và dành thời gian cho tích hợp toàn hệ thống, SD–DDR, chạy FPGA. Không hứa mức tăng tốc 4 lần khi chưa đo.</a:t>
            </a:r>
          </a:p>
          <a:p>
            <a:pPr marL="0" lvl="0" indent="0" algn="l">
              <a:spcBef>
                <a:spcPts val="0"/>
              </a:spcBef>
              <a:spcAft>
                <a:spcPts val="0"/>
              </a:spcAft>
              <a:buNone/>
            </a:pPr>
            <a:r>
              <a:t>Nguồn: 23520840_23520838_DeCuongKLTN.docx, Kế hoạch thực hiện và phân công. KeHoach_20Tuan_NoiBo.txt để đối chiếu mốc nội bộ.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12" name="Google Shape;12;p65">
            <a:extLst>
              <a:ext uri="{FF2B5EF4-FFF2-40B4-BE49-F238E27FC236}">
                <a16:creationId xmlns:a16="http://schemas.microsoft.com/office/drawing/2014/main" id="{79DEA664-0039-42ED-B9B0-FFA2127A02E6}"/>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13" name="Google Shape;13;p65">
            <a:extLst>
              <a:ext uri="{FF2B5EF4-FFF2-40B4-BE49-F238E27FC236}">
                <a16:creationId xmlns:a16="http://schemas.microsoft.com/office/drawing/2014/main" id="{72515A20-0D4F-4F25-B376-7DCF0063F191}"/>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14" name="Google Shape;14;p65">
            <a:extLst>
              <a:ext uri="{FF2B5EF4-FFF2-40B4-BE49-F238E27FC236}">
                <a16:creationId xmlns:a16="http://schemas.microsoft.com/office/drawing/2014/main" id="{9CCE02F2-6A65-4017-9A82-D9A1A07D2C69}"/>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16" name="Google Shape;16;p66">
            <a:extLst>
              <a:ext uri="{FF2B5EF4-FFF2-40B4-BE49-F238E27FC236}">
                <a16:creationId xmlns:a16="http://schemas.microsoft.com/office/drawing/2014/main" id="{ADE5F620-8DA8-4C20-828B-7753F3C6C140}"/>
              </a:ext>
            </a:extLst>
          </p:cNvPr>
          <p:cNvSpPr>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ormAutofit/>
          </a:bodyPr>
          <a:lstStyle>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7" name="Google Shape;17;p66">
            <a:extLst>
              <a:ext uri="{FF2B5EF4-FFF2-40B4-BE49-F238E27FC236}">
                <a16:creationId xmlns:a16="http://schemas.microsoft.com/office/drawing/2014/main" id="{5FE2B29E-A919-410C-B0AE-0F69D2E67B29}"/>
              </a:ext>
            </a:extLst>
          </p:cNvPr>
          <p:cNvSpPr>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ormAutofit/>
          </a:bodyPr>
          <a:lstStyle>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a:endParaRPr/>
          </a:p>
        </p:txBody>
      </p:sp>
      <p:sp>
        <p:nvSpPr>
          <p:cNvPr id="18" name="Google Shape;18;p66">
            <a:extLst>
              <a:ext uri="{FF2B5EF4-FFF2-40B4-BE49-F238E27FC236}">
                <a16:creationId xmlns:a16="http://schemas.microsoft.com/office/drawing/2014/main" id="{25212FA2-BBEB-423B-8476-C70161555259}"/>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19" name="Google Shape;19;p66">
            <a:extLst>
              <a:ext uri="{FF2B5EF4-FFF2-40B4-BE49-F238E27FC236}">
                <a16:creationId xmlns:a16="http://schemas.microsoft.com/office/drawing/2014/main" id="{81A4146F-D946-46BF-94A7-A7172576D63F}"/>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20" name="Google Shape;20;p66">
            <a:extLst>
              <a:ext uri="{FF2B5EF4-FFF2-40B4-BE49-F238E27FC236}">
                <a16:creationId xmlns:a16="http://schemas.microsoft.com/office/drawing/2014/main" id="{2BBCE46E-F145-4EC9-A72D-1889113BB41B}"/>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
        <p:cNvGrpSpPr/>
        <p:nvPr/>
      </p:nvGrpSpPr>
      <p:grpSpPr>
        <a:xfrm>
          <a:off x="0" y="0"/>
          <a:ext cx="0" cy="0"/>
          <a:chOff x="0" y="0"/>
          <a:chExt cx="0" cy="0"/>
        </a:xfrm>
      </p:grpSpPr>
      <p:sp>
        <p:nvSpPr>
          <p:cNvPr id="22" name="Google Shape;22;p67">
            <a:extLst>
              <a:ext uri="{FF2B5EF4-FFF2-40B4-BE49-F238E27FC236}">
                <a16:creationId xmlns:a16="http://schemas.microsoft.com/office/drawing/2014/main" id="{00DC6C62-F052-4FCF-9298-75A5F10056EC}"/>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23" name="Google Shape;23;p67">
            <a:extLst>
              <a:ext uri="{FF2B5EF4-FFF2-40B4-BE49-F238E27FC236}">
                <a16:creationId xmlns:a16="http://schemas.microsoft.com/office/drawing/2014/main" id="{592C912E-9EF1-4573-9501-472ACC954B02}"/>
              </a:ext>
            </a:extLst>
          </p:cNvPr>
          <p:cNvSpPr>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ormAutofit/>
          </a:bodyPr>
          <a:lstStyle>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a:endParaRPr/>
          </a:p>
        </p:txBody>
      </p:sp>
      <p:sp>
        <p:nvSpPr>
          <p:cNvPr id="24" name="Google Shape;24;p67">
            <a:extLst>
              <a:ext uri="{FF2B5EF4-FFF2-40B4-BE49-F238E27FC236}">
                <a16:creationId xmlns:a16="http://schemas.microsoft.com/office/drawing/2014/main" id="{CC86F5CD-D4CE-43CE-9C97-F973DB3B99F3}"/>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25" name="Google Shape;25;p67">
            <a:extLst>
              <a:ext uri="{FF2B5EF4-FFF2-40B4-BE49-F238E27FC236}">
                <a16:creationId xmlns:a16="http://schemas.microsoft.com/office/drawing/2014/main" id="{C15345EA-1257-4BC0-B5B1-E72EED2A5B38}"/>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26" name="Google Shape;26;p67">
            <a:extLst>
              <a:ext uri="{FF2B5EF4-FFF2-40B4-BE49-F238E27FC236}">
                <a16:creationId xmlns:a16="http://schemas.microsoft.com/office/drawing/2014/main" id="{69B38058-59EA-45AD-AB47-B8D4A468387C}"/>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28" name="Google Shape;28;p68">
            <a:extLst>
              <a:ext uri="{FF2B5EF4-FFF2-40B4-BE49-F238E27FC236}">
                <a16:creationId xmlns:a16="http://schemas.microsoft.com/office/drawing/2014/main" id="{818D61C5-D4E5-42B1-B5C3-36A2278D93AB}"/>
              </a:ext>
            </a:extLst>
          </p:cNvPr>
          <p:cNvSpPr>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ormAutofit/>
          </a:bodyPr>
          <a:lstStyle>
            <a:lvl1pPr algn="l">
              <a:spcBef>
                <a:spcPts val="0"/>
              </a:spcBef>
              <a:spcAft>
                <a:spcPts val="0"/>
              </a:spcAft>
              <a:buClr>
                <a:schemeClr val="dk1"/>
              </a:buClr>
              <a:buSzPts val="4000"/>
              <a:buFont typeface="Calibri"/>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29" name="Google Shape;29;p68">
            <a:extLst>
              <a:ext uri="{FF2B5EF4-FFF2-40B4-BE49-F238E27FC236}">
                <a16:creationId xmlns:a16="http://schemas.microsoft.com/office/drawing/2014/main" id="{0DF60416-F5FB-41F9-B8A4-76FE7C145A37}"/>
              </a:ext>
            </a:extLst>
          </p:cNvPr>
          <p:cNvSpPr>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ormAutofit/>
          </a:bodyPr>
          <a:lstStyle>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68">
            <a:extLst>
              <a:ext uri="{FF2B5EF4-FFF2-40B4-BE49-F238E27FC236}">
                <a16:creationId xmlns:a16="http://schemas.microsoft.com/office/drawing/2014/main" id="{12D7D162-2638-4691-AD75-871411413165}"/>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31" name="Google Shape;31;p68">
            <a:extLst>
              <a:ext uri="{FF2B5EF4-FFF2-40B4-BE49-F238E27FC236}">
                <a16:creationId xmlns:a16="http://schemas.microsoft.com/office/drawing/2014/main" id="{E76357EE-72C9-455E-9F45-980764F35ADC}"/>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32" name="Google Shape;32;p68">
            <a:extLst>
              <a:ext uri="{FF2B5EF4-FFF2-40B4-BE49-F238E27FC236}">
                <a16:creationId xmlns:a16="http://schemas.microsoft.com/office/drawing/2014/main" id="{D7F910F4-B1D2-4706-A061-4A347C4F4659}"/>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
        <p:cNvGrpSpPr/>
        <p:nvPr/>
      </p:nvGrpSpPr>
      <p:grpSpPr>
        <a:xfrm>
          <a:off x="0" y="0"/>
          <a:ext cx="0" cy="0"/>
          <a:chOff x="0" y="0"/>
          <a:chExt cx="0" cy="0"/>
        </a:xfrm>
      </p:grpSpPr>
      <p:sp>
        <p:nvSpPr>
          <p:cNvPr id="34" name="Google Shape;34;p69">
            <a:extLst>
              <a:ext uri="{FF2B5EF4-FFF2-40B4-BE49-F238E27FC236}">
                <a16:creationId xmlns:a16="http://schemas.microsoft.com/office/drawing/2014/main" id="{E1E97223-665E-4713-93E5-D7C8A625E071}"/>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35" name="Google Shape;35;p69">
            <a:extLst>
              <a:ext uri="{FF2B5EF4-FFF2-40B4-BE49-F238E27FC236}">
                <a16:creationId xmlns:a16="http://schemas.microsoft.com/office/drawing/2014/main" id="{F744CEBC-B77F-45C5-9E55-1F20D77D4C16}"/>
              </a:ext>
            </a:extLst>
          </p:cNvPr>
          <p:cNvSpPr>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ormAutofit/>
          </a:bodyPr>
          <a:lstStyle>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a:endParaRPr/>
          </a:p>
        </p:txBody>
      </p:sp>
      <p:sp>
        <p:nvSpPr>
          <p:cNvPr id="36" name="Google Shape;36;p69">
            <a:extLst>
              <a:ext uri="{FF2B5EF4-FFF2-40B4-BE49-F238E27FC236}">
                <a16:creationId xmlns:a16="http://schemas.microsoft.com/office/drawing/2014/main" id="{6372718B-704B-4986-BABC-88BDD1EEB96B}"/>
              </a:ext>
            </a:extLst>
          </p:cNvPr>
          <p:cNvSpPr>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ormAutofit/>
          </a:bodyPr>
          <a:lstStyle>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a:endParaRPr/>
          </a:p>
        </p:txBody>
      </p:sp>
      <p:sp>
        <p:nvSpPr>
          <p:cNvPr id="37" name="Google Shape;37;p69">
            <a:extLst>
              <a:ext uri="{FF2B5EF4-FFF2-40B4-BE49-F238E27FC236}">
                <a16:creationId xmlns:a16="http://schemas.microsoft.com/office/drawing/2014/main" id="{477C3A5D-B803-4195-A6AE-2EB1933F8B62}"/>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38" name="Google Shape;38;p69">
            <a:extLst>
              <a:ext uri="{FF2B5EF4-FFF2-40B4-BE49-F238E27FC236}">
                <a16:creationId xmlns:a16="http://schemas.microsoft.com/office/drawing/2014/main" id="{3E8E07AD-AB22-4D43-B385-0DC0899595F9}"/>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39" name="Google Shape;39;p69">
            <a:extLst>
              <a:ext uri="{FF2B5EF4-FFF2-40B4-BE49-F238E27FC236}">
                <a16:creationId xmlns:a16="http://schemas.microsoft.com/office/drawing/2014/main" id="{247AD8F9-04F8-42CE-B744-2E9F2E75C4E6}"/>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
        <p:cNvGrpSpPr/>
        <p:nvPr/>
      </p:nvGrpSpPr>
      <p:grpSpPr>
        <a:xfrm>
          <a:off x="0" y="0"/>
          <a:ext cx="0" cy="0"/>
          <a:chOff x="0" y="0"/>
          <a:chExt cx="0" cy="0"/>
        </a:xfrm>
      </p:grpSpPr>
      <p:sp>
        <p:nvSpPr>
          <p:cNvPr id="41" name="Google Shape;41;p70">
            <a:extLst>
              <a:ext uri="{FF2B5EF4-FFF2-40B4-BE49-F238E27FC236}">
                <a16:creationId xmlns:a16="http://schemas.microsoft.com/office/drawing/2014/main" id="{B3F01046-5565-450D-871F-0439DBBB0D00}"/>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spcBef>
                <a:spcPts val="0"/>
              </a:spcBef>
              <a:spcAft>
                <a:spcPts val="0"/>
              </a:spcAft>
              <a:buClr>
                <a:schemeClr val="dk1"/>
              </a:buClr>
              <a:buSzPts val="4400"/>
              <a:buFont typeface="Calibri"/>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42" name="Google Shape;42;p70">
            <a:extLst>
              <a:ext uri="{FF2B5EF4-FFF2-40B4-BE49-F238E27FC236}">
                <a16:creationId xmlns:a16="http://schemas.microsoft.com/office/drawing/2014/main" id="{F72C62F3-F374-4C41-B0C9-AF00877C49BE}"/>
              </a:ext>
            </a:extLst>
          </p:cNvPr>
          <p:cNvSpPr>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ormAutofit/>
          </a:bodyPr>
          <a:lstStyle>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a:endParaRPr/>
          </a:p>
        </p:txBody>
      </p:sp>
      <p:sp>
        <p:nvSpPr>
          <p:cNvPr id="43" name="Google Shape;43;p70">
            <a:extLst>
              <a:ext uri="{FF2B5EF4-FFF2-40B4-BE49-F238E27FC236}">
                <a16:creationId xmlns:a16="http://schemas.microsoft.com/office/drawing/2014/main" id="{A0183635-B753-4CF2-B81F-8C44C5E94A17}"/>
              </a:ext>
            </a:extLst>
          </p:cNvPr>
          <p:cNvSpPr>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ormAutofit/>
          </a:bodyPr>
          <a:lstStyle>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a:endParaRPr/>
          </a:p>
        </p:txBody>
      </p:sp>
      <p:sp>
        <p:nvSpPr>
          <p:cNvPr id="44" name="Google Shape;44;p70">
            <a:extLst>
              <a:ext uri="{FF2B5EF4-FFF2-40B4-BE49-F238E27FC236}">
                <a16:creationId xmlns:a16="http://schemas.microsoft.com/office/drawing/2014/main" id="{04B004EB-07A5-4722-9CBA-2B3EEB137D6C}"/>
              </a:ext>
            </a:extLst>
          </p:cNvPr>
          <p:cNvSpPr>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ormAutofit/>
          </a:bodyPr>
          <a:lstStyle>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a:endParaRPr/>
          </a:p>
        </p:txBody>
      </p:sp>
      <p:sp>
        <p:nvSpPr>
          <p:cNvPr id="45" name="Google Shape;45;p70">
            <a:extLst>
              <a:ext uri="{FF2B5EF4-FFF2-40B4-BE49-F238E27FC236}">
                <a16:creationId xmlns:a16="http://schemas.microsoft.com/office/drawing/2014/main" id="{88F02CD4-D442-4870-9430-848380FD4E1E}"/>
              </a:ext>
            </a:extLst>
          </p:cNvPr>
          <p:cNvSpPr>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ormAutofit/>
          </a:bodyPr>
          <a:lstStyle>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a:endParaRPr/>
          </a:p>
        </p:txBody>
      </p:sp>
      <p:sp>
        <p:nvSpPr>
          <p:cNvPr id="46" name="Google Shape;46;p70">
            <a:extLst>
              <a:ext uri="{FF2B5EF4-FFF2-40B4-BE49-F238E27FC236}">
                <a16:creationId xmlns:a16="http://schemas.microsoft.com/office/drawing/2014/main" id="{2075520B-6862-4EE2-AD18-0746A596E426}"/>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47" name="Google Shape;47;p70">
            <a:extLst>
              <a:ext uri="{FF2B5EF4-FFF2-40B4-BE49-F238E27FC236}">
                <a16:creationId xmlns:a16="http://schemas.microsoft.com/office/drawing/2014/main" id="{F202F142-ED86-4CD0-A1EA-6652DC89C692}"/>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48" name="Google Shape;48;p70">
            <a:extLst>
              <a:ext uri="{FF2B5EF4-FFF2-40B4-BE49-F238E27FC236}">
                <a16:creationId xmlns:a16="http://schemas.microsoft.com/office/drawing/2014/main" id="{93C47A14-30F8-4615-9A8E-03D6E48BE62E}"/>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50" name="Google Shape;50;p71">
            <a:extLst>
              <a:ext uri="{FF2B5EF4-FFF2-40B4-BE49-F238E27FC236}">
                <a16:creationId xmlns:a16="http://schemas.microsoft.com/office/drawing/2014/main" id="{0F594679-CE68-4513-A5A6-6EC9BEFE8A5B}"/>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51" name="Google Shape;51;p71">
            <a:extLst>
              <a:ext uri="{FF2B5EF4-FFF2-40B4-BE49-F238E27FC236}">
                <a16:creationId xmlns:a16="http://schemas.microsoft.com/office/drawing/2014/main" id="{8A8C8ABC-578A-4461-87F1-C5F230282FC0}"/>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52" name="Google Shape;52;p71">
            <a:extLst>
              <a:ext uri="{FF2B5EF4-FFF2-40B4-BE49-F238E27FC236}">
                <a16:creationId xmlns:a16="http://schemas.microsoft.com/office/drawing/2014/main" id="{2E824102-008D-49DE-BEF8-E8C437F068B7}"/>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53" name="Google Shape;53;p71">
            <a:extLst>
              <a:ext uri="{FF2B5EF4-FFF2-40B4-BE49-F238E27FC236}">
                <a16:creationId xmlns:a16="http://schemas.microsoft.com/office/drawing/2014/main" id="{003D2F0C-8D5B-4D5F-A8ED-73948BD998C6}"/>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
        <p:cNvGrpSpPr/>
        <p:nvPr/>
      </p:nvGrpSpPr>
      <p:grpSpPr>
        <a:xfrm>
          <a:off x="0" y="0"/>
          <a:ext cx="0" cy="0"/>
          <a:chOff x="0" y="0"/>
          <a:chExt cx="0" cy="0"/>
        </a:xfrm>
      </p:grpSpPr>
      <p:sp>
        <p:nvSpPr>
          <p:cNvPr id="55" name="Google Shape;55;p72">
            <a:extLst>
              <a:ext uri="{FF2B5EF4-FFF2-40B4-BE49-F238E27FC236}">
                <a16:creationId xmlns:a16="http://schemas.microsoft.com/office/drawing/2014/main" id="{BD212167-E7DF-4268-B5E6-82CD063695D1}"/>
              </a:ext>
            </a:extLst>
          </p:cNvPr>
          <p:cNvSpPr>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ormAutofit/>
          </a:bodyPr>
          <a:lstStyle>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56" name="Google Shape;56;p72">
            <a:extLst>
              <a:ext uri="{FF2B5EF4-FFF2-40B4-BE49-F238E27FC236}">
                <a16:creationId xmlns:a16="http://schemas.microsoft.com/office/drawing/2014/main" id="{B2BFF20D-29FD-45C1-BC0C-8C16674DC4D0}"/>
              </a:ext>
            </a:extLst>
          </p:cNvPr>
          <p:cNvSpPr>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ormAutofit/>
          </a:bodyPr>
          <a:lstStyle>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a:endParaRPr/>
          </a:p>
        </p:txBody>
      </p:sp>
      <p:sp>
        <p:nvSpPr>
          <p:cNvPr id="57" name="Google Shape;57;p72">
            <a:extLst>
              <a:ext uri="{FF2B5EF4-FFF2-40B4-BE49-F238E27FC236}">
                <a16:creationId xmlns:a16="http://schemas.microsoft.com/office/drawing/2014/main" id="{DE39C408-6428-446D-B083-EEEAC80F413A}"/>
              </a:ext>
            </a:extLst>
          </p:cNvPr>
          <p:cNvSpPr>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ormAutofit/>
          </a:bodyPr>
          <a:lstStyle>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a:endParaRPr/>
          </a:p>
        </p:txBody>
      </p:sp>
      <p:sp>
        <p:nvSpPr>
          <p:cNvPr id="58" name="Google Shape;58;p72">
            <a:extLst>
              <a:ext uri="{FF2B5EF4-FFF2-40B4-BE49-F238E27FC236}">
                <a16:creationId xmlns:a16="http://schemas.microsoft.com/office/drawing/2014/main" id="{EBEBC602-EC92-49D4-A85B-1A2CBCB20F67}"/>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59" name="Google Shape;59;p72">
            <a:extLst>
              <a:ext uri="{FF2B5EF4-FFF2-40B4-BE49-F238E27FC236}">
                <a16:creationId xmlns:a16="http://schemas.microsoft.com/office/drawing/2014/main" id="{61F0657A-E1F8-4FA4-986C-102750EF0EAA}"/>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60" name="Google Shape;60;p72">
            <a:extLst>
              <a:ext uri="{FF2B5EF4-FFF2-40B4-BE49-F238E27FC236}">
                <a16:creationId xmlns:a16="http://schemas.microsoft.com/office/drawing/2014/main" id="{84D3C190-471D-474E-9225-41CA67224058}"/>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62" name="Google Shape;62;p73">
            <a:extLst>
              <a:ext uri="{FF2B5EF4-FFF2-40B4-BE49-F238E27FC236}">
                <a16:creationId xmlns:a16="http://schemas.microsoft.com/office/drawing/2014/main" id="{73616ABB-A58B-441F-9CE5-DAF6972534F7}"/>
              </a:ext>
            </a:extLst>
          </p:cNvPr>
          <p:cNvSpPr>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ormAutofit/>
          </a:bodyPr>
          <a:lstStyle>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63" name="Google Shape;63;p73">
            <a:extLst>
              <a:ext uri="{FF2B5EF4-FFF2-40B4-BE49-F238E27FC236}">
                <a16:creationId xmlns:a16="http://schemas.microsoft.com/office/drawing/2014/main" id="{41B63500-2B39-4A24-B527-4A30811BF389}"/>
              </a:ext>
            </a:extLst>
          </p:cNvPr>
          <p:cNvSpPr>
            <a:spLocks noGrp="1"/>
          </p:cNvSpPr>
          <p:nvPr>
            <p:ph type="pic" idx="2"/>
          </p:nvPr>
        </p:nvSpPr>
        <p:spPr>
          <a:xfrm>
            <a:off x="1792288" y="612775"/>
            <a:ext cx="5486400" cy="4114800"/>
          </a:xfrm>
          <a:prstGeom prst="rect">
            <a:avLst/>
          </a:prstGeom>
          <a:noFill/>
          <a:ln>
            <a:noFill/>
          </a:ln>
        </p:spPr>
        <p:txBody>
          <a:bodyPr/>
          <a:lstStyle/>
          <a:p>
            <a:endParaRPr/>
          </a:p>
        </p:txBody>
      </p:sp>
      <p:sp>
        <p:nvSpPr>
          <p:cNvPr id="64" name="Google Shape;64;p73">
            <a:extLst>
              <a:ext uri="{FF2B5EF4-FFF2-40B4-BE49-F238E27FC236}">
                <a16:creationId xmlns:a16="http://schemas.microsoft.com/office/drawing/2014/main" id="{F878A2FC-A191-489C-8E0B-E1B3539559B1}"/>
              </a:ext>
            </a:extLst>
          </p:cNvPr>
          <p:cNvSpPr>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ormAutofit/>
          </a:bodyPr>
          <a:lstStyle>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a:endParaRPr/>
          </a:p>
        </p:txBody>
      </p:sp>
      <p:sp>
        <p:nvSpPr>
          <p:cNvPr id="65" name="Google Shape;65;p73">
            <a:extLst>
              <a:ext uri="{FF2B5EF4-FFF2-40B4-BE49-F238E27FC236}">
                <a16:creationId xmlns:a16="http://schemas.microsoft.com/office/drawing/2014/main" id="{4840E11B-566C-412B-AFCA-F26AB424DC8A}"/>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66" name="Google Shape;66;p73">
            <a:extLst>
              <a:ext uri="{FF2B5EF4-FFF2-40B4-BE49-F238E27FC236}">
                <a16:creationId xmlns:a16="http://schemas.microsoft.com/office/drawing/2014/main" id="{8BEF0A4D-58AD-43E4-A4C9-93D0783ADE03}"/>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67" name="Google Shape;67;p73">
            <a:extLst>
              <a:ext uri="{FF2B5EF4-FFF2-40B4-BE49-F238E27FC236}">
                <a16:creationId xmlns:a16="http://schemas.microsoft.com/office/drawing/2014/main" id="{6640B3DE-8FE6-402A-A7C9-6F6CF208B442}"/>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69" name="Google Shape;69;p74">
            <a:extLst>
              <a:ext uri="{FF2B5EF4-FFF2-40B4-BE49-F238E27FC236}">
                <a16:creationId xmlns:a16="http://schemas.microsoft.com/office/drawing/2014/main" id="{54F4F3BE-7F4F-4F53-A889-E8C40BC6401B}"/>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70" name="Google Shape;70;p74">
            <a:extLst>
              <a:ext uri="{FF2B5EF4-FFF2-40B4-BE49-F238E27FC236}">
                <a16:creationId xmlns:a16="http://schemas.microsoft.com/office/drawing/2014/main" id="{E2FFEE81-6BF3-4892-8F4C-BB82ED24E41E}"/>
              </a:ext>
            </a:extLst>
          </p:cNvPr>
          <p:cNvSpPr>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ormAutofit/>
          </a:bodyPr>
          <a:lstStyle>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a:endParaRPr/>
          </a:p>
        </p:txBody>
      </p:sp>
      <p:sp>
        <p:nvSpPr>
          <p:cNvPr id="71" name="Google Shape;71;p74">
            <a:extLst>
              <a:ext uri="{FF2B5EF4-FFF2-40B4-BE49-F238E27FC236}">
                <a16:creationId xmlns:a16="http://schemas.microsoft.com/office/drawing/2014/main" id="{D9AE1EEA-5A0D-46EE-8FA7-FAC80D21FB35}"/>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72" name="Google Shape;72;p74">
            <a:extLst>
              <a:ext uri="{FF2B5EF4-FFF2-40B4-BE49-F238E27FC236}">
                <a16:creationId xmlns:a16="http://schemas.microsoft.com/office/drawing/2014/main" id="{5EF49405-7F54-43B6-92A9-EF12D2BFD7E1}"/>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73" name="Google Shape;73;p74">
            <a:extLst>
              <a:ext uri="{FF2B5EF4-FFF2-40B4-BE49-F238E27FC236}">
                <a16:creationId xmlns:a16="http://schemas.microsoft.com/office/drawing/2014/main" id="{111D1AF1-36D1-4A73-A7BF-E0F427EBA8E8}"/>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75" name="Google Shape;75;p75">
            <a:extLst>
              <a:ext uri="{FF2B5EF4-FFF2-40B4-BE49-F238E27FC236}">
                <a16:creationId xmlns:a16="http://schemas.microsoft.com/office/drawing/2014/main" id="{DBD0D764-7586-418B-A2CE-04F3B032BCD1}"/>
              </a:ext>
            </a:extLst>
          </p:cNvPr>
          <p:cNvSpPr>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ormAutofit/>
          </a:bodyPr>
          <a:lstStyle>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76" name="Google Shape;76;p75">
            <a:extLst>
              <a:ext uri="{FF2B5EF4-FFF2-40B4-BE49-F238E27FC236}">
                <a16:creationId xmlns:a16="http://schemas.microsoft.com/office/drawing/2014/main" id="{665BD1AA-EB13-48AF-8475-D42CB928ED1E}"/>
              </a:ext>
            </a:extLst>
          </p:cNvPr>
          <p:cNvSpPr>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ormAutofit/>
          </a:bodyPr>
          <a:lstStyle>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a:endParaRPr/>
          </a:p>
        </p:txBody>
      </p:sp>
      <p:sp>
        <p:nvSpPr>
          <p:cNvPr id="77" name="Google Shape;77;p75">
            <a:extLst>
              <a:ext uri="{FF2B5EF4-FFF2-40B4-BE49-F238E27FC236}">
                <a16:creationId xmlns:a16="http://schemas.microsoft.com/office/drawing/2014/main" id="{CFE86052-B0F9-40EA-9367-866349C8ED1C}"/>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78" name="Google Shape;78;p75">
            <a:extLst>
              <a:ext uri="{FF2B5EF4-FFF2-40B4-BE49-F238E27FC236}">
                <a16:creationId xmlns:a16="http://schemas.microsoft.com/office/drawing/2014/main" id="{04681AB9-40A3-4FED-A03F-620A4CFA20D6}"/>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79" name="Google Shape;79;p75">
            <a:extLst>
              <a:ext uri="{FF2B5EF4-FFF2-40B4-BE49-F238E27FC236}">
                <a16:creationId xmlns:a16="http://schemas.microsoft.com/office/drawing/2014/main" id="{90A7A442-4BCA-43BD-9567-B11BC09572F8}"/>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Google Shape;6;p64">
            <a:extLst>
              <a:ext uri="{FF2B5EF4-FFF2-40B4-BE49-F238E27FC236}">
                <a16:creationId xmlns:a16="http://schemas.microsoft.com/office/drawing/2014/main" id="{905FF4B1-78DB-4167-B713-93179F155A1B}"/>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marR="0" algn="ctr">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a:endParaRPr/>
          </a:p>
        </p:txBody>
      </p:sp>
      <p:sp>
        <p:nvSpPr>
          <p:cNvPr id="7" name="Google Shape;7;p64">
            <a:extLst>
              <a:ext uri="{FF2B5EF4-FFF2-40B4-BE49-F238E27FC236}">
                <a16:creationId xmlns:a16="http://schemas.microsoft.com/office/drawing/2014/main" id="{54FE0888-3F97-47A9-8F53-9460A7F5B321}"/>
              </a:ext>
            </a:extLst>
          </p:cNvPr>
          <p:cNvSpPr>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ormAutofit/>
          </a:bodyPr>
          <a:lstStyle>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Calibri"/>
                <a:ea typeface="Calibri"/>
                <a:cs typeface="Calibri"/>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Calibri"/>
                <a:ea typeface="Calibri"/>
                <a:cs typeface="Calibri"/>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Calibri"/>
                <a:ea typeface="Calibri"/>
                <a:cs typeface="Calibri"/>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a:endParaRPr/>
          </a:p>
        </p:txBody>
      </p:sp>
      <p:sp>
        <p:nvSpPr>
          <p:cNvPr id="8" name="Google Shape;8;p64">
            <a:extLst>
              <a:ext uri="{FF2B5EF4-FFF2-40B4-BE49-F238E27FC236}">
                <a16:creationId xmlns:a16="http://schemas.microsoft.com/office/drawing/2014/main" id="{4E15252C-60DC-453F-9741-C5525B65D708}"/>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marR="0" algn="l">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a:endParaRPr/>
          </a:p>
        </p:txBody>
      </p:sp>
      <p:sp>
        <p:nvSpPr>
          <p:cNvPr id="9" name="Google Shape;9;p64">
            <a:extLst>
              <a:ext uri="{FF2B5EF4-FFF2-40B4-BE49-F238E27FC236}">
                <a16:creationId xmlns:a16="http://schemas.microsoft.com/office/drawing/2014/main" id="{6C152448-C556-4197-95AE-5321674A5F9E}"/>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marR="0" algn="ctr">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a:endParaRPr/>
          </a:p>
        </p:txBody>
      </p:sp>
      <p:sp>
        <p:nvSpPr>
          <p:cNvPr id="10" name="Google Shape;10;p64">
            <a:extLst>
              <a:ext uri="{FF2B5EF4-FFF2-40B4-BE49-F238E27FC236}">
                <a16:creationId xmlns:a16="http://schemas.microsoft.com/office/drawing/2014/main" id="{1B4B81D8-A881-44F4-8BF3-AFB3BE7A0877}"/>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spcBef>
                <a:spcPts val="0"/>
              </a:spcBef>
              <a:buNone/>
              <a:defRPr sz="1200" b="0" i="0" u="none" cap="none">
                <a:solidFill>
                  <a:srgbClr val="888888"/>
                </a:solidFill>
                <a:latin typeface="Calibri"/>
                <a:ea typeface="Calibri"/>
                <a:cs typeface="Calibri"/>
              </a:defRPr>
            </a:lvl1pPr>
            <a:lvl2pPr marL="0" marR="0" indent="0" algn="r">
              <a:spcBef>
                <a:spcPts val="0"/>
              </a:spcBef>
              <a:buNone/>
              <a:defRPr sz="1200" b="0" i="0" u="none" cap="none">
                <a:solidFill>
                  <a:srgbClr val="888888"/>
                </a:solidFill>
                <a:latin typeface="Calibri"/>
                <a:ea typeface="Calibri"/>
                <a:cs typeface="Calibri"/>
              </a:defRPr>
            </a:lvl2pPr>
            <a:lvl3pPr marL="0" marR="0" indent="0" algn="r">
              <a:spcBef>
                <a:spcPts val="0"/>
              </a:spcBef>
              <a:buNone/>
              <a:defRPr sz="1200" b="0" i="0" u="none" cap="none">
                <a:solidFill>
                  <a:srgbClr val="888888"/>
                </a:solidFill>
                <a:latin typeface="Calibri"/>
                <a:ea typeface="Calibri"/>
                <a:cs typeface="Calibri"/>
              </a:defRPr>
            </a:lvl3pPr>
            <a:lvl4pPr marL="0" marR="0" indent="0" algn="r">
              <a:spcBef>
                <a:spcPts val="0"/>
              </a:spcBef>
              <a:buNone/>
              <a:defRPr sz="1200" b="0" i="0" u="none" cap="none">
                <a:solidFill>
                  <a:srgbClr val="888888"/>
                </a:solidFill>
                <a:latin typeface="Calibri"/>
                <a:ea typeface="Calibri"/>
                <a:cs typeface="Calibri"/>
              </a:defRPr>
            </a:lvl4pPr>
            <a:lvl5pPr marL="0" marR="0" indent="0" algn="r">
              <a:spcBef>
                <a:spcPts val="0"/>
              </a:spcBef>
              <a:buNone/>
              <a:defRPr sz="1200" b="0" i="0" u="none" cap="none">
                <a:solidFill>
                  <a:srgbClr val="888888"/>
                </a:solidFill>
                <a:latin typeface="Calibri"/>
                <a:ea typeface="Calibri"/>
                <a:cs typeface="Calibri"/>
              </a:defRPr>
            </a:lvl5pPr>
            <a:lvl6pPr marL="0" marR="0" indent="0" algn="r">
              <a:spcBef>
                <a:spcPts val="0"/>
              </a:spcBef>
              <a:buNone/>
              <a:defRPr sz="1200" b="0" i="0" u="none" cap="none">
                <a:solidFill>
                  <a:srgbClr val="888888"/>
                </a:solidFill>
                <a:latin typeface="Calibri"/>
                <a:ea typeface="Calibri"/>
                <a:cs typeface="Calibri"/>
              </a:defRPr>
            </a:lvl6pPr>
            <a:lvl7pPr marL="0" marR="0" indent="0" algn="r">
              <a:spcBef>
                <a:spcPts val="0"/>
              </a:spcBef>
              <a:buNone/>
              <a:defRPr sz="1200" b="0" i="0" u="none" cap="none">
                <a:solidFill>
                  <a:srgbClr val="888888"/>
                </a:solidFill>
                <a:latin typeface="Calibri"/>
                <a:ea typeface="Calibri"/>
                <a:cs typeface="Calibri"/>
              </a:defRPr>
            </a:lvl7pPr>
            <a:lvl8pPr marL="0" marR="0" indent="0" algn="r">
              <a:spcBef>
                <a:spcPts val="0"/>
              </a:spcBef>
              <a:buNone/>
              <a:defRPr sz="1200" b="0" i="0" u="none" cap="none">
                <a:solidFill>
                  <a:srgbClr val="888888"/>
                </a:solidFill>
                <a:latin typeface="Calibri"/>
                <a:ea typeface="Calibri"/>
                <a:cs typeface="Calibri"/>
              </a:defRPr>
            </a:lvl8pPr>
            <a:lvl9pPr marL="0" marR="0" indent="0" algn="r">
              <a:spcBef>
                <a:spcPts val="0"/>
              </a:spcBef>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Google Shape;88;p1">
            <a:extLst>
              <a:ext uri="{FF2B5EF4-FFF2-40B4-BE49-F238E27FC236}">
                <a16:creationId xmlns:a16="http://schemas.microsoft.com/office/drawing/2014/main" id="{B2DCE872-5EC7-FDE7-A471-67B7338CD750}"/>
              </a:ext>
            </a:extLst>
          </p:cNvPr>
          <p:cNvSpPr>
            <a:spLocks noGrp="1"/>
          </p:cNvSpPr>
          <p:nvPr/>
        </p:nvSpPr>
        <p:spPr>
          <a:xfrm>
            <a:off x="-36213" y="0"/>
            <a:ext cx="789388" cy="10287000"/>
          </a:xfrm>
          <a:custGeom>
            <a:avLst/>
            <a:gdLst/>
            <a:ahLst/>
            <a:cxnLst/>
            <a:rect l="l" t="t" r="r" b="b"/>
            <a:pathLst>
              <a:path w="1267460" h="13716000">
                <a:moveTo>
                  <a:pt x="0" y="0"/>
                </a:moveTo>
                <a:lnTo>
                  <a:pt x="1267460" y="0"/>
                </a:lnTo>
                <a:lnTo>
                  <a:pt x="1267460" y="13716000"/>
                </a:lnTo>
                <a:lnTo>
                  <a:pt x="0" y="13716000"/>
                </a:lnTo>
                <a:close/>
              </a:path>
            </a:pathLst>
          </a:custGeom>
          <a:gradFill>
            <a:gsLst>
              <a:gs pos="0">
                <a:srgbClr val="10CD57"/>
              </a:gs>
              <a:gs pos="100000">
                <a:srgbClr val="027159"/>
              </a:gs>
            </a:gsLst>
            <a:lin ang="540000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89" name="Google Shape;89;p1">
            <a:extLst>
              <a:ext uri="{FF2B5EF4-FFF2-40B4-BE49-F238E27FC236}">
                <a16:creationId xmlns:a16="http://schemas.microsoft.com/office/drawing/2014/main" id="{F209E95F-FC29-42FA-0AB7-934A412D145F}"/>
              </a:ext>
            </a:extLst>
          </p:cNvPr>
          <p:cNvSpPr>
            <a:spLocks noGrp="1"/>
          </p:cNvSpPr>
          <p:nvPr/>
        </p:nvSpPr>
        <p:spPr>
          <a:xfrm rot="10800000" flipH="1">
            <a:off x="-46871" y="0"/>
            <a:ext cx="714044" cy="10287000"/>
          </a:xfrm>
          <a:custGeom>
            <a:avLst/>
            <a:gdLst/>
            <a:ahLst/>
            <a:cxnLst/>
            <a:rect l="l" t="t" r="r" b="b"/>
            <a:pathLst>
              <a:path w="1267460" h="13716000">
                <a:moveTo>
                  <a:pt x="0" y="0"/>
                </a:moveTo>
                <a:lnTo>
                  <a:pt x="1267460" y="0"/>
                </a:lnTo>
                <a:lnTo>
                  <a:pt x="1267460" y="13716000"/>
                </a:lnTo>
                <a:lnTo>
                  <a:pt x="0" y="13716000"/>
                </a:lnTo>
                <a:close/>
              </a:path>
            </a:pathLst>
          </a:custGeom>
          <a:blipFill rotWithShape="1">
            <a:blip r:embed="rId3">
              <a:alphaModFix/>
            </a:blip>
            <a:stretch>
              <a:fillRect l="-2950" r="-2951"/>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92" name="Google Shape;92;p1">
            <a:extLst>
              <a:ext uri="{FF2B5EF4-FFF2-40B4-BE49-F238E27FC236}">
                <a16:creationId xmlns:a16="http://schemas.microsoft.com/office/drawing/2014/main" id="{97421035-DF72-0EE9-42AB-BB512D0EACCC}"/>
              </a:ext>
            </a:extLst>
          </p:cNvPr>
          <p:cNvSpPr>
            <a:spLocks noGrp="1"/>
          </p:cNvSpPr>
          <p:nvPr/>
        </p:nvSpPr>
        <p:spPr>
          <a:xfrm rot="16200000">
            <a:off x="-2734402" y="6615396"/>
            <a:ext cx="6259599" cy="543550"/>
          </a:xfrm>
          <a:prstGeom prst="rect">
            <a:avLst/>
          </a:prstGeom>
          <a:noFill/>
          <a:ln>
            <a:noFill/>
          </a:ln>
        </p:spPr>
        <p:txBody>
          <a:bodyPr spcFirstLastPara="1" wrap="square" lIns="0" tIns="0" rIns="0" bIns="0" anchor="t">
            <a:noAutofit/>
          </a:bodyPr>
          <a:lstStyle/>
          <a:p>
            <a:pPr marL="0" marR="0" lvl="0" indent="0" algn="l">
              <a:lnSpc>
                <a:spcPct val="119958"/>
              </a:lnSpc>
              <a:spcBef>
                <a:spcPts val="0"/>
              </a:spcBef>
              <a:spcAft>
                <a:spcPts val="0"/>
              </a:spcAft>
              <a:buNone/>
              <a:defRPr>
                <a:latin typeface="Arial"/>
                <a:ea typeface="Arial"/>
                <a:cs typeface="Arial"/>
              </a:defRPr>
            </a:pPr>
            <a:r>
              <a:rPr sz="2200" b="1">
                <a:solidFill>
                  <a:srgbClr val="FFFFFF"/>
                </a:solidFill>
                <a:latin typeface="Arial"/>
                <a:ea typeface="Arial"/>
                <a:cs typeface="Arial"/>
              </a:rPr>
              <a:t>FACULTY OF COMPUTER ENGINEERING</a:t>
            </a:r>
            <a:endParaRPr sz="2200"/>
          </a:p>
        </p:txBody>
      </p:sp>
      <p:sp>
        <p:nvSpPr>
          <p:cNvPr id="94" name="Google Shape;94;p1">
            <a:extLst>
              <a:ext uri="{FF2B5EF4-FFF2-40B4-BE49-F238E27FC236}">
                <a16:creationId xmlns:a16="http://schemas.microsoft.com/office/drawing/2014/main" id="{2865E276-16FB-9F77-A512-ABE50A4B8220}"/>
              </a:ext>
            </a:extLst>
          </p:cNvPr>
          <p:cNvSpPr>
            <a:spLocks noGrp="1"/>
          </p:cNvSpPr>
          <p:nvPr/>
        </p:nvSpPr>
        <p:spPr>
          <a:xfrm>
            <a:off x="6719978" y="445698"/>
            <a:ext cx="4848130" cy="958025"/>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a:gsLst>
              <a:gs pos="0">
                <a:srgbClr val="38EF7D"/>
              </a:gs>
              <a:gs pos="100000">
                <a:srgbClr val="752AFF"/>
              </a:gs>
            </a:gsLst>
            <a:lin ang="472936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95" name="Google Shape;95;p1">
            <a:extLst>
              <a:ext uri="{FF2B5EF4-FFF2-40B4-BE49-F238E27FC236}">
                <a16:creationId xmlns:a16="http://schemas.microsoft.com/office/drawing/2014/main" id="{0495937E-9E77-B490-2BE5-AEDF4E6CB720}"/>
              </a:ext>
            </a:extLst>
          </p:cNvPr>
          <p:cNvSpPr>
            <a:spLocks noGrp="1"/>
          </p:cNvSpPr>
          <p:nvPr/>
        </p:nvSpPr>
        <p:spPr>
          <a:xfrm>
            <a:off x="6807463" y="523733"/>
            <a:ext cx="4673060" cy="801909"/>
          </a:xfrm>
          <a:custGeom>
            <a:avLst/>
            <a:gdLst/>
            <a:ahLst/>
            <a:cxnLst/>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96" name="Google Shape;96;p1">
            <a:extLst>
              <a:ext uri="{FF2B5EF4-FFF2-40B4-BE49-F238E27FC236}">
                <a16:creationId xmlns:a16="http://schemas.microsoft.com/office/drawing/2014/main" id="{087584D7-002B-886B-5EB8-D820F4F91E63}"/>
              </a:ext>
            </a:extLst>
          </p:cNvPr>
          <p:cNvSpPr>
            <a:spLocks noGrp="1"/>
          </p:cNvSpPr>
          <p:nvPr/>
        </p:nvSpPr>
        <p:spPr>
          <a:xfrm>
            <a:off x="9436446" y="350307"/>
            <a:ext cx="1163307" cy="1152591"/>
          </a:xfrm>
          <a:custGeom>
            <a:avLst/>
            <a:gdLst/>
            <a:ahLst/>
            <a:cxnLst/>
            <a:rect l="l" t="t" r="r" b="b"/>
            <a:pathLst>
              <a:path w="1163307" h="1152591">
                <a:moveTo>
                  <a:pt x="0" y="0"/>
                </a:moveTo>
                <a:lnTo>
                  <a:pt x="1163307" y="0"/>
                </a:lnTo>
                <a:lnTo>
                  <a:pt x="1163307" y="1152591"/>
                </a:lnTo>
                <a:lnTo>
                  <a:pt x="0" y="1152591"/>
                </a:lnTo>
                <a:lnTo>
                  <a:pt x="0" y="0"/>
                </a:lnTo>
                <a:close/>
              </a:path>
            </a:pathLst>
          </a:custGeom>
          <a:blipFill rotWithShape="1">
            <a:blip r:embed="rId4">
              <a:alphaModFix/>
            </a:blip>
            <a:stretch>
              <a:fillRect l="-73" r="-72"/>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97" name="Google Shape;97;p1">
            <a:extLst>
              <a:ext uri="{FF2B5EF4-FFF2-40B4-BE49-F238E27FC236}">
                <a16:creationId xmlns:a16="http://schemas.microsoft.com/office/drawing/2014/main" id="{46003153-ED0F-8790-E89B-1E619EE381FE}"/>
              </a:ext>
            </a:extLst>
          </p:cNvPr>
          <p:cNvSpPr>
            <a:spLocks noGrp="1"/>
          </p:cNvSpPr>
          <p:nvPr/>
        </p:nvSpPr>
        <p:spPr>
          <a:xfrm>
            <a:off x="7688248" y="385842"/>
            <a:ext cx="1307514" cy="1081521"/>
          </a:xfrm>
          <a:custGeom>
            <a:avLst/>
            <a:gdLst/>
            <a:ahLst/>
            <a:cxnLst/>
            <a:rect l="l" t="t" r="r" b="b"/>
            <a:pathLst>
              <a:path w="1307514" h="1081521">
                <a:moveTo>
                  <a:pt x="0" y="0"/>
                </a:moveTo>
                <a:lnTo>
                  <a:pt x="1307514" y="0"/>
                </a:lnTo>
                <a:lnTo>
                  <a:pt x="1307514" y="1081521"/>
                </a:lnTo>
                <a:lnTo>
                  <a:pt x="0" y="1081521"/>
                </a:lnTo>
                <a:lnTo>
                  <a:pt x="0" y="0"/>
                </a:lnTo>
                <a:close/>
              </a:path>
            </a:pathLst>
          </a:custGeom>
          <a:blipFill rotWithShape="1">
            <a:blip r:embed="rId5">
              <a:alphaModFix/>
            </a:blip>
            <a:stretch>
              <a:fillRect t="-74" b="-73"/>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98" name="BẢO VỆ ĐỀ CƯƠNG KHÓA LUẬN TỐT NGHIỆP">
            <a:extLst>
              <a:ext uri="{FF2B5EF4-FFF2-40B4-BE49-F238E27FC236}">
                <a16:creationId xmlns:a16="http://schemas.microsoft.com/office/drawing/2014/main" id="{D624EB51-A9B3-4E09-9A31-4A4C932092AE}"/>
              </a:ext>
            </a:extLst>
          </p:cNvPr>
          <p:cNvSpPr>
            <a:spLocks noGrp="1"/>
          </p:cNvSpPr>
          <p:nvPr/>
        </p:nvSpPr>
        <p:spPr>
          <a:xfrm>
            <a:off x="2047875" y="2571750"/>
            <a:ext cx="14668500" cy="666750"/>
          </a:xfrm>
          <a:prstGeom prst="rect">
            <a:avLst/>
          </a:prstGeom>
          <a:noFill/>
          <a:ln w="0">
            <a:noFill/>
          </a:ln>
        </p:spPr>
        <p:txBody>
          <a:bodyPr wrap="square" lIns="0" tIns="0" rIns="0" bIns="0" anchor="t">
            <a:noAutofit/>
          </a:bodyPr>
          <a:lstStyle/>
          <a:p>
            <a:pPr algn="ctr">
              <a:defRPr sz="3600" b="1">
                <a:solidFill>
                  <a:srgbClr val="079D93"/>
                </a:solidFill>
                <a:latin typeface="Arial"/>
                <a:ea typeface="Arial"/>
                <a:cs typeface="Arial"/>
              </a:defRPr>
            </a:pPr>
            <a:r>
              <a:rPr sz="3600" b="1">
                <a:solidFill>
                  <a:srgbClr val="079D93"/>
                </a:solidFill>
                <a:latin typeface="Arial"/>
                <a:ea typeface="Arial"/>
                <a:cs typeface="Arial"/>
              </a:rPr>
              <a:t>BẢO VỆ ĐỀ CƯƠNG KHÓA LUẬN TỐT NGHIỆP</a:t>
            </a:r>
          </a:p>
        </p:txBody>
      </p:sp>
      <p:sp>
        <p:nvSpPr>
          <p:cNvPr id="99" name="THIẾT KẾ BỘ VI XỬ LÝ 4 LÕI RISC-V&#10;DỰA TRÊN KIẾN TRÚC TẬP LỆNH RV32IMA">
            <a:extLst>
              <a:ext uri="{FF2B5EF4-FFF2-40B4-BE49-F238E27FC236}">
                <a16:creationId xmlns:a16="http://schemas.microsoft.com/office/drawing/2014/main" id="{6D3EAFD6-1985-4906-BACF-C0E56AE0E42A}"/>
              </a:ext>
            </a:extLst>
          </p:cNvPr>
          <p:cNvSpPr>
            <a:spLocks noGrp="1"/>
          </p:cNvSpPr>
          <p:nvPr/>
        </p:nvSpPr>
        <p:spPr>
          <a:xfrm>
            <a:off x="1714500" y="3857625"/>
            <a:ext cx="15240000" cy="1476375"/>
          </a:xfrm>
          <a:prstGeom prst="rect">
            <a:avLst/>
          </a:prstGeom>
          <a:noFill/>
          <a:ln w="0">
            <a:noFill/>
          </a:ln>
        </p:spPr>
        <p:txBody>
          <a:bodyPr wrap="square" lIns="0" tIns="0" rIns="0" bIns="0" anchor="t">
            <a:noAutofit/>
          </a:bodyPr>
          <a:lstStyle/>
          <a:p>
            <a:pPr algn="ctr">
              <a:defRPr sz="4050" b="1">
                <a:solidFill>
                  <a:srgbClr val="007A60"/>
                </a:solidFill>
                <a:latin typeface="Arial"/>
                <a:ea typeface="Arial"/>
                <a:cs typeface="Arial"/>
              </a:defRPr>
            </a:pPr>
            <a:r>
              <a:rPr sz="4050" b="1">
                <a:solidFill>
                  <a:srgbClr val="007A60"/>
                </a:solidFill>
                <a:latin typeface="Arial"/>
                <a:ea typeface="Arial"/>
                <a:cs typeface="Arial"/>
              </a:rPr>
              <a:t>THIẾT KẾ BỘ VI XỬ LÝ 4 LÕI RISC-V</a:t>
            </a:r>
          </a:p>
          <a:p>
            <a:pPr algn="ctr">
              <a:defRPr sz="4050" b="1">
                <a:solidFill>
                  <a:srgbClr val="007A60"/>
                </a:solidFill>
                <a:latin typeface="Arial"/>
                <a:ea typeface="Arial"/>
                <a:cs typeface="Arial"/>
              </a:defRPr>
            </a:pPr>
            <a:r>
              <a:rPr sz="4050" b="1">
                <a:solidFill>
                  <a:srgbClr val="007A60"/>
                </a:solidFill>
                <a:latin typeface="Arial"/>
                <a:ea typeface="Arial"/>
                <a:cs typeface="Arial"/>
              </a:rPr>
              <a:t>DỰA TRÊN KIẾN TRÚC TẬP LỆNH RV32IMA</a:t>
            </a:r>
          </a:p>
        </p:txBody>
      </p:sp>
      <p:sp>
        <p:nvSpPr>
          <p:cNvPr id="100" name="GVHD: TS. Nguyễn Minh Sơn">
            <a:extLst>
              <a:ext uri="{FF2B5EF4-FFF2-40B4-BE49-F238E27FC236}">
                <a16:creationId xmlns:a16="http://schemas.microsoft.com/office/drawing/2014/main" id="{94FE984A-333F-49FA-807F-2AE60F709357}"/>
              </a:ext>
            </a:extLst>
          </p:cNvPr>
          <p:cNvSpPr>
            <a:spLocks noGrp="1"/>
          </p:cNvSpPr>
          <p:nvPr/>
        </p:nvSpPr>
        <p:spPr>
          <a:xfrm>
            <a:off x="2190750" y="6191250"/>
            <a:ext cx="14192250" cy="571500"/>
          </a:xfrm>
          <a:prstGeom prst="rect">
            <a:avLst/>
          </a:prstGeom>
          <a:noFill/>
          <a:ln w="0">
            <a:noFill/>
          </a:ln>
        </p:spPr>
        <p:txBody>
          <a:bodyPr wrap="square" lIns="0" tIns="0" rIns="0" bIns="0" anchor="t">
            <a:noAutofit/>
          </a:bodyPr>
          <a:lstStyle/>
          <a:p>
            <a:pPr algn="l">
              <a:defRPr sz="3150" b="1">
                <a:solidFill>
                  <a:srgbClr val="007A60"/>
                </a:solidFill>
                <a:latin typeface="Arial"/>
                <a:ea typeface="Arial"/>
                <a:cs typeface="Arial"/>
              </a:defRPr>
            </a:pPr>
            <a:r>
              <a:rPr sz="3150" b="1">
                <a:solidFill>
                  <a:srgbClr val="007A60"/>
                </a:solidFill>
                <a:latin typeface="Arial"/>
                <a:ea typeface="Arial"/>
                <a:cs typeface="Arial"/>
              </a:rPr>
              <a:t>GVHD: TS. Nguyễn Minh Sơn</a:t>
            </a:r>
          </a:p>
        </p:txBody>
      </p:sp>
      <p:sp>
        <p:nvSpPr>
          <p:cNvPr id="101" name="Vũ Thành Lam">
            <a:extLst>
              <a:ext uri="{FF2B5EF4-FFF2-40B4-BE49-F238E27FC236}">
                <a16:creationId xmlns:a16="http://schemas.microsoft.com/office/drawing/2014/main" id="{049AE19D-9593-4631-BC58-638E45F2D18A}"/>
              </a:ext>
            </a:extLst>
          </p:cNvPr>
          <p:cNvSpPr>
            <a:spLocks noGrp="1"/>
          </p:cNvSpPr>
          <p:nvPr/>
        </p:nvSpPr>
        <p:spPr>
          <a:xfrm>
            <a:off x="2190750" y="7067550"/>
            <a:ext cx="6858000" cy="552450"/>
          </a:xfrm>
          <a:prstGeom prst="rect">
            <a:avLst/>
          </a:prstGeom>
          <a:noFill/>
          <a:ln w="0">
            <a:noFill/>
          </a:ln>
        </p:spPr>
        <p:txBody>
          <a:bodyPr wrap="square" lIns="0" tIns="0" rIns="0" bIns="0" anchor="t">
            <a:noAutofit/>
          </a:bodyPr>
          <a:lstStyle/>
          <a:p>
            <a:pPr algn="l">
              <a:defRPr sz="3000" b="1">
                <a:solidFill>
                  <a:srgbClr val="172A2A"/>
                </a:solidFill>
                <a:latin typeface="Arial"/>
                <a:ea typeface="Arial"/>
                <a:cs typeface="Arial"/>
              </a:defRPr>
            </a:pPr>
            <a:r>
              <a:rPr sz="3000" b="1">
                <a:solidFill>
                  <a:srgbClr val="172A2A"/>
                </a:solidFill>
                <a:latin typeface="Arial"/>
                <a:ea typeface="Arial"/>
                <a:cs typeface="Arial"/>
              </a:rPr>
              <a:t>Vũ Thành Lam</a:t>
            </a:r>
          </a:p>
        </p:txBody>
      </p:sp>
      <p:sp>
        <p:nvSpPr>
          <p:cNvPr id="102" name="23520840">
            <a:extLst>
              <a:ext uri="{FF2B5EF4-FFF2-40B4-BE49-F238E27FC236}">
                <a16:creationId xmlns:a16="http://schemas.microsoft.com/office/drawing/2014/main" id="{DB1C8302-A1F5-4F49-8BF5-EB31FCFD12A7}"/>
              </a:ext>
            </a:extLst>
          </p:cNvPr>
          <p:cNvSpPr>
            <a:spLocks noGrp="1"/>
          </p:cNvSpPr>
          <p:nvPr/>
        </p:nvSpPr>
        <p:spPr>
          <a:xfrm>
            <a:off x="8763000" y="7067550"/>
            <a:ext cx="4286250" cy="552450"/>
          </a:xfrm>
          <a:prstGeom prst="rect">
            <a:avLst/>
          </a:prstGeom>
          <a:noFill/>
          <a:ln w="0">
            <a:noFill/>
          </a:ln>
        </p:spPr>
        <p:txBody>
          <a:bodyPr wrap="square" lIns="0" tIns="0" rIns="0" bIns="0" anchor="t">
            <a:noAutofit/>
          </a:bodyPr>
          <a:lstStyle/>
          <a:p>
            <a:pPr algn="l">
              <a:defRPr sz="3000" b="0">
                <a:solidFill>
                  <a:srgbClr val="172A2A"/>
                </a:solidFill>
                <a:latin typeface="Arial"/>
                <a:ea typeface="Arial"/>
                <a:cs typeface="Arial"/>
              </a:defRPr>
            </a:pPr>
            <a:r>
              <a:rPr sz="3000" b="0">
                <a:solidFill>
                  <a:srgbClr val="172A2A"/>
                </a:solidFill>
                <a:latin typeface="Arial"/>
                <a:ea typeface="Arial"/>
                <a:cs typeface="Arial"/>
              </a:rPr>
              <a:t>23520840</a:t>
            </a:r>
          </a:p>
        </p:txBody>
      </p:sp>
      <p:sp>
        <p:nvSpPr>
          <p:cNvPr id="103" name="Võ Lê Phước Lâm">
            <a:extLst>
              <a:ext uri="{FF2B5EF4-FFF2-40B4-BE49-F238E27FC236}">
                <a16:creationId xmlns:a16="http://schemas.microsoft.com/office/drawing/2014/main" id="{EAAB20FC-05C3-4B62-831D-5E5C3E5CDBF2}"/>
              </a:ext>
            </a:extLst>
          </p:cNvPr>
          <p:cNvSpPr>
            <a:spLocks noGrp="1"/>
          </p:cNvSpPr>
          <p:nvPr/>
        </p:nvSpPr>
        <p:spPr>
          <a:xfrm>
            <a:off x="2190750" y="7829550"/>
            <a:ext cx="6858000" cy="552450"/>
          </a:xfrm>
          <a:prstGeom prst="rect">
            <a:avLst/>
          </a:prstGeom>
          <a:noFill/>
          <a:ln w="0">
            <a:noFill/>
          </a:ln>
        </p:spPr>
        <p:txBody>
          <a:bodyPr wrap="square" lIns="0" tIns="0" rIns="0" bIns="0" anchor="t">
            <a:noAutofit/>
          </a:bodyPr>
          <a:lstStyle/>
          <a:p>
            <a:pPr algn="l">
              <a:defRPr sz="3000" b="1">
                <a:solidFill>
                  <a:srgbClr val="172A2A"/>
                </a:solidFill>
                <a:latin typeface="Arial"/>
                <a:ea typeface="Arial"/>
                <a:cs typeface="Arial"/>
              </a:defRPr>
            </a:pPr>
            <a:r>
              <a:rPr sz="3000" b="1">
                <a:solidFill>
                  <a:srgbClr val="172A2A"/>
                </a:solidFill>
                <a:latin typeface="Arial"/>
                <a:ea typeface="Arial"/>
                <a:cs typeface="Arial"/>
              </a:rPr>
              <a:t>Võ Lê Phước Lâm</a:t>
            </a:r>
          </a:p>
        </p:txBody>
      </p:sp>
      <p:sp>
        <p:nvSpPr>
          <p:cNvPr id="104" name="23520838">
            <a:extLst>
              <a:ext uri="{FF2B5EF4-FFF2-40B4-BE49-F238E27FC236}">
                <a16:creationId xmlns:a16="http://schemas.microsoft.com/office/drawing/2014/main" id="{4E5A4B42-A078-4FCC-BCC0-463556F04A17}"/>
              </a:ext>
            </a:extLst>
          </p:cNvPr>
          <p:cNvSpPr>
            <a:spLocks noGrp="1"/>
          </p:cNvSpPr>
          <p:nvPr/>
        </p:nvSpPr>
        <p:spPr>
          <a:xfrm>
            <a:off x="8763000" y="7829550"/>
            <a:ext cx="4286250" cy="552450"/>
          </a:xfrm>
          <a:prstGeom prst="rect">
            <a:avLst/>
          </a:prstGeom>
          <a:noFill/>
          <a:ln w="0">
            <a:noFill/>
          </a:ln>
        </p:spPr>
        <p:txBody>
          <a:bodyPr wrap="square" lIns="0" tIns="0" rIns="0" bIns="0" anchor="t">
            <a:noAutofit/>
          </a:bodyPr>
          <a:lstStyle/>
          <a:p>
            <a:pPr algn="l">
              <a:defRPr sz="3000" b="0">
                <a:solidFill>
                  <a:srgbClr val="172A2A"/>
                </a:solidFill>
                <a:latin typeface="Arial"/>
                <a:ea typeface="Arial"/>
                <a:cs typeface="Arial"/>
              </a:defRPr>
            </a:pPr>
            <a:r>
              <a:rPr sz="3000" b="0">
                <a:solidFill>
                  <a:srgbClr val="172A2A"/>
                </a:solidFill>
                <a:latin typeface="Arial"/>
                <a:ea typeface="Arial"/>
                <a:cs typeface="Arial"/>
              </a:rPr>
              <a:t>23520838</a:t>
            </a:r>
          </a:p>
        </p:txBody>
      </p:sp>
      <p:sp>
        <p:nvSpPr>
          <p:cNvPr id="105" name="TP. Hồ Chí Minh, tháng 9 năm 2026">
            <a:extLst>
              <a:ext uri="{FF2B5EF4-FFF2-40B4-BE49-F238E27FC236}">
                <a16:creationId xmlns:a16="http://schemas.microsoft.com/office/drawing/2014/main" id="{2BA46408-0A61-4C3F-888C-60C7CD084868}"/>
              </a:ext>
            </a:extLst>
          </p:cNvPr>
          <p:cNvSpPr>
            <a:spLocks noGrp="1"/>
          </p:cNvSpPr>
          <p:nvPr/>
        </p:nvSpPr>
        <p:spPr>
          <a:xfrm>
            <a:off x="2190750" y="9220200"/>
            <a:ext cx="14192250" cy="476250"/>
          </a:xfrm>
          <a:prstGeom prst="rect">
            <a:avLst/>
          </a:prstGeom>
          <a:noFill/>
          <a:ln w="0">
            <a:noFill/>
          </a:ln>
        </p:spPr>
        <p:txBody>
          <a:bodyPr wrap="square" lIns="0" tIns="0" rIns="0" bIns="0" anchor="t">
            <a:noAutofit/>
          </a:bodyPr>
          <a:lstStyle/>
          <a:p>
            <a:pPr algn="ctr">
              <a:defRPr sz="2400" b="0">
                <a:solidFill>
                  <a:srgbClr val="52615E"/>
                </a:solidFill>
                <a:latin typeface="Arial"/>
                <a:ea typeface="Arial"/>
                <a:cs typeface="Arial"/>
              </a:defRPr>
            </a:pPr>
            <a:r>
              <a:rPr sz="2400" b="0">
                <a:solidFill>
                  <a:srgbClr val="52615E"/>
                </a:solidFill>
                <a:latin typeface="Arial"/>
                <a:ea typeface="Arial"/>
                <a:cs typeface="Arial"/>
              </a:rPr>
              <a:t>TP. Hồ Chí Minh, tháng 9 năm 2026</a:t>
            </a:r>
          </a:p>
        </p:txBody>
      </p:sp>
    </p:spTree>
    <p:extLst>
      <p:ext uri="{BB962C8B-B14F-4D97-AF65-F5344CB8AC3E}">
        <p14:creationId xmlns:p14="http://schemas.microsoft.com/office/powerpoint/2010/main" val="3287283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Google Shape;220;p4">
            <a:extLst>
              <a:ext uri="{FF2B5EF4-FFF2-40B4-BE49-F238E27FC236}">
                <a16:creationId xmlns:a16="http://schemas.microsoft.com/office/drawing/2014/main" id="{C5531B15-6832-4304-A78C-47B4A25D0F47}"/>
              </a:ext>
            </a:extLst>
          </p:cNvPr>
          <p:cNvSpPr>
            <a:spLocks noGrp="1"/>
          </p:cNvSpPr>
          <p:nvPr/>
        </p:nvSpPr>
        <p:spPr>
          <a:xfrm rot="5400000">
            <a:off x="8670767" y="-8672351"/>
            <a:ext cx="942755" cy="18291714"/>
          </a:xfrm>
          <a:custGeom>
            <a:avLst/>
            <a:gdLst/>
            <a:ahLst/>
            <a:cxnLst/>
            <a:rect l="l" t="t" r="r" b="b"/>
            <a:pathLst>
              <a:path w="1263142" h="24388953">
                <a:moveTo>
                  <a:pt x="0" y="0"/>
                </a:moveTo>
                <a:lnTo>
                  <a:pt x="1263142" y="0"/>
                </a:lnTo>
                <a:lnTo>
                  <a:pt x="1263142" y="24388953"/>
                </a:lnTo>
                <a:lnTo>
                  <a:pt x="0" y="24388953"/>
                </a:lnTo>
                <a:close/>
              </a:path>
            </a:pathLst>
          </a:custGeom>
          <a:gradFill>
            <a:gsLst>
              <a:gs pos="0">
                <a:srgbClr val="10CD57"/>
              </a:gs>
              <a:gs pos="100000">
                <a:srgbClr val="027159"/>
              </a:gs>
            </a:gsLst>
            <a:lin ang="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a:ext uri="{FF2B5EF4-FFF2-40B4-BE49-F238E27FC236}">
                <a16:creationId xmlns:a16="http://schemas.microsoft.com/office/drawing/2014/main" id="{FEF59D8D-7625-4B78-875D-DCB66CF510E6}"/>
              </a:ext>
            </a:extLst>
          </p:cNvPr>
          <p:cNvSpPr>
            <a:spLocks noGrp="1"/>
          </p:cNvSpPr>
          <p:nvPr/>
        </p:nvSpPr>
        <p:spPr>
          <a:xfrm rot="-5400000" flipH="1">
            <a:off x="8672625" y="-8674476"/>
            <a:ext cx="942756" cy="18291714"/>
          </a:xfrm>
          <a:custGeom>
            <a:avLst/>
            <a:gdLst/>
            <a:ahLst/>
            <a:cxnLst/>
            <a:rect l="l" t="t" r="r" b="b"/>
            <a:pathLst>
              <a:path w="1263142" h="24388953">
                <a:moveTo>
                  <a:pt x="0" y="0"/>
                </a:moveTo>
                <a:lnTo>
                  <a:pt x="1263142" y="0"/>
                </a:lnTo>
                <a:lnTo>
                  <a:pt x="1263142" y="24388953"/>
                </a:lnTo>
                <a:lnTo>
                  <a:pt x="0" y="24388953"/>
                </a:lnTo>
                <a:close/>
              </a:path>
            </a:pathLst>
          </a:custGeom>
          <a:blipFill rotWithShape="1">
            <a:blip r:embed="rId3">
              <a:alphaModFix/>
            </a:blip>
            <a:stretch>
              <a:fillRect l="-35090" r="-35085"/>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a:ext uri="{FF2B5EF4-FFF2-40B4-BE49-F238E27FC236}">
                <a16:creationId xmlns:a16="http://schemas.microsoft.com/office/drawing/2014/main" id="{2D74DBF6-247E-4791-85FC-45EE70BDC1E6}"/>
              </a:ext>
            </a:extLst>
          </p:cNvPr>
          <p:cNvSpPr>
            <a:spLocks noGrp="1"/>
          </p:cNvSpPr>
          <p:nvPr/>
        </p:nvSpPr>
        <p:spPr>
          <a:xfrm>
            <a:off x="360422" y="212133"/>
            <a:ext cx="11130437" cy="506075"/>
          </a:xfrm>
          <a:custGeom>
            <a:avLst/>
            <a:gdLst/>
            <a:ahLst/>
            <a:cxnLst/>
            <a:rect l="l" t="t" r="r" b="b"/>
            <a:pathLst>
              <a:path w="14840583" h="674766">
                <a:moveTo>
                  <a:pt x="0" y="0"/>
                </a:moveTo>
                <a:lnTo>
                  <a:pt x="14840583" y="0"/>
                </a:lnTo>
                <a:lnTo>
                  <a:pt x="14840583" y="674766"/>
                </a:lnTo>
                <a:lnTo>
                  <a:pt x="0" y="674766"/>
                </a:lnTo>
                <a:close/>
              </a:path>
            </a:pathLst>
          </a:custGeom>
          <a:solidFill>
            <a:srgbClr val="000000">
              <a:alpha val="0"/>
            </a:srgbClr>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a:ext uri="{FF2B5EF4-FFF2-40B4-BE49-F238E27FC236}">
                <a16:creationId xmlns:a16="http://schemas.microsoft.com/office/drawing/2014/main" id="{20E1A5F1-4398-4046-94E6-6F73368E8734}"/>
              </a:ext>
            </a:extLst>
          </p:cNvPr>
          <p:cNvSpPr>
            <a:spLocks noGrp="1"/>
          </p:cNvSpPr>
          <p:nvPr/>
        </p:nvSpPr>
        <p:spPr>
          <a:xfrm>
            <a:off x="360422" y="176415"/>
            <a:ext cx="11130436" cy="541794"/>
          </a:xfrm>
          <a:prstGeom prst="rect">
            <a:avLst/>
          </a:prstGeom>
          <a:noFill/>
          <a:ln>
            <a:noFill/>
          </a:ln>
        </p:spPr>
        <p:txBody>
          <a:bodyPr spcFirstLastPara="1" wrap="square" lIns="0" tIns="0" rIns="0" bIns="0" anchor="t">
            <a:noAutofit/>
          </a:bodyPr>
          <a:lstStyle/>
          <a:p>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a:ext uri="{FF2B5EF4-FFF2-40B4-BE49-F238E27FC236}">
                <a16:creationId xmlns:a16="http://schemas.microsoft.com/office/drawing/2014/main" id="{7C311F54-4F10-4B6C-815D-7864223BB0B3}"/>
              </a:ext>
            </a:extLst>
          </p:cNvPr>
          <p:cNvSpPr>
            <a:spLocks noGrp="1"/>
          </p:cNvSpPr>
          <p:nvPr/>
        </p:nvSpPr>
        <p:spPr>
          <a:xfrm>
            <a:off x="6719978" y="457932"/>
            <a:ext cx="4848130" cy="958025"/>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a:gsLst>
              <a:gs pos="0">
                <a:srgbClr val="38EF7D"/>
              </a:gs>
              <a:gs pos="100000">
                <a:srgbClr val="752AFF"/>
              </a:gs>
            </a:gsLst>
            <a:lin ang="472936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a:ext uri="{FF2B5EF4-FFF2-40B4-BE49-F238E27FC236}">
                <a16:creationId xmlns:a16="http://schemas.microsoft.com/office/drawing/2014/main" id="{2E9DEA5C-459B-4625-944D-12A82159D342}"/>
              </a:ext>
            </a:extLst>
          </p:cNvPr>
          <p:cNvSpPr>
            <a:spLocks noGrp="1"/>
          </p:cNvSpPr>
          <p:nvPr/>
        </p:nvSpPr>
        <p:spPr>
          <a:xfrm>
            <a:off x="6807463" y="535967"/>
            <a:ext cx="4673060" cy="801909"/>
          </a:xfrm>
          <a:custGeom>
            <a:avLst/>
            <a:gdLst/>
            <a:ahLst/>
            <a:cxnLst/>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a:ext uri="{FF2B5EF4-FFF2-40B4-BE49-F238E27FC236}">
                <a16:creationId xmlns:a16="http://schemas.microsoft.com/office/drawing/2014/main" id="{FFE85598-2E23-41F6-BF9D-3A46DAC201FB}"/>
              </a:ext>
            </a:extLst>
          </p:cNvPr>
          <p:cNvSpPr>
            <a:spLocks noGrp="1"/>
          </p:cNvSpPr>
          <p:nvPr/>
        </p:nvSpPr>
        <p:spPr>
          <a:xfrm>
            <a:off x="9436446" y="362541"/>
            <a:ext cx="1163307" cy="1152591"/>
          </a:xfrm>
          <a:custGeom>
            <a:avLst/>
            <a:gdLst/>
            <a:ahLst/>
            <a:cxnLst/>
            <a:rect l="l" t="t" r="r" b="b"/>
            <a:pathLst>
              <a:path w="1163307" h="1152591">
                <a:moveTo>
                  <a:pt x="0" y="0"/>
                </a:moveTo>
                <a:lnTo>
                  <a:pt x="1163307" y="0"/>
                </a:lnTo>
                <a:lnTo>
                  <a:pt x="1163307" y="1152591"/>
                </a:lnTo>
                <a:lnTo>
                  <a:pt x="0" y="1152591"/>
                </a:lnTo>
                <a:lnTo>
                  <a:pt x="0" y="0"/>
                </a:lnTo>
                <a:close/>
              </a:path>
            </a:pathLst>
          </a:custGeom>
          <a:blipFill rotWithShape="1">
            <a:blip r:embed="rId4">
              <a:alphaModFix/>
            </a:blip>
            <a:stretch>
              <a:fillRect l="-73" r="-72"/>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a:ext uri="{FF2B5EF4-FFF2-40B4-BE49-F238E27FC236}">
                <a16:creationId xmlns:a16="http://schemas.microsoft.com/office/drawing/2014/main" id="{12FD5706-B5A0-43B4-A659-25E563370560}"/>
              </a:ext>
            </a:extLst>
          </p:cNvPr>
          <p:cNvSpPr>
            <a:spLocks noGrp="1"/>
          </p:cNvSpPr>
          <p:nvPr/>
        </p:nvSpPr>
        <p:spPr>
          <a:xfrm>
            <a:off x="7688248" y="398076"/>
            <a:ext cx="1307514" cy="1081521"/>
          </a:xfrm>
          <a:custGeom>
            <a:avLst/>
            <a:gdLst/>
            <a:ahLst/>
            <a:cxnLst/>
            <a:rect l="l" t="t" r="r" b="b"/>
            <a:pathLst>
              <a:path w="1307514" h="1081521">
                <a:moveTo>
                  <a:pt x="0" y="0"/>
                </a:moveTo>
                <a:lnTo>
                  <a:pt x="1307514" y="0"/>
                </a:lnTo>
                <a:lnTo>
                  <a:pt x="1307514" y="1081521"/>
                </a:lnTo>
                <a:lnTo>
                  <a:pt x="0" y="1081521"/>
                </a:lnTo>
                <a:lnTo>
                  <a:pt x="0" y="0"/>
                </a:lnTo>
                <a:close/>
              </a:path>
            </a:pathLst>
          </a:custGeom>
          <a:blipFill rotWithShape="1">
            <a:blip r:embed="rId5">
              <a:alphaModFix/>
            </a:blip>
            <a:stretch>
              <a:fillRect t="-74" b="-73"/>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2">
            <a:extLst>
              <a:ext uri="{FF2B5EF4-FFF2-40B4-BE49-F238E27FC236}">
                <a16:creationId xmlns:a16="http://schemas.microsoft.com/office/drawing/2014/main" id="{85511C08-A39B-4BD5-962A-E796A56A7120}"/>
              </a:ext>
            </a:extLst>
          </p:cNvPr>
          <p:cNvSpPr>
            <a:spLocks noGrp="1"/>
          </p:cNvSpPr>
          <p:nvPr/>
        </p:nvSpPr>
        <p:spPr>
          <a:xfrm>
            <a:off x="17145000" y="9620250"/>
            <a:ext cx="571500" cy="381000"/>
          </a:xfrm>
          <a:prstGeom prst="rect">
            <a:avLst/>
          </a:prstGeom>
          <a:noFill/>
          <a:ln w="0">
            <a:noFill/>
          </a:ln>
        </p:spPr>
        <p:txBody>
          <a:bodyPr wrap="square" lIns="0" tIns="0" rIns="0" bIns="0" anchor="t">
            <a:noAutofit/>
          </a:bodyPr>
          <a:lstStyle/>
          <a:p>
            <a:pPr algn="r">
              <a:defRPr sz="1950" b="0">
                <a:solidFill>
                  <a:srgbClr val="52615E"/>
                </a:solidFill>
                <a:latin typeface="Arial"/>
                <a:ea typeface="Arial"/>
                <a:cs typeface="Arial"/>
              </a:defRPr>
            </a:pPr>
            <a:r>
              <a:rPr sz="1950" b="0">
                <a:solidFill>
                  <a:srgbClr val="52615E"/>
                </a:solidFill>
                <a:latin typeface="Arial"/>
                <a:ea typeface="Arial"/>
                <a:cs typeface="Arial"/>
              </a:rPr>
              <a:t>2</a:t>
            </a:r>
          </a:p>
        </p:txBody>
      </p:sp>
      <p:sp>
        <p:nvSpPr>
          <p:cNvPr id="230" name="1. Tổng quan đề tài">
            <a:extLst>
              <a:ext uri="{FF2B5EF4-FFF2-40B4-BE49-F238E27FC236}">
                <a16:creationId xmlns:a16="http://schemas.microsoft.com/office/drawing/2014/main" id="{9E183BAE-1FBC-4262-855F-89EE1EBE64FD}"/>
              </a:ext>
            </a:extLst>
          </p:cNvPr>
          <p:cNvSpPr>
            <a:spLocks noGrp="1"/>
          </p:cNvSpPr>
          <p:nvPr/>
        </p:nvSpPr>
        <p:spPr>
          <a:xfrm>
            <a:off x="628650" y="1657350"/>
            <a:ext cx="16954500" cy="723900"/>
          </a:xfrm>
          <a:prstGeom prst="rect">
            <a:avLst/>
          </a:prstGeom>
          <a:noFill/>
          <a:ln w="0">
            <a:noFill/>
          </a:ln>
        </p:spPr>
        <p:txBody>
          <a:bodyPr wrap="square" lIns="0" tIns="0" rIns="0" bIns="0" anchor="t">
            <a:noAutofit/>
          </a:bodyPr>
          <a:lstStyle/>
          <a:p>
            <a:pPr algn="l">
              <a:defRPr sz="3600" b="1">
                <a:solidFill>
                  <a:srgbClr val="007A60"/>
                </a:solidFill>
                <a:latin typeface="Arial"/>
                <a:ea typeface="Arial"/>
                <a:cs typeface="Arial"/>
              </a:defRPr>
            </a:pPr>
            <a:r>
              <a:rPr sz="3600" b="1">
                <a:solidFill>
                  <a:srgbClr val="007A60"/>
                </a:solidFill>
                <a:latin typeface="Arial"/>
                <a:ea typeface="Arial"/>
                <a:cs typeface="Arial"/>
              </a:rPr>
              <a:t>1. Tổng quan đề tài</a:t>
            </a:r>
          </a:p>
        </p:txBody>
      </p:sp>
      <p:sp>
        <p:nvSpPr>
          <p:cNvPr id="231" name="Nhu cầu xử lý nhiều tác vụ đồng thời">
            <a:extLst>
              <a:ext uri="{FF2B5EF4-FFF2-40B4-BE49-F238E27FC236}">
                <a16:creationId xmlns:a16="http://schemas.microsoft.com/office/drawing/2014/main" id="{1B706BDB-FB73-4141-B67B-8ABA79935700}"/>
              </a:ext>
            </a:extLst>
          </p:cNvPr>
          <p:cNvSpPr>
            <a:spLocks noGrp="1"/>
          </p:cNvSpPr>
          <p:nvPr/>
        </p:nvSpPr>
        <p:spPr>
          <a:xfrm>
            <a:off x="952500" y="2781300"/>
            <a:ext cx="16383000" cy="523875"/>
          </a:xfrm>
          <a:prstGeom prst="rect">
            <a:avLst/>
          </a:prstGeom>
          <a:noFill/>
          <a:ln w="0">
            <a:noFill/>
          </a:ln>
        </p:spPr>
        <p:txBody>
          <a:bodyPr wrap="square" lIns="0" tIns="0" rIns="0" bIns="0" anchor="t">
            <a:noAutofit/>
          </a:bodyPr>
          <a:lstStyle/>
          <a:p>
            <a:pPr algn="l">
              <a:defRPr sz="3000" b="1">
                <a:solidFill>
                  <a:srgbClr val="007A60"/>
                </a:solidFill>
                <a:latin typeface="Arial"/>
                <a:ea typeface="Arial"/>
                <a:cs typeface="Arial"/>
              </a:defRPr>
            </a:pPr>
            <a:r>
              <a:rPr sz="3000" b="1">
                <a:solidFill>
                  <a:srgbClr val="007A60"/>
                </a:solidFill>
                <a:latin typeface="Arial"/>
                <a:ea typeface="Arial"/>
                <a:cs typeface="Arial"/>
              </a:rPr>
              <a:t>Nhu cầu xử lý nhiều tác vụ đồng thời</a:t>
            </a:r>
          </a:p>
        </p:txBody>
      </p:sp>
      <p:sp>
        <p:nvSpPr>
          <p:cNvPr id="232" name="Các hệ thống nhúng như khối điều khiển bay UAV đặt ra nhu cầu xử lý dữ">
            <a:extLst>
              <a:ext uri="{FF2B5EF4-FFF2-40B4-BE49-F238E27FC236}">
                <a16:creationId xmlns:a16="http://schemas.microsoft.com/office/drawing/2014/main" id="{70B8115E-9756-483D-A3D6-0711B88B9063}"/>
              </a:ext>
            </a:extLst>
          </p:cNvPr>
          <p:cNvSpPr>
            <a:spLocks noGrp="1"/>
          </p:cNvSpPr>
          <p:nvPr/>
        </p:nvSpPr>
        <p:spPr>
          <a:xfrm>
            <a:off x="952500" y="3381375"/>
            <a:ext cx="16383000" cy="1066800"/>
          </a:xfrm>
          <a:prstGeom prst="rect">
            <a:avLst/>
          </a:prstGeom>
          <a:noFill/>
          <a:ln w="0">
            <a:noFill/>
          </a:ln>
        </p:spPr>
        <p:txBody>
          <a:bodyPr wrap="square" lIns="0" tIns="0" rIns="0" bIns="0" anchor="t">
            <a:noAutofit/>
          </a:bodyPr>
          <a:lstStyle/>
          <a:p>
            <a:pPr algn="l">
              <a:defRPr sz="3000" b="0">
                <a:solidFill>
                  <a:srgbClr val="172A2A"/>
                </a:solidFill>
                <a:latin typeface="Arial"/>
                <a:ea typeface="Arial"/>
                <a:cs typeface="Arial"/>
              </a:defRPr>
            </a:pPr>
            <a:r>
              <a:rPr sz="3000" b="0">
                <a:solidFill>
                  <a:srgbClr val="172A2A"/>
                </a:solidFill>
                <a:latin typeface="Arial"/>
                <a:ea typeface="Arial"/>
                <a:cs typeface="Arial"/>
              </a:rPr>
              <a:t>Các hệ thống nhúng như khối điều khiển bay UAV đặt ra nhu cầu xử lý dữ liệu cảm biến, điều khiển và giao tiếp cùng lúc.</a:t>
            </a:r>
          </a:p>
        </p:txBody>
      </p:sp>
      <p:sp>
        <p:nvSpPr>
          <p:cNvPr id="233" name="Lựa chọn kiến trúc RISC-V">
            <a:extLst>
              <a:ext uri="{FF2B5EF4-FFF2-40B4-BE49-F238E27FC236}">
                <a16:creationId xmlns:a16="http://schemas.microsoft.com/office/drawing/2014/main" id="{B3725D96-92AB-44C2-B969-F539F4A313FE}"/>
              </a:ext>
            </a:extLst>
          </p:cNvPr>
          <p:cNvSpPr>
            <a:spLocks noGrp="1"/>
          </p:cNvSpPr>
          <p:nvPr/>
        </p:nvSpPr>
        <p:spPr>
          <a:xfrm>
            <a:off x="952500" y="4838700"/>
            <a:ext cx="16383000" cy="523875"/>
          </a:xfrm>
          <a:prstGeom prst="rect">
            <a:avLst/>
          </a:prstGeom>
          <a:noFill/>
          <a:ln w="0">
            <a:noFill/>
          </a:ln>
        </p:spPr>
        <p:txBody>
          <a:bodyPr wrap="square" lIns="0" tIns="0" rIns="0" bIns="0" anchor="t">
            <a:noAutofit/>
          </a:bodyPr>
          <a:lstStyle/>
          <a:p>
            <a:pPr algn="l">
              <a:defRPr sz="3000" b="1">
                <a:solidFill>
                  <a:srgbClr val="007A60"/>
                </a:solidFill>
                <a:latin typeface="Arial"/>
                <a:ea typeface="Arial"/>
                <a:cs typeface="Arial"/>
              </a:defRPr>
            </a:pPr>
            <a:r>
              <a:rPr sz="3000" b="1">
                <a:solidFill>
                  <a:srgbClr val="007A60"/>
                </a:solidFill>
                <a:latin typeface="Arial"/>
                <a:ea typeface="Arial"/>
                <a:cs typeface="Arial"/>
              </a:rPr>
              <a:t>Lựa chọn kiến trúc RISC-V</a:t>
            </a:r>
          </a:p>
        </p:txBody>
      </p:sp>
      <p:sp>
        <p:nvSpPr>
          <p:cNvPr id="234" name="Kiến trúc tập lệnh mở cho phép nhóm chủ động thiết kế và tùy biến bộ x">
            <a:extLst>
              <a:ext uri="{FF2B5EF4-FFF2-40B4-BE49-F238E27FC236}">
                <a16:creationId xmlns:a16="http://schemas.microsoft.com/office/drawing/2014/main" id="{883957E5-16D8-4CD2-9EC3-B400DF8666B6}"/>
              </a:ext>
            </a:extLst>
          </p:cNvPr>
          <p:cNvSpPr>
            <a:spLocks noGrp="1"/>
          </p:cNvSpPr>
          <p:nvPr/>
        </p:nvSpPr>
        <p:spPr>
          <a:xfrm>
            <a:off x="952500" y="5448300"/>
            <a:ext cx="16383000" cy="1066800"/>
          </a:xfrm>
          <a:prstGeom prst="rect">
            <a:avLst/>
          </a:prstGeom>
          <a:noFill/>
          <a:ln w="0">
            <a:noFill/>
          </a:ln>
        </p:spPr>
        <p:txBody>
          <a:bodyPr wrap="square" lIns="0" tIns="0" rIns="0" bIns="0" anchor="t">
            <a:noAutofit/>
          </a:bodyPr>
          <a:lstStyle/>
          <a:p>
            <a:pPr algn="l">
              <a:defRPr sz="3000" b="0">
                <a:solidFill>
                  <a:srgbClr val="172A2A"/>
                </a:solidFill>
                <a:latin typeface="Arial"/>
                <a:ea typeface="Arial"/>
                <a:cs typeface="Arial"/>
              </a:defRPr>
            </a:pPr>
            <a:r>
              <a:rPr sz="3000" b="0">
                <a:solidFill>
                  <a:srgbClr val="172A2A"/>
                </a:solidFill>
                <a:latin typeface="Arial"/>
                <a:ea typeface="Arial"/>
                <a:cs typeface="Arial"/>
              </a:rPr>
              <a:t>Kiến trúc tập lệnh mở cho phép nhóm chủ động thiết kế và tùy biến bộ xử lý ở mức RTL, phù hợp với mục tiêu nghiên cứu phần cứng.</a:t>
            </a:r>
          </a:p>
        </p:txBody>
      </p:sp>
      <p:sp>
        <p:nvSpPr>
          <p:cNvPr id="235" name="Bài toán của khóa luận">
            <a:extLst>
              <a:ext uri="{FF2B5EF4-FFF2-40B4-BE49-F238E27FC236}">
                <a16:creationId xmlns:a16="http://schemas.microsoft.com/office/drawing/2014/main" id="{1C82F1F0-DE5F-435E-9BC0-66D3321943FB}"/>
              </a:ext>
            </a:extLst>
          </p:cNvPr>
          <p:cNvSpPr>
            <a:spLocks noGrp="1"/>
          </p:cNvSpPr>
          <p:nvPr/>
        </p:nvSpPr>
        <p:spPr>
          <a:xfrm>
            <a:off x="952500" y="6905625"/>
            <a:ext cx="16383000" cy="523875"/>
          </a:xfrm>
          <a:prstGeom prst="rect">
            <a:avLst/>
          </a:prstGeom>
          <a:noFill/>
          <a:ln w="0">
            <a:noFill/>
          </a:ln>
        </p:spPr>
        <p:txBody>
          <a:bodyPr wrap="square" lIns="0" tIns="0" rIns="0" bIns="0" anchor="t">
            <a:noAutofit/>
          </a:bodyPr>
          <a:lstStyle/>
          <a:p>
            <a:pPr algn="l">
              <a:defRPr sz="3000" b="1">
                <a:solidFill>
                  <a:srgbClr val="007A60"/>
                </a:solidFill>
                <a:latin typeface="Arial"/>
                <a:ea typeface="Arial"/>
                <a:cs typeface="Arial"/>
              </a:defRPr>
            </a:pPr>
            <a:r>
              <a:rPr sz="3000" b="1">
                <a:solidFill>
                  <a:srgbClr val="007A60"/>
                </a:solidFill>
                <a:latin typeface="Arial"/>
                <a:ea typeface="Arial"/>
                <a:cs typeface="Arial"/>
              </a:rPr>
              <a:t>Bài toán của khóa luận</a:t>
            </a:r>
          </a:p>
        </p:txBody>
      </p:sp>
      <p:sp>
        <p:nvSpPr>
          <p:cNvPr id="236" name="Xây dựng hệ 4 lõi RV32IMA có bộ nhớ đệm và quản lý bộ nhớ, bảo đảm dữ ">
            <a:extLst>
              <a:ext uri="{FF2B5EF4-FFF2-40B4-BE49-F238E27FC236}">
                <a16:creationId xmlns:a16="http://schemas.microsoft.com/office/drawing/2014/main" id="{8A483016-2FDD-441F-BEE1-412E158C2FFE}"/>
              </a:ext>
            </a:extLst>
          </p:cNvPr>
          <p:cNvSpPr>
            <a:spLocks noGrp="1"/>
          </p:cNvSpPr>
          <p:nvPr/>
        </p:nvSpPr>
        <p:spPr>
          <a:xfrm>
            <a:off x="952500" y="7515225"/>
            <a:ext cx="16383000" cy="1123950"/>
          </a:xfrm>
          <a:prstGeom prst="rect">
            <a:avLst/>
          </a:prstGeom>
          <a:noFill/>
          <a:ln w="0">
            <a:noFill/>
          </a:ln>
        </p:spPr>
        <p:txBody>
          <a:bodyPr wrap="square" lIns="0" tIns="0" rIns="0" bIns="0" anchor="t">
            <a:noAutofit/>
          </a:bodyPr>
          <a:lstStyle/>
          <a:p>
            <a:pPr algn="l">
              <a:defRPr sz="3000" b="0">
                <a:solidFill>
                  <a:srgbClr val="172A2A"/>
                </a:solidFill>
                <a:latin typeface="Arial"/>
                <a:ea typeface="Arial"/>
                <a:cs typeface="Arial"/>
              </a:defRPr>
            </a:pPr>
            <a:r>
              <a:rPr sz="3000" b="0">
                <a:solidFill>
                  <a:srgbClr val="172A2A"/>
                </a:solidFill>
                <a:latin typeface="Arial"/>
                <a:ea typeface="Arial"/>
                <a:cs typeface="Arial"/>
              </a:rPr>
              <a:t>Xây dựng hệ 4 lõi RV32IMA có bộ nhớ đệm và quản lý bộ nhớ, bảo đảm dữ liệu chia sẻ nhất quán và kiểm chứng trên FPGA.</a:t>
            </a:r>
          </a:p>
        </p:txBody>
      </p:sp>
    </p:spTree>
    <p:extLst>
      <p:ext uri="{BB962C8B-B14F-4D97-AF65-F5344CB8AC3E}">
        <p14:creationId xmlns:p14="http://schemas.microsoft.com/office/powerpoint/2010/main" val="520773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Google Shape;220;p4">
            <a:extLst>
              <a:ext uri="{FF2B5EF4-FFF2-40B4-BE49-F238E27FC236}">
                <a16:creationId xmlns:a16="http://schemas.microsoft.com/office/drawing/2014/main" id="{E77E43C7-69BA-DFDE-40C8-CDD7988E47AB}"/>
              </a:ext>
            </a:extLst>
          </p:cNvPr>
          <p:cNvSpPr>
            <a:spLocks noGrp="1"/>
          </p:cNvSpPr>
          <p:nvPr/>
        </p:nvSpPr>
        <p:spPr>
          <a:xfrm rot="5400000">
            <a:off x="8670767" y="-8672351"/>
            <a:ext cx="942755" cy="18291714"/>
          </a:xfrm>
          <a:custGeom>
            <a:avLst/>
            <a:gdLst/>
            <a:ahLst/>
            <a:cxnLst/>
            <a:rect l="l" t="t" r="r" b="b"/>
            <a:pathLst>
              <a:path w="1263142" h="24388953">
                <a:moveTo>
                  <a:pt x="0" y="0"/>
                </a:moveTo>
                <a:lnTo>
                  <a:pt x="1263142" y="0"/>
                </a:lnTo>
                <a:lnTo>
                  <a:pt x="1263142" y="24388953"/>
                </a:lnTo>
                <a:lnTo>
                  <a:pt x="0" y="24388953"/>
                </a:lnTo>
                <a:close/>
              </a:path>
            </a:pathLst>
          </a:custGeom>
          <a:gradFill>
            <a:gsLst>
              <a:gs pos="0">
                <a:srgbClr val="10CD57"/>
              </a:gs>
              <a:gs pos="100000">
                <a:srgbClr val="027159"/>
              </a:gs>
            </a:gsLst>
            <a:lin ang="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a:ext uri="{FF2B5EF4-FFF2-40B4-BE49-F238E27FC236}">
                <a16:creationId xmlns:a16="http://schemas.microsoft.com/office/drawing/2014/main" id="{3858341C-4BB0-7398-4010-0EEC237CB81B}"/>
              </a:ext>
            </a:extLst>
          </p:cNvPr>
          <p:cNvSpPr>
            <a:spLocks noGrp="1"/>
          </p:cNvSpPr>
          <p:nvPr/>
        </p:nvSpPr>
        <p:spPr>
          <a:xfrm rot="-5400000" flipH="1">
            <a:off x="8672625" y="-8674476"/>
            <a:ext cx="942756" cy="18291714"/>
          </a:xfrm>
          <a:custGeom>
            <a:avLst/>
            <a:gdLst/>
            <a:ahLst/>
            <a:cxnLst/>
            <a:rect l="l" t="t" r="r" b="b"/>
            <a:pathLst>
              <a:path w="1263142" h="24388953">
                <a:moveTo>
                  <a:pt x="0" y="0"/>
                </a:moveTo>
                <a:lnTo>
                  <a:pt x="1263142" y="0"/>
                </a:lnTo>
                <a:lnTo>
                  <a:pt x="1263142" y="24388953"/>
                </a:lnTo>
                <a:lnTo>
                  <a:pt x="0" y="24388953"/>
                </a:lnTo>
                <a:close/>
              </a:path>
            </a:pathLst>
          </a:custGeom>
          <a:blipFill rotWithShape="1">
            <a:blip r:embed="rId3">
              <a:alphaModFix/>
            </a:blip>
            <a:stretch>
              <a:fillRect l="-35090" r="-35085"/>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a:ext uri="{FF2B5EF4-FFF2-40B4-BE49-F238E27FC236}">
                <a16:creationId xmlns:a16="http://schemas.microsoft.com/office/drawing/2014/main" id="{1F275C04-1EA7-EFB2-58EC-EB3F6A551830}"/>
              </a:ext>
            </a:extLst>
          </p:cNvPr>
          <p:cNvSpPr>
            <a:spLocks noGrp="1"/>
          </p:cNvSpPr>
          <p:nvPr/>
        </p:nvSpPr>
        <p:spPr>
          <a:xfrm>
            <a:off x="360422" y="212133"/>
            <a:ext cx="11130437" cy="506075"/>
          </a:xfrm>
          <a:custGeom>
            <a:avLst/>
            <a:gdLst/>
            <a:ahLst/>
            <a:cxnLst/>
            <a:rect l="l" t="t" r="r" b="b"/>
            <a:pathLst>
              <a:path w="14840583" h="674766">
                <a:moveTo>
                  <a:pt x="0" y="0"/>
                </a:moveTo>
                <a:lnTo>
                  <a:pt x="14840583" y="0"/>
                </a:lnTo>
                <a:lnTo>
                  <a:pt x="14840583" y="674766"/>
                </a:lnTo>
                <a:lnTo>
                  <a:pt x="0" y="674766"/>
                </a:lnTo>
                <a:close/>
              </a:path>
            </a:pathLst>
          </a:custGeom>
          <a:solidFill>
            <a:srgbClr val="000000">
              <a:alpha val="0"/>
            </a:srgbClr>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a:ext uri="{FF2B5EF4-FFF2-40B4-BE49-F238E27FC236}">
                <a16:creationId xmlns:a16="http://schemas.microsoft.com/office/drawing/2014/main" id="{88AAF152-00AC-C496-7743-14F4BCDBCAF2}"/>
              </a:ext>
            </a:extLst>
          </p:cNvPr>
          <p:cNvSpPr>
            <a:spLocks noGrp="1"/>
          </p:cNvSpPr>
          <p:nvPr/>
        </p:nvSpPr>
        <p:spPr>
          <a:xfrm>
            <a:off x="360422" y="176415"/>
            <a:ext cx="11130436" cy="541794"/>
          </a:xfrm>
          <a:prstGeom prst="rect">
            <a:avLst/>
          </a:prstGeom>
          <a:noFill/>
          <a:ln>
            <a:noFill/>
          </a:ln>
        </p:spPr>
        <p:txBody>
          <a:bodyPr spcFirstLastPara="1" wrap="square" lIns="0" tIns="0" rIns="0" bIns="0" anchor="t">
            <a:noAutofit/>
          </a:bodyPr>
          <a:lstStyle/>
          <a:p>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a:ext uri="{FF2B5EF4-FFF2-40B4-BE49-F238E27FC236}">
                <a16:creationId xmlns:a16="http://schemas.microsoft.com/office/drawing/2014/main" id="{EEEA4F8F-6835-8996-9F20-2C578FEEB049}"/>
              </a:ext>
            </a:extLst>
          </p:cNvPr>
          <p:cNvSpPr>
            <a:spLocks noGrp="1"/>
          </p:cNvSpPr>
          <p:nvPr/>
        </p:nvSpPr>
        <p:spPr>
          <a:xfrm>
            <a:off x="6719978" y="457932"/>
            <a:ext cx="4848130" cy="958025"/>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a:gsLst>
              <a:gs pos="0">
                <a:srgbClr val="38EF7D"/>
              </a:gs>
              <a:gs pos="100000">
                <a:srgbClr val="752AFF"/>
              </a:gs>
            </a:gsLst>
            <a:lin ang="472936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a:ext uri="{FF2B5EF4-FFF2-40B4-BE49-F238E27FC236}">
                <a16:creationId xmlns:a16="http://schemas.microsoft.com/office/drawing/2014/main" id="{BA904E38-0A5D-E2E4-703B-94B49FA2E199}"/>
              </a:ext>
            </a:extLst>
          </p:cNvPr>
          <p:cNvSpPr>
            <a:spLocks noGrp="1"/>
          </p:cNvSpPr>
          <p:nvPr/>
        </p:nvSpPr>
        <p:spPr>
          <a:xfrm>
            <a:off x="6807463" y="535967"/>
            <a:ext cx="4673060" cy="801909"/>
          </a:xfrm>
          <a:custGeom>
            <a:avLst/>
            <a:gdLst/>
            <a:ahLst/>
            <a:cxnLst/>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a:ext uri="{FF2B5EF4-FFF2-40B4-BE49-F238E27FC236}">
                <a16:creationId xmlns:a16="http://schemas.microsoft.com/office/drawing/2014/main" id="{9836EA18-ECAC-F1C8-A57F-0D5108695454}"/>
              </a:ext>
            </a:extLst>
          </p:cNvPr>
          <p:cNvSpPr>
            <a:spLocks noGrp="1"/>
          </p:cNvSpPr>
          <p:nvPr/>
        </p:nvSpPr>
        <p:spPr>
          <a:xfrm>
            <a:off x="9436446" y="362541"/>
            <a:ext cx="1163307" cy="1152591"/>
          </a:xfrm>
          <a:custGeom>
            <a:avLst/>
            <a:gdLst/>
            <a:ahLst/>
            <a:cxnLst/>
            <a:rect l="l" t="t" r="r" b="b"/>
            <a:pathLst>
              <a:path w="1163307" h="1152591">
                <a:moveTo>
                  <a:pt x="0" y="0"/>
                </a:moveTo>
                <a:lnTo>
                  <a:pt x="1163307" y="0"/>
                </a:lnTo>
                <a:lnTo>
                  <a:pt x="1163307" y="1152591"/>
                </a:lnTo>
                <a:lnTo>
                  <a:pt x="0" y="1152591"/>
                </a:lnTo>
                <a:lnTo>
                  <a:pt x="0" y="0"/>
                </a:lnTo>
                <a:close/>
              </a:path>
            </a:pathLst>
          </a:custGeom>
          <a:blipFill rotWithShape="1">
            <a:blip r:embed="rId4">
              <a:alphaModFix/>
            </a:blip>
            <a:stretch>
              <a:fillRect l="-73" r="-72"/>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a:ext uri="{FF2B5EF4-FFF2-40B4-BE49-F238E27FC236}">
                <a16:creationId xmlns:a16="http://schemas.microsoft.com/office/drawing/2014/main" id="{0F196DA8-72BC-39DF-74B8-CB7AA6E11558}"/>
              </a:ext>
            </a:extLst>
          </p:cNvPr>
          <p:cNvSpPr>
            <a:spLocks noGrp="1"/>
          </p:cNvSpPr>
          <p:nvPr/>
        </p:nvSpPr>
        <p:spPr>
          <a:xfrm>
            <a:off x="7688248" y="398076"/>
            <a:ext cx="1307514" cy="1081521"/>
          </a:xfrm>
          <a:custGeom>
            <a:avLst/>
            <a:gdLst/>
            <a:ahLst/>
            <a:cxnLst/>
            <a:rect l="l" t="t" r="r" b="b"/>
            <a:pathLst>
              <a:path w="1307514" h="1081521">
                <a:moveTo>
                  <a:pt x="0" y="0"/>
                </a:moveTo>
                <a:lnTo>
                  <a:pt x="1307514" y="0"/>
                </a:lnTo>
                <a:lnTo>
                  <a:pt x="1307514" y="1081521"/>
                </a:lnTo>
                <a:lnTo>
                  <a:pt x="0" y="1081521"/>
                </a:lnTo>
                <a:lnTo>
                  <a:pt x="0" y="0"/>
                </a:lnTo>
                <a:close/>
              </a:path>
            </a:pathLst>
          </a:custGeom>
          <a:blipFill rotWithShape="1">
            <a:blip r:embed="rId5">
              <a:alphaModFix/>
            </a:blip>
            <a:stretch>
              <a:fillRect t="-74" b="-73"/>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3">
            <a:extLst>
              <a:ext uri="{FF2B5EF4-FFF2-40B4-BE49-F238E27FC236}">
                <a16:creationId xmlns:a16="http://schemas.microsoft.com/office/drawing/2014/main" id="{297CAD12-868C-4CEE-A264-68704F6DD235}"/>
              </a:ext>
            </a:extLst>
          </p:cNvPr>
          <p:cNvSpPr>
            <a:spLocks noGrp="1"/>
          </p:cNvSpPr>
          <p:nvPr/>
        </p:nvSpPr>
        <p:spPr>
          <a:xfrm>
            <a:off x="17145000" y="9620250"/>
            <a:ext cx="571500" cy="381000"/>
          </a:xfrm>
          <a:prstGeom prst="rect">
            <a:avLst/>
          </a:prstGeom>
          <a:noFill/>
          <a:ln w="0">
            <a:noFill/>
          </a:ln>
        </p:spPr>
        <p:txBody>
          <a:bodyPr wrap="square" lIns="0" tIns="0" rIns="0" bIns="0" anchor="t">
            <a:noAutofit/>
          </a:bodyPr>
          <a:lstStyle/>
          <a:p>
            <a:pPr algn="r">
              <a:defRPr sz="1950" b="0">
                <a:solidFill>
                  <a:srgbClr val="52615E"/>
                </a:solidFill>
                <a:latin typeface="Arial"/>
                <a:ea typeface="Arial"/>
                <a:cs typeface="Arial"/>
              </a:defRPr>
            </a:pPr>
            <a:r>
              <a:rPr sz="1950" b="0">
                <a:solidFill>
                  <a:srgbClr val="52615E"/>
                </a:solidFill>
                <a:latin typeface="Arial"/>
                <a:ea typeface="Arial"/>
                <a:cs typeface="Arial"/>
              </a:rPr>
              <a:t>3</a:t>
            </a:r>
          </a:p>
        </p:txBody>
      </p:sp>
      <p:sp>
        <p:nvSpPr>
          <p:cNvPr id="230" name="2. Mục tiêu đề tài">
            <a:extLst>
              <a:ext uri="{FF2B5EF4-FFF2-40B4-BE49-F238E27FC236}">
                <a16:creationId xmlns:a16="http://schemas.microsoft.com/office/drawing/2014/main" id="{F88B7A94-88C7-4473-9B60-79EE7ED6AB46}"/>
              </a:ext>
            </a:extLst>
          </p:cNvPr>
          <p:cNvSpPr>
            <a:spLocks noGrp="1"/>
          </p:cNvSpPr>
          <p:nvPr/>
        </p:nvSpPr>
        <p:spPr>
          <a:xfrm>
            <a:off x="628650" y="1657350"/>
            <a:ext cx="16954500" cy="723900"/>
          </a:xfrm>
          <a:prstGeom prst="rect">
            <a:avLst/>
          </a:prstGeom>
          <a:noFill/>
          <a:ln w="0">
            <a:noFill/>
          </a:ln>
        </p:spPr>
        <p:txBody>
          <a:bodyPr wrap="square" lIns="0" tIns="0" rIns="0" bIns="0" anchor="t">
            <a:noAutofit/>
          </a:bodyPr>
          <a:lstStyle/>
          <a:p>
            <a:pPr algn="l">
              <a:defRPr sz="3600" b="1">
                <a:solidFill>
                  <a:srgbClr val="007A60"/>
                </a:solidFill>
                <a:latin typeface="Arial"/>
                <a:ea typeface="Arial"/>
                <a:cs typeface="Arial"/>
              </a:defRPr>
            </a:pPr>
            <a:r>
              <a:rPr sz="3600" b="1">
                <a:solidFill>
                  <a:srgbClr val="007A60"/>
                </a:solidFill>
                <a:latin typeface="Arial"/>
                <a:ea typeface="Arial"/>
                <a:cs typeface="Arial"/>
              </a:rPr>
              <a:t>2. Mục tiêu đề tài</a:t>
            </a:r>
          </a:p>
        </p:txBody>
      </p:sp>
      <p:sp>
        <p:nvSpPr>
          <p:cNvPr id="231" name="Mục tiêu 1  Thiết kế và hiện thực hệ vi xử lý 4 lõi">
            <a:extLst>
              <a:ext uri="{FF2B5EF4-FFF2-40B4-BE49-F238E27FC236}">
                <a16:creationId xmlns:a16="http://schemas.microsoft.com/office/drawing/2014/main" id="{17A03A7D-7ED9-4204-95B8-28F00A8E057D}"/>
              </a:ext>
            </a:extLst>
          </p:cNvPr>
          <p:cNvSpPr>
            <a:spLocks noGrp="1"/>
          </p:cNvSpPr>
          <p:nvPr/>
        </p:nvSpPr>
        <p:spPr>
          <a:xfrm>
            <a:off x="952500" y="2781300"/>
            <a:ext cx="16383000" cy="523875"/>
          </a:xfrm>
          <a:prstGeom prst="rect">
            <a:avLst/>
          </a:prstGeom>
          <a:noFill/>
          <a:ln w="0">
            <a:noFill/>
          </a:ln>
        </p:spPr>
        <p:txBody>
          <a:bodyPr wrap="square" lIns="0" tIns="0" rIns="0" bIns="0" anchor="t">
            <a:noAutofit/>
          </a:bodyPr>
          <a:lstStyle/>
          <a:p>
            <a:pPr algn="l">
              <a:defRPr sz="3000" b="1">
                <a:solidFill>
                  <a:srgbClr val="007A60"/>
                </a:solidFill>
                <a:latin typeface="Arial"/>
                <a:ea typeface="Arial"/>
                <a:cs typeface="Arial"/>
              </a:defRPr>
            </a:pPr>
            <a:r>
              <a:rPr sz="3000" b="1">
                <a:solidFill>
                  <a:srgbClr val="007A60"/>
                </a:solidFill>
                <a:latin typeface="Arial"/>
                <a:ea typeface="Arial"/>
                <a:cs typeface="Arial"/>
              </a:rPr>
              <a:t>Mục tiêu 1  Thiết kế và hiện thực hệ vi xử lý 4 lõi</a:t>
            </a:r>
          </a:p>
        </p:txBody>
      </p:sp>
      <p:sp>
        <p:nvSpPr>
          <p:cNvPr id="232" name="Lõi RV32IMA, cache L1 riêng và L2 dùng chung, cơ chế nhất quán dữ liệu">
            <a:extLst>
              <a:ext uri="{FF2B5EF4-FFF2-40B4-BE49-F238E27FC236}">
                <a16:creationId xmlns:a16="http://schemas.microsoft.com/office/drawing/2014/main" id="{09AFA539-343D-49C3-BBE3-1E5C95190D07}"/>
              </a:ext>
            </a:extLst>
          </p:cNvPr>
          <p:cNvSpPr>
            <a:spLocks noGrp="1"/>
          </p:cNvSpPr>
          <p:nvPr/>
        </p:nvSpPr>
        <p:spPr>
          <a:xfrm>
            <a:off x="952500" y="3476625"/>
            <a:ext cx="16383000" cy="1238250"/>
          </a:xfrm>
          <a:prstGeom prst="rect">
            <a:avLst/>
          </a:prstGeom>
          <a:noFill/>
          <a:ln w="0">
            <a:noFill/>
          </a:ln>
        </p:spPr>
        <p:txBody>
          <a:bodyPr wrap="square" lIns="0" tIns="0" rIns="0" bIns="0" anchor="t">
            <a:noAutofit/>
          </a:bodyPr>
          <a:lstStyle/>
          <a:p>
            <a:pPr algn="l">
              <a:defRPr sz="3000" b="0">
                <a:solidFill>
                  <a:srgbClr val="172A2A"/>
                </a:solidFill>
                <a:latin typeface="Arial"/>
                <a:ea typeface="Arial"/>
                <a:cs typeface="Arial"/>
              </a:defRPr>
            </a:pPr>
            <a:r>
              <a:rPr sz="3000" b="0">
                <a:solidFill>
                  <a:srgbClr val="172A2A"/>
                </a:solidFill>
                <a:latin typeface="Arial"/>
                <a:ea typeface="Arial"/>
                <a:cs typeface="Arial"/>
              </a:rPr>
              <a:t>Lõi RV32IMA, cache L1 riêng và L2 dùng chung, cơ chế nhất quán dữ liệu MESI, MMU/TLB cho từng lõi, giao tiếp bus và DMA.</a:t>
            </a:r>
          </a:p>
        </p:txBody>
      </p:sp>
      <p:sp>
        <p:nvSpPr>
          <p:cNvPr id="233" name="Mục tiêu 2  Kiểm chứng, đánh giá và triển khai trên FPGA">
            <a:extLst>
              <a:ext uri="{FF2B5EF4-FFF2-40B4-BE49-F238E27FC236}">
                <a16:creationId xmlns:a16="http://schemas.microsoft.com/office/drawing/2014/main" id="{9546F21D-ADE6-47AE-B055-C919AC51C789}"/>
              </a:ext>
            </a:extLst>
          </p:cNvPr>
          <p:cNvSpPr>
            <a:spLocks noGrp="1"/>
          </p:cNvSpPr>
          <p:nvPr/>
        </p:nvSpPr>
        <p:spPr>
          <a:xfrm>
            <a:off x="952500" y="5124450"/>
            <a:ext cx="16383000" cy="523875"/>
          </a:xfrm>
          <a:prstGeom prst="rect">
            <a:avLst/>
          </a:prstGeom>
          <a:noFill/>
          <a:ln w="0">
            <a:noFill/>
          </a:ln>
        </p:spPr>
        <p:txBody>
          <a:bodyPr wrap="square" lIns="0" tIns="0" rIns="0" bIns="0" anchor="t">
            <a:noAutofit/>
          </a:bodyPr>
          <a:lstStyle/>
          <a:p>
            <a:pPr algn="l">
              <a:defRPr sz="3000" b="1">
                <a:solidFill>
                  <a:srgbClr val="007A60"/>
                </a:solidFill>
                <a:latin typeface="Arial"/>
                <a:ea typeface="Arial"/>
                <a:cs typeface="Arial"/>
              </a:defRPr>
            </a:pPr>
            <a:r>
              <a:rPr sz="3000" b="1">
                <a:solidFill>
                  <a:srgbClr val="007A60"/>
                </a:solidFill>
                <a:latin typeface="Arial"/>
                <a:ea typeface="Arial"/>
                <a:cs typeface="Arial"/>
              </a:rPr>
              <a:t>Mục tiêu 2  Kiểm chứng, đánh giá và triển khai trên FPGA</a:t>
            </a:r>
          </a:p>
        </p:txBody>
      </p:sp>
      <p:sp>
        <p:nvSpPr>
          <p:cNvPr id="234" name="Kiểm tra đúng chức năng bằng mô phỏng RTL và demo tự động trên FPGA. Đ">
            <a:extLst>
              <a:ext uri="{FF2B5EF4-FFF2-40B4-BE49-F238E27FC236}">
                <a16:creationId xmlns:a16="http://schemas.microsoft.com/office/drawing/2014/main" id="{0CD535A7-10DF-49C8-84AD-178294EF43F9}"/>
              </a:ext>
            </a:extLst>
          </p:cNvPr>
          <p:cNvSpPr>
            <a:spLocks noGrp="1"/>
          </p:cNvSpPr>
          <p:nvPr/>
        </p:nvSpPr>
        <p:spPr>
          <a:xfrm>
            <a:off x="952500" y="5829300"/>
            <a:ext cx="16383000" cy="1238250"/>
          </a:xfrm>
          <a:prstGeom prst="rect">
            <a:avLst/>
          </a:prstGeom>
          <a:noFill/>
          <a:ln w="0">
            <a:noFill/>
          </a:ln>
        </p:spPr>
        <p:txBody>
          <a:bodyPr wrap="square" lIns="0" tIns="0" rIns="0" bIns="0" anchor="t">
            <a:noAutofit/>
          </a:bodyPr>
          <a:lstStyle/>
          <a:p>
            <a:pPr algn="l">
              <a:defRPr sz="3000" b="0">
                <a:solidFill>
                  <a:srgbClr val="172A2A"/>
                </a:solidFill>
                <a:latin typeface="Arial"/>
                <a:ea typeface="Arial"/>
                <a:cs typeface="Arial"/>
              </a:defRPr>
            </a:pPr>
            <a:r>
              <a:rPr sz="3000" b="0">
                <a:solidFill>
                  <a:srgbClr val="172A2A"/>
                </a:solidFill>
                <a:latin typeface="Arial"/>
                <a:ea typeface="Arial"/>
                <a:cs typeface="Arial"/>
              </a:rPr>
              <a:t>Kiểm tra đúng chức năng bằng mô phỏng RTL và demo tự động trên FPGA. Đánh giá hiệu năng, tài nguyên, timing và công suất ước tính.</a:t>
            </a:r>
          </a:p>
        </p:txBody>
      </p:sp>
      <p:sp>
        <p:nvSpPr>
          <p:cNvPr id="235" name="Phạm vi thực hiện">
            <a:extLst>
              <a:ext uri="{FF2B5EF4-FFF2-40B4-BE49-F238E27FC236}">
                <a16:creationId xmlns:a16="http://schemas.microsoft.com/office/drawing/2014/main" id="{1C622841-6095-4481-AE81-47678781FD2A}"/>
              </a:ext>
            </a:extLst>
          </p:cNvPr>
          <p:cNvSpPr>
            <a:spLocks noGrp="1"/>
          </p:cNvSpPr>
          <p:nvPr/>
        </p:nvSpPr>
        <p:spPr>
          <a:xfrm>
            <a:off x="952500" y="7572375"/>
            <a:ext cx="16383000" cy="523875"/>
          </a:xfrm>
          <a:prstGeom prst="rect">
            <a:avLst/>
          </a:prstGeom>
          <a:noFill/>
          <a:ln w="0">
            <a:noFill/>
          </a:ln>
        </p:spPr>
        <p:txBody>
          <a:bodyPr wrap="square" lIns="0" tIns="0" rIns="0" bIns="0" anchor="t">
            <a:noAutofit/>
          </a:bodyPr>
          <a:lstStyle/>
          <a:p>
            <a:pPr algn="l">
              <a:defRPr sz="3000" b="1">
                <a:solidFill>
                  <a:srgbClr val="007A60"/>
                </a:solidFill>
                <a:latin typeface="Arial"/>
                <a:ea typeface="Arial"/>
                <a:cs typeface="Arial"/>
              </a:defRPr>
            </a:pPr>
            <a:r>
              <a:rPr sz="3000" b="1">
                <a:solidFill>
                  <a:srgbClr val="007A60"/>
                </a:solidFill>
                <a:latin typeface="Arial"/>
                <a:ea typeface="Arial"/>
                <a:cs typeface="Arial"/>
              </a:rPr>
              <a:t>Phạm vi thực hiện</a:t>
            </a:r>
          </a:p>
        </p:txBody>
      </p:sp>
      <p:sp>
        <p:nvSpPr>
          <p:cNvPr id="236" name="4 lõi, tập lệnh RV32I/M/A. Không mở rộng F/D hoặc C. MMU giới hạn tran">
            <a:extLst>
              <a:ext uri="{FF2B5EF4-FFF2-40B4-BE49-F238E27FC236}">
                <a16:creationId xmlns:a16="http://schemas.microsoft.com/office/drawing/2014/main" id="{4B8A3C12-AC43-4202-8A5E-20AFB4434252}"/>
              </a:ext>
            </a:extLst>
          </p:cNvPr>
          <p:cNvSpPr>
            <a:spLocks noGrp="1"/>
          </p:cNvSpPr>
          <p:nvPr/>
        </p:nvSpPr>
        <p:spPr>
          <a:xfrm>
            <a:off x="952500" y="8191500"/>
            <a:ext cx="16383000" cy="1047750"/>
          </a:xfrm>
          <a:prstGeom prst="rect">
            <a:avLst/>
          </a:prstGeom>
          <a:noFill/>
          <a:ln w="0">
            <a:noFill/>
          </a:ln>
        </p:spPr>
        <p:txBody>
          <a:bodyPr wrap="square" lIns="0" tIns="0" rIns="0" bIns="0" anchor="t">
            <a:noAutofit/>
          </a:bodyPr>
          <a:lstStyle/>
          <a:p>
            <a:pPr algn="l">
              <a:defRPr sz="2625" b="0">
                <a:solidFill>
                  <a:srgbClr val="172A2A"/>
                </a:solidFill>
                <a:latin typeface="Arial"/>
                <a:ea typeface="Arial"/>
                <a:cs typeface="Arial"/>
              </a:defRPr>
            </a:pPr>
            <a:r>
              <a:rPr sz="2625" b="0">
                <a:solidFill>
                  <a:srgbClr val="172A2A"/>
                </a:solidFill>
                <a:latin typeface="Arial"/>
                <a:ea typeface="Arial"/>
                <a:cs typeface="Arial"/>
              </a:rPr>
              <a:t>4 lõi, tập lệnh RV32I/M/A. Không mở rộng F/D hoặc C. MMU giới hạn trang 4 KB. UVM cho cache/coherence là phần khuyến khích.</a:t>
            </a:r>
          </a:p>
        </p:txBody>
      </p:sp>
    </p:spTree>
    <p:extLst>
      <p:ext uri="{BB962C8B-B14F-4D97-AF65-F5344CB8AC3E}">
        <p14:creationId xmlns:p14="http://schemas.microsoft.com/office/powerpoint/2010/main" val="2916252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Google Shape;220;p4">
            <a:extLst>
              <a:ext uri="{FF2B5EF4-FFF2-40B4-BE49-F238E27FC236}">
                <a16:creationId xmlns:a16="http://schemas.microsoft.com/office/drawing/2014/main" id="{D7860EAB-80CD-B3CD-26E9-786331497CEA}"/>
              </a:ext>
            </a:extLst>
          </p:cNvPr>
          <p:cNvSpPr>
            <a:spLocks noGrp="1"/>
          </p:cNvSpPr>
          <p:nvPr/>
        </p:nvSpPr>
        <p:spPr>
          <a:xfrm rot="5400000">
            <a:off x="8670767" y="-8672351"/>
            <a:ext cx="942755" cy="18291714"/>
          </a:xfrm>
          <a:custGeom>
            <a:avLst/>
            <a:gdLst/>
            <a:ahLst/>
            <a:cxnLst/>
            <a:rect l="l" t="t" r="r" b="b"/>
            <a:pathLst>
              <a:path w="1263142" h="24388953">
                <a:moveTo>
                  <a:pt x="0" y="0"/>
                </a:moveTo>
                <a:lnTo>
                  <a:pt x="1263142" y="0"/>
                </a:lnTo>
                <a:lnTo>
                  <a:pt x="1263142" y="24388953"/>
                </a:lnTo>
                <a:lnTo>
                  <a:pt x="0" y="24388953"/>
                </a:lnTo>
                <a:close/>
              </a:path>
            </a:pathLst>
          </a:custGeom>
          <a:gradFill>
            <a:gsLst>
              <a:gs pos="0">
                <a:srgbClr val="10CD57"/>
              </a:gs>
              <a:gs pos="100000">
                <a:srgbClr val="027159"/>
              </a:gs>
            </a:gsLst>
            <a:lin ang="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a:ext uri="{FF2B5EF4-FFF2-40B4-BE49-F238E27FC236}">
                <a16:creationId xmlns:a16="http://schemas.microsoft.com/office/drawing/2014/main" id="{DC1937D5-981D-491E-C851-A8C0ADF66CBC}"/>
              </a:ext>
            </a:extLst>
          </p:cNvPr>
          <p:cNvSpPr>
            <a:spLocks noGrp="1"/>
          </p:cNvSpPr>
          <p:nvPr/>
        </p:nvSpPr>
        <p:spPr>
          <a:xfrm rot="-5400000" flipH="1">
            <a:off x="8672625" y="-8674476"/>
            <a:ext cx="942756" cy="18291714"/>
          </a:xfrm>
          <a:custGeom>
            <a:avLst/>
            <a:gdLst/>
            <a:ahLst/>
            <a:cxnLst/>
            <a:rect l="l" t="t" r="r" b="b"/>
            <a:pathLst>
              <a:path w="1263142" h="24388953">
                <a:moveTo>
                  <a:pt x="0" y="0"/>
                </a:moveTo>
                <a:lnTo>
                  <a:pt x="1263142" y="0"/>
                </a:lnTo>
                <a:lnTo>
                  <a:pt x="1263142" y="24388953"/>
                </a:lnTo>
                <a:lnTo>
                  <a:pt x="0" y="24388953"/>
                </a:lnTo>
                <a:close/>
              </a:path>
            </a:pathLst>
          </a:custGeom>
          <a:blipFill rotWithShape="1">
            <a:blip r:embed="rId3">
              <a:alphaModFix/>
            </a:blip>
            <a:stretch>
              <a:fillRect l="-35090" r="-35085"/>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a:ext uri="{FF2B5EF4-FFF2-40B4-BE49-F238E27FC236}">
                <a16:creationId xmlns:a16="http://schemas.microsoft.com/office/drawing/2014/main" id="{57F404DD-C029-6714-6DFB-9274C55C8F52}"/>
              </a:ext>
            </a:extLst>
          </p:cNvPr>
          <p:cNvSpPr>
            <a:spLocks noGrp="1"/>
          </p:cNvSpPr>
          <p:nvPr/>
        </p:nvSpPr>
        <p:spPr>
          <a:xfrm>
            <a:off x="360422" y="212133"/>
            <a:ext cx="11130437" cy="506075"/>
          </a:xfrm>
          <a:custGeom>
            <a:avLst/>
            <a:gdLst/>
            <a:ahLst/>
            <a:cxnLst/>
            <a:rect l="l" t="t" r="r" b="b"/>
            <a:pathLst>
              <a:path w="14840583" h="674766">
                <a:moveTo>
                  <a:pt x="0" y="0"/>
                </a:moveTo>
                <a:lnTo>
                  <a:pt x="14840583" y="0"/>
                </a:lnTo>
                <a:lnTo>
                  <a:pt x="14840583" y="674766"/>
                </a:lnTo>
                <a:lnTo>
                  <a:pt x="0" y="674766"/>
                </a:lnTo>
                <a:close/>
              </a:path>
            </a:pathLst>
          </a:custGeom>
          <a:solidFill>
            <a:srgbClr val="000000">
              <a:alpha val="0"/>
            </a:srgbClr>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a:ext uri="{FF2B5EF4-FFF2-40B4-BE49-F238E27FC236}">
                <a16:creationId xmlns:a16="http://schemas.microsoft.com/office/drawing/2014/main" id="{197D2A85-3385-63ED-A5CC-5D4AFA4CB27D}"/>
              </a:ext>
            </a:extLst>
          </p:cNvPr>
          <p:cNvSpPr>
            <a:spLocks noGrp="1"/>
          </p:cNvSpPr>
          <p:nvPr/>
        </p:nvSpPr>
        <p:spPr>
          <a:xfrm>
            <a:off x="360422" y="176415"/>
            <a:ext cx="11130436" cy="541794"/>
          </a:xfrm>
          <a:prstGeom prst="rect">
            <a:avLst/>
          </a:prstGeom>
          <a:noFill/>
          <a:ln>
            <a:noFill/>
          </a:ln>
        </p:spPr>
        <p:txBody>
          <a:bodyPr spcFirstLastPara="1" wrap="square" lIns="0" tIns="0" rIns="0" bIns="0" anchor="t">
            <a:noAutofit/>
          </a:bodyPr>
          <a:lstStyle/>
          <a:p>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a:ext uri="{FF2B5EF4-FFF2-40B4-BE49-F238E27FC236}">
                <a16:creationId xmlns:a16="http://schemas.microsoft.com/office/drawing/2014/main" id="{ED874408-6986-1FE4-6E13-758C05084726}"/>
              </a:ext>
            </a:extLst>
          </p:cNvPr>
          <p:cNvSpPr>
            <a:spLocks noGrp="1"/>
          </p:cNvSpPr>
          <p:nvPr/>
        </p:nvSpPr>
        <p:spPr>
          <a:xfrm>
            <a:off x="6719978" y="457932"/>
            <a:ext cx="4848130" cy="958025"/>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a:gsLst>
              <a:gs pos="0">
                <a:srgbClr val="38EF7D"/>
              </a:gs>
              <a:gs pos="100000">
                <a:srgbClr val="752AFF"/>
              </a:gs>
            </a:gsLst>
            <a:lin ang="472936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a:ext uri="{FF2B5EF4-FFF2-40B4-BE49-F238E27FC236}">
                <a16:creationId xmlns:a16="http://schemas.microsoft.com/office/drawing/2014/main" id="{04894B58-CC3F-7A85-88A1-7B099995B9F1}"/>
              </a:ext>
            </a:extLst>
          </p:cNvPr>
          <p:cNvSpPr>
            <a:spLocks noGrp="1"/>
          </p:cNvSpPr>
          <p:nvPr/>
        </p:nvSpPr>
        <p:spPr>
          <a:xfrm>
            <a:off x="6807463" y="535967"/>
            <a:ext cx="4673060" cy="801909"/>
          </a:xfrm>
          <a:custGeom>
            <a:avLst/>
            <a:gdLst/>
            <a:ahLst/>
            <a:cxnLst/>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a:ext uri="{FF2B5EF4-FFF2-40B4-BE49-F238E27FC236}">
                <a16:creationId xmlns:a16="http://schemas.microsoft.com/office/drawing/2014/main" id="{8F8F9C0E-7CEA-DCA0-7581-BCC2CB234D7D}"/>
              </a:ext>
            </a:extLst>
          </p:cNvPr>
          <p:cNvSpPr>
            <a:spLocks noGrp="1"/>
          </p:cNvSpPr>
          <p:nvPr/>
        </p:nvSpPr>
        <p:spPr>
          <a:xfrm>
            <a:off x="9436446" y="362541"/>
            <a:ext cx="1163307" cy="1152591"/>
          </a:xfrm>
          <a:custGeom>
            <a:avLst/>
            <a:gdLst/>
            <a:ahLst/>
            <a:cxnLst/>
            <a:rect l="l" t="t" r="r" b="b"/>
            <a:pathLst>
              <a:path w="1163307" h="1152591">
                <a:moveTo>
                  <a:pt x="0" y="0"/>
                </a:moveTo>
                <a:lnTo>
                  <a:pt x="1163307" y="0"/>
                </a:lnTo>
                <a:lnTo>
                  <a:pt x="1163307" y="1152591"/>
                </a:lnTo>
                <a:lnTo>
                  <a:pt x="0" y="1152591"/>
                </a:lnTo>
                <a:lnTo>
                  <a:pt x="0" y="0"/>
                </a:lnTo>
                <a:close/>
              </a:path>
            </a:pathLst>
          </a:custGeom>
          <a:blipFill rotWithShape="1">
            <a:blip r:embed="rId4">
              <a:alphaModFix/>
            </a:blip>
            <a:stretch>
              <a:fillRect l="-73" r="-72"/>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a:ext uri="{FF2B5EF4-FFF2-40B4-BE49-F238E27FC236}">
                <a16:creationId xmlns:a16="http://schemas.microsoft.com/office/drawing/2014/main" id="{B96425F5-9567-4B65-E61C-4D7184A08B4A}"/>
              </a:ext>
            </a:extLst>
          </p:cNvPr>
          <p:cNvSpPr>
            <a:spLocks noGrp="1"/>
          </p:cNvSpPr>
          <p:nvPr/>
        </p:nvSpPr>
        <p:spPr>
          <a:xfrm>
            <a:off x="7688248" y="398076"/>
            <a:ext cx="1307514" cy="1081521"/>
          </a:xfrm>
          <a:custGeom>
            <a:avLst/>
            <a:gdLst/>
            <a:ahLst/>
            <a:cxnLst/>
            <a:rect l="l" t="t" r="r" b="b"/>
            <a:pathLst>
              <a:path w="1307514" h="1081521">
                <a:moveTo>
                  <a:pt x="0" y="0"/>
                </a:moveTo>
                <a:lnTo>
                  <a:pt x="1307514" y="0"/>
                </a:lnTo>
                <a:lnTo>
                  <a:pt x="1307514" y="1081521"/>
                </a:lnTo>
                <a:lnTo>
                  <a:pt x="0" y="1081521"/>
                </a:lnTo>
                <a:lnTo>
                  <a:pt x="0" y="0"/>
                </a:lnTo>
                <a:close/>
              </a:path>
            </a:pathLst>
          </a:custGeom>
          <a:blipFill rotWithShape="1">
            <a:blip r:embed="rId5">
              <a:alphaModFix/>
            </a:blip>
            <a:stretch>
              <a:fillRect t="-74" b="-73"/>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4">
            <a:extLst>
              <a:ext uri="{FF2B5EF4-FFF2-40B4-BE49-F238E27FC236}">
                <a16:creationId xmlns:a16="http://schemas.microsoft.com/office/drawing/2014/main" id="{EDAD1ED2-B010-4F71-BD4E-48E499D74B0B}"/>
              </a:ext>
            </a:extLst>
          </p:cNvPr>
          <p:cNvSpPr>
            <a:spLocks noGrp="1"/>
          </p:cNvSpPr>
          <p:nvPr/>
        </p:nvSpPr>
        <p:spPr>
          <a:xfrm>
            <a:off x="17145000" y="9620250"/>
            <a:ext cx="571500" cy="381000"/>
          </a:xfrm>
          <a:prstGeom prst="rect">
            <a:avLst/>
          </a:prstGeom>
          <a:noFill/>
          <a:ln w="0">
            <a:noFill/>
          </a:ln>
        </p:spPr>
        <p:txBody>
          <a:bodyPr wrap="square" lIns="0" tIns="0" rIns="0" bIns="0" anchor="t">
            <a:noAutofit/>
          </a:bodyPr>
          <a:lstStyle/>
          <a:p>
            <a:pPr algn="r">
              <a:defRPr sz="1950" b="0">
                <a:solidFill>
                  <a:srgbClr val="52615E"/>
                </a:solidFill>
                <a:latin typeface="Arial"/>
                <a:ea typeface="Arial"/>
                <a:cs typeface="Arial"/>
              </a:defRPr>
            </a:pPr>
            <a:r>
              <a:rPr sz="1950" b="0">
                <a:solidFill>
                  <a:srgbClr val="52615E"/>
                </a:solidFill>
                <a:latin typeface="Arial"/>
                <a:ea typeface="Arial"/>
                <a:cs typeface="Arial"/>
              </a:rPr>
              <a:t>4</a:t>
            </a:r>
          </a:p>
        </p:txBody>
      </p:sp>
      <p:sp>
        <p:nvSpPr>
          <p:cNvPr id="230" name="3. Nội dung và phương pháp thực hiện">
            <a:extLst>
              <a:ext uri="{FF2B5EF4-FFF2-40B4-BE49-F238E27FC236}">
                <a16:creationId xmlns:a16="http://schemas.microsoft.com/office/drawing/2014/main" id="{DCC3C880-82A0-4E7D-A896-3400FD896D45}"/>
              </a:ext>
            </a:extLst>
          </p:cNvPr>
          <p:cNvSpPr>
            <a:spLocks noGrp="1"/>
          </p:cNvSpPr>
          <p:nvPr/>
        </p:nvSpPr>
        <p:spPr>
          <a:xfrm>
            <a:off x="628650" y="1657350"/>
            <a:ext cx="16954500" cy="723900"/>
          </a:xfrm>
          <a:prstGeom prst="rect">
            <a:avLst/>
          </a:prstGeom>
          <a:noFill/>
          <a:ln w="0">
            <a:noFill/>
          </a:ln>
        </p:spPr>
        <p:txBody>
          <a:bodyPr wrap="square" lIns="0" tIns="0" rIns="0" bIns="0" anchor="t">
            <a:noAutofit/>
          </a:bodyPr>
          <a:lstStyle/>
          <a:p>
            <a:pPr algn="l">
              <a:defRPr sz="3600" b="1">
                <a:solidFill>
                  <a:srgbClr val="007A60"/>
                </a:solidFill>
                <a:latin typeface="Arial"/>
                <a:ea typeface="Arial"/>
                <a:cs typeface="Arial"/>
              </a:defRPr>
            </a:pPr>
            <a:r>
              <a:rPr sz="3600" b="1">
                <a:solidFill>
                  <a:srgbClr val="007A60"/>
                </a:solidFill>
                <a:latin typeface="Arial"/>
                <a:ea typeface="Arial"/>
                <a:cs typeface="Arial"/>
              </a:rPr>
              <a:t>3. Nội dung và phương pháp thực hiện</a:t>
            </a:r>
          </a:p>
        </p:txBody>
      </p:sp>
      <p:graphicFrame>
        <p:nvGraphicFramePr>
          <p:cNvPr id="242" name="Table 241"/>
          <p:cNvGraphicFramePr/>
          <p:nvPr/>
        </p:nvGraphicFramePr>
        <p:xfrm>
          <a:off x="809625" y="2857500"/>
          <a:ext cx="16668750" cy="5953125"/>
        </p:xfrm>
        <a:graphic>
          <a:graphicData uri="http://schemas.openxmlformats.org/drawingml/2006/table">
            <a:tbl>
              <a:tblPr/>
              <a:tblGrid>
                <a:gridCol w="49530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tblGrid>
              <a:tr h="1190625">
                <a:tc>
                  <a:txBody>
                    <a:bodyPr/>
                    <a:lstStyle/>
                    <a:p>
                      <a:pPr algn="l"/>
                      <a:r>
                        <a:rPr sz="2550" b="1">
                          <a:solidFill>
                            <a:srgbClr val="FFFFFF"/>
                          </a:solidFill>
                          <a:latin typeface="Arial"/>
                          <a:ea typeface="Arial"/>
                          <a:cs typeface="Arial"/>
                        </a:rPr>
                        <a:t>Nội dung chính</a:t>
                      </a:r>
                    </a:p>
                  </a:txBody>
                  <a:tcPr anchor="ctr">
                    <a:solidFill>
                      <a:srgbClr val="007A60"/>
                    </a:solidFill>
                  </a:tcPr>
                </a:tc>
                <a:tc>
                  <a:txBody>
                    <a:bodyPr/>
                    <a:lstStyle/>
                    <a:p>
                      <a:pPr algn="l"/>
                      <a:r>
                        <a:rPr sz="2550" b="1">
                          <a:solidFill>
                            <a:srgbClr val="FFFFFF"/>
                          </a:solidFill>
                          <a:latin typeface="Arial"/>
                          <a:ea typeface="Arial"/>
                          <a:cs typeface="Arial"/>
                        </a:rPr>
                        <a:t>Phương pháp thực hiện</a:t>
                      </a:r>
                    </a:p>
                  </a:txBody>
                  <a:tcPr anchor="ctr">
                    <a:solidFill>
                      <a:srgbClr val="007A60"/>
                    </a:solidFill>
                  </a:tcPr>
                </a:tc>
                <a:tc>
                  <a:txBody>
                    <a:bodyPr/>
                    <a:lstStyle/>
                    <a:p>
                      <a:pPr algn="l"/>
                      <a:r>
                        <a:rPr sz="2550" b="1">
                          <a:solidFill>
                            <a:srgbClr val="FFFFFF"/>
                          </a:solidFill>
                          <a:latin typeface="Arial"/>
                          <a:ea typeface="Arial"/>
                          <a:cs typeface="Arial"/>
                        </a:rPr>
                        <a:t>Kết quả dự kiến</a:t>
                      </a:r>
                    </a:p>
                  </a:txBody>
                  <a:tcPr anchor="ctr">
                    <a:solidFill>
                      <a:srgbClr val="007A60"/>
                    </a:solidFill>
                  </a:tcPr>
                </a:tc>
                <a:extLst>
                  <a:ext uri="{0D108BD9-81ED-4DB2-BD59-A6C34878D82A}">
                    <a16:rowId xmlns:a16="http://schemas.microsoft.com/office/drawing/2014/main" val="10000"/>
                  </a:ext>
                </a:extLst>
              </a:tr>
              <a:tr h="1190625">
                <a:tc>
                  <a:txBody>
                    <a:bodyPr/>
                    <a:lstStyle/>
                    <a:p>
                      <a:pPr algn="l"/>
                      <a:r>
                        <a:rPr sz="2550" b="0">
                          <a:solidFill>
                            <a:srgbClr val="172A2A"/>
                          </a:solidFill>
                          <a:latin typeface="Arial"/>
                          <a:ea typeface="Arial"/>
                          <a:cs typeface="Arial"/>
                        </a:rPr>
                        <a:t>1. Khảo sát và lựa chọn kiến trúc</a:t>
                      </a:r>
                    </a:p>
                  </a:txBody>
                  <a:tcPr anchor="ctr">
                    <a:solidFill>
                      <a:srgbClr val="EDF5F1"/>
                    </a:solidFill>
                  </a:tcPr>
                </a:tc>
                <a:tc>
                  <a:txBody>
                    <a:bodyPr/>
                    <a:lstStyle/>
                    <a:p>
                      <a:pPr algn="l"/>
                      <a:r>
                        <a:rPr sz="2550" b="0">
                          <a:solidFill>
                            <a:srgbClr val="172A2A"/>
                          </a:solidFill>
                          <a:latin typeface="Arial"/>
                          <a:ea typeface="Arial"/>
                          <a:cs typeface="Arial"/>
                        </a:rPr>
                        <a:t>Nghiên cứu ISA, đa lõi và tổ chức bộ nhớ. Đối chiếu các thiết kế tham khảo.</a:t>
                      </a:r>
                    </a:p>
                  </a:txBody>
                  <a:tcPr anchor="ctr">
                    <a:solidFill>
                      <a:srgbClr val="EDF5F1"/>
                    </a:solidFill>
                  </a:tcPr>
                </a:tc>
                <a:tc>
                  <a:txBody>
                    <a:bodyPr/>
                    <a:lstStyle/>
                    <a:p>
                      <a:pPr algn="l"/>
                      <a:r>
                        <a:rPr sz="2550" b="0">
                          <a:solidFill>
                            <a:srgbClr val="172A2A"/>
                          </a:solidFill>
                          <a:latin typeface="Arial"/>
                          <a:ea typeface="Arial"/>
                          <a:cs typeface="Arial"/>
                        </a:rPr>
                        <a:t>Đặc tả và kiến trúc tổng thể</a:t>
                      </a:r>
                    </a:p>
                  </a:txBody>
                  <a:tcPr anchor="ctr">
                    <a:solidFill>
                      <a:srgbClr val="EDF5F1"/>
                    </a:solidFill>
                  </a:tcPr>
                </a:tc>
                <a:extLst>
                  <a:ext uri="{0D108BD9-81ED-4DB2-BD59-A6C34878D82A}">
                    <a16:rowId xmlns:a16="http://schemas.microsoft.com/office/drawing/2014/main" val="10001"/>
                  </a:ext>
                </a:extLst>
              </a:tr>
              <a:tr h="1190625">
                <a:tc>
                  <a:txBody>
                    <a:bodyPr/>
                    <a:lstStyle/>
                    <a:p>
                      <a:pPr algn="l"/>
                      <a:r>
                        <a:rPr sz="2550" b="0">
                          <a:solidFill>
                            <a:srgbClr val="172A2A"/>
                          </a:solidFill>
                          <a:latin typeface="Arial"/>
                          <a:ea typeface="Arial"/>
                          <a:cs typeface="Arial"/>
                        </a:rPr>
                        <a:t>2. Xây dựng lõi đơn</a:t>
                      </a:r>
                    </a:p>
                  </a:txBody>
                  <a:tcPr anchor="ctr">
                    <a:solidFill>
                      <a:srgbClr val="FFFFFF"/>
                    </a:solidFill>
                  </a:tcPr>
                </a:tc>
                <a:tc>
                  <a:txBody>
                    <a:bodyPr/>
                    <a:lstStyle/>
                    <a:p>
                      <a:pPr algn="l"/>
                      <a:r>
                        <a:rPr sz="2550" b="0">
                          <a:solidFill>
                            <a:srgbClr val="172A2A"/>
                          </a:solidFill>
                          <a:latin typeface="Arial"/>
                          <a:ea typeface="Arial"/>
                          <a:cs typeface="Arial"/>
                        </a:rPr>
                        <a:t>Hiện thực lõi RV32IMA, cache L1 và MMU. Kiểm tra theo từng khối.</a:t>
                      </a:r>
                    </a:p>
                  </a:txBody>
                  <a:tcPr anchor="ctr">
                    <a:solidFill>
                      <a:srgbClr val="FFFFFF"/>
                    </a:solidFill>
                  </a:tcPr>
                </a:tc>
                <a:tc>
                  <a:txBody>
                    <a:bodyPr/>
                    <a:lstStyle/>
                    <a:p>
                      <a:pPr algn="l"/>
                      <a:r>
                        <a:rPr sz="2550" b="0">
                          <a:solidFill>
                            <a:srgbClr val="172A2A"/>
                          </a:solidFill>
                          <a:latin typeface="Arial"/>
                          <a:ea typeface="Arial"/>
                          <a:cs typeface="Arial"/>
                        </a:rPr>
                        <a:t>Lõi đơn hoạt động đúng chức năng</a:t>
                      </a:r>
                    </a:p>
                  </a:txBody>
                  <a:tcPr anchor="ctr">
                    <a:solidFill>
                      <a:srgbClr val="FFFFFF"/>
                    </a:solidFill>
                  </a:tcPr>
                </a:tc>
                <a:extLst>
                  <a:ext uri="{0D108BD9-81ED-4DB2-BD59-A6C34878D82A}">
                    <a16:rowId xmlns:a16="http://schemas.microsoft.com/office/drawing/2014/main" val="10002"/>
                  </a:ext>
                </a:extLst>
              </a:tr>
              <a:tr h="1190625">
                <a:tc>
                  <a:txBody>
                    <a:bodyPr/>
                    <a:lstStyle/>
                    <a:p>
                      <a:pPr algn="l"/>
                      <a:r>
                        <a:rPr sz="2550" b="0">
                          <a:solidFill>
                            <a:srgbClr val="172A2A"/>
                          </a:solidFill>
                          <a:latin typeface="Arial"/>
                          <a:ea typeface="Arial"/>
                          <a:cs typeface="Arial"/>
                        </a:rPr>
                        <a:t>3. Tích hợp hệ 4 lõi</a:t>
                      </a:r>
                    </a:p>
                  </a:txBody>
                  <a:tcPr anchor="ctr">
                    <a:solidFill>
                      <a:srgbClr val="EDF5F1"/>
                    </a:solidFill>
                  </a:tcPr>
                </a:tc>
                <a:tc>
                  <a:txBody>
                    <a:bodyPr/>
                    <a:lstStyle/>
                    <a:p>
                      <a:pPr algn="l"/>
                      <a:r>
                        <a:rPr sz="2550" b="0">
                          <a:solidFill>
                            <a:srgbClr val="172A2A"/>
                          </a:solidFill>
                          <a:latin typeface="Arial"/>
                          <a:ea typeface="Arial"/>
                          <a:cs typeface="Arial"/>
                        </a:rPr>
                        <a:t>Ghép 4 lõi, cache L2, MESI và bus AHB-Lite/AXI4. Tích hợp DMA.</a:t>
                      </a:r>
                    </a:p>
                  </a:txBody>
                  <a:tcPr anchor="ctr">
                    <a:solidFill>
                      <a:srgbClr val="EDF5F1"/>
                    </a:solidFill>
                  </a:tcPr>
                </a:tc>
                <a:tc>
                  <a:txBody>
                    <a:bodyPr/>
                    <a:lstStyle/>
                    <a:p>
                      <a:pPr algn="l"/>
                      <a:r>
                        <a:rPr sz="2550" b="0">
                          <a:solidFill>
                            <a:srgbClr val="172A2A"/>
                          </a:solidFill>
                          <a:latin typeface="Arial"/>
                          <a:ea typeface="Arial"/>
                          <a:cs typeface="Arial"/>
                        </a:rPr>
                        <a:t>Các lõi chia sẻ dữ liệu nhất quán</a:t>
                      </a:r>
                    </a:p>
                  </a:txBody>
                  <a:tcPr anchor="ctr">
                    <a:solidFill>
                      <a:srgbClr val="EDF5F1"/>
                    </a:solidFill>
                  </a:tcPr>
                </a:tc>
                <a:extLst>
                  <a:ext uri="{0D108BD9-81ED-4DB2-BD59-A6C34878D82A}">
                    <a16:rowId xmlns:a16="http://schemas.microsoft.com/office/drawing/2014/main" val="10003"/>
                  </a:ext>
                </a:extLst>
              </a:tr>
              <a:tr h="1190625">
                <a:tc>
                  <a:txBody>
                    <a:bodyPr/>
                    <a:lstStyle/>
                    <a:p>
                      <a:pPr algn="l"/>
                      <a:r>
                        <a:rPr sz="2550" b="0">
                          <a:solidFill>
                            <a:srgbClr val="172A2A"/>
                          </a:solidFill>
                          <a:latin typeface="Arial"/>
                          <a:ea typeface="Arial"/>
                          <a:cs typeface="Arial"/>
                        </a:rPr>
                        <a:t>4. Đánh giá và hoàn thiện</a:t>
                      </a:r>
                    </a:p>
                  </a:txBody>
                  <a:tcPr anchor="ctr">
                    <a:solidFill>
                      <a:srgbClr val="FFFFFF"/>
                    </a:solidFill>
                  </a:tcPr>
                </a:tc>
                <a:tc>
                  <a:txBody>
                    <a:bodyPr/>
                    <a:lstStyle/>
                    <a:p>
                      <a:pPr algn="l"/>
                      <a:r>
                        <a:rPr sz="2550" b="0">
                          <a:solidFill>
                            <a:srgbClr val="172A2A"/>
                          </a:solidFill>
                          <a:latin typeface="Arial"/>
                          <a:ea typeface="Arial"/>
                          <a:cs typeface="Arial"/>
                        </a:rPr>
                        <a:t>Mô phỏng hệ thống, tổng hợp Vivado, demo FPGA và phân tích số liệu.</a:t>
                      </a:r>
                    </a:p>
                  </a:txBody>
                  <a:tcPr anchor="ctr">
                    <a:solidFill>
                      <a:srgbClr val="FFFFFF"/>
                    </a:solidFill>
                  </a:tcPr>
                </a:tc>
                <a:tc>
                  <a:txBody>
                    <a:bodyPr/>
                    <a:lstStyle/>
                    <a:p>
                      <a:pPr algn="l"/>
                      <a:r>
                        <a:rPr sz="2550" b="0">
                          <a:solidFill>
                            <a:srgbClr val="172A2A"/>
                          </a:solidFill>
                          <a:latin typeface="Arial"/>
                          <a:ea typeface="Arial"/>
                          <a:cs typeface="Arial"/>
                        </a:rPr>
                        <a:t>Demo, báo cáo và kết quả đánh giá</a:t>
                      </a:r>
                    </a:p>
                  </a:txBody>
                  <a:tcPr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1621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Google Shape;220;p4">
            <a:extLst>
              <a:ext uri="{FF2B5EF4-FFF2-40B4-BE49-F238E27FC236}">
                <a16:creationId xmlns:a16="http://schemas.microsoft.com/office/drawing/2014/main" id="{1E52C618-F875-1443-64BA-C58F421DF579}"/>
              </a:ext>
            </a:extLst>
          </p:cNvPr>
          <p:cNvSpPr>
            <a:spLocks noGrp="1"/>
          </p:cNvSpPr>
          <p:nvPr/>
        </p:nvSpPr>
        <p:spPr>
          <a:xfrm rot="5400000">
            <a:off x="8670767" y="-8672351"/>
            <a:ext cx="942755" cy="18291714"/>
          </a:xfrm>
          <a:custGeom>
            <a:avLst/>
            <a:gdLst/>
            <a:ahLst/>
            <a:cxnLst/>
            <a:rect l="l" t="t" r="r" b="b"/>
            <a:pathLst>
              <a:path w="1263142" h="24388953">
                <a:moveTo>
                  <a:pt x="0" y="0"/>
                </a:moveTo>
                <a:lnTo>
                  <a:pt x="1263142" y="0"/>
                </a:lnTo>
                <a:lnTo>
                  <a:pt x="1263142" y="24388953"/>
                </a:lnTo>
                <a:lnTo>
                  <a:pt x="0" y="24388953"/>
                </a:lnTo>
                <a:close/>
              </a:path>
            </a:pathLst>
          </a:custGeom>
          <a:gradFill>
            <a:gsLst>
              <a:gs pos="0">
                <a:srgbClr val="10CD57"/>
              </a:gs>
              <a:gs pos="100000">
                <a:srgbClr val="027159"/>
              </a:gs>
            </a:gsLst>
            <a:lin ang="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a:ext uri="{FF2B5EF4-FFF2-40B4-BE49-F238E27FC236}">
                <a16:creationId xmlns:a16="http://schemas.microsoft.com/office/drawing/2014/main" id="{038795DC-7AAE-E472-E8BA-730CCEEFB3FA}"/>
              </a:ext>
            </a:extLst>
          </p:cNvPr>
          <p:cNvSpPr>
            <a:spLocks noGrp="1"/>
          </p:cNvSpPr>
          <p:nvPr/>
        </p:nvSpPr>
        <p:spPr>
          <a:xfrm rot="-5400000" flipH="1">
            <a:off x="8672625" y="-8674476"/>
            <a:ext cx="942756" cy="18291714"/>
          </a:xfrm>
          <a:custGeom>
            <a:avLst/>
            <a:gdLst/>
            <a:ahLst/>
            <a:cxnLst/>
            <a:rect l="l" t="t" r="r" b="b"/>
            <a:pathLst>
              <a:path w="1263142" h="24388953">
                <a:moveTo>
                  <a:pt x="0" y="0"/>
                </a:moveTo>
                <a:lnTo>
                  <a:pt x="1263142" y="0"/>
                </a:lnTo>
                <a:lnTo>
                  <a:pt x="1263142" y="24388953"/>
                </a:lnTo>
                <a:lnTo>
                  <a:pt x="0" y="24388953"/>
                </a:lnTo>
                <a:close/>
              </a:path>
            </a:pathLst>
          </a:custGeom>
          <a:blipFill rotWithShape="1">
            <a:blip r:embed="rId3">
              <a:alphaModFix/>
            </a:blip>
            <a:stretch>
              <a:fillRect l="-35090" r="-35085"/>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a:ext uri="{FF2B5EF4-FFF2-40B4-BE49-F238E27FC236}">
                <a16:creationId xmlns:a16="http://schemas.microsoft.com/office/drawing/2014/main" id="{5E4B0504-2DDF-65FA-3D44-D48110D62434}"/>
              </a:ext>
            </a:extLst>
          </p:cNvPr>
          <p:cNvSpPr>
            <a:spLocks noGrp="1"/>
          </p:cNvSpPr>
          <p:nvPr/>
        </p:nvSpPr>
        <p:spPr>
          <a:xfrm>
            <a:off x="360422" y="212133"/>
            <a:ext cx="11130437" cy="506075"/>
          </a:xfrm>
          <a:custGeom>
            <a:avLst/>
            <a:gdLst/>
            <a:ahLst/>
            <a:cxnLst/>
            <a:rect l="l" t="t" r="r" b="b"/>
            <a:pathLst>
              <a:path w="14840583" h="674766">
                <a:moveTo>
                  <a:pt x="0" y="0"/>
                </a:moveTo>
                <a:lnTo>
                  <a:pt x="14840583" y="0"/>
                </a:lnTo>
                <a:lnTo>
                  <a:pt x="14840583" y="674766"/>
                </a:lnTo>
                <a:lnTo>
                  <a:pt x="0" y="674766"/>
                </a:lnTo>
                <a:close/>
              </a:path>
            </a:pathLst>
          </a:custGeom>
          <a:solidFill>
            <a:srgbClr val="000000">
              <a:alpha val="0"/>
            </a:srgbClr>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a:ext uri="{FF2B5EF4-FFF2-40B4-BE49-F238E27FC236}">
                <a16:creationId xmlns:a16="http://schemas.microsoft.com/office/drawing/2014/main" id="{B06BFB91-F606-B659-25E6-2C29A9A32F10}"/>
              </a:ext>
            </a:extLst>
          </p:cNvPr>
          <p:cNvSpPr>
            <a:spLocks noGrp="1"/>
          </p:cNvSpPr>
          <p:nvPr/>
        </p:nvSpPr>
        <p:spPr>
          <a:xfrm>
            <a:off x="360422" y="176415"/>
            <a:ext cx="11130436" cy="541794"/>
          </a:xfrm>
          <a:prstGeom prst="rect">
            <a:avLst/>
          </a:prstGeom>
          <a:noFill/>
          <a:ln>
            <a:noFill/>
          </a:ln>
        </p:spPr>
        <p:txBody>
          <a:bodyPr spcFirstLastPara="1" wrap="square" lIns="0" tIns="0" rIns="0" bIns="0" anchor="t">
            <a:noAutofit/>
          </a:bodyPr>
          <a:lstStyle/>
          <a:p>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a:ext uri="{FF2B5EF4-FFF2-40B4-BE49-F238E27FC236}">
                <a16:creationId xmlns:a16="http://schemas.microsoft.com/office/drawing/2014/main" id="{CA841D89-D962-D472-5C78-26E705C30FC1}"/>
              </a:ext>
            </a:extLst>
          </p:cNvPr>
          <p:cNvSpPr>
            <a:spLocks noGrp="1"/>
          </p:cNvSpPr>
          <p:nvPr/>
        </p:nvSpPr>
        <p:spPr>
          <a:xfrm>
            <a:off x="6719978" y="457932"/>
            <a:ext cx="4848130" cy="958025"/>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a:gsLst>
              <a:gs pos="0">
                <a:srgbClr val="38EF7D"/>
              </a:gs>
              <a:gs pos="100000">
                <a:srgbClr val="752AFF"/>
              </a:gs>
            </a:gsLst>
            <a:lin ang="472936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a:ext uri="{FF2B5EF4-FFF2-40B4-BE49-F238E27FC236}">
                <a16:creationId xmlns:a16="http://schemas.microsoft.com/office/drawing/2014/main" id="{E5A1C7D4-C516-302E-7FA6-1B375E2D0DDE}"/>
              </a:ext>
            </a:extLst>
          </p:cNvPr>
          <p:cNvSpPr>
            <a:spLocks noGrp="1"/>
          </p:cNvSpPr>
          <p:nvPr/>
        </p:nvSpPr>
        <p:spPr>
          <a:xfrm>
            <a:off x="6807463" y="535967"/>
            <a:ext cx="4673060" cy="801909"/>
          </a:xfrm>
          <a:custGeom>
            <a:avLst/>
            <a:gdLst/>
            <a:ahLst/>
            <a:cxnLst/>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a:ext uri="{FF2B5EF4-FFF2-40B4-BE49-F238E27FC236}">
                <a16:creationId xmlns:a16="http://schemas.microsoft.com/office/drawing/2014/main" id="{50A2744F-E543-77FD-B6C0-9CA16EA10EA7}"/>
              </a:ext>
            </a:extLst>
          </p:cNvPr>
          <p:cNvSpPr>
            <a:spLocks noGrp="1"/>
          </p:cNvSpPr>
          <p:nvPr/>
        </p:nvSpPr>
        <p:spPr>
          <a:xfrm>
            <a:off x="9436446" y="362541"/>
            <a:ext cx="1163307" cy="1152591"/>
          </a:xfrm>
          <a:custGeom>
            <a:avLst/>
            <a:gdLst/>
            <a:ahLst/>
            <a:cxnLst/>
            <a:rect l="l" t="t" r="r" b="b"/>
            <a:pathLst>
              <a:path w="1163307" h="1152591">
                <a:moveTo>
                  <a:pt x="0" y="0"/>
                </a:moveTo>
                <a:lnTo>
                  <a:pt x="1163307" y="0"/>
                </a:lnTo>
                <a:lnTo>
                  <a:pt x="1163307" y="1152591"/>
                </a:lnTo>
                <a:lnTo>
                  <a:pt x="0" y="1152591"/>
                </a:lnTo>
                <a:lnTo>
                  <a:pt x="0" y="0"/>
                </a:lnTo>
                <a:close/>
              </a:path>
            </a:pathLst>
          </a:custGeom>
          <a:blipFill rotWithShape="1">
            <a:blip r:embed="rId4">
              <a:alphaModFix/>
            </a:blip>
            <a:stretch>
              <a:fillRect l="-73" r="-72"/>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a:ext uri="{FF2B5EF4-FFF2-40B4-BE49-F238E27FC236}">
                <a16:creationId xmlns:a16="http://schemas.microsoft.com/office/drawing/2014/main" id="{B3BB28D9-0572-CD5B-DCAD-D077D329E8B7}"/>
              </a:ext>
            </a:extLst>
          </p:cNvPr>
          <p:cNvSpPr>
            <a:spLocks noGrp="1"/>
          </p:cNvSpPr>
          <p:nvPr/>
        </p:nvSpPr>
        <p:spPr>
          <a:xfrm>
            <a:off x="7688248" y="398076"/>
            <a:ext cx="1307514" cy="1081521"/>
          </a:xfrm>
          <a:custGeom>
            <a:avLst/>
            <a:gdLst/>
            <a:ahLst/>
            <a:cxnLst/>
            <a:rect l="l" t="t" r="r" b="b"/>
            <a:pathLst>
              <a:path w="1307514" h="1081521">
                <a:moveTo>
                  <a:pt x="0" y="0"/>
                </a:moveTo>
                <a:lnTo>
                  <a:pt x="1307514" y="0"/>
                </a:lnTo>
                <a:lnTo>
                  <a:pt x="1307514" y="1081521"/>
                </a:lnTo>
                <a:lnTo>
                  <a:pt x="0" y="1081521"/>
                </a:lnTo>
                <a:lnTo>
                  <a:pt x="0" y="0"/>
                </a:lnTo>
                <a:close/>
              </a:path>
            </a:pathLst>
          </a:custGeom>
          <a:blipFill rotWithShape="1">
            <a:blip r:embed="rId5">
              <a:alphaModFix/>
            </a:blip>
            <a:stretch>
              <a:fillRect t="-74" b="-73"/>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5">
            <a:extLst>
              <a:ext uri="{FF2B5EF4-FFF2-40B4-BE49-F238E27FC236}">
                <a16:creationId xmlns:a16="http://schemas.microsoft.com/office/drawing/2014/main" id="{BCAA5431-228A-4028-93B3-0099047AF6C9}"/>
              </a:ext>
            </a:extLst>
          </p:cNvPr>
          <p:cNvSpPr>
            <a:spLocks noGrp="1"/>
          </p:cNvSpPr>
          <p:nvPr/>
        </p:nvSpPr>
        <p:spPr>
          <a:xfrm>
            <a:off x="17145000" y="9620250"/>
            <a:ext cx="571500" cy="381000"/>
          </a:xfrm>
          <a:prstGeom prst="rect">
            <a:avLst/>
          </a:prstGeom>
          <a:noFill/>
          <a:ln w="0">
            <a:noFill/>
          </a:ln>
        </p:spPr>
        <p:txBody>
          <a:bodyPr wrap="square" lIns="0" tIns="0" rIns="0" bIns="0" anchor="t">
            <a:noAutofit/>
          </a:bodyPr>
          <a:lstStyle/>
          <a:p>
            <a:pPr algn="r">
              <a:defRPr sz="1950" b="0">
                <a:solidFill>
                  <a:srgbClr val="52615E"/>
                </a:solidFill>
                <a:latin typeface="Arial"/>
                <a:ea typeface="Arial"/>
                <a:cs typeface="Arial"/>
              </a:defRPr>
            </a:pPr>
            <a:r>
              <a:rPr sz="1950" b="0">
                <a:solidFill>
                  <a:srgbClr val="52615E"/>
                </a:solidFill>
                <a:latin typeface="Arial"/>
                <a:ea typeface="Arial"/>
                <a:cs typeface="Arial"/>
              </a:rPr>
              <a:t>5</a:t>
            </a:r>
          </a:p>
        </p:txBody>
      </p:sp>
      <p:sp>
        <p:nvSpPr>
          <p:cNvPr id="230" name="3. Kiểm chứng và demo dự kiến">
            <a:extLst>
              <a:ext uri="{FF2B5EF4-FFF2-40B4-BE49-F238E27FC236}">
                <a16:creationId xmlns:a16="http://schemas.microsoft.com/office/drawing/2014/main" id="{2CBF6A26-F52D-49D0-8EBC-0227B40C8A74}"/>
              </a:ext>
            </a:extLst>
          </p:cNvPr>
          <p:cNvSpPr>
            <a:spLocks noGrp="1"/>
          </p:cNvSpPr>
          <p:nvPr/>
        </p:nvSpPr>
        <p:spPr>
          <a:xfrm>
            <a:off x="628650" y="1657350"/>
            <a:ext cx="16954500" cy="723900"/>
          </a:xfrm>
          <a:prstGeom prst="rect">
            <a:avLst/>
          </a:prstGeom>
          <a:noFill/>
          <a:ln w="0">
            <a:noFill/>
          </a:ln>
        </p:spPr>
        <p:txBody>
          <a:bodyPr wrap="square" lIns="0" tIns="0" rIns="0" bIns="0" anchor="t">
            <a:noAutofit/>
          </a:bodyPr>
          <a:lstStyle/>
          <a:p>
            <a:pPr algn="l">
              <a:defRPr sz="3600" b="1">
                <a:solidFill>
                  <a:srgbClr val="007A60"/>
                </a:solidFill>
                <a:latin typeface="Arial"/>
                <a:ea typeface="Arial"/>
                <a:cs typeface="Arial"/>
              </a:defRPr>
            </a:pPr>
            <a:r>
              <a:rPr sz="3600" b="1">
                <a:solidFill>
                  <a:srgbClr val="007A60"/>
                </a:solidFill>
                <a:latin typeface="Arial"/>
                <a:ea typeface="Arial"/>
                <a:cs typeface="Arial"/>
              </a:rPr>
              <a:t>3. Kiểm chứng và demo dự kiến</a:t>
            </a:r>
          </a:p>
        </p:txBody>
      </p:sp>
      <p:sp>
        <p:nvSpPr>
          <p:cNvPr id="231" name="Kiểm chứng theo từng mức">
            <a:extLst>
              <a:ext uri="{FF2B5EF4-FFF2-40B4-BE49-F238E27FC236}">
                <a16:creationId xmlns:a16="http://schemas.microsoft.com/office/drawing/2014/main" id="{7AB2B1C8-F1AC-486E-9E12-F002A11EFEA4}"/>
              </a:ext>
            </a:extLst>
          </p:cNvPr>
          <p:cNvSpPr>
            <a:spLocks noGrp="1"/>
          </p:cNvSpPr>
          <p:nvPr/>
        </p:nvSpPr>
        <p:spPr>
          <a:xfrm>
            <a:off x="952500" y="2876550"/>
            <a:ext cx="7715250" cy="523875"/>
          </a:xfrm>
          <a:prstGeom prst="rect">
            <a:avLst/>
          </a:prstGeom>
          <a:noFill/>
          <a:ln w="0">
            <a:noFill/>
          </a:ln>
        </p:spPr>
        <p:txBody>
          <a:bodyPr wrap="square" lIns="0" tIns="0" rIns="0" bIns="0" anchor="t">
            <a:noAutofit/>
          </a:bodyPr>
          <a:lstStyle/>
          <a:p>
            <a:pPr algn="l">
              <a:defRPr sz="3000" b="1">
                <a:solidFill>
                  <a:srgbClr val="007A60"/>
                </a:solidFill>
                <a:latin typeface="Arial"/>
                <a:ea typeface="Arial"/>
                <a:cs typeface="Arial"/>
              </a:defRPr>
            </a:pPr>
            <a:r>
              <a:rPr sz="3000" b="1">
                <a:solidFill>
                  <a:srgbClr val="007A60"/>
                </a:solidFill>
                <a:latin typeface="Arial"/>
                <a:ea typeface="Arial"/>
                <a:cs typeface="Arial"/>
              </a:rPr>
              <a:t>Kiểm chứng theo từng mức</a:t>
            </a:r>
          </a:p>
        </p:txBody>
      </p:sp>
      <p:sp>
        <p:nvSpPr>
          <p:cNvPr id="232" name="1. Khối riêng và lõi đơn&#10;Testbench tự kiểm tra. Đối chiếu thực thi I/M">
            <a:extLst>
              <a:ext uri="{FF2B5EF4-FFF2-40B4-BE49-F238E27FC236}">
                <a16:creationId xmlns:a16="http://schemas.microsoft.com/office/drawing/2014/main" id="{B9064B71-7C98-4A4F-ACDF-3F1B95BDB73B}"/>
              </a:ext>
            </a:extLst>
          </p:cNvPr>
          <p:cNvSpPr>
            <a:spLocks noGrp="1"/>
          </p:cNvSpPr>
          <p:nvPr/>
        </p:nvSpPr>
        <p:spPr>
          <a:xfrm>
            <a:off x="952500" y="3676650"/>
            <a:ext cx="7810500" cy="1428750"/>
          </a:xfrm>
          <a:prstGeom prst="rect">
            <a:avLst/>
          </a:prstGeom>
          <a:noFill/>
          <a:ln w="0">
            <a:noFill/>
          </a:ln>
        </p:spPr>
        <p:txBody>
          <a:bodyPr wrap="square" lIns="0" tIns="0" rIns="0" bIns="0" anchor="t">
            <a:noAutofit/>
          </a:bodyPr>
          <a:lstStyle/>
          <a:p>
            <a:pPr algn="l">
              <a:defRPr sz="2775" b="0">
                <a:solidFill>
                  <a:srgbClr val="172A2A"/>
                </a:solidFill>
                <a:latin typeface="Arial"/>
                <a:ea typeface="Arial"/>
                <a:cs typeface="Arial"/>
              </a:defRPr>
            </a:pPr>
            <a:r>
              <a:rPr sz="2775" b="0">
                <a:solidFill>
                  <a:srgbClr val="172A2A"/>
                </a:solidFill>
                <a:latin typeface="Arial"/>
                <a:ea typeface="Arial"/>
                <a:cs typeface="Arial"/>
              </a:rPr>
              <a:t>1. Khối riêng và lõi đơn</a:t>
            </a:r>
          </a:p>
          <a:p>
            <a:pPr algn="l">
              <a:defRPr sz="2775" b="0">
                <a:solidFill>
                  <a:srgbClr val="172A2A"/>
                </a:solidFill>
                <a:latin typeface="Arial"/>
                <a:ea typeface="Arial"/>
                <a:cs typeface="Arial"/>
              </a:defRPr>
            </a:pPr>
            <a:r>
              <a:rPr sz="2775" b="0">
                <a:solidFill>
                  <a:srgbClr val="172A2A"/>
                </a:solidFill>
                <a:latin typeface="Arial"/>
                <a:ea typeface="Arial"/>
                <a:cs typeface="Arial"/>
              </a:rPr>
              <a:t>Testbench tự kiểm tra. Đối chiếu thực thi I/M/A với Spike.</a:t>
            </a:r>
          </a:p>
        </p:txBody>
      </p:sp>
      <p:sp>
        <p:nvSpPr>
          <p:cNvPr id="233" name="2. Hệ nhiều lõi&#10;Kiểm tra dữ liệu chia sẻ theo kịch bản producer/consum">
            <a:extLst>
              <a:ext uri="{FF2B5EF4-FFF2-40B4-BE49-F238E27FC236}">
                <a16:creationId xmlns:a16="http://schemas.microsoft.com/office/drawing/2014/main" id="{0F7CA165-63DF-4986-AB7F-200E10DA1A5C}"/>
              </a:ext>
            </a:extLst>
          </p:cNvPr>
          <p:cNvSpPr>
            <a:spLocks noGrp="1"/>
          </p:cNvSpPr>
          <p:nvPr/>
        </p:nvSpPr>
        <p:spPr>
          <a:xfrm>
            <a:off x="952500" y="5495925"/>
            <a:ext cx="7810500" cy="1524000"/>
          </a:xfrm>
          <a:prstGeom prst="rect">
            <a:avLst/>
          </a:prstGeom>
          <a:noFill/>
          <a:ln w="0">
            <a:noFill/>
          </a:ln>
        </p:spPr>
        <p:txBody>
          <a:bodyPr wrap="square" lIns="0" tIns="0" rIns="0" bIns="0" anchor="t">
            <a:noAutofit/>
          </a:bodyPr>
          <a:lstStyle/>
          <a:p>
            <a:pPr algn="l">
              <a:defRPr sz="2775" b="0">
                <a:solidFill>
                  <a:srgbClr val="172A2A"/>
                </a:solidFill>
                <a:latin typeface="Arial"/>
                <a:ea typeface="Arial"/>
                <a:cs typeface="Arial"/>
              </a:defRPr>
            </a:pPr>
            <a:r>
              <a:rPr sz="2775" b="0">
                <a:solidFill>
                  <a:srgbClr val="172A2A"/>
                </a:solidFill>
                <a:latin typeface="Arial"/>
                <a:ea typeface="Arial"/>
                <a:cs typeface="Arial"/>
              </a:rPr>
              <a:t>2. Hệ nhiều lõi</a:t>
            </a:r>
          </a:p>
          <a:p>
            <a:pPr algn="l">
              <a:defRPr sz="2775" b="0">
                <a:solidFill>
                  <a:srgbClr val="172A2A"/>
                </a:solidFill>
                <a:latin typeface="Arial"/>
                <a:ea typeface="Arial"/>
                <a:cs typeface="Arial"/>
              </a:defRPr>
            </a:pPr>
            <a:r>
              <a:rPr sz="2775" b="0">
                <a:solidFill>
                  <a:srgbClr val="172A2A"/>
                </a:solidFill>
                <a:latin typeface="Arial"/>
                <a:ea typeface="Arial"/>
                <a:cs typeface="Arial"/>
              </a:rPr>
              <a:t>Kiểm tra dữ liệu chia sẻ theo kịch bản producer/consumer và coherence.</a:t>
            </a:r>
          </a:p>
        </p:txBody>
      </p:sp>
      <p:sp>
        <p:nvSpPr>
          <p:cNvPr id="234" name="3. FPGA&#10;Chạy kịch bản tự động, ghi log PASS/FAIL và thu số liệu đánh g">
            <a:extLst>
              <a:ext uri="{FF2B5EF4-FFF2-40B4-BE49-F238E27FC236}">
                <a16:creationId xmlns:a16="http://schemas.microsoft.com/office/drawing/2014/main" id="{70B48532-84CF-4161-AC19-E22B5C7AF5C2}"/>
              </a:ext>
            </a:extLst>
          </p:cNvPr>
          <p:cNvSpPr>
            <a:spLocks noGrp="1"/>
          </p:cNvSpPr>
          <p:nvPr/>
        </p:nvSpPr>
        <p:spPr>
          <a:xfrm>
            <a:off x="952500" y="7429500"/>
            <a:ext cx="7810500" cy="1381125"/>
          </a:xfrm>
          <a:prstGeom prst="rect">
            <a:avLst/>
          </a:prstGeom>
          <a:noFill/>
          <a:ln w="0">
            <a:noFill/>
          </a:ln>
        </p:spPr>
        <p:txBody>
          <a:bodyPr wrap="square" lIns="0" tIns="0" rIns="0" bIns="0" anchor="t">
            <a:noAutofit/>
          </a:bodyPr>
          <a:lstStyle/>
          <a:p>
            <a:pPr algn="l">
              <a:defRPr sz="2775" b="0">
                <a:solidFill>
                  <a:srgbClr val="172A2A"/>
                </a:solidFill>
                <a:latin typeface="Arial"/>
                <a:ea typeface="Arial"/>
                <a:cs typeface="Arial"/>
              </a:defRPr>
            </a:pPr>
            <a:r>
              <a:rPr sz="2775" b="0">
                <a:solidFill>
                  <a:srgbClr val="172A2A"/>
                </a:solidFill>
                <a:latin typeface="Arial"/>
                <a:ea typeface="Arial"/>
                <a:cs typeface="Arial"/>
              </a:rPr>
              <a:t>3. FPGA</a:t>
            </a:r>
          </a:p>
          <a:p>
            <a:pPr algn="l">
              <a:defRPr sz="2775" b="0">
                <a:solidFill>
                  <a:srgbClr val="172A2A"/>
                </a:solidFill>
                <a:latin typeface="Arial"/>
                <a:ea typeface="Arial"/>
                <a:cs typeface="Arial"/>
              </a:defRPr>
            </a:pPr>
            <a:r>
              <a:rPr sz="2775" b="0">
                <a:solidFill>
                  <a:srgbClr val="172A2A"/>
                </a:solidFill>
                <a:latin typeface="Arial"/>
                <a:ea typeface="Arial"/>
                <a:cs typeface="Arial"/>
              </a:rPr>
              <a:t>Chạy kịch bản tự động, ghi log PASS/FAIL và thu số liệu đánh giá.</a:t>
            </a:r>
          </a:p>
        </p:txBody>
      </p:sp>
      <p:sp>
        <p:nvSpPr>
          <p:cNvPr id="235" name="Luồng demo hệ thống">
            <a:extLst>
              <a:ext uri="{FF2B5EF4-FFF2-40B4-BE49-F238E27FC236}">
                <a16:creationId xmlns:a16="http://schemas.microsoft.com/office/drawing/2014/main" id="{F09982ED-9002-478E-91B7-DFF4F22C4ECA}"/>
              </a:ext>
            </a:extLst>
          </p:cNvPr>
          <p:cNvSpPr>
            <a:spLocks noGrp="1"/>
          </p:cNvSpPr>
          <p:nvPr/>
        </p:nvSpPr>
        <p:spPr>
          <a:xfrm>
            <a:off x="9810750" y="2876550"/>
            <a:ext cx="7524750" cy="523875"/>
          </a:xfrm>
          <a:prstGeom prst="rect">
            <a:avLst/>
          </a:prstGeom>
          <a:noFill/>
          <a:ln w="0">
            <a:noFill/>
          </a:ln>
        </p:spPr>
        <p:txBody>
          <a:bodyPr wrap="square" lIns="0" tIns="0" rIns="0" bIns="0" anchor="t">
            <a:noAutofit/>
          </a:bodyPr>
          <a:lstStyle/>
          <a:p>
            <a:pPr algn="l">
              <a:defRPr sz="3000" b="1">
                <a:solidFill>
                  <a:srgbClr val="007A60"/>
                </a:solidFill>
                <a:latin typeface="Arial"/>
                <a:ea typeface="Arial"/>
                <a:cs typeface="Arial"/>
              </a:defRPr>
            </a:pPr>
            <a:r>
              <a:rPr sz="3000" b="1">
                <a:solidFill>
                  <a:srgbClr val="007A60"/>
                </a:solidFill>
                <a:latin typeface="Arial"/>
                <a:ea typeface="Arial"/>
                <a:cs typeface="Arial"/>
              </a:rPr>
              <a:t>Luồng demo hệ thống</a:t>
            </a:r>
          </a:p>
        </p:txBody>
      </p:sp>
      <p:sp>
        <p:nvSpPr>
          <p:cNvPr id="236" name="1. Nạp chương trình từ thẻ SD&#10;vào bộ nhớ chính.">
            <a:extLst>
              <a:ext uri="{FF2B5EF4-FFF2-40B4-BE49-F238E27FC236}">
                <a16:creationId xmlns:a16="http://schemas.microsoft.com/office/drawing/2014/main" id="{AA9F1397-FB50-492F-BE73-61ED1A1D7611}"/>
              </a:ext>
            </a:extLst>
          </p:cNvPr>
          <p:cNvSpPr>
            <a:spLocks noGrp="1"/>
          </p:cNvSpPr>
          <p:nvPr/>
        </p:nvSpPr>
        <p:spPr>
          <a:xfrm>
            <a:off x="9810750" y="3676650"/>
            <a:ext cx="7429500" cy="1333500"/>
          </a:xfrm>
          <a:prstGeom prst="rect">
            <a:avLst/>
          </a:prstGeom>
          <a:noFill/>
          <a:ln w="0">
            <a:noFill/>
          </a:ln>
        </p:spPr>
        <p:txBody>
          <a:bodyPr wrap="square" lIns="0" tIns="0" rIns="0" bIns="0" anchor="t">
            <a:noAutofit/>
          </a:bodyPr>
          <a:lstStyle/>
          <a:p>
            <a:pPr algn="l">
              <a:defRPr sz="2850" b="0">
                <a:solidFill>
                  <a:srgbClr val="172A2A"/>
                </a:solidFill>
                <a:latin typeface="Arial"/>
                <a:ea typeface="Arial"/>
                <a:cs typeface="Arial"/>
              </a:defRPr>
            </a:pPr>
            <a:r>
              <a:rPr sz="2850" b="0">
                <a:solidFill>
                  <a:srgbClr val="172A2A"/>
                </a:solidFill>
                <a:latin typeface="Arial"/>
                <a:ea typeface="Arial"/>
                <a:cs typeface="Arial"/>
              </a:rPr>
              <a:t>1. Nạp chương trình từ thẻ SD</a:t>
            </a:r>
          </a:p>
          <a:p>
            <a:pPr algn="l">
              <a:defRPr sz="2850" b="0">
                <a:solidFill>
                  <a:srgbClr val="172A2A"/>
                </a:solidFill>
                <a:latin typeface="Arial"/>
                <a:ea typeface="Arial"/>
                <a:cs typeface="Arial"/>
              </a:defRPr>
            </a:pPr>
            <a:r>
              <a:rPr sz="2850" b="0">
                <a:solidFill>
                  <a:srgbClr val="172A2A"/>
                </a:solidFill>
                <a:latin typeface="Arial"/>
                <a:ea typeface="Arial"/>
                <a:cs typeface="Arial"/>
              </a:rPr>
              <a:t>vào bộ nhớ chính.</a:t>
            </a:r>
          </a:p>
        </p:txBody>
      </p:sp>
      <p:sp>
        <p:nvSpPr>
          <p:cNvPr id="237" name="2. Hệ 4 lõi thực thi chương trình&#10;và xử lý dữ liệu trong RAM.">
            <a:extLst>
              <a:ext uri="{FF2B5EF4-FFF2-40B4-BE49-F238E27FC236}">
                <a16:creationId xmlns:a16="http://schemas.microsoft.com/office/drawing/2014/main" id="{E58B8126-8B19-4106-8D37-0A5D223C2991}"/>
              </a:ext>
            </a:extLst>
          </p:cNvPr>
          <p:cNvSpPr>
            <a:spLocks noGrp="1"/>
          </p:cNvSpPr>
          <p:nvPr/>
        </p:nvSpPr>
        <p:spPr>
          <a:xfrm>
            <a:off x="9810750" y="5334000"/>
            <a:ext cx="7429500" cy="1333500"/>
          </a:xfrm>
          <a:prstGeom prst="rect">
            <a:avLst/>
          </a:prstGeom>
          <a:noFill/>
          <a:ln w="0">
            <a:noFill/>
          </a:ln>
        </p:spPr>
        <p:txBody>
          <a:bodyPr wrap="square" lIns="0" tIns="0" rIns="0" bIns="0" anchor="t">
            <a:noAutofit/>
          </a:bodyPr>
          <a:lstStyle/>
          <a:p>
            <a:pPr algn="l">
              <a:defRPr sz="2850" b="0">
                <a:solidFill>
                  <a:srgbClr val="172A2A"/>
                </a:solidFill>
                <a:latin typeface="Arial"/>
                <a:ea typeface="Arial"/>
                <a:cs typeface="Arial"/>
              </a:defRPr>
            </a:pPr>
            <a:r>
              <a:rPr sz="2850" b="0">
                <a:solidFill>
                  <a:srgbClr val="172A2A"/>
                </a:solidFill>
                <a:latin typeface="Arial"/>
                <a:ea typeface="Arial"/>
                <a:cs typeface="Arial"/>
              </a:rPr>
              <a:t>2. Hệ 4 lõi thực thi chương trình</a:t>
            </a:r>
          </a:p>
          <a:p>
            <a:pPr algn="l">
              <a:defRPr sz="2850" b="0">
                <a:solidFill>
                  <a:srgbClr val="172A2A"/>
                </a:solidFill>
                <a:latin typeface="Arial"/>
                <a:ea typeface="Arial"/>
                <a:cs typeface="Arial"/>
              </a:defRPr>
            </a:pPr>
            <a:r>
              <a:rPr sz="2850" b="0">
                <a:solidFill>
                  <a:srgbClr val="172A2A"/>
                </a:solidFill>
                <a:latin typeface="Arial"/>
                <a:ea typeface="Arial"/>
                <a:cs typeface="Arial"/>
              </a:rPr>
              <a:t>và xử lý dữ liệu trong RAM.</a:t>
            </a:r>
          </a:p>
        </p:txBody>
      </p:sp>
      <p:sp>
        <p:nvSpPr>
          <p:cNvPr id="238" name="3. Ghi kết quả về thẻ SD&#10;và đối chiếu với kết quả tham chiếu.">
            <a:extLst>
              <a:ext uri="{FF2B5EF4-FFF2-40B4-BE49-F238E27FC236}">
                <a16:creationId xmlns:a16="http://schemas.microsoft.com/office/drawing/2014/main" id="{7887C4C5-5061-43A7-BF9B-2D318C7AD3A1}"/>
              </a:ext>
            </a:extLst>
          </p:cNvPr>
          <p:cNvSpPr>
            <a:spLocks noGrp="1"/>
          </p:cNvSpPr>
          <p:nvPr/>
        </p:nvSpPr>
        <p:spPr>
          <a:xfrm>
            <a:off x="9810750" y="6991350"/>
            <a:ext cx="7429500" cy="1333500"/>
          </a:xfrm>
          <a:prstGeom prst="rect">
            <a:avLst/>
          </a:prstGeom>
          <a:noFill/>
          <a:ln w="0">
            <a:noFill/>
          </a:ln>
        </p:spPr>
        <p:txBody>
          <a:bodyPr wrap="square" lIns="0" tIns="0" rIns="0" bIns="0" anchor="t">
            <a:noAutofit/>
          </a:bodyPr>
          <a:lstStyle/>
          <a:p>
            <a:pPr algn="l">
              <a:defRPr sz="2850" b="0">
                <a:solidFill>
                  <a:srgbClr val="172A2A"/>
                </a:solidFill>
                <a:latin typeface="Arial"/>
                <a:ea typeface="Arial"/>
                <a:cs typeface="Arial"/>
              </a:defRPr>
            </a:pPr>
            <a:r>
              <a:rPr sz="2850" b="0">
                <a:solidFill>
                  <a:srgbClr val="172A2A"/>
                </a:solidFill>
                <a:latin typeface="Arial"/>
                <a:ea typeface="Arial"/>
                <a:cs typeface="Arial"/>
              </a:rPr>
              <a:t>3. Ghi kết quả về thẻ SD</a:t>
            </a:r>
          </a:p>
          <a:p>
            <a:pPr algn="l">
              <a:defRPr sz="2850" b="0">
                <a:solidFill>
                  <a:srgbClr val="172A2A"/>
                </a:solidFill>
                <a:latin typeface="Arial"/>
                <a:ea typeface="Arial"/>
                <a:cs typeface="Arial"/>
              </a:defRPr>
            </a:pPr>
            <a:r>
              <a:rPr sz="2850" b="0">
                <a:solidFill>
                  <a:srgbClr val="172A2A"/>
                </a:solidFill>
                <a:latin typeface="Arial"/>
                <a:ea typeface="Arial"/>
                <a:cs typeface="Arial"/>
              </a:rPr>
              <a:t>và đối chiếu với kết quả tham chiếu.</a:t>
            </a:r>
          </a:p>
        </p:txBody>
      </p:sp>
      <p:sp>
        <p:nvSpPr>
          <p:cNvPr id="239" name="FPGA đích theo đề cương: VCU129. Đường SD–DRAM và giao tiếp trên kit c">
            <a:extLst>
              <a:ext uri="{FF2B5EF4-FFF2-40B4-BE49-F238E27FC236}">
                <a16:creationId xmlns:a16="http://schemas.microsoft.com/office/drawing/2014/main" id="{325F767D-17D3-48F0-B81B-F6FD6EAF6AA5}"/>
              </a:ext>
            </a:extLst>
          </p:cNvPr>
          <p:cNvSpPr>
            <a:spLocks noGrp="1"/>
          </p:cNvSpPr>
          <p:nvPr/>
        </p:nvSpPr>
        <p:spPr>
          <a:xfrm>
            <a:off x="952500" y="9058275"/>
            <a:ext cx="16097250" cy="542925"/>
          </a:xfrm>
          <a:prstGeom prst="rect">
            <a:avLst/>
          </a:prstGeom>
          <a:noFill/>
          <a:ln w="0">
            <a:noFill/>
          </a:ln>
        </p:spPr>
        <p:txBody>
          <a:bodyPr wrap="square" lIns="0" tIns="0" rIns="0" bIns="0" anchor="t">
            <a:noAutofit/>
          </a:bodyPr>
          <a:lstStyle/>
          <a:p>
            <a:pPr algn="l">
              <a:defRPr sz="2100" b="0">
                <a:solidFill>
                  <a:srgbClr val="52615E"/>
                </a:solidFill>
                <a:latin typeface="Arial"/>
                <a:ea typeface="Arial"/>
                <a:cs typeface="Arial"/>
              </a:defRPr>
            </a:pPr>
            <a:r>
              <a:rPr sz="2100" b="0">
                <a:solidFill>
                  <a:srgbClr val="52615E"/>
                </a:solidFill>
                <a:latin typeface="Arial"/>
                <a:ea typeface="Arial"/>
                <a:cs typeface="Arial"/>
              </a:rPr>
              <a:t>FPGA đích theo đề cương: VCU129. Đường SD–DRAM và giao tiếp trên kit cần hoàn thiện.</a:t>
            </a:r>
          </a:p>
        </p:txBody>
      </p:sp>
    </p:spTree>
    <p:extLst>
      <p:ext uri="{BB962C8B-B14F-4D97-AF65-F5344CB8AC3E}">
        <p14:creationId xmlns:p14="http://schemas.microsoft.com/office/powerpoint/2010/main" val="1119652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Google Shape;220;p4">
            <a:extLst>
              <a:ext uri="{FF2B5EF4-FFF2-40B4-BE49-F238E27FC236}">
                <a16:creationId xmlns:a16="http://schemas.microsoft.com/office/drawing/2014/main" id="{B6458AB5-ED02-EA1E-0D64-728253AA1353}"/>
              </a:ext>
            </a:extLst>
          </p:cNvPr>
          <p:cNvSpPr>
            <a:spLocks noGrp="1"/>
          </p:cNvSpPr>
          <p:nvPr/>
        </p:nvSpPr>
        <p:spPr>
          <a:xfrm rot="5400000">
            <a:off x="8670767" y="-8672351"/>
            <a:ext cx="942755" cy="18291714"/>
          </a:xfrm>
          <a:custGeom>
            <a:avLst/>
            <a:gdLst/>
            <a:ahLst/>
            <a:cxnLst/>
            <a:rect l="l" t="t" r="r" b="b"/>
            <a:pathLst>
              <a:path w="1263142" h="24388953">
                <a:moveTo>
                  <a:pt x="0" y="0"/>
                </a:moveTo>
                <a:lnTo>
                  <a:pt x="1263142" y="0"/>
                </a:lnTo>
                <a:lnTo>
                  <a:pt x="1263142" y="24388953"/>
                </a:lnTo>
                <a:lnTo>
                  <a:pt x="0" y="24388953"/>
                </a:lnTo>
                <a:close/>
              </a:path>
            </a:pathLst>
          </a:custGeom>
          <a:gradFill>
            <a:gsLst>
              <a:gs pos="0">
                <a:srgbClr val="10CD57"/>
              </a:gs>
              <a:gs pos="100000">
                <a:srgbClr val="027159"/>
              </a:gs>
            </a:gsLst>
            <a:lin ang="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a:ext uri="{FF2B5EF4-FFF2-40B4-BE49-F238E27FC236}">
                <a16:creationId xmlns:a16="http://schemas.microsoft.com/office/drawing/2014/main" id="{C4CAFF82-1231-4044-734D-78C01876FC47}"/>
              </a:ext>
            </a:extLst>
          </p:cNvPr>
          <p:cNvSpPr>
            <a:spLocks noGrp="1"/>
          </p:cNvSpPr>
          <p:nvPr/>
        </p:nvSpPr>
        <p:spPr>
          <a:xfrm rot="-5400000" flipH="1">
            <a:off x="8672625" y="-8674476"/>
            <a:ext cx="942756" cy="18291714"/>
          </a:xfrm>
          <a:custGeom>
            <a:avLst/>
            <a:gdLst/>
            <a:ahLst/>
            <a:cxnLst/>
            <a:rect l="l" t="t" r="r" b="b"/>
            <a:pathLst>
              <a:path w="1263142" h="24388953">
                <a:moveTo>
                  <a:pt x="0" y="0"/>
                </a:moveTo>
                <a:lnTo>
                  <a:pt x="1263142" y="0"/>
                </a:lnTo>
                <a:lnTo>
                  <a:pt x="1263142" y="24388953"/>
                </a:lnTo>
                <a:lnTo>
                  <a:pt x="0" y="24388953"/>
                </a:lnTo>
                <a:close/>
              </a:path>
            </a:pathLst>
          </a:custGeom>
          <a:blipFill rotWithShape="1">
            <a:blip r:embed="rId3">
              <a:alphaModFix/>
            </a:blip>
            <a:stretch>
              <a:fillRect l="-35090" r="-35085"/>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a:ext uri="{FF2B5EF4-FFF2-40B4-BE49-F238E27FC236}">
                <a16:creationId xmlns:a16="http://schemas.microsoft.com/office/drawing/2014/main" id="{A2F221BB-5219-6E12-E803-D8B518F296F8}"/>
              </a:ext>
            </a:extLst>
          </p:cNvPr>
          <p:cNvSpPr>
            <a:spLocks noGrp="1"/>
          </p:cNvSpPr>
          <p:nvPr/>
        </p:nvSpPr>
        <p:spPr>
          <a:xfrm>
            <a:off x="360422" y="212133"/>
            <a:ext cx="11130437" cy="506075"/>
          </a:xfrm>
          <a:custGeom>
            <a:avLst/>
            <a:gdLst/>
            <a:ahLst/>
            <a:cxnLst/>
            <a:rect l="l" t="t" r="r" b="b"/>
            <a:pathLst>
              <a:path w="14840583" h="674766">
                <a:moveTo>
                  <a:pt x="0" y="0"/>
                </a:moveTo>
                <a:lnTo>
                  <a:pt x="14840583" y="0"/>
                </a:lnTo>
                <a:lnTo>
                  <a:pt x="14840583" y="674766"/>
                </a:lnTo>
                <a:lnTo>
                  <a:pt x="0" y="674766"/>
                </a:lnTo>
                <a:close/>
              </a:path>
            </a:pathLst>
          </a:custGeom>
          <a:solidFill>
            <a:srgbClr val="000000">
              <a:alpha val="0"/>
            </a:srgbClr>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a:ext uri="{FF2B5EF4-FFF2-40B4-BE49-F238E27FC236}">
                <a16:creationId xmlns:a16="http://schemas.microsoft.com/office/drawing/2014/main" id="{E188E9E8-7A0D-131F-73C7-14F488DD11B5}"/>
              </a:ext>
            </a:extLst>
          </p:cNvPr>
          <p:cNvSpPr>
            <a:spLocks noGrp="1"/>
          </p:cNvSpPr>
          <p:nvPr/>
        </p:nvSpPr>
        <p:spPr>
          <a:xfrm>
            <a:off x="360422" y="176415"/>
            <a:ext cx="11130436" cy="541794"/>
          </a:xfrm>
          <a:prstGeom prst="rect">
            <a:avLst/>
          </a:prstGeom>
          <a:noFill/>
          <a:ln>
            <a:noFill/>
          </a:ln>
        </p:spPr>
        <p:txBody>
          <a:bodyPr spcFirstLastPara="1" wrap="square" lIns="0" tIns="0" rIns="0" bIns="0" anchor="t">
            <a:noAutofit/>
          </a:bodyPr>
          <a:lstStyle/>
          <a:p>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a:ext uri="{FF2B5EF4-FFF2-40B4-BE49-F238E27FC236}">
                <a16:creationId xmlns:a16="http://schemas.microsoft.com/office/drawing/2014/main" id="{EC06D5F5-086F-8968-1FA4-798A11CED5F7}"/>
              </a:ext>
            </a:extLst>
          </p:cNvPr>
          <p:cNvSpPr>
            <a:spLocks noGrp="1"/>
          </p:cNvSpPr>
          <p:nvPr/>
        </p:nvSpPr>
        <p:spPr>
          <a:xfrm>
            <a:off x="6719978" y="457932"/>
            <a:ext cx="4848130" cy="958025"/>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a:gsLst>
              <a:gs pos="0">
                <a:srgbClr val="38EF7D"/>
              </a:gs>
              <a:gs pos="100000">
                <a:srgbClr val="752AFF"/>
              </a:gs>
            </a:gsLst>
            <a:lin ang="472936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a:ext uri="{FF2B5EF4-FFF2-40B4-BE49-F238E27FC236}">
                <a16:creationId xmlns:a16="http://schemas.microsoft.com/office/drawing/2014/main" id="{E29A7D59-6AE6-8826-61CF-19A37F6D1C81}"/>
              </a:ext>
            </a:extLst>
          </p:cNvPr>
          <p:cNvSpPr>
            <a:spLocks noGrp="1"/>
          </p:cNvSpPr>
          <p:nvPr/>
        </p:nvSpPr>
        <p:spPr>
          <a:xfrm>
            <a:off x="6807463" y="535967"/>
            <a:ext cx="4673060" cy="801909"/>
          </a:xfrm>
          <a:custGeom>
            <a:avLst/>
            <a:gdLst/>
            <a:ahLst/>
            <a:cxnLst/>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a:ext uri="{FF2B5EF4-FFF2-40B4-BE49-F238E27FC236}">
                <a16:creationId xmlns:a16="http://schemas.microsoft.com/office/drawing/2014/main" id="{24186CBE-52FA-6BC0-D45A-BD6853770FF4}"/>
              </a:ext>
            </a:extLst>
          </p:cNvPr>
          <p:cNvSpPr>
            <a:spLocks noGrp="1"/>
          </p:cNvSpPr>
          <p:nvPr/>
        </p:nvSpPr>
        <p:spPr>
          <a:xfrm>
            <a:off x="9436446" y="362541"/>
            <a:ext cx="1163307" cy="1152591"/>
          </a:xfrm>
          <a:custGeom>
            <a:avLst/>
            <a:gdLst/>
            <a:ahLst/>
            <a:cxnLst/>
            <a:rect l="l" t="t" r="r" b="b"/>
            <a:pathLst>
              <a:path w="1163307" h="1152591">
                <a:moveTo>
                  <a:pt x="0" y="0"/>
                </a:moveTo>
                <a:lnTo>
                  <a:pt x="1163307" y="0"/>
                </a:lnTo>
                <a:lnTo>
                  <a:pt x="1163307" y="1152591"/>
                </a:lnTo>
                <a:lnTo>
                  <a:pt x="0" y="1152591"/>
                </a:lnTo>
                <a:lnTo>
                  <a:pt x="0" y="0"/>
                </a:lnTo>
                <a:close/>
              </a:path>
            </a:pathLst>
          </a:custGeom>
          <a:blipFill rotWithShape="1">
            <a:blip r:embed="rId4">
              <a:alphaModFix/>
            </a:blip>
            <a:stretch>
              <a:fillRect l="-73" r="-72"/>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a:ext uri="{FF2B5EF4-FFF2-40B4-BE49-F238E27FC236}">
                <a16:creationId xmlns:a16="http://schemas.microsoft.com/office/drawing/2014/main" id="{5B4440F8-43DA-BD8C-568F-10EE949EF520}"/>
              </a:ext>
            </a:extLst>
          </p:cNvPr>
          <p:cNvSpPr>
            <a:spLocks noGrp="1"/>
          </p:cNvSpPr>
          <p:nvPr/>
        </p:nvSpPr>
        <p:spPr>
          <a:xfrm>
            <a:off x="7688248" y="398076"/>
            <a:ext cx="1307514" cy="1081521"/>
          </a:xfrm>
          <a:custGeom>
            <a:avLst/>
            <a:gdLst/>
            <a:ahLst/>
            <a:cxnLst/>
            <a:rect l="l" t="t" r="r" b="b"/>
            <a:pathLst>
              <a:path w="1307514" h="1081521">
                <a:moveTo>
                  <a:pt x="0" y="0"/>
                </a:moveTo>
                <a:lnTo>
                  <a:pt x="1307514" y="0"/>
                </a:lnTo>
                <a:lnTo>
                  <a:pt x="1307514" y="1081521"/>
                </a:lnTo>
                <a:lnTo>
                  <a:pt x="0" y="1081521"/>
                </a:lnTo>
                <a:lnTo>
                  <a:pt x="0" y="0"/>
                </a:lnTo>
                <a:close/>
              </a:path>
            </a:pathLst>
          </a:custGeom>
          <a:blipFill rotWithShape="1">
            <a:blip r:embed="rId5">
              <a:alphaModFix/>
            </a:blip>
            <a:stretch>
              <a:fillRect t="-74" b="-73"/>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6">
            <a:extLst>
              <a:ext uri="{FF2B5EF4-FFF2-40B4-BE49-F238E27FC236}">
                <a16:creationId xmlns:a16="http://schemas.microsoft.com/office/drawing/2014/main" id="{944853A3-1EA6-4B2E-9816-AD09DA77E405}"/>
              </a:ext>
            </a:extLst>
          </p:cNvPr>
          <p:cNvSpPr>
            <a:spLocks noGrp="1"/>
          </p:cNvSpPr>
          <p:nvPr/>
        </p:nvSpPr>
        <p:spPr>
          <a:xfrm>
            <a:off x="17145000" y="9620250"/>
            <a:ext cx="571500" cy="381000"/>
          </a:xfrm>
          <a:prstGeom prst="rect">
            <a:avLst/>
          </a:prstGeom>
          <a:noFill/>
          <a:ln w="0">
            <a:noFill/>
          </a:ln>
        </p:spPr>
        <p:txBody>
          <a:bodyPr wrap="square" lIns="0" tIns="0" rIns="0" bIns="0" anchor="t">
            <a:noAutofit/>
          </a:bodyPr>
          <a:lstStyle/>
          <a:p>
            <a:pPr algn="r">
              <a:defRPr sz="1950" b="0">
                <a:solidFill>
                  <a:srgbClr val="52615E"/>
                </a:solidFill>
                <a:latin typeface="Arial"/>
                <a:ea typeface="Arial"/>
                <a:cs typeface="Arial"/>
              </a:defRPr>
            </a:pPr>
            <a:r>
              <a:rPr sz="1950" b="0">
                <a:solidFill>
                  <a:srgbClr val="52615E"/>
                </a:solidFill>
                <a:latin typeface="Arial"/>
                <a:ea typeface="Arial"/>
                <a:cs typeface="Arial"/>
              </a:rPr>
              <a:t>6</a:t>
            </a:r>
          </a:p>
        </p:txBody>
      </p:sp>
      <p:sp>
        <p:nvSpPr>
          <p:cNvPr id="230" name="3. Tiến độ hiện tại">
            <a:extLst>
              <a:ext uri="{FF2B5EF4-FFF2-40B4-BE49-F238E27FC236}">
                <a16:creationId xmlns:a16="http://schemas.microsoft.com/office/drawing/2014/main" id="{EC0EA8C7-585E-4979-9444-7228B76412F9}"/>
              </a:ext>
            </a:extLst>
          </p:cNvPr>
          <p:cNvSpPr>
            <a:spLocks noGrp="1"/>
          </p:cNvSpPr>
          <p:nvPr/>
        </p:nvSpPr>
        <p:spPr>
          <a:xfrm>
            <a:off x="628650" y="1657350"/>
            <a:ext cx="16954500" cy="723900"/>
          </a:xfrm>
          <a:prstGeom prst="rect">
            <a:avLst/>
          </a:prstGeom>
          <a:noFill/>
          <a:ln w="0">
            <a:noFill/>
          </a:ln>
        </p:spPr>
        <p:txBody>
          <a:bodyPr wrap="square" lIns="0" tIns="0" rIns="0" bIns="0" anchor="t">
            <a:noAutofit/>
          </a:bodyPr>
          <a:lstStyle/>
          <a:p>
            <a:pPr algn="l">
              <a:defRPr sz="3600" b="1">
                <a:solidFill>
                  <a:srgbClr val="007A60"/>
                </a:solidFill>
                <a:latin typeface="Arial"/>
                <a:ea typeface="Arial"/>
                <a:cs typeface="Arial"/>
              </a:defRPr>
            </a:pPr>
            <a:r>
              <a:rPr sz="3600" b="1">
                <a:solidFill>
                  <a:srgbClr val="007A60"/>
                </a:solidFill>
                <a:latin typeface="Arial"/>
                <a:ea typeface="Arial"/>
                <a:cs typeface="Arial"/>
              </a:rPr>
              <a:t>3. Tiến độ hiện tại</a:t>
            </a:r>
          </a:p>
        </p:txBody>
      </p:sp>
      <p:graphicFrame>
        <p:nvGraphicFramePr>
          <p:cNvPr id="243" name="Table 242"/>
          <p:cNvGraphicFramePr/>
          <p:nvPr/>
        </p:nvGraphicFramePr>
        <p:xfrm>
          <a:off x="809625" y="2809875"/>
          <a:ext cx="16668750" cy="5810250"/>
        </p:xfrm>
        <a:graphic>
          <a:graphicData uri="http://schemas.openxmlformats.org/drawingml/2006/table">
            <a:tbl>
              <a:tblPr/>
              <a:tblGrid>
                <a:gridCol w="6477000">
                  <a:extLst>
                    <a:ext uri="{9D8B030D-6E8A-4147-A177-3AD203B41FA5}">
                      <a16:colId xmlns:a16="http://schemas.microsoft.com/office/drawing/2014/main" val="20000"/>
                    </a:ext>
                  </a:extLst>
                </a:gridCol>
                <a:gridCol w="10191750">
                  <a:extLst>
                    <a:ext uri="{9D8B030D-6E8A-4147-A177-3AD203B41FA5}">
                      <a16:colId xmlns:a16="http://schemas.microsoft.com/office/drawing/2014/main" val="20001"/>
                    </a:ext>
                  </a:extLst>
                </a:gridCol>
              </a:tblGrid>
              <a:tr h="968375">
                <a:tc>
                  <a:txBody>
                    <a:bodyPr/>
                    <a:lstStyle/>
                    <a:p>
                      <a:pPr algn="l"/>
                      <a:r>
                        <a:rPr sz="2550" b="1">
                          <a:solidFill>
                            <a:srgbClr val="FFFFFF"/>
                          </a:solidFill>
                          <a:latin typeface="Arial"/>
                          <a:ea typeface="Arial"/>
                          <a:cs typeface="Arial"/>
                        </a:rPr>
                        <a:t>Hạng mục</a:t>
                      </a:r>
                    </a:p>
                  </a:txBody>
                  <a:tcPr anchor="ctr">
                    <a:solidFill>
                      <a:srgbClr val="007A60"/>
                    </a:solidFill>
                  </a:tcPr>
                </a:tc>
                <a:tc>
                  <a:txBody>
                    <a:bodyPr/>
                    <a:lstStyle/>
                    <a:p>
                      <a:pPr algn="l"/>
                      <a:r>
                        <a:rPr sz="2550" b="1">
                          <a:solidFill>
                            <a:srgbClr val="FFFFFF"/>
                          </a:solidFill>
                          <a:latin typeface="Arial"/>
                          <a:ea typeface="Arial"/>
                          <a:cs typeface="Arial"/>
                        </a:rPr>
                        <a:t>Trạng thái hiện tại</a:t>
                      </a:r>
                    </a:p>
                  </a:txBody>
                  <a:tcPr anchor="ctr">
                    <a:solidFill>
                      <a:srgbClr val="007A60"/>
                    </a:solidFill>
                  </a:tcPr>
                </a:tc>
                <a:extLst>
                  <a:ext uri="{0D108BD9-81ED-4DB2-BD59-A6C34878D82A}">
                    <a16:rowId xmlns:a16="http://schemas.microsoft.com/office/drawing/2014/main" val="10000"/>
                  </a:ext>
                </a:extLst>
              </a:tr>
              <a:tr h="968375">
                <a:tc>
                  <a:txBody>
                    <a:bodyPr/>
                    <a:lstStyle/>
                    <a:p>
                      <a:pPr algn="l"/>
                      <a:r>
                        <a:rPr sz="2550" b="0">
                          <a:solidFill>
                            <a:srgbClr val="172A2A"/>
                          </a:solidFill>
                          <a:latin typeface="Arial"/>
                          <a:ea typeface="Arial"/>
                          <a:cs typeface="Arial"/>
                        </a:rPr>
                        <a:t>Nền tảng kế thừa 2 lõi</a:t>
                      </a:r>
                    </a:p>
                  </a:txBody>
                  <a:tcPr anchor="ctr">
                    <a:solidFill>
                      <a:srgbClr val="EDF5F1"/>
                    </a:solidFill>
                  </a:tcPr>
                </a:tc>
                <a:tc>
                  <a:txBody>
                    <a:bodyPr/>
                    <a:lstStyle/>
                    <a:p>
                      <a:pPr algn="l"/>
                      <a:r>
                        <a:rPr sz="2550" b="0">
                          <a:solidFill>
                            <a:srgbClr val="172A2A"/>
                          </a:solidFill>
                          <a:latin typeface="Arial"/>
                          <a:ea typeface="Arial"/>
                          <a:cs typeface="Arial"/>
                        </a:rPr>
                        <a:t>README ghi nhận đã có bản chạy trên FPGA.</a:t>
                      </a:r>
                    </a:p>
                  </a:txBody>
                  <a:tcPr anchor="ctr">
                    <a:solidFill>
                      <a:srgbClr val="EDF5F1"/>
                    </a:solidFill>
                  </a:tcPr>
                </a:tc>
                <a:extLst>
                  <a:ext uri="{0D108BD9-81ED-4DB2-BD59-A6C34878D82A}">
                    <a16:rowId xmlns:a16="http://schemas.microsoft.com/office/drawing/2014/main" val="10001"/>
                  </a:ext>
                </a:extLst>
              </a:tr>
              <a:tr h="968375">
                <a:tc>
                  <a:txBody>
                    <a:bodyPr/>
                    <a:lstStyle/>
                    <a:p>
                      <a:pPr algn="l"/>
                      <a:r>
                        <a:rPr sz="2550" b="0">
                          <a:solidFill>
                            <a:srgbClr val="172A2A"/>
                          </a:solidFill>
                          <a:latin typeface="Arial"/>
                          <a:ea typeface="Arial"/>
                          <a:cs typeface="Arial"/>
                        </a:rPr>
                        <a:t>Hệ 4 lõi, cache L1/L2, MESI và MMU</a:t>
                      </a:r>
                    </a:p>
                  </a:txBody>
                  <a:tcPr anchor="ctr">
                    <a:solidFill>
                      <a:srgbClr val="FFFFFF"/>
                    </a:solidFill>
                  </a:tcPr>
                </a:tc>
                <a:tc>
                  <a:txBody>
                    <a:bodyPr/>
                    <a:lstStyle/>
                    <a:p>
                      <a:pPr algn="l"/>
                      <a:r>
                        <a:rPr sz="2550" b="0">
                          <a:solidFill>
                            <a:srgbClr val="172A2A"/>
                          </a:solidFill>
                          <a:latin typeface="Arial"/>
                          <a:ea typeface="Arial"/>
                          <a:cs typeface="Arial"/>
                        </a:rPr>
                        <a:t>Đã có RTL tích hợp, cần kiểm chứng hành vi.</a:t>
                      </a:r>
                    </a:p>
                  </a:txBody>
                  <a:tcPr anchor="ctr">
                    <a:solidFill>
                      <a:srgbClr val="FFFFFF"/>
                    </a:solidFill>
                  </a:tcPr>
                </a:tc>
                <a:extLst>
                  <a:ext uri="{0D108BD9-81ED-4DB2-BD59-A6C34878D82A}">
                    <a16:rowId xmlns:a16="http://schemas.microsoft.com/office/drawing/2014/main" val="10002"/>
                  </a:ext>
                </a:extLst>
              </a:tr>
              <a:tr h="968375">
                <a:tc>
                  <a:txBody>
                    <a:bodyPr/>
                    <a:lstStyle/>
                    <a:p>
                      <a:pPr algn="l"/>
                      <a:r>
                        <a:rPr sz="2550" b="0">
                          <a:solidFill>
                            <a:srgbClr val="172A2A"/>
                          </a:solidFill>
                          <a:latin typeface="Arial"/>
                          <a:ea typeface="Arial"/>
                          <a:cs typeface="Arial"/>
                        </a:rPr>
                        <a:t>CSR/trap và giao tiếp AHB-Lite/AXI4</a:t>
                      </a:r>
                    </a:p>
                  </a:txBody>
                  <a:tcPr anchor="ctr">
                    <a:solidFill>
                      <a:srgbClr val="EDF5F1"/>
                    </a:solidFill>
                  </a:tcPr>
                </a:tc>
                <a:tc>
                  <a:txBody>
                    <a:bodyPr/>
                    <a:lstStyle/>
                    <a:p>
                      <a:pPr algn="l"/>
                      <a:r>
                        <a:rPr sz="2550" b="0">
                          <a:solidFill>
                            <a:srgbClr val="172A2A"/>
                          </a:solidFill>
                          <a:latin typeface="Arial"/>
                          <a:ea typeface="Arial"/>
                          <a:cs typeface="Arial"/>
                        </a:rPr>
                        <a:t>Đã có mã nguồn và testbench cho các phần mới.</a:t>
                      </a:r>
                    </a:p>
                  </a:txBody>
                  <a:tcPr anchor="ctr">
                    <a:solidFill>
                      <a:srgbClr val="EDF5F1"/>
                    </a:solidFill>
                  </a:tcPr>
                </a:tc>
                <a:extLst>
                  <a:ext uri="{0D108BD9-81ED-4DB2-BD59-A6C34878D82A}">
                    <a16:rowId xmlns:a16="http://schemas.microsoft.com/office/drawing/2014/main" val="10003"/>
                  </a:ext>
                </a:extLst>
              </a:tr>
              <a:tr h="968375">
                <a:tc>
                  <a:txBody>
                    <a:bodyPr/>
                    <a:lstStyle/>
                    <a:p>
                      <a:pPr algn="l"/>
                      <a:r>
                        <a:rPr sz="2550" b="0">
                          <a:solidFill>
                            <a:srgbClr val="172A2A"/>
                          </a:solidFill>
                          <a:latin typeface="Arial"/>
                          <a:ea typeface="Arial"/>
                          <a:cs typeface="Arial"/>
                        </a:rPr>
                        <a:t>Môi trường kiểm thử</a:t>
                      </a:r>
                    </a:p>
                  </a:txBody>
                  <a:tcPr anchor="ctr">
                    <a:solidFill>
                      <a:srgbClr val="FFFFFF"/>
                    </a:solidFill>
                  </a:tcPr>
                </a:tc>
                <a:tc>
                  <a:txBody>
                    <a:bodyPr/>
                    <a:lstStyle/>
                    <a:p>
                      <a:pPr algn="l"/>
                      <a:r>
                        <a:rPr sz="2550" b="0">
                          <a:solidFill>
                            <a:srgbClr val="172A2A"/>
                          </a:solidFill>
                          <a:latin typeface="Arial"/>
                          <a:ea typeface="Arial"/>
                          <a:cs typeface="Arial"/>
                        </a:rPr>
                        <a:t>Có testbench MMU, CSR và coherence. Nhánh mới chưa có kết quả mô phỏng xác nhận.</a:t>
                      </a:r>
                    </a:p>
                  </a:txBody>
                  <a:tcPr anchor="ctr">
                    <a:solidFill>
                      <a:srgbClr val="FFFFFF"/>
                    </a:solidFill>
                  </a:tcPr>
                </a:tc>
                <a:extLst>
                  <a:ext uri="{0D108BD9-81ED-4DB2-BD59-A6C34878D82A}">
                    <a16:rowId xmlns:a16="http://schemas.microsoft.com/office/drawing/2014/main" val="10004"/>
                  </a:ext>
                </a:extLst>
              </a:tr>
              <a:tr h="968375">
                <a:tc>
                  <a:txBody>
                    <a:bodyPr/>
                    <a:lstStyle/>
                    <a:p>
                      <a:pPr algn="l"/>
                      <a:r>
                        <a:rPr sz="2550" b="0">
                          <a:solidFill>
                            <a:srgbClr val="172A2A"/>
                          </a:solidFill>
                          <a:latin typeface="Arial"/>
                          <a:ea typeface="Arial"/>
                          <a:cs typeface="Arial"/>
                        </a:rPr>
                        <a:t>Demo với SD và bộ nhớ chính</a:t>
                      </a:r>
                    </a:p>
                  </a:txBody>
                  <a:tcPr anchor="ctr">
                    <a:solidFill>
                      <a:srgbClr val="EDF5F1"/>
                    </a:solidFill>
                  </a:tcPr>
                </a:tc>
                <a:tc>
                  <a:txBody>
                    <a:bodyPr/>
                    <a:lstStyle/>
                    <a:p>
                      <a:pPr algn="l"/>
                      <a:r>
                        <a:rPr sz="2550" b="0">
                          <a:solidFill>
                            <a:srgbClr val="172A2A"/>
                          </a:solidFill>
                          <a:latin typeface="Arial"/>
                          <a:ea typeface="Arial"/>
                          <a:cs typeface="Arial"/>
                        </a:rPr>
                        <a:t>Có khung điều khiển boot và script đánh giá. Cần hoàn thiện DDR, loader và giao tiếp SD.</a:t>
                      </a:r>
                    </a:p>
                  </a:txBody>
                  <a:tcPr anchor="ctr">
                    <a:solidFill>
                      <a:srgbClr val="EDF5F1"/>
                    </a:solidFill>
                  </a:tcPr>
                </a:tc>
                <a:extLst>
                  <a:ext uri="{0D108BD9-81ED-4DB2-BD59-A6C34878D82A}">
                    <a16:rowId xmlns:a16="http://schemas.microsoft.com/office/drawing/2014/main" val="10005"/>
                  </a:ext>
                </a:extLst>
              </a:tr>
            </a:tbl>
          </a:graphicData>
        </a:graphic>
      </p:graphicFrame>
      <p:sp>
        <p:nvSpPr>
          <p:cNvPr id="232" name="Mốc tiếp theo: xác nhận testbench, tích hợp toàn hệ thống và chạy demo">
            <a:extLst>
              <a:ext uri="{FF2B5EF4-FFF2-40B4-BE49-F238E27FC236}">
                <a16:creationId xmlns:a16="http://schemas.microsoft.com/office/drawing/2014/main" id="{F39A373C-4A79-4730-BA24-E3D994D7043E}"/>
              </a:ext>
            </a:extLst>
          </p:cNvPr>
          <p:cNvSpPr>
            <a:spLocks noGrp="1"/>
          </p:cNvSpPr>
          <p:nvPr/>
        </p:nvSpPr>
        <p:spPr>
          <a:xfrm>
            <a:off x="952500" y="9020175"/>
            <a:ext cx="16192500" cy="571500"/>
          </a:xfrm>
          <a:prstGeom prst="rect">
            <a:avLst/>
          </a:prstGeom>
          <a:noFill/>
          <a:ln w="0">
            <a:noFill/>
          </a:ln>
        </p:spPr>
        <p:txBody>
          <a:bodyPr wrap="square" lIns="0" tIns="0" rIns="0" bIns="0" anchor="t">
            <a:noAutofit/>
          </a:bodyPr>
          <a:lstStyle/>
          <a:p>
            <a:pPr algn="l">
              <a:defRPr sz="2625" b="1">
                <a:solidFill>
                  <a:srgbClr val="007A60"/>
                </a:solidFill>
                <a:latin typeface="Arial"/>
                <a:ea typeface="Arial"/>
                <a:cs typeface="Arial"/>
              </a:defRPr>
            </a:pPr>
            <a:r>
              <a:rPr sz="2625" b="1">
                <a:solidFill>
                  <a:srgbClr val="007A60"/>
                </a:solidFill>
                <a:latin typeface="Arial"/>
                <a:ea typeface="Arial"/>
                <a:cs typeface="Arial"/>
              </a:rPr>
              <a:t>Mốc tiếp theo: xác nhận testbench, tích hợp toàn hệ thống và chạy demo FPGA.</a:t>
            </a:r>
          </a:p>
        </p:txBody>
      </p:sp>
    </p:spTree>
    <p:extLst>
      <p:ext uri="{BB962C8B-B14F-4D97-AF65-F5344CB8AC3E}">
        <p14:creationId xmlns:p14="http://schemas.microsoft.com/office/powerpoint/2010/main" val="2783195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Google Shape;220;p4">
            <a:extLst>
              <a:ext uri="{FF2B5EF4-FFF2-40B4-BE49-F238E27FC236}">
                <a16:creationId xmlns:a16="http://schemas.microsoft.com/office/drawing/2014/main" id="{DC808253-1ED7-379A-C73C-599E83571A5A}"/>
              </a:ext>
            </a:extLst>
          </p:cNvPr>
          <p:cNvSpPr>
            <a:spLocks noGrp="1"/>
          </p:cNvSpPr>
          <p:nvPr/>
        </p:nvSpPr>
        <p:spPr>
          <a:xfrm rot="5400000">
            <a:off x="8670767" y="-8672351"/>
            <a:ext cx="942755" cy="18291714"/>
          </a:xfrm>
          <a:custGeom>
            <a:avLst/>
            <a:gdLst/>
            <a:ahLst/>
            <a:cxnLst/>
            <a:rect l="l" t="t" r="r" b="b"/>
            <a:pathLst>
              <a:path w="1263142" h="24388953">
                <a:moveTo>
                  <a:pt x="0" y="0"/>
                </a:moveTo>
                <a:lnTo>
                  <a:pt x="1263142" y="0"/>
                </a:lnTo>
                <a:lnTo>
                  <a:pt x="1263142" y="24388953"/>
                </a:lnTo>
                <a:lnTo>
                  <a:pt x="0" y="24388953"/>
                </a:lnTo>
                <a:close/>
              </a:path>
            </a:pathLst>
          </a:custGeom>
          <a:gradFill>
            <a:gsLst>
              <a:gs pos="0">
                <a:srgbClr val="10CD57"/>
              </a:gs>
              <a:gs pos="100000">
                <a:srgbClr val="027159"/>
              </a:gs>
            </a:gsLst>
            <a:lin ang="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a:ext uri="{FF2B5EF4-FFF2-40B4-BE49-F238E27FC236}">
                <a16:creationId xmlns:a16="http://schemas.microsoft.com/office/drawing/2014/main" id="{5912409C-2803-AB21-AE33-4169475CA97A}"/>
              </a:ext>
            </a:extLst>
          </p:cNvPr>
          <p:cNvSpPr>
            <a:spLocks noGrp="1"/>
          </p:cNvSpPr>
          <p:nvPr/>
        </p:nvSpPr>
        <p:spPr>
          <a:xfrm rot="-5400000" flipH="1">
            <a:off x="8672625" y="-8674476"/>
            <a:ext cx="942756" cy="18291714"/>
          </a:xfrm>
          <a:custGeom>
            <a:avLst/>
            <a:gdLst/>
            <a:ahLst/>
            <a:cxnLst/>
            <a:rect l="l" t="t" r="r" b="b"/>
            <a:pathLst>
              <a:path w="1263142" h="24388953">
                <a:moveTo>
                  <a:pt x="0" y="0"/>
                </a:moveTo>
                <a:lnTo>
                  <a:pt x="1263142" y="0"/>
                </a:lnTo>
                <a:lnTo>
                  <a:pt x="1263142" y="24388953"/>
                </a:lnTo>
                <a:lnTo>
                  <a:pt x="0" y="24388953"/>
                </a:lnTo>
                <a:close/>
              </a:path>
            </a:pathLst>
          </a:custGeom>
          <a:blipFill rotWithShape="1">
            <a:blip r:embed="rId3">
              <a:alphaModFix/>
            </a:blip>
            <a:stretch>
              <a:fillRect l="-35090" r="-35085"/>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a:ext uri="{FF2B5EF4-FFF2-40B4-BE49-F238E27FC236}">
                <a16:creationId xmlns:a16="http://schemas.microsoft.com/office/drawing/2014/main" id="{444CFF2D-3ED5-830B-27D7-43A8B350B698}"/>
              </a:ext>
            </a:extLst>
          </p:cNvPr>
          <p:cNvSpPr>
            <a:spLocks noGrp="1"/>
          </p:cNvSpPr>
          <p:nvPr/>
        </p:nvSpPr>
        <p:spPr>
          <a:xfrm>
            <a:off x="360422" y="212133"/>
            <a:ext cx="11130437" cy="506075"/>
          </a:xfrm>
          <a:custGeom>
            <a:avLst/>
            <a:gdLst/>
            <a:ahLst/>
            <a:cxnLst/>
            <a:rect l="l" t="t" r="r" b="b"/>
            <a:pathLst>
              <a:path w="14840583" h="674766">
                <a:moveTo>
                  <a:pt x="0" y="0"/>
                </a:moveTo>
                <a:lnTo>
                  <a:pt x="14840583" y="0"/>
                </a:lnTo>
                <a:lnTo>
                  <a:pt x="14840583" y="674766"/>
                </a:lnTo>
                <a:lnTo>
                  <a:pt x="0" y="674766"/>
                </a:lnTo>
                <a:close/>
              </a:path>
            </a:pathLst>
          </a:custGeom>
          <a:solidFill>
            <a:srgbClr val="000000">
              <a:alpha val="0"/>
            </a:srgbClr>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a:ext uri="{FF2B5EF4-FFF2-40B4-BE49-F238E27FC236}">
                <a16:creationId xmlns:a16="http://schemas.microsoft.com/office/drawing/2014/main" id="{832DE0AF-E5FF-7DCD-B9BF-91CB90C0936F}"/>
              </a:ext>
            </a:extLst>
          </p:cNvPr>
          <p:cNvSpPr>
            <a:spLocks noGrp="1"/>
          </p:cNvSpPr>
          <p:nvPr/>
        </p:nvSpPr>
        <p:spPr>
          <a:xfrm>
            <a:off x="360422" y="176415"/>
            <a:ext cx="11130436" cy="541794"/>
          </a:xfrm>
          <a:prstGeom prst="rect">
            <a:avLst/>
          </a:prstGeom>
          <a:noFill/>
          <a:ln>
            <a:noFill/>
          </a:ln>
        </p:spPr>
        <p:txBody>
          <a:bodyPr spcFirstLastPara="1" wrap="square" lIns="0" tIns="0" rIns="0" bIns="0" anchor="t">
            <a:noAutofit/>
          </a:bodyPr>
          <a:lstStyle/>
          <a:p>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a:ext uri="{FF2B5EF4-FFF2-40B4-BE49-F238E27FC236}">
                <a16:creationId xmlns:a16="http://schemas.microsoft.com/office/drawing/2014/main" id="{D44993FD-0D50-D839-6600-5F18159B93EE}"/>
              </a:ext>
            </a:extLst>
          </p:cNvPr>
          <p:cNvSpPr>
            <a:spLocks noGrp="1"/>
          </p:cNvSpPr>
          <p:nvPr/>
        </p:nvSpPr>
        <p:spPr>
          <a:xfrm>
            <a:off x="6719978" y="457932"/>
            <a:ext cx="4848130" cy="958025"/>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a:gsLst>
              <a:gs pos="0">
                <a:srgbClr val="38EF7D"/>
              </a:gs>
              <a:gs pos="100000">
                <a:srgbClr val="752AFF"/>
              </a:gs>
            </a:gsLst>
            <a:lin ang="4729360" scaled="0"/>
          </a:gra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a:ext uri="{FF2B5EF4-FFF2-40B4-BE49-F238E27FC236}">
                <a16:creationId xmlns:a16="http://schemas.microsoft.com/office/drawing/2014/main" id="{5AF7D653-61AF-F707-0E27-F8EA21E6B772}"/>
              </a:ext>
            </a:extLst>
          </p:cNvPr>
          <p:cNvSpPr>
            <a:spLocks noGrp="1"/>
          </p:cNvSpPr>
          <p:nvPr/>
        </p:nvSpPr>
        <p:spPr>
          <a:xfrm>
            <a:off x="6807463" y="535967"/>
            <a:ext cx="4673060" cy="801909"/>
          </a:xfrm>
          <a:custGeom>
            <a:avLst/>
            <a:gdLst/>
            <a:ahLst/>
            <a:cxnLst/>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a:ext uri="{FF2B5EF4-FFF2-40B4-BE49-F238E27FC236}">
                <a16:creationId xmlns:a16="http://schemas.microsoft.com/office/drawing/2014/main" id="{289AB586-BB02-5F14-3C9F-C76D8DC740C8}"/>
              </a:ext>
            </a:extLst>
          </p:cNvPr>
          <p:cNvSpPr>
            <a:spLocks noGrp="1"/>
          </p:cNvSpPr>
          <p:nvPr/>
        </p:nvSpPr>
        <p:spPr>
          <a:xfrm>
            <a:off x="9436446" y="362541"/>
            <a:ext cx="1163307" cy="1152591"/>
          </a:xfrm>
          <a:custGeom>
            <a:avLst/>
            <a:gdLst/>
            <a:ahLst/>
            <a:cxnLst/>
            <a:rect l="l" t="t" r="r" b="b"/>
            <a:pathLst>
              <a:path w="1163307" h="1152591">
                <a:moveTo>
                  <a:pt x="0" y="0"/>
                </a:moveTo>
                <a:lnTo>
                  <a:pt x="1163307" y="0"/>
                </a:lnTo>
                <a:lnTo>
                  <a:pt x="1163307" y="1152591"/>
                </a:lnTo>
                <a:lnTo>
                  <a:pt x="0" y="1152591"/>
                </a:lnTo>
                <a:lnTo>
                  <a:pt x="0" y="0"/>
                </a:lnTo>
                <a:close/>
              </a:path>
            </a:pathLst>
          </a:custGeom>
          <a:blipFill rotWithShape="1">
            <a:blip r:embed="rId4">
              <a:alphaModFix/>
            </a:blip>
            <a:stretch>
              <a:fillRect l="-73" r="-72"/>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a:ext uri="{FF2B5EF4-FFF2-40B4-BE49-F238E27FC236}">
                <a16:creationId xmlns:a16="http://schemas.microsoft.com/office/drawing/2014/main" id="{9D7A377B-BF97-AA94-CA09-9423DAE437F0}"/>
              </a:ext>
            </a:extLst>
          </p:cNvPr>
          <p:cNvSpPr>
            <a:spLocks noGrp="1"/>
          </p:cNvSpPr>
          <p:nvPr/>
        </p:nvSpPr>
        <p:spPr>
          <a:xfrm>
            <a:off x="7688248" y="398076"/>
            <a:ext cx="1307514" cy="1081521"/>
          </a:xfrm>
          <a:custGeom>
            <a:avLst/>
            <a:gdLst/>
            <a:ahLst/>
            <a:cxnLst/>
            <a:rect l="l" t="t" r="r" b="b"/>
            <a:pathLst>
              <a:path w="1307514" h="1081521">
                <a:moveTo>
                  <a:pt x="0" y="0"/>
                </a:moveTo>
                <a:lnTo>
                  <a:pt x="1307514" y="0"/>
                </a:lnTo>
                <a:lnTo>
                  <a:pt x="1307514" y="1081521"/>
                </a:lnTo>
                <a:lnTo>
                  <a:pt x="0" y="1081521"/>
                </a:lnTo>
                <a:lnTo>
                  <a:pt x="0" y="0"/>
                </a:lnTo>
                <a:close/>
              </a:path>
            </a:pathLst>
          </a:custGeom>
          <a:blipFill rotWithShape="1">
            <a:blip r:embed="rId5">
              <a:alphaModFix/>
            </a:blip>
            <a:stretch>
              <a:fillRect t="-74" b="-73"/>
            </a:stretch>
          </a:blipFill>
          <a:ln>
            <a:noFill/>
          </a:ln>
        </p:spPr>
        <p:txBody>
          <a:bodyPr spcFirstLastPara="1" wrap="square" lIns="91425" tIns="45700" rIns="91425" bIns="45700" anchor="t">
            <a:noAutofit/>
          </a:bodyPr>
          <a:lstStyle/>
          <a:p>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7">
            <a:extLst>
              <a:ext uri="{FF2B5EF4-FFF2-40B4-BE49-F238E27FC236}">
                <a16:creationId xmlns:a16="http://schemas.microsoft.com/office/drawing/2014/main" id="{B80CC38E-BFE8-4AD7-AEF3-EE9068AA0CA9}"/>
              </a:ext>
            </a:extLst>
          </p:cNvPr>
          <p:cNvSpPr>
            <a:spLocks noGrp="1"/>
          </p:cNvSpPr>
          <p:nvPr/>
        </p:nvSpPr>
        <p:spPr>
          <a:xfrm>
            <a:off x="17145000" y="9620250"/>
            <a:ext cx="571500" cy="381000"/>
          </a:xfrm>
          <a:prstGeom prst="rect">
            <a:avLst/>
          </a:prstGeom>
          <a:noFill/>
          <a:ln w="0">
            <a:noFill/>
          </a:ln>
        </p:spPr>
        <p:txBody>
          <a:bodyPr wrap="square" lIns="0" tIns="0" rIns="0" bIns="0" anchor="t">
            <a:noAutofit/>
          </a:bodyPr>
          <a:lstStyle/>
          <a:p>
            <a:pPr algn="r">
              <a:defRPr sz="1950" b="0">
                <a:solidFill>
                  <a:srgbClr val="52615E"/>
                </a:solidFill>
                <a:latin typeface="Arial"/>
                <a:ea typeface="Arial"/>
                <a:cs typeface="Arial"/>
              </a:defRPr>
            </a:pPr>
            <a:r>
              <a:rPr sz="1950" b="0">
                <a:solidFill>
                  <a:srgbClr val="52615E"/>
                </a:solidFill>
                <a:latin typeface="Arial"/>
                <a:ea typeface="Arial"/>
                <a:cs typeface="Arial"/>
              </a:rPr>
              <a:t>7</a:t>
            </a:r>
          </a:p>
        </p:txBody>
      </p:sp>
      <p:sp>
        <p:nvSpPr>
          <p:cNvPr id="230" name="4. Kế hoạch thực hiện">
            <a:extLst>
              <a:ext uri="{FF2B5EF4-FFF2-40B4-BE49-F238E27FC236}">
                <a16:creationId xmlns:a16="http://schemas.microsoft.com/office/drawing/2014/main" id="{4FC36A59-FAF2-4A4E-917D-A01383C757A5}"/>
              </a:ext>
            </a:extLst>
          </p:cNvPr>
          <p:cNvSpPr>
            <a:spLocks noGrp="1"/>
          </p:cNvSpPr>
          <p:nvPr/>
        </p:nvSpPr>
        <p:spPr>
          <a:xfrm>
            <a:off x="628650" y="1657350"/>
            <a:ext cx="16954500" cy="723900"/>
          </a:xfrm>
          <a:prstGeom prst="rect">
            <a:avLst/>
          </a:prstGeom>
          <a:noFill/>
          <a:ln w="0">
            <a:noFill/>
          </a:ln>
        </p:spPr>
        <p:txBody>
          <a:bodyPr wrap="square" lIns="0" tIns="0" rIns="0" bIns="0" anchor="t">
            <a:noAutofit/>
          </a:bodyPr>
          <a:lstStyle/>
          <a:p>
            <a:pPr algn="l">
              <a:defRPr sz="3600" b="1">
                <a:solidFill>
                  <a:srgbClr val="007A60"/>
                </a:solidFill>
                <a:latin typeface="Arial"/>
                <a:ea typeface="Arial"/>
                <a:cs typeface="Arial"/>
              </a:defRPr>
            </a:pPr>
            <a:r>
              <a:rPr sz="3600" b="1">
                <a:solidFill>
                  <a:srgbClr val="007A60"/>
                </a:solidFill>
                <a:latin typeface="Arial"/>
                <a:ea typeface="Arial"/>
                <a:cs typeface="Arial"/>
              </a:rPr>
              <a:t>4. Kế hoạch thực hiện</a:t>
            </a:r>
          </a:p>
        </p:txBody>
      </p:sp>
      <p:sp>
        <p:nvSpPr>
          <p:cNvPr id="231" name="Thời gian theo đề cương: 07/09/2026 đến 27/12/2026">
            <a:extLst>
              <a:ext uri="{FF2B5EF4-FFF2-40B4-BE49-F238E27FC236}">
                <a16:creationId xmlns:a16="http://schemas.microsoft.com/office/drawing/2014/main" id="{CA6AEDB8-9E1B-4986-907A-D7A3AE5C7A68}"/>
              </a:ext>
            </a:extLst>
          </p:cNvPr>
          <p:cNvSpPr>
            <a:spLocks noGrp="1"/>
          </p:cNvSpPr>
          <p:nvPr/>
        </p:nvSpPr>
        <p:spPr>
          <a:xfrm>
            <a:off x="904875" y="2647950"/>
            <a:ext cx="16478250" cy="523875"/>
          </a:xfrm>
          <a:prstGeom prst="rect">
            <a:avLst/>
          </a:prstGeom>
          <a:noFill/>
          <a:ln w="0">
            <a:noFill/>
          </a:ln>
        </p:spPr>
        <p:txBody>
          <a:bodyPr wrap="square" lIns="0" tIns="0" rIns="0" bIns="0" anchor="t">
            <a:noAutofit/>
          </a:bodyPr>
          <a:lstStyle/>
          <a:p>
            <a:pPr algn="l">
              <a:defRPr sz="2700" b="1">
                <a:solidFill>
                  <a:srgbClr val="007A60"/>
                </a:solidFill>
                <a:latin typeface="Arial"/>
                <a:ea typeface="Arial"/>
                <a:cs typeface="Arial"/>
              </a:defRPr>
            </a:pPr>
            <a:r>
              <a:rPr sz="2700" b="1" dirty="0" err="1">
                <a:solidFill>
                  <a:srgbClr val="007A60"/>
                </a:solidFill>
                <a:latin typeface="Arial"/>
                <a:ea typeface="Arial"/>
                <a:cs typeface="Arial"/>
              </a:rPr>
              <a:t>Thời</a:t>
            </a:r>
            <a:r>
              <a:rPr sz="2700" b="1" dirty="0">
                <a:solidFill>
                  <a:srgbClr val="007A60"/>
                </a:solidFill>
                <a:latin typeface="Arial"/>
                <a:ea typeface="Arial"/>
                <a:cs typeface="Arial"/>
              </a:rPr>
              <a:t> </a:t>
            </a:r>
            <a:r>
              <a:rPr sz="2700" b="1" dirty="0" err="1">
                <a:solidFill>
                  <a:srgbClr val="007A60"/>
                </a:solidFill>
                <a:latin typeface="Arial"/>
                <a:ea typeface="Arial"/>
                <a:cs typeface="Arial"/>
              </a:rPr>
              <a:t>gian</a:t>
            </a:r>
            <a:r>
              <a:rPr sz="2700" b="1" dirty="0">
                <a:solidFill>
                  <a:srgbClr val="007A60"/>
                </a:solidFill>
                <a:latin typeface="Arial"/>
                <a:ea typeface="Arial"/>
                <a:cs typeface="Arial"/>
              </a:rPr>
              <a:t> </a:t>
            </a:r>
            <a:r>
              <a:rPr sz="2700" b="1" dirty="0" err="1">
                <a:solidFill>
                  <a:srgbClr val="007A60"/>
                </a:solidFill>
                <a:latin typeface="Arial"/>
                <a:ea typeface="Arial"/>
                <a:cs typeface="Arial"/>
              </a:rPr>
              <a:t>theo</a:t>
            </a:r>
            <a:r>
              <a:rPr sz="2700" b="1" dirty="0">
                <a:solidFill>
                  <a:srgbClr val="007A60"/>
                </a:solidFill>
                <a:latin typeface="Arial"/>
                <a:ea typeface="Arial"/>
                <a:cs typeface="Arial"/>
              </a:rPr>
              <a:t> </a:t>
            </a:r>
            <a:r>
              <a:rPr sz="2700" b="1" dirty="0" err="1">
                <a:solidFill>
                  <a:srgbClr val="007A60"/>
                </a:solidFill>
                <a:latin typeface="Arial"/>
                <a:ea typeface="Arial"/>
                <a:cs typeface="Arial"/>
              </a:rPr>
              <a:t>đề</a:t>
            </a:r>
            <a:r>
              <a:rPr sz="2700" b="1" dirty="0">
                <a:solidFill>
                  <a:srgbClr val="007A60"/>
                </a:solidFill>
                <a:latin typeface="Arial"/>
                <a:ea typeface="Arial"/>
                <a:cs typeface="Arial"/>
              </a:rPr>
              <a:t> </a:t>
            </a:r>
            <a:r>
              <a:rPr sz="2700" b="1" dirty="0" err="1">
                <a:solidFill>
                  <a:srgbClr val="007A60"/>
                </a:solidFill>
                <a:latin typeface="Arial"/>
                <a:ea typeface="Arial"/>
                <a:cs typeface="Arial"/>
              </a:rPr>
              <a:t>cương</a:t>
            </a:r>
            <a:r>
              <a:rPr sz="2700" b="1" dirty="0">
                <a:solidFill>
                  <a:srgbClr val="007A60"/>
                </a:solidFill>
                <a:latin typeface="Arial"/>
                <a:ea typeface="Arial"/>
                <a:cs typeface="Arial"/>
              </a:rPr>
              <a:t>: 07/09/2026 </a:t>
            </a:r>
            <a:r>
              <a:rPr sz="2700" b="1" dirty="0" err="1">
                <a:solidFill>
                  <a:srgbClr val="007A60"/>
                </a:solidFill>
                <a:latin typeface="Arial"/>
                <a:ea typeface="Arial"/>
                <a:cs typeface="Arial"/>
              </a:rPr>
              <a:t>đến</a:t>
            </a:r>
            <a:r>
              <a:rPr sz="2700" b="1" dirty="0">
                <a:solidFill>
                  <a:srgbClr val="007A60"/>
                </a:solidFill>
                <a:latin typeface="Arial"/>
                <a:ea typeface="Arial"/>
                <a:cs typeface="Arial"/>
              </a:rPr>
              <a:t> 27/12/2026</a:t>
            </a:r>
          </a:p>
        </p:txBody>
      </p:sp>
      <p:graphicFrame>
        <p:nvGraphicFramePr>
          <p:cNvPr id="247" name="Table 246"/>
          <p:cNvGraphicFramePr/>
          <p:nvPr>
            <p:extLst>
              <p:ext uri="{D42A27DB-BD31-4B8C-83A1-F6EECF244321}">
                <p14:modId xmlns:p14="http://schemas.microsoft.com/office/powerpoint/2010/main" val="262516944"/>
              </p:ext>
            </p:extLst>
          </p:nvPr>
        </p:nvGraphicFramePr>
        <p:xfrm>
          <a:off x="809625" y="3476625"/>
          <a:ext cx="16668750" cy="4286250"/>
        </p:xfrm>
        <a:graphic>
          <a:graphicData uri="http://schemas.openxmlformats.org/drawingml/2006/table">
            <a:tbl>
              <a:tblPr/>
              <a:tblGrid>
                <a:gridCol w="79057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857250">
                <a:tc>
                  <a:txBody>
                    <a:bodyPr/>
                    <a:lstStyle/>
                    <a:p>
                      <a:pPr algn="l"/>
                      <a:r>
                        <a:rPr sz="2550" b="1">
                          <a:solidFill>
                            <a:srgbClr val="FFFFFF"/>
                          </a:solidFill>
                          <a:latin typeface="Arial"/>
                          <a:ea typeface="Arial"/>
                          <a:cs typeface="Arial"/>
                        </a:rPr>
                        <a:t>Công việc</a:t>
                      </a:r>
                    </a:p>
                  </a:txBody>
                  <a:tcPr anchor="ctr">
                    <a:solidFill>
                      <a:srgbClr val="007A60"/>
                    </a:solidFill>
                  </a:tcPr>
                </a:tc>
                <a:tc>
                  <a:txBody>
                    <a:bodyPr/>
                    <a:lstStyle/>
                    <a:p>
                      <a:pPr algn="ctr"/>
                      <a:r>
                        <a:rPr sz="2550" b="1">
                          <a:solidFill>
                            <a:srgbClr val="FFFFFF"/>
                          </a:solidFill>
                          <a:latin typeface="Arial"/>
                          <a:ea typeface="Arial"/>
                          <a:cs typeface="Arial"/>
                        </a:rPr>
                        <a:t>Tháng 9</a:t>
                      </a:r>
                    </a:p>
                  </a:txBody>
                  <a:tcPr anchor="ctr">
                    <a:solidFill>
                      <a:srgbClr val="007A60"/>
                    </a:solidFill>
                  </a:tcPr>
                </a:tc>
                <a:tc>
                  <a:txBody>
                    <a:bodyPr/>
                    <a:lstStyle/>
                    <a:p>
                      <a:pPr algn="ctr"/>
                      <a:r>
                        <a:rPr sz="2550" b="1">
                          <a:solidFill>
                            <a:srgbClr val="FFFFFF"/>
                          </a:solidFill>
                          <a:latin typeface="Arial"/>
                          <a:ea typeface="Arial"/>
                          <a:cs typeface="Arial"/>
                        </a:rPr>
                        <a:t>Tháng 10</a:t>
                      </a:r>
                    </a:p>
                  </a:txBody>
                  <a:tcPr anchor="ctr">
                    <a:solidFill>
                      <a:srgbClr val="007A60"/>
                    </a:solidFill>
                  </a:tcPr>
                </a:tc>
                <a:tc>
                  <a:txBody>
                    <a:bodyPr/>
                    <a:lstStyle/>
                    <a:p>
                      <a:pPr algn="ctr"/>
                      <a:r>
                        <a:rPr sz="2550" b="1">
                          <a:solidFill>
                            <a:srgbClr val="FFFFFF"/>
                          </a:solidFill>
                          <a:latin typeface="Arial"/>
                          <a:ea typeface="Arial"/>
                          <a:cs typeface="Arial"/>
                        </a:rPr>
                        <a:t>Tháng 11</a:t>
                      </a:r>
                    </a:p>
                  </a:txBody>
                  <a:tcPr anchor="ctr">
                    <a:solidFill>
                      <a:srgbClr val="007A60"/>
                    </a:solidFill>
                  </a:tcPr>
                </a:tc>
                <a:tc>
                  <a:txBody>
                    <a:bodyPr/>
                    <a:lstStyle/>
                    <a:p>
                      <a:pPr algn="ctr"/>
                      <a:r>
                        <a:rPr sz="2550" b="1">
                          <a:solidFill>
                            <a:srgbClr val="FFFFFF"/>
                          </a:solidFill>
                          <a:latin typeface="Arial"/>
                          <a:ea typeface="Arial"/>
                          <a:cs typeface="Arial"/>
                        </a:rPr>
                        <a:t>Tháng 12</a:t>
                      </a:r>
                    </a:p>
                  </a:txBody>
                  <a:tcPr anchor="ctr">
                    <a:solidFill>
                      <a:srgbClr val="007A60"/>
                    </a:solidFill>
                  </a:tcPr>
                </a:tc>
                <a:extLst>
                  <a:ext uri="{0D108BD9-81ED-4DB2-BD59-A6C34878D82A}">
                    <a16:rowId xmlns:a16="http://schemas.microsoft.com/office/drawing/2014/main" val="10000"/>
                  </a:ext>
                </a:extLst>
              </a:tr>
              <a:tr h="857250">
                <a:tc>
                  <a:txBody>
                    <a:bodyPr/>
                    <a:lstStyle/>
                    <a:p>
                      <a:pPr algn="l"/>
                      <a:r>
                        <a:rPr sz="2550" b="0">
                          <a:solidFill>
                            <a:srgbClr val="172A2A"/>
                          </a:solidFill>
                          <a:latin typeface="Arial"/>
                          <a:ea typeface="Arial"/>
                          <a:cs typeface="Arial"/>
                        </a:rPr>
                        <a:t>Khảo sát và chốt kiến trúc</a:t>
                      </a:r>
                    </a:p>
                  </a:txBody>
                  <a:tcPr anchor="ctr">
                    <a:solidFill>
                      <a:srgbClr val="EDF5F1"/>
                    </a:solidFill>
                  </a:tcPr>
                </a:tc>
                <a:tc>
                  <a:txBody>
                    <a:bodyPr/>
                    <a:lstStyle/>
                    <a:p>
                      <a:pPr algn="ctr"/>
                      <a:r>
                        <a:rPr sz="2550" b="1">
                          <a:solidFill>
                            <a:srgbClr val="007A60"/>
                          </a:solidFill>
                          <a:latin typeface="Arial"/>
                          <a:ea typeface="Arial"/>
                          <a:cs typeface="Arial"/>
                        </a:rPr>
                        <a:t>x</a:t>
                      </a:r>
                    </a:p>
                  </a:txBody>
                  <a:tcPr anchor="ctr">
                    <a:solidFill>
                      <a:srgbClr val="D0E8DB"/>
                    </a:solidFill>
                  </a:tcPr>
                </a:tc>
                <a:tc>
                  <a:txBody>
                    <a:bodyPr/>
                    <a:lstStyle/>
                    <a:p>
                      <a:endParaRPr/>
                    </a:p>
                  </a:txBody>
                  <a:tcPr anchor="ctr">
                    <a:solidFill>
                      <a:srgbClr val="EDF5F1"/>
                    </a:solidFill>
                  </a:tcPr>
                </a:tc>
                <a:tc>
                  <a:txBody>
                    <a:bodyPr/>
                    <a:lstStyle/>
                    <a:p>
                      <a:endParaRPr/>
                    </a:p>
                  </a:txBody>
                  <a:tcPr anchor="ctr">
                    <a:solidFill>
                      <a:srgbClr val="EDF5F1"/>
                    </a:solidFill>
                  </a:tcPr>
                </a:tc>
                <a:tc>
                  <a:txBody>
                    <a:bodyPr/>
                    <a:lstStyle/>
                    <a:p>
                      <a:endParaRPr/>
                    </a:p>
                  </a:txBody>
                  <a:tcPr anchor="ctr">
                    <a:solidFill>
                      <a:srgbClr val="EDF5F1"/>
                    </a:solidFill>
                  </a:tcPr>
                </a:tc>
                <a:extLst>
                  <a:ext uri="{0D108BD9-81ED-4DB2-BD59-A6C34878D82A}">
                    <a16:rowId xmlns:a16="http://schemas.microsoft.com/office/drawing/2014/main" val="10001"/>
                  </a:ext>
                </a:extLst>
              </a:tr>
              <a:tr h="857250">
                <a:tc>
                  <a:txBody>
                    <a:bodyPr/>
                    <a:lstStyle/>
                    <a:p>
                      <a:pPr algn="l"/>
                      <a:r>
                        <a:rPr sz="2550" b="0">
                          <a:solidFill>
                            <a:srgbClr val="172A2A"/>
                          </a:solidFill>
                          <a:latin typeface="Arial"/>
                          <a:ea typeface="Arial"/>
                          <a:cs typeface="Arial"/>
                        </a:rPr>
                        <a:t>Lõi đơn, cache L1 và MMU</a:t>
                      </a:r>
                    </a:p>
                  </a:txBody>
                  <a:tcPr anchor="ctr">
                    <a:solidFill>
                      <a:srgbClr val="FFFFFF"/>
                    </a:solidFill>
                  </a:tcPr>
                </a:tc>
                <a:tc>
                  <a:txBody>
                    <a:bodyPr/>
                    <a:lstStyle/>
                    <a:p>
                      <a:pPr algn="ctr"/>
                      <a:r>
                        <a:rPr sz="2550" b="1">
                          <a:solidFill>
                            <a:srgbClr val="007A60"/>
                          </a:solidFill>
                          <a:latin typeface="Arial"/>
                          <a:ea typeface="Arial"/>
                          <a:cs typeface="Arial"/>
                        </a:rPr>
                        <a:t>x</a:t>
                      </a:r>
                    </a:p>
                  </a:txBody>
                  <a:tcPr anchor="ctr">
                    <a:solidFill>
                      <a:srgbClr val="D0E8DB"/>
                    </a:solidFill>
                  </a:tcPr>
                </a:tc>
                <a:tc>
                  <a:txBody>
                    <a:bodyPr/>
                    <a:lstStyle/>
                    <a:p>
                      <a:pPr algn="ctr"/>
                      <a:r>
                        <a:rPr sz="2550" b="1">
                          <a:solidFill>
                            <a:srgbClr val="007A60"/>
                          </a:solidFill>
                          <a:latin typeface="Arial"/>
                          <a:ea typeface="Arial"/>
                          <a:cs typeface="Arial"/>
                        </a:rPr>
                        <a:t>x</a:t>
                      </a:r>
                    </a:p>
                  </a:txBody>
                  <a:tcPr anchor="ctr">
                    <a:solidFill>
                      <a:srgbClr val="D0E8DB"/>
                    </a:solidFill>
                  </a:tcPr>
                </a:tc>
                <a:tc>
                  <a:txBody>
                    <a:bodyPr/>
                    <a:lstStyle/>
                    <a:p>
                      <a:endParaRP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2"/>
                  </a:ext>
                </a:extLst>
              </a:tr>
              <a:tr h="857250">
                <a:tc>
                  <a:txBody>
                    <a:bodyPr/>
                    <a:lstStyle/>
                    <a:p>
                      <a:pPr algn="l"/>
                      <a:r>
                        <a:rPr sz="2550" b="0">
                          <a:solidFill>
                            <a:srgbClr val="172A2A"/>
                          </a:solidFill>
                          <a:latin typeface="Arial"/>
                          <a:ea typeface="Arial"/>
                          <a:cs typeface="Arial"/>
                        </a:rPr>
                        <a:t>Hệ 4 lõi, bus, L2, MESI và DMA</a:t>
                      </a:r>
                    </a:p>
                  </a:txBody>
                  <a:tcPr anchor="ctr">
                    <a:solidFill>
                      <a:srgbClr val="EDF5F1"/>
                    </a:solidFill>
                  </a:tcPr>
                </a:tc>
                <a:tc>
                  <a:txBody>
                    <a:bodyPr/>
                    <a:lstStyle/>
                    <a:p>
                      <a:endParaRPr/>
                    </a:p>
                  </a:txBody>
                  <a:tcPr anchor="ctr">
                    <a:solidFill>
                      <a:srgbClr val="EDF5F1"/>
                    </a:solidFill>
                  </a:tcPr>
                </a:tc>
                <a:tc>
                  <a:txBody>
                    <a:bodyPr/>
                    <a:lstStyle/>
                    <a:p>
                      <a:pPr algn="ctr"/>
                      <a:r>
                        <a:rPr sz="2550" b="1">
                          <a:solidFill>
                            <a:srgbClr val="007A60"/>
                          </a:solidFill>
                          <a:latin typeface="Arial"/>
                          <a:ea typeface="Arial"/>
                          <a:cs typeface="Arial"/>
                        </a:rPr>
                        <a:t>x</a:t>
                      </a:r>
                    </a:p>
                  </a:txBody>
                  <a:tcPr anchor="ctr">
                    <a:solidFill>
                      <a:srgbClr val="D0E8DB"/>
                    </a:solidFill>
                  </a:tcPr>
                </a:tc>
                <a:tc>
                  <a:txBody>
                    <a:bodyPr/>
                    <a:lstStyle/>
                    <a:p>
                      <a:pPr algn="ctr"/>
                      <a:r>
                        <a:rPr sz="2550" b="1">
                          <a:solidFill>
                            <a:srgbClr val="007A60"/>
                          </a:solidFill>
                          <a:latin typeface="Arial"/>
                          <a:ea typeface="Arial"/>
                          <a:cs typeface="Arial"/>
                        </a:rPr>
                        <a:t>x</a:t>
                      </a:r>
                    </a:p>
                  </a:txBody>
                  <a:tcPr anchor="ctr">
                    <a:solidFill>
                      <a:srgbClr val="D0E8DB"/>
                    </a:solidFill>
                  </a:tcPr>
                </a:tc>
                <a:tc>
                  <a:txBody>
                    <a:bodyPr/>
                    <a:lstStyle/>
                    <a:p>
                      <a:endParaRPr/>
                    </a:p>
                  </a:txBody>
                  <a:tcPr anchor="ctr">
                    <a:solidFill>
                      <a:srgbClr val="EDF5F1"/>
                    </a:solidFill>
                  </a:tcPr>
                </a:tc>
                <a:extLst>
                  <a:ext uri="{0D108BD9-81ED-4DB2-BD59-A6C34878D82A}">
                    <a16:rowId xmlns:a16="http://schemas.microsoft.com/office/drawing/2014/main" val="10003"/>
                  </a:ext>
                </a:extLst>
              </a:tr>
              <a:tr h="857250">
                <a:tc>
                  <a:txBody>
                    <a:bodyPr/>
                    <a:lstStyle/>
                    <a:p>
                      <a:pPr algn="l"/>
                      <a:r>
                        <a:rPr sz="2550" b="0" dirty="0" err="1">
                          <a:solidFill>
                            <a:srgbClr val="172A2A"/>
                          </a:solidFill>
                          <a:latin typeface="Arial"/>
                          <a:ea typeface="Arial"/>
                          <a:cs typeface="Arial"/>
                        </a:rPr>
                        <a:t>Kiểm</a:t>
                      </a:r>
                      <a:r>
                        <a:rPr sz="2550" b="0" dirty="0">
                          <a:solidFill>
                            <a:srgbClr val="172A2A"/>
                          </a:solidFill>
                          <a:latin typeface="Arial"/>
                          <a:ea typeface="Arial"/>
                          <a:cs typeface="Arial"/>
                        </a:rPr>
                        <a:t> </a:t>
                      </a:r>
                      <a:r>
                        <a:rPr sz="2550" b="0" dirty="0" err="1">
                          <a:solidFill>
                            <a:srgbClr val="172A2A"/>
                          </a:solidFill>
                          <a:latin typeface="Arial"/>
                          <a:ea typeface="Arial"/>
                          <a:cs typeface="Arial"/>
                        </a:rPr>
                        <a:t>chứng</a:t>
                      </a:r>
                      <a:r>
                        <a:rPr lang="en-US" sz="2550" b="0" dirty="0">
                          <a:solidFill>
                            <a:srgbClr val="172A2A"/>
                          </a:solidFill>
                          <a:latin typeface="Arial"/>
                          <a:ea typeface="Arial"/>
                          <a:cs typeface="Arial"/>
                        </a:rPr>
                        <a:t> </a:t>
                      </a:r>
                      <a:r>
                        <a:rPr lang="en-US" sz="2550" b="0" dirty="0" err="1">
                          <a:solidFill>
                            <a:srgbClr val="172A2A"/>
                          </a:solidFill>
                          <a:latin typeface="Arial"/>
                          <a:ea typeface="Arial"/>
                          <a:cs typeface="Arial"/>
                        </a:rPr>
                        <a:t>và</a:t>
                      </a:r>
                      <a:r>
                        <a:rPr sz="2550" b="0" dirty="0">
                          <a:solidFill>
                            <a:srgbClr val="172A2A"/>
                          </a:solidFill>
                          <a:latin typeface="Arial"/>
                          <a:ea typeface="Arial"/>
                          <a:cs typeface="Arial"/>
                        </a:rPr>
                        <a:t> demo FPGA</a:t>
                      </a: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tc>
                  <a:txBody>
                    <a:bodyPr/>
                    <a:lstStyle/>
                    <a:p>
                      <a:pPr algn="ctr"/>
                      <a:r>
                        <a:rPr sz="2550" b="1">
                          <a:solidFill>
                            <a:srgbClr val="007A60"/>
                          </a:solidFill>
                          <a:latin typeface="Arial"/>
                          <a:ea typeface="Arial"/>
                          <a:cs typeface="Arial"/>
                        </a:rPr>
                        <a:t>x</a:t>
                      </a:r>
                    </a:p>
                  </a:txBody>
                  <a:tcPr anchor="ctr">
                    <a:solidFill>
                      <a:srgbClr val="D0E8DB"/>
                    </a:solidFill>
                  </a:tcPr>
                </a:tc>
                <a:tc>
                  <a:txBody>
                    <a:bodyPr/>
                    <a:lstStyle/>
                    <a:p>
                      <a:pPr algn="ctr"/>
                      <a:r>
                        <a:rPr sz="2550" b="1" dirty="0">
                          <a:solidFill>
                            <a:srgbClr val="007A60"/>
                          </a:solidFill>
                          <a:latin typeface="Arial"/>
                          <a:ea typeface="Arial"/>
                          <a:cs typeface="Arial"/>
                        </a:rPr>
                        <a:t>x</a:t>
                      </a:r>
                    </a:p>
                  </a:txBody>
                  <a:tcPr anchor="ctr">
                    <a:solidFill>
                      <a:srgbClr val="D0E8DB"/>
                    </a:solidFill>
                  </a:tcPr>
                </a:tc>
                <a:extLst>
                  <a:ext uri="{0D108BD9-81ED-4DB2-BD59-A6C34878D82A}">
                    <a16:rowId xmlns:a16="http://schemas.microsoft.com/office/drawing/2014/main" val="10004"/>
                  </a:ext>
                </a:extLst>
              </a:tr>
            </a:tbl>
          </a:graphicData>
        </a:graphic>
      </p:graphicFrame>
      <p:sp>
        <p:nvSpPr>
          <p:cNvPr id="233" name="Phân công">
            <a:extLst>
              <a:ext uri="{FF2B5EF4-FFF2-40B4-BE49-F238E27FC236}">
                <a16:creationId xmlns:a16="http://schemas.microsoft.com/office/drawing/2014/main" id="{6706677D-0030-4C37-A525-63A58C6AA5FA}"/>
              </a:ext>
            </a:extLst>
          </p:cNvPr>
          <p:cNvSpPr>
            <a:spLocks noGrp="1"/>
          </p:cNvSpPr>
          <p:nvPr/>
        </p:nvSpPr>
        <p:spPr>
          <a:xfrm>
            <a:off x="952500" y="8172450"/>
            <a:ext cx="15716250" cy="476250"/>
          </a:xfrm>
          <a:prstGeom prst="rect">
            <a:avLst/>
          </a:prstGeom>
          <a:noFill/>
          <a:ln w="0">
            <a:noFill/>
          </a:ln>
        </p:spPr>
        <p:txBody>
          <a:bodyPr wrap="square" lIns="0" tIns="0" rIns="0" bIns="0" anchor="t">
            <a:noAutofit/>
          </a:bodyPr>
          <a:lstStyle/>
          <a:p>
            <a:pPr algn="l">
              <a:defRPr sz="2700" b="1">
                <a:solidFill>
                  <a:srgbClr val="007A60"/>
                </a:solidFill>
                <a:latin typeface="Arial"/>
                <a:ea typeface="Arial"/>
                <a:cs typeface="Arial"/>
              </a:defRPr>
            </a:pPr>
            <a:r>
              <a:rPr sz="2700" b="1">
                <a:solidFill>
                  <a:srgbClr val="007A60"/>
                </a:solidFill>
                <a:latin typeface="Arial"/>
                <a:ea typeface="Arial"/>
                <a:cs typeface="Arial"/>
              </a:rPr>
              <a:t>Phân công</a:t>
            </a:r>
          </a:p>
        </p:txBody>
      </p:sp>
      <p:sp>
        <p:nvSpPr>
          <p:cNvPr id="234" name="Võ Lê Phước Lâm: lõi RV32IMA, L1, MMU/TLB, SD/SPI.">
            <a:extLst>
              <a:ext uri="{FF2B5EF4-FFF2-40B4-BE49-F238E27FC236}">
                <a16:creationId xmlns:a16="http://schemas.microsoft.com/office/drawing/2014/main" id="{94A8590A-BD7F-4F5B-846E-AAE61E082C4D}"/>
              </a:ext>
            </a:extLst>
          </p:cNvPr>
          <p:cNvSpPr>
            <a:spLocks noGrp="1"/>
          </p:cNvSpPr>
          <p:nvPr/>
        </p:nvSpPr>
        <p:spPr>
          <a:xfrm>
            <a:off x="952500" y="8734425"/>
            <a:ext cx="16383000" cy="419100"/>
          </a:xfrm>
          <a:prstGeom prst="rect">
            <a:avLst/>
          </a:prstGeom>
          <a:noFill/>
          <a:ln w="0">
            <a:noFill/>
          </a:ln>
        </p:spPr>
        <p:txBody>
          <a:bodyPr wrap="square" lIns="0" tIns="0" rIns="0" bIns="0" anchor="t">
            <a:noAutofit/>
          </a:bodyPr>
          <a:lstStyle/>
          <a:p>
            <a:pPr algn="l">
              <a:defRPr sz="2400" b="0">
                <a:solidFill>
                  <a:srgbClr val="172A2A"/>
                </a:solidFill>
                <a:latin typeface="Arial"/>
                <a:ea typeface="Arial"/>
                <a:cs typeface="Arial"/>
              </a:defRPr>
            </a:pPr>
            <a:r>
              <a:rPr sz="2400" b="0">
                <a:solidFill>
                  <a:srgbClr val="172A2A"/>
                </a:solidFill>
                <a:latin typeface="Arial"/>
                <a:ea typeface="Arial"/>
                <a:cs typeface="Arial"/>
              </a:rPr>
              <a:t>Võ Lê Phước Lâm: lõi RV32IMA, L1, MMU/TLB, SD/SPI.</a:t>
            </a:r>
          </a:p>
        </p:txBody>
      </p:sp>
      <p:sp>
        <p:nvSpPr>
          <p:cNvPr id="235" name="Vũ Thành Lam: bus AHB/AXI4, L2, MESI và DMA. Cả hai: kiểm thử, demo, b">
            <a:extLst>
              <a:ext uri="{FF2B5EF4-FFF2-40B4-BE49-F238E27FC236}">
                <a16:creationId xmlns:a16="http://schemas.microsoft.com/office/drawing/2014/main" id="{CCF9CF28-8181-4668-9498-19328A822CA5}"/>
              </a:ext>
            </a:extLst>
          </p:cNvPr>
          <p:cNvSpPr>
            <a:spLocks noGrp="1"/>
          </p:cNvSpPr>
          <p:nvPr/>
        </p:nvSpPr>
        <p:spPr>
          <a:xfrm>
            <a:off x="952500" y="9229725"/>
            <a:ext cx="16383000" cy="419100"/>
          </a:xfrm>
          <a:prstGeom prst="rect">
            <a:avLst/>
          </a:prstGeom>
          <a:noFill/>
          <a:ln w="0">
            <a:noFill/>
          </a:ln>
        </p:spPr>
        <p:txBody>
          <a:bodyPr wrap="square" lIns="0" tIns="0" rIns="0" bIns="0" anchor="t">
            <a:noAutofit/>
          </a:bodyPr>
          <a:lstStyle/>
          <a:p>
            <a:pPr algn="l">
              <a:defRPr sz="2400" b="0">
                <a:solidFill>
                  <a:srgbClr val="172A2A"/>
                </a:solidFill>
                <a:latin typeface="Arial"/>
                <a:ea typeface="Arial"/>
                <a:cs typeface="Arial"/>
              </a:defRPr>
            </a:pPr>
            <a:r>
              <a:rPr sz="2400" b="0">
                <a:solidFill>
                  <a:srgbClr val="172A2A"/>
                </a:solidFill>
                <a:latin typeface="Arial"/>
                <a:ea typeface="Arial"/>
                <a:cs typeface="Arial"/>
              </a:rPr>
              <a:t>Vũ Thành Lam: bus AHB/AXI4, L2, MESI và DMA. Cả hai: kiểm thử, demo, báo cáo.</a:t>
            </a:r>
          </a:p>
        </p:txBody>
      </p:sp>
    </p:spTree>
    <p:extLst>
      <p:ext uri="{BB962C8B-B14F-4D97-AF65-F5344CB8AC3E}">
        <p14:creationId xmlns:p14="http://schemas.microsoft.com/office/powerpoint/2010/main" val="277266506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2147</Words>
  <Application>Microsoft Office PowerPoint</Application>
  <DocSecurity>0</DocSecurity>
  <PresentationFormat>Custom</PresentationFormat>
  <Paragraphs>117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Lâm Võ Lê Phước</cp:lastModifiedBy>
  <cp:revision>2</cp:revision>
  <dcterms:created xsi:type="dcterms:W3CDTF">2026-09-15T13:31:05Z</dcterms:created>
  <dcterms:modified xsi:type="dcterms:W3CDTF">2026-09-15T15:06:58Z</dcterms:modified>
</cp:coreProperties>
</file>