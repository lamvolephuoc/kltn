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868" autoAdjust="0"/>
  </p:normalViewPr>
  <p:slideViewPr>
    <p:cSldViewPr snapToGrid="0">
      <p:cViewPr varScale="1">
        <p:scale>
          <a:sx n="72" d="100"/>
          <a:sy n="72"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em trình bày hôm nay là tiến độ thiết kế cache coherence MSI cho hệ thống RISC-V RV32IMA bốn lõi. Mục tiêu của khối này là bảo đảm bốn D-cache riêng không quan sát dữ liệu cũ khi nhiều lõi cùng truy cập một cache line. Ở thời điểm hiện tại, chức năng MSI blocking đã hoàn thiện ở mức RTL và toàn bộ regression hiện có đạt 26 trên 26 test PASS bằng QuestaSim. Phần chưa hoàn tất chủ yếu nằm ở xác minh Vivado, timing và chạy trên FPGA thật. Khi trình bày, em phân biệt rõ hoàn thiện chức năng RTL với hoàn thiện toàn hệ thống.</a:t>
            </a:r>
          </a:p>
          <a:p>
            <a:endParaRPr/>
          </a:p>
          <a:p>
            <a:r>
              <a:t>Nguồn kiểm tra:</a:t>
            </a:r>
          </a:p>
          <a:p>
            <a:r>
              <a:t>Risc_V_new/README.md:35</a:t>
            </a:r>
          </a:p>
          <a:p>
            <a:r>
              <a:t>Risc_V_new/Risc_V/reports/full-regression-latest/summary.md:3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mỗi lõi có D-cache riêng, một địa chỉ có thể tồn tại đồng thời trong nhiều cache. Nếu một lõi ghi mà các bản sao khác không bị vô hiệu, các lõi còn lại có thể đọc dữ liệu cũ. Ban đầu em xem xét MESI, nhưng kiến trúc hiện tại dùng directory tập trung và coherence manager tuần tự hóa giao dịch. Em chuyển sang MSI để bỏ trạng thái Exclusive và loại bỏ chuyển trạng thái E sang M âm thầm. Trong MSI, mọi lần ghi từ Shared lên Modified đều phát RFO, vì vậy coherence manager luôn nhìn thấy thay đổi quyền sở hữu và invalidate các sharer còn lại. Đổi lại, MSI có thể phát thêm RFO đối với dữ liệu chỉ một lõi sử dụng. Đây là đánh đổi hiệu năng để lấy FSM đơn giản và dễ kiểm chứng hơn trong phạm vi khóa luận.</a:t>
            </a:r>
          </a:p>
          <a:p>
            <a:endParaRPr/>
          </a:p>
          <a:p>
            <a:r>
              <a:t>Nguồn kiểm tra:</a:t>
            </a:r>
          </a:p>
          <a:p>
            <a:r>
              <a:t>Risc_V_new/Risc_V/rtl/cache/l1_dcache.v:123-125</a:t>
            </a:r>
          </a:p>
          <a:p>
            <a:r>
              <a:t>Risc_V_new/Risc_V/rtl/coherence/coherence_manager.v:39-43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Mỗi</a:t>
            </a:r>
            <a:r>
              <a:rPr dirty="0"/>
              <a:t> </a:t>
            </a:r>
            <a:r>
              <a:rPr dirty="0" err="1"/>
              <a:t>lõi</a:t>
            </a:r>
            <a:r>
              <a:rPr dirty="0"/>
              <a:t> </a:t>
            </a:r>
            <a:r>
              <a:rPr dirty="0" err="1"/>
              <a:t>có</a:t>
            </a:r>
            <a:r>
              <a:rPr dirty="0"/>
              <a:t> I-cache 32 KB </a:t>
            </a:r>
            <a:r>
              <a:rPr dirty="0" err="1"/>
              <a:t>và</a:t>
            </a:r>
            <a:r>
              <a:rPr dirty="0"/>
              <a:t> D-cache 32 KB </a:t>
            </a:r>
            <a:r>
              <a:rPr dirty="0" err="1"/>
              <a:t>riêng</a:t>
            </a:r>
            <a:r>
              <a:rPr dirty="0"/>
              <a:t>. </a:t>
            </a:r>
            <a:r>
              <a:rPr dirty="0" err="1"/>
              <a:t>Chỉ</a:t>
            </a:r>
            <a:r>
              <a:rPr dirty="0"/>
              <a:t> D-cache </a:t>
            </a:r>
            <a:r>
              <a:rPr dirty="0" err="1"/>
              <a:t>tham</a:t>
            </a:r>
            <a:r>
              <a:rPr dirty="0"/>
              <a:t> </a:t>
            </a:r>
            <a:r>
              <a:rPr dirty="0" err="1"/>
              <a:t>gia</a:t>
            </a:r>
            <a:r>
              <a:rPr dirty="0"/>
              <a:t> MSI. </a:t>
            </a:r>
            <a:r>
              <a:rPr dirty="0" err="1"/>
              <a:t>Bốn</a:t>
            </a:r>
            <a:r>
              <a:rPr dirty="0"/>
              <a:t> </a:t>
            </a:r>
            <a:r>
              <a:rPr dirty="0" err="1"/>
              <a:t>cặp</a:t>
            </a:r>
            <a:r>
              <a:rPr dirty="0"/>
              <a:t> </a:t>
            </a:r>
            <a:r>
              <a:rPr dirty="0" err="1"/>
              <a:t>cổng</a:t>
            </a:r>
            <a:r>
              <a:rPr dirty="0"/>
              <a:t> instruction </a:t>
            </a:r>
            <a:r>
              <a:rPr dirty="0" err="1"/>
              <a:t>và</a:t>
            </a:r>
            <a:r>
              <a:rPr dirty="0"/>
              <a:t> data </a:t>
            </a:r>
            <a:r>
              <a:rPr dirty="0" err="1"/>
              <a:t>tạo</a:t>
            </a:r>
            <a:r>
              <a:rPr dirty="0"/>
              <a:t> </a:t>
            </a:r>
            <a:r>
              <a:rPr dirty="0" err="1"/>
              <a:t>thành</a:t>
            </a:r>
            <a:r>
              <a:rPr dirty="0"/>
              <a:t> </a:t>
            </a:r>
            <a:r>
              <a:rPr dirty="0" err="1"/>
              <a:t>tám</a:t>
            </a:r>
            <a:r>
              <a:rPr dirty="0"/>
              <a:t> </a:t>
            </a:r>
            <a:r>
              <a:rPr dirty="0" err="1"/>
              <a:t>nguồn</a:t>
            </a:r>
            <a:r>
              <a:rPr dirty="0"/>
              <a:t> request </a:t>
            </a:r>
            <a:r>
              <a:rPr dirty="0" err="1"/>
              <a:t>đi</a:t>
            </a:r>
            <a:r>
              <a:rPr dirty="0"/>
              <a:t> </a:t>
            </a:r>
            <a:r>
              <a:rPr dirty="0" err="1"/>
              <a:t>vào</a:t>
            </a:r>
            <a:r>
              <a:rPr dirty="0"/>
              <a:t> </a:t>
            </a:r>
            <a:r>
              <a:rPr dirty="0" err="1"/>
              <a:t>bộ</a:t>
            </a:r>
            <a:r>
              <a:rPr dirty="0"/>
              <a:t> </a:t>
            </a:r>
            <a:r>
              <a:rPr dirty="0" err="1"/>
              <a:t>phân</a:t>
            </a:r>
            <a:r>
              <a:rPr dirty="0"/>
              <a:t> </a:t>
            </a:r>
            <a:r>
              <a:rPr dirty="0" err="1"/>
              <a:t>xử</a:t>
            </a:r>
            <a:r>
              <a:rPr dirty="0"/>
              <a:t> round-robin. Coherence manager </a:t>
            </a:r>
            <a:r>
              <a:rPr dirty="0" err="1"/>
              <a:t>quản</a:t>
            </a:r>
            <a:r>
              <a:rPr dirty="0"/>
              <a:t> </a:t>
            </a:r>
            <a:r>
              <a:rPr dirty="0" err="1"/>
              <a:t>lý</a:t>
            </a:r>
            <a:r>
              <a:rPr dirty="0"/>
              <a:t> directory sharer </a:t>
            </a:r>
            <a:r>
              <a:rPr dirty="0" err="1"/>
              <a:t>theo</a:t>
            </a:r>
            <a:r>
              <a:rPr dirty="0"/>
              <a:t> </a:t>
            </a:r>
            <a:r>
              <a:rPr dirty="0" err="1"/>
              <a:t>từng</a:t>
            </a:r>
            <a:r>
              <a:rPr dirty="0"/>
              <a:t> line, </a:t>
            </a:r>
            <a:r>
              <a:rPr dirty="0" err="1"/>
              <a:t>phát</a:t>
            </a:r>
            <a:r>
              <a:rPr dirty="0"/>
              <a:t> snoop invalidate </a:t>
            </a:r>
            <a:r>
              <a:rPr dirty="0" err="1"/>
              <a:t>hoặc</a:t>
            </a:r>
            <a:r>
              <a:rPr dirty="0"/>
              <a:t> downgrade </a:t>
            </a:r>
            <a:r>
              <a:rPr dirty="0" err="1"/>
              <a:t>và</a:t>
            </a:r>
            <a:r>
              <a:rPr dirty="0"/>
              <a:t> </a:t>
            </a:r>
            <a:r>
              <a:rPr dirty="0" err="1"/>
              <a:t>điều</a:t>
            </a:r>
            <a:r>
              <a:rPr dirty="0"/>
              <a:t> </a:t>
            </a:r>
            <a:r>
              <a:rPr dirty="0" err="1"/>
              <a:t>phối</a:t>
            </a:r>
            <a:r>
              <a:rPr dirty="0"/>
              <a:t> </a:t>
            </a:r>
            <a:r>
              <a:rPr dirty="0" err="1"/>
              <a:t>một</a:t>
            </a:r>
            <a:r>
              <a:rPr dirty="0"/>
              <a:t> </a:t>
            </a:r>
            <a:r>
              <a:rPr dirty="0" err="1"/>
              <a:t>giao</a:t>
            </a:r>
            <a:r>
              <a:rPr dirty="0"/>
              <a:t> </a:t>
            </a:r>
            <a:r>
              <a:rPr dirty="0" err="1"/>
              <a:t>dịch</a:t>
            </a:r>
            <a:r>
              <a:rPr dirty="0"/>
              <a:t> </a:t>
            </a:r>
            <a:r>
              <a:rPr dirty="0" err="1"/>
              <a:t>nguyên</a:t>
            </a:r>
            <a:r>
              <a:rPr dirty="0"/>
              <a:t> </a:t>
            </a:r>
            <a:r>
              <a:rPr dirty="0" err="1"/>
              <a:t>tử</a:t>
            </a:r>
            <a:r>
              <a:rPr dirty="0"/>
              <a:t> </a:t>
            </a:r>
            <a:r>
              <a:rPr dirty="0" err="1"/>
              <a:t>tại</a:t>
            </a:r>
            <a:r>
              <a:rPr dirty="0"/>
              <a:t> </a:t>
            </a:r>
            <a:r>
              <a:rPr dirty="0" err="1"/>
              <a:t>một</a:t>
            </a:r>
            <a:r>
              <a:rPr dirty="0"/>
              <a:t> </a:t>
            </a:r>
            <a:r>
              <a:rPr dirty="0" err="1"/>
              <a:t>thời</a:t>
            </a:r>
            <a:r>
              <a:rPr dirty="0"/>
              <a:t> </a:t>
            </a:r>
            <a:r>
              <a:rPr dirty="0" err="1"/>
              <a:t>điểm</a:t>
            </a:r>
            <a:r>
              <a:rPr dirty="0"/>
              <a:t>. </a:t>
            </a:r>
            <a:r>
              <a:rPr dirty="0" err="1"/>
              <a:t>Bên</a:t>
            </a:r>
            <a:r>
              <a:rPr dirty="0"/>
              <a:t> </a:t>
            </a:r>
            <a:r>
              <a:rPr dirty="0" err="1"/>
              <a:t>dưới</a:t>
            </a:r>
            <a:r>
              <a:rPr dirty="0"/>
              <a:t> </a:t>
            </a:r>
            <a:r>
              <a:rPr dirty="0" err="1"/>
              <a:t>là</a:t>
            </a:r>
            <a:r>
              <a:rPr dirty="0"/>
              <a:t> L2 </a:t>
            </a:r>
            <a:r>
              <a:rPr dirty="0" err="1"/>
              <a:t>dùng</a:t>
            </a:r>
            <a:r>
              <a:rPr dirty="0"/>
              <a:t> </a:t>
            </a:r>
            <a:r>
              <a:rPr dirty="0" err="1"/>
              <a:t>chung</a:t>
            </a:r>
            <a:r>
              <a:rPr dirty="0"/>
              <a:t> 512 KB, </a:t>
            </a:r>
            <a:r>
              <a:rPr dirty="0" err="1"/>
              <a:t>bốn</a:t>
            </a:r>
            <a:r>
              <a:rPr dirty="0"/>
              <a:t> way, cache line 32 byte </a:t>
            </a:r>
            <a:r>
              <a:rPr dirty="0" err="1"/>
              <a:t>và</a:t>
            </a:r>
            <a:r>
              <a:rPr dirty="0"/>
              <a:t> inclusive </a:t>
            </a:r>
            <a:r>
              <a:rPr dirty="0" err="1"/>
              <a:t>với</a:t>
            </a:r>
            <a:r>
              <a:rPr dirty="0"/>
              <a:t> D-cache. I-cache </a:t>
            </a:r>
            <a:r>
              <a:rPr dirty="0" err="1"/>
              <a:t>không</a:t>
            </a:r>
            <a:r>
              <a:rPr dirty="0"/>
              <a:t> </a:t>
            </a:r>
            <a:r>
              <a:rPr dirty="0" err="1"/>
              <a:t>tham</a:t>
            </a:r>
            <a:r>
              <a:rPr dirty="0"/>
              <a:t> </a:t>
            </a:r>
            <a:r>
              <a:rPr dirty="0" err="1"/>
              <a:t>gia</a:t>
            </a:r>
            <a:r>
              <a:rPr dirty="0"/>
              <a:t> snoop. </a:t>
            </a:r>
            <a:r>
              <a:rPr dirty="0" err="1"/>
              <a:t>Tính</a:t>
            </a:r>
            <a:r>
              <a:rPr dirty="0"/>
              <a:t> </a:t>
            </a:r>
            <a:r>
              <a:rPr dirty="0" err="1"/>
              <a:t>đúng</a:t>
            </a:r>
            <a:r>
              <a:rPr dirty="0"/>
              <a:t> </a:t>
            </a:r>
            <a:r>
              <a:rPr dirty="0" err="1"/>
              <a:t>đắn</a:t>
            </a:r>
            <a:r>
              <a:rPr dirty="0"/>
              <a:t> </a:t>
            </a:r>
            <a:r>
              <a:rPr dirty="0" err="1"/>
              <a:t>cho</a:t>
            </a:r>
            <a:r>
              <a:rPr dirty="0"/>
              <a:t> </a:t>
            </a:r>
            <a:r>
              <a:rPr dirty="0" err="1"/>
              <a:t>mã</a:t>
            </a:r>
            <a:r>
              <a:rPr dirty="0"/>
              <a:t> </a:t>
            </a:r>
            <a:r>
              <a:rPr dirty="0" err="1"/>
              <a:t>tự</a:t>
            </a:r>
            <a:r>
              <a:rPr dirty="0"/>
              <a:t> </a:t>
            </a:r>
            <a:r>
              <a:rPr dirty="0" err="1"/>
              <a:t>sửa</a:t>
            </a:r>
            <a:r>
              <a:rPr dirty="0"/>
              <a:t> </a:t>
            </a:r>
            <a:r>
              <a:rPr dirty="0" err="1"/>
              <a:t>được</a:t>
            </a:r>
            <a:r>
              <a:rPr dirty="0"/>
              <a:t> </a:t>
            </a:r>
            <a:r>
              <a:rPr dirty="0" err="1"/>
              <a:t>bảo</a:t>
            </a:r>
            <a:r>
              <a:rPr dirty="0"/>
              <a:t> </a:t>
            </a:r>
            <a:r>
              <a:rPr dirty="0" err="1"/>
              <a:t>đảm</a:t>
            </a:r>
            <a:r>
              <a:rPr dirty="0"/>
              <a:t> </a:t>
            </a:r>
            <a:r>
              <a:rPr dirty="0" err="1"/>
              <a:t>bằng</a:t>
            </a:r>
            <a:r>
              <a:rPr dirty="0"/>
              <a:t> FENCE.I: clean D-cache </a:t>
            </a:r>
            <a:r>
              <a:rPr dirty="0" err="1"/>
              <a:t>trước</a:t>
            </a:r>
            <a:r>
              <a:rPr dirty="0"/>
              <a:t> </a:t>
            </a:r>
            <a:r>
              <a:rPr dirty="0" err="1"/>
              <a:t>rồi</a:t>
            </a:r>
            <a:r>
              <a:rPr dirty="0"/>
              <a:t> </a:t>
            </a:r>
            <a:r>
              <a:rPr dirty="0" err="1"/>
              <a:t>mới</a:t>
            </a:r>
            <a:r>
              <a:rPr dirty="0"/>
              <a:t> invalidate I-cache.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Mỗi line có đúng ba trạng thái. Invalid nghĩa là line không sử dụng được. Shared nghĩa là line sạch và có thể tồn tại ở nhiều lõi. Modified nghĩa là lõi này giữ bản mới nhất và có thể chưa ghi xuống memory. Từ Invalid, read miss phát BusRd và fill vào Shared. Write miss phát RFO và fill vào Modified. Khi line đang Shared và CPU ghi, cache phải phát RFO để invalidate các sharer rồi mới lên Modified. Khi lõi khác đọc line đang Modified, owner forward dữ liệu bẩn và hạ M xuống S. Khi lõi khác xin ghi, owner cung cấp dữ liệu nếu cần rồi line bị invalidate. Eviction hoặc cache flush của line Modified writeback toàn bộ 32 byte trước khi về Invalid.</a:t>
            </a:r>
          </a:p>
          <a:p>
            <a:endParaRPr/>
          </a:p>
          <a:p>
            <a:r>
              <a:t>Nguồn kiểm tra:</a:t>
            </a:r>
          </a:p>
          <a:p>
            <a:r>
              <a:t>Risc_V_new/Risc_V/rtl/cache/l1_dcache.v:123-125</a:t>
            </a:r>
          </a:p>
          <a:p>
            <a:r>
              <a:t>Risc_V_new/Risc_V/rtl/cache/l1_dcache.v:475</a:t>
            </a:r>
          </a:p>
          <a:p>
            <a:r>
              <a:t>Risc_V_new/Risc_V/rtl/cache/l1_dcache.v:531-539</a:t>
            </a:r>
          </a:p>
          <a:p>
            <a:r>
              <a:t>Risc_V_new/Risc_V/rtl/cache/l1_dcache.v:642-667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Ví dụ core 0 đã ghi line A và đang giữ Modified. Core 1 phát read miss. Coherence manager lookup directory, thấy core 0 là sharer duy nhất và gửi snoop downgrade. Core 0 trả về line cùng cờ dirty, đồng thời hạ M xuống S. Manager cập nhật dữ liệu mới nhất vào L2 và thêm core 1 vào sharer bitmap. Sau response, cả hai core đều ở Shared. Điểm quan trọng là manager không đọc lại dữ liệu cũ từ DRAM. Testbench dùng counter để xác nhận số lần đọc DRAM không tăng trong trường hợp này.</a:t>
            </a:r>
          </a:p>
          <a:p>
            <a:endParaRPr/>
          </a:p>
          <a:p>
            <a:r>
              <a:t>Nguồn kiểm tra:</a:t>
            </a:r>
          </a:p>
          <a:p>
            <a:r>
              <a:t>Risc_V_new/Risc_V/rtl/coherence/coherence_manager.v:595-604</a:t>
            </a:r>
          </a:p>
          <a:p>
            <a:r>
              <a:t>Risc_V_new/Risc_V/rtl/coherence/coherence_manager.v:674-706</a:t>
            </a:r>
          </a:p>
          <a:p>
            <a:r>
              <a:t>Risc_V_new/Risc_V/sim/tb_coherence.v:403-407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một core muốn ghi nhưng line chưa ở Modified, nó phát RFO. Coherence manager dùng directory để tạo danh sách các sharer khác và gửi invalidate lần lượt. Nếu một sharer giữ bản Modified, snoop response mang theo dirty line để manager không làm mất dữ liệu mới nhất. Khi mọi invalidate hoàn tất, directory chỉ giữ bit của requester, L2 được cập nhật và requester nhận quyền M. Từ thời điểm đó, các lần ghi tiếp theo là hit cục bộ cho đến khi có snoop hoặc eviction. Cơ chế này cũng xử lý false sharing: hai core ghi hai word khác nhau trong cùng line vẫn phải chuyển ownership, nhưng toàn bộ line mới nhất luôn được chuyển giao.</a:t>
            </a:r>
          </a:p>
          <a:p>
            <a:endParaRPr/>
          </a:p>
          <a:p>
            <a:r>
              <a:t>Nguồn kiểm tra:</a:t>
            </a:r>
          </a:p>
          <a:p>
            <a:r>
              <a:t>Risc_V_new/Risc_V/rtl/coherence/coherence_manager.v:600-604</a:t>
            </a:r>
          </a:p>
          <a:p>
            <a:r>
              <a:t>Risc_V_new/Risc_V/rtl/coherence/coherence_manager.v:840-849</a:t>
            </a:r>
          </a:p>
          <a:p>
            <a:r>
              <a:t>Risc_V_new/Risc_V/sim/tb_coherence.v:425-430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Coherence manager là blocking và chỉ có một giao dịch toàn hệ thống tại một thời điểm. Từ IDLE, round-robin chọn một trong tám nguồn. Manager lookup L2 rồi rẽ nhánh tùy hit, miss, RFO hoặc writeback. Nếu line có sharer, manager phát snoop và chờ từng acknowledge. Nếu miss cần thay victim, manager snoop sharer của victim và writeback dirty data trước khi fetch line mới. Cuối cùng manager cập nhật L2 cùng directory, trả response và chờ requester hạ valid. Đường lỗi có trạng thái restore riêng: nếu external writeback lỗi sau khi các bản sao L1 bị invalidate, manager ghi trả victim authoritative vào L2 dirty thay vì làm mất dữ liệu.</a:t>
            </a:r>
          </a:p>
          <a:p>
            <a:endParaRPr/>
          </a:p>
          <a:p>
            <a:r>
              <a:t>Nguồn kiểm tra:</a:t>
            </a:r>
          </a:p>
          <a:p>
            <a:r>
              <a:t>Risc_V_new/Risc_V/rtl/coherence/coherence_manager.v:243-258</a:t>
            </a:r>
          </a:p>
          <a:p>
            <a:r>
              <a:t>Risc_V_new/Risc_V/rtl/coherence/coherence_manager.v:648-706</a:t>
            </a:r>
          </a:p>
          <a:p>
            <a:r>
              <a:t>Risc_V_new/Risc_V/rtl/coherence/coherence_manager.v:852-857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chức năng đã đóng gồm FSM I/S/M, directory sharer inclusive, owner forwarding, dirty eviction và full-line writeback. Arbiter round-robin phục vụ tám nguồn. AMO dùng RFO trước read-modify-write. LR/SC theo dõi reservation theo địa chỉ vật lý và snoop invalidate sẽ hủy reservation. FENCE.I clean D-cache rồi invalidate I-cache. Vùng MMIO đi đường uncached. RFO qua AHB được giữ bằng HMASTLOCK. Hệ thống có error sideband, watchdog, cache-maintenance handshake và thanh ghi AXI-Lite để PS flush trước và sau DMA.</a:t>
            </a:r>
          </a:p>
          <a:p>
            <a:endParaRPr/>
          </a:p>
          <a:p>
            <a:r>
              <a:t>Nguồn kiểm tra:</a:t>
            </a:r>
          </a:p>
          <a:p>
            <a:r>
              <a:t>Risc_V_new/README.md:121-150</a:t>
            </a:r>
          </a:p>
          <a:p>
            <a:r>
              <a:t>Risc_V_new/Risc_V/rtl/cache/core_l1_wrapper.v:143-195</a:t>
            </a:r>
          </a:p>
          <a:p>
            <a:r>
              <a:t>Risc_V_new/Risc_V/rtl/boot/boot_ctrl.v:139-150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Regression hiện tại có 26 testbench tự kiểm và tất cả đều PASS bằng QuestaSim. Riêng cache/coherence kiểm tra read miss, S lên M, owner forwarding, nhiều sharer, false sharing, eviction L1/L2, AMO, LR/SC, FENCE.I, AHB, uncached và các đường lỗi. Test MSI còn chạy chuỗi pseudo-random tái lập gồm 160 giao dịch đọc, ghi và chuyển ownership trên bốn lõi, xen kẽ flush. Sau chuỗi này, test đọc lại 64 word từ các core khác nhau và so sánh với scoreboard độc lập. Kết quả chứng minh tính đúng đắn trong phạm vi RTL simulation đã kiểm tra, nhưng chưa thay thế formal, synthesis hoặc FPGA.</a:t>
            </a:r>
          </a:p>
          <a:p>
            <a:endParaRPr/>
          </a:p>
          <a:p>
            <a:r>
              <a:t>Nguồn kiểm tra:</a:t>
            </a:r>
          </a:p>
          <a:p>
            <a:r>
              <a:t>Risc_V_new/Risc_V/reports/full-regression-latest/summary.md:3</a:t>
            </a:r>
          </a:p>
          <a:p>
            <a:r>
              <a:t>Risc_V_new/Risc_V/sim/tb_coherence.v:550-609</a:t>
            </a:r>
          </a:p>
          <a:p>
            <a:r>
              <a:t>Risc_V_new/README.md:187-222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hạn lớn nhất hiện nay là coherence manager blocking nên throughput giảm khi contention cao. DMA chưa phải MSI master theo từng line; hệ thống dùng protocol coarse-grain: quiesce buffer, cache maintenance, DMA, rồi maintenance lần nữa. I-cache không snoop và phụ thuộc FENCE.I. Công việc tiếp theo theo thứ tự ưu tiên là chạy XSIM, synthesis và implementation để lấy LUT, FF, BRAM, timing và power. Khi có board, cần chứng minh luồng SD–DRAM–CPU–SD và fault injection. Formal properties và non-blocking MSI là phần mở rộng sau khi bản blocking đã được khóa trên phần cứng.</a:t>
            </a:r>
          </a:p>
          <a:p>
            <a:endParaRPr/>
          </a:p>
          <a:p>
            <a:r>
              <a:t>Nguồn kiểm tra:</a:t>
            </a:r>
          </a:p>
          <a:p>
            <a:r>
              <a:t>Risc_V_new/README.md:244-286</a:t>
            </a:r>
          </a:p>
          <a:p>
            <a:r>
              <a:t>Risc_V_new/Risc_V/docs/BOOT_DMA_PROTOCOL.md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chốt lại ba ý. Thứ nhất, MSI blocking đã hoàn thiện về chức năng ở mức RTL và regression đạt 26 trên 26 PASS. Thứ hai, chuyển từ MESI sang MSI là quyết định có chủ đích để mọi thay đổi ownership đều hiện ra dưới dạng RFO, giúp directory và kiểm chứng rõ ràng hơn. Thứ ba, phần còn lại tập trung vào bằng chứng phần cứng và hiệu năng. Câu hỏi 1: read fill luôn S vì MSI không có E, lần ghi sau phải phát RFO. Câu hỏi 2: dirty owner trả cả cờ dirty và toàn bộ line, manager cập nhật L2 trước khi grant hoặc thay victim. Câu hỏi 3: round-robin chọn một request và giao dịch được tuần tự hóa. Câu hỏi 4: 26/26 chỉ chứng minh phạm vi RTL simulation hiện tại, chưa thay thế FPGA. Câu hỏi 5: non-blocking cần transaction ID, MSHR và xử lý race; bản blocking ưu tiên correctness cho khóa luận.</a:t>
            </a:r>
          </a:p>
          <a:p>
            <a:endParaRPr/>
          </a:p>
          <a:p>
            <a:r>
              <a:t>Nguồn kiểm tra:</a:t>
            </a:r>
          </a:p>
          <a:p>
            <a:r>
              <a:t>Risc_V_new/Risc_V/reports/full-regression-latest/summary.md</a:t>
            </a:r>
          </a:p>
          <a:p>
            <a:r>
              <a:t>Risc_V_new/Risc_V/docs/presentation/MSI_PROGRESS_SCRIPT.md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A5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CEA1675-4AE3-4F25-9792-D30CA4FD93A5}"/>
              </a:ext>
            </a:extLst>
          </p:cNvPr>
          <p:cNvSpPr>
            <a:spLocks noGrp="1"/>
          </p:cNvSpPr>
          <p:nvPr/>
        </p:nvSpPr>
        <p:spPr>
          <a:xfrm>
            <a:off x="0" y="0"/>
            <a:ext cx="1905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9AE5F124-3335-4A27-94B0-2CBF465A4121}"/>
              </a:ext>
            </a:extLst>
          </p:cNvPr>
          <p:cNvSpPr>
            <a:spLocks noGrp="1"/>
          </p:cNvSpPr>
          <p:nvPr/>
        </p:nvSpPr>
        <p:spPr>
          <a:xfrm>
            <a:off x="742950" y="876300"/>
            <a:ext cx="4762500" cy="361950"/>
          </a:xfrm>
          <a:prstGeom prst="rect">
            <a:avLst/>
          </a:prstGeom>
          <a:noFill/>
          <a:ln w="0">
            <a:noFill/>
          </a:ln>
        </p:spPr>
        <p:txBody>
          <a:bodyPr anchor="ctr">
            <a:noAutofit/>
          </a:bodyPr>
          <a:lstStyle/>
          <a:p>
            <a:pPr algn="l">
              <a:defRPr sz="1500" b="1">
                <a:solidFill>
                  <a:srgbClr val="F6C945"/>
                </a:solidFill>
                <a:latin typeface="Arial"/>
                <a:ea typeface="Arial"/>
                <a:cs typeface="Arial"/>
              </a:defRPr>
            </a:pPr>
            <a:r>
              <a:rPr sz="1500" b="1">
                <a:solidFill>
                  <a:srgbClr val="F6C945"/>
                </a:solidFill>
                <a:latin typeface="Arial"/>
                <a:ea typeface="Arial"/>
                <a:cs typeface="Arial"/>
              </a:rPr>
              <a:t>TIẾN ĐỘ THIẾT KẾ</a:t>
            </a:r>
          </a:p>
        </p:txBody>
      </p:sp>
      <p:sp>
        <p:nvSpPr>
          <p:cNvPr id="3" name="Rectangle 2">
            <a:extLst>
              <a:ext uri="{FF2B5EF4-FFF2-40B4-BE49-F238E27FC236}">
                <a16:creationId xmlns:a16="http://schemas.microsoft.com/office/drawing/2014/main" id="{2F07CDD7-D423-4EDD-9725-5B4453C54CF1}"/>
              </a:ext>
            </a:extLst>
          </p:cNvPr>
          <p:cNvSpPr>
            <a:spLocks noGrp="1"/>
          </p:cNvSpPr>
          <p:nvPr/>
        </p:nvSpPr>
        <p:spPr>
          <a:xfrm>
            <a:off x="742950" y="1352550"/>
            <a:ext cx="7953375" cy="1666875"/>
          </a:xfrm>
          <a:prstGeom prst="rect">
            <a:avLst/>
          </a:prstGeom>
          <a:noFill/>
          <a:ln w="0">
            <a:noFill/>
          </a:ln>
        </p:spPr>
        <p:txBody>
          <a:bodyPr anchor="t">
            <a:noAutofit/>
          </a:bodyPr>
          <a:lstStyle/>
          <a:p>
            <a:pPr algn="l">
              <a:defRPr sz="4350" b="1">
                <a:solidFill>
                  <a:srgbClr val="FFFFFF"/>
                </a:solidFill>
                <a:latin typeface="Arial"/>
                <a:ea typeface="Arial"/>
                <a:cs typeface="Arial"/>
              </a:defRPr>
            </a:pPr>
            <a:r>
              <a:rPr sz="4350" b="1">
                <a:solidFill>
                  <a:srgbClr val="FFFFFF"/>
                </a:solidFill>
                <a:latin typeface="Arial"/>
                <a:ea typeface="Arial"/>
                <a:cs typeface="Arial"/>
              </a:rPr>
              <a:t>Cache coherence MSI</a:t>
            </a:r>
          </a:p>
          <a:p>
            <a:pPr algn="l">
              <a:defRPr sz="4350" b="1">
                <a:solidFill>
                  <a:srgbClr val="FFFFFF"/>
                </a:solidFill>
                <a:latin typeface="Arial"/>
                <a:ea typeface="Arial"/>
                <a:cs typeface="Arial"/>
              </a:defRPr>
            </a:pPr>
            <a:r>
              <a:rPr sz="4350" b="1">
                <a:solidFill>
                  <a:srgbClr val="FFFFFF"/>
                </a:solidFill>
                <a:latin typeface="Arial"/>
                <a:ea typeface="Arial"/>
                <a:cs typeface="Arial"/>
              </a:rPr>
              <a:t>cho SoC RISC-V 4 lõi</a:t>
            </a:r>
          </a:p>
        </p:txBody>
      </p:sp>
      <p:sp>
        <p:nvSpPr>
          <p:cNvPr id="4" name="Rectangle 3">
            <a:extLst>
              <a:ext uri="{FF2B5EF4-FFF2-40B4-BE49-F238E27FC236}">
                <a16:creationId xmlns:a16="http://schemas.microsoft.com/office/drawing/2014/main" id="{7D370629-547A-4DBE-9153-8AABFCD4D855}"/>
              </a:ext>
            </a:extLst>
          </p:cNvPr>
          <p:cNvSpPr>
            <a:spLocks noGrp="1"/>
          </p:cNvSpPr>
          <p:nvPr/>
        </p:nvSpPr>
        <p:spPr>
          <a:xfrm>
            <a:off x="781050" y="3219450"/>
            <a:ext cx="7620000" cy="400050"/>
          </a:xfrm>
          <a:prstGeom prst="rect">
            <a:avLst/>
          </a:prstGeom>
          <a:noFill/>
          <a:ln w="0">
            <a:noFill/>
          </a:ln>
        </p:spPr>
        <p:txBody>
          <a:bodyPr anchor="ctr">
            <a:noAutofit/>
          </a:bodyPr>
          <a:lstStyle/>
          <a:p>
            <a:pPr algn="l">
              <a:defRPr sz="1800" b="0">
                <a:solidFill>
                  <a:srgbClr val="C9DBE8"/>
                </a:solidFill>
                <a:latin typeface="Arial"/>
                <a:ea typeface="Arial"/>
                <a:cs typeface="Arial"/>
              </a:defRPr>
            </a:pPr>
            <a:r>
              <a:rPr sz="1800" b="0">
                <a:solidFill>
                  <a:srgbClr val="C9DBE8"/>
                </a:solidFill>
                <a:latin typeface="Arial"/>
                <a:ea typeface="Arial"/>
                <a:cs typeface="Arial"/>
              </a:rPr>
              <a:t>RV32IMA • L1 riêng • L2 dùng chung • AHB/AXI</a:t>
            </a:r>
          </a:p>
        </p:txBody>
      </p:sp>
      <p:sp>
        <p:nvSpPr>
          <p:cNvPr id="5" name="Rectangle 4">
            <a:extLst>
              <a:ext uri="{FF2B5EF4-FFF2-40B4-BE49-F238E27FC236}">
                <a16:creationId xmlns:a16="http://schemas.microsoft.com/office/drawing/2014/main" id="{B13880E6-B35D-40BF-BE4B-A478BDF58FCB}"/>
              </a:ext>
            </a:extLst>
          </p:cNvPr>
          <p:cNvSpPr>
            <a:spLocks noGrp="1"/>
          </p:cNvSpPr>
          <p:nvPr/>
        </p:nvSpPr>
        <p:spPr>
          <a:xfrm>
            <a:off x="8620125" y="1428750"/>
            <a:ext cx="2381250" cy="1047750"/>
          </a:xfrm>
          <a:prstGeom prst="rect">
            <a:avLst/>
          </a:prstGeom>
          <a:noFill/>
          <a:ln w="0">
            <a:noFill/>
          </a:ln>
        </p:spPr>
        <p:txBody>
          <a:bodyPr anchor="ctr">
            <a:noAutofit/>
          </a:bodyPr>
          <a:lstStyle/>
          <a:p>
            <a:pPr algn="ctr">
              <a:defRPr sz="5250" b="1">
                <a:solidFill>
                  <a:srgbClr val="F6C945"/>
                </a:solidFill>
                <a:latin typeface="Arial"/>
                <a:ea typeface="Arial"/>
                <a:cs typeface="Arial"/>
              </a:defRPr>
            </a:pPr>
            <a:r>
              <a:rPr sz="5250" b="1">
                <a:solidFill>
                  <a:srgbClr val="F6C945"/>
                </a:solidFill>
                <a:latin typeface="Arial"/>
                <a:ea typeface="Arial"/>
                <a:cs typeface="Arial"/>
              </a:rPr>
              <a:t>26/26</a:t>
            </a:r>
          </a:p>
        </p:txBody>
      </p:sp>
      <p:sp>
        <p:nvSpPr>
          <p:cNvPr id="6" name="Rectangle 5">
            <a:extLst>
              <a:ext uri="{FF2B5EF4-FFF2-40B4-BE49-F238E27FC236}">
                <a16:creationId xmlns:a16="http://schemas.microsoft.com/office/drawing/2014/main" id="{D7DB70B5-7E7B-4B24-A3DE-F07731A96D2F}"/>
              </a:ext>
            </a:extLst>
          </p:cNvPr>
          <p:cNvSpPr>
            <a:spLocks noGrp="1"/>
          </p:cNvSpPr>
          <p:nvPr/>
        </p:nvSpPr>
        <p:spPr>
          <a:xfrm>
            <a:off x="8763000" y="2400300"/>
            <a:ext cx="2095500" cy="781050"/>
          </a:xfrm>
          <a:prstGeom prst="rect">
            <a:avLst/>
          </a:prstGeom>
          <a:noFill/>
          <a:ln w="0">
            <a:noFill/>
          </a:ln>
        </p:spPr>
        <p:txBody>
          <a:bodyPr anchor="ctr">
            <a:noAutofit/>
          </a:bodyPr>
          <a:lstStyle/>
          <a:p>
            <a:pPr algn="ctr">
              <a:defRPr sz="1650" b="1">
                <a:solidFill>
                  <a:srgbClr val="FFFFFF"/>
                </a:solidFill>
                <a:latin typeface="Arial"/>
                <a:ea typeface="Arial"/>
                <a:cs typeface="Arial"/>
              </a:defRPr>
            </a:pPr>
            <a:r>
              <a:rPr sz="1650" b="1" dirty="0">
                <a:solidFill>
                  <a:srgbClr val="FFFFFF"/>
                </a:solidFill>
                <a:latin typeface="Arial"/>
                <a:ea typeface="Arial"/>
                <a:cs typeface="Arial"/>
              </a:rPr>
              <a:t>testbench PASS</a:t>
            </a:r>
          </a:p>
          <a:p>
            <a:pPr algn="ctr">
              <a:defRPr sz="1650" b="1">
                <a:solidFill>
                  <a:srgbClr val="FFFFFF"/>
                </a:solidFill>
                <a:latin typeface="Arial"/>
                <a:ea typeface="Arial"/>
                <a:cs typeface="Arial"/>
              </a:defRPr>
            </a:pPr>
            <a:r>
              <a:rPr lang="en-US" sz="1650" b="1" dirty="0" err="1">
                <a:solidFill>
                  <a:srgbClr val="FFFFFF"/>
                </a:solidFill>
                <a:latin typeface="Arial"/>
                <a:ea typeface="Arial"/>
                <a:cs typeface="Arial"/>
              </a:rPr>
              <a:t>Vivado</a:t>
            </a:r>
            <a:r>
              <a:rPr sz="1650" b="1" dirty="0">
                <a:solidFill>
                  <a:srgbClr val="FFFFFF"/>
                </a:solidFill>
                <a:latin typeface="Arial"/>
                <a:ea typeface="Arial"/>
                <a:cs typeface="Arial"/>
              </a:rPr>
              <a:t> RTL</a:t>
            </a:r>
          </a:p>
        </p:txBody>
      </p:sp>
      <p:sp>
        <p:nvSpPr>
          <p:cNvPr id="7" name="Straight Connector 6">
            <a:extLst>
              <a:ext uri="{FF2B5EF4-FFF2-40B4-BE49-F238E27FC236}">
                <a16:creationId xmlns:a16="http://schemas.microsoft.com/office/drawing/2014/main" id="{90A2DDBF-E43A-4762-AC1D-F7BB2E892FAF}"/>
              </a:ext>
            </a:extLst>
          </p:cNvPr>
          <p:cNvSpPr>
            <a:spLocks noGrp="1"/>
          </p:cNvSpPr>
          <p:nvPr/>
        </p:nvSpPr>
        <p:spPr>
          <a:xfrm>
            <a:off x="781050" y="4114800"/>
            <a:ext cx="10077450" cy="0"/>
          </a:xfrm>
          <a:prstGeom prst="line">
            <a:avLst/>
          </a:prstGeom>
          <a:noFill/>
          <a:ln w="9525">
            <a:solidFill>
              <a:srgbClr val="6D8CA4"/>
            </a:solidFill>
          </a:ln>
        </p:spPr>
      </p:sp>
    </p:spTree>
    <p:extLst>
      <p:ext uri="{BB962C8B-B14F-4D97-AF65-F5344CB8AC3E}">
        <p14:creationId xmlns:p14="http://schemas.microsoft.com/office/powerpoint/2010/main" val="53109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A398637-AE53-47DB-B9B2-C0F06F0871C5}"/>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DE0C219A-8D75-43EC-A5B7-846F1FF88261}"/>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Lý do chọn MSI thay cho MESI</a:t>
            </a:r>
          </a:p>
        </p:txBody>
      </p:sp>
      <p:sp>
        <p:nvSpPr>
          <p:cNvPr id="3" name="Rectangle 2">
            <a:extLst>
              <a:ext uri="{FF2B5EF4-FFF2-40B4-BE49-F238E27FC236}">
                <a16:creationId xmlns:a16="http://schemas.microsoft.com/office/drawing/2014/main" id="{D1BD936B-75E8-4A4E-BBA5-473CD7E5896C}"/>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02</a:t>
            </a:r>
          </a:p>
        </p:txBody>
      </p:sp>
      <p:sp>
        <p:nvSpPr>
          <p:cNvPr id="4" name="Straight Connector 3">
            <a:extLst>
              <a:ext uri="{FF2B5EF4-FFF2-40B4-BE49-F238E27FC236}">
                <a16:creationId xmlns:a16="http://schemas.microsoft.com/office/drawing/2014/main" id="{A1AAD4FA-2405-43F7-BBFA-386CC50AEE3B}"/>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EE9A496F-B155-4A34-937A-E5D963C7DC5C}"/>
              </a:ext>
            </a:extLst>
          </p:cNvPr>
          <p:cNvSpPr>
            <a:spLocks noGrp="1"/>
          </p:cNvSpPr>
          <p:nvPr/>
        </p:nvSpPr>
        <p:spPr>
          <a:xfrm>
            <a:off x="666750" y="1219200"/>
            <a:ext cx="3238500" cy="400050"/>
          </a:xfrm>
          <a:prstGeom prst="rect">
            <a:avLst/>
          </a:prstGeom>
          <a:noFill/>
          <a:ln w="0">
            <a:noFill/>
          </a:ln>
        </p:spPr>
        <p:txBody>
          <a:bodyPr anchor="ctr">
            <a:noAutofit/>
          </a:bodyPr>
          <a:lstStyle/>
          <a:p>
            <a:pPr algn="l">
              <a:defRPr sz="1950" b="1">
                <a:solidFill>
                  <a:srgbClr val="ED553B"/>
                </a:solidFill>
                <a:latin typeface="Arial"/>
                <a:ea typeface="Arial"/>
                <a:cs typeface="Arial"/>
              </a:defRPr>
            </a:pPr>
            <a:r>
              <a:rPr sz="1950" b="1">
                <a:solidFill>
                  <a:srgbClr val="ED553B"/>
                </a:solidFill>
                <a:latin typeface="Arial"/>
                <a:ea typeface="Arial"/>
                <a:cs typeface="Arial"/>
              </a:rPr>
              <a:t>Vấn đề cần giải quyết</a:t>
            </a:r>
          </a:p>
        </p:txBody>
      </p:sp>
      <p:sp>
        <p:nvSpPr>
          <p:cNvPr id="6" name="Rectangle 5">
            <a:extLst>
              <a:ext uri="{FF2B5EF4-FFF2-40B4-BE49-F238E27FC236}">
                <a16:creationId xmlns:a16="http://schemas.microsoft.com/office/drawing/2014/main" id="{534C42E2-4609-406B-837A-8781F1DB87FD}"/>
              </a:ext>
            </a:extLst>
          </p:cNvPr>
          <p:cNvSpPr>
            <a:spLocks noGrp="1"/>
          </p:cNvSpPr>
          <p:nvPr/>
        </p:nvSpPr>
        <p:spPr>
          <a:xfrm>
            <a:off x="666750" y="1676400"/>
            <a:ext cx="4095750" cy="1190625"/>
          </a:xfrm>
          <a:prstGeom prst="rect">
            <a:avLst/>
          </a:prstGeom>
          <a:noFill/>
          <a:ln w="0">
            <a:noFill/>
          </a:ln>
        </p:spPr>
        <p:txBody>
          <a:bodyPr anchor="t">
            <a:noAutofit/>
          </a:bodyPr>
          <a:lstStyle/>
          <a:p>
            <a:pPr algn="l">
              <a:defRPr sz="1725" b="0">
                <a:solidFill>
                  <a:srgbClr val="102A43"/>
                </a:solidFill>
                <a:latin typeface="Arial"/>
                <a:ea typeface="Arial"/>
                <a:cs typeface="Arial"/>
              </a:defRPr>
            </a:pPr>
            <a:r>
              <a:rPr sz="1725" b="0">
                <a:solidFill>
                  <a:srgbClr val="102A43"/>
                </a:solidFill>
                <a:latin typeface="Arial"/>
                <a:ea typeface="Arial"/>
                <a:cs typeface="Arial"/>
              </a:rPr>
              <a:t>Nhiều D-cache có thể giữ cùng một line. Nếu một lõi ghi mà các bản sao khác không bị vô hiệu, hệ thống trả dữ liệu cũ.</a:t>
            </a:r>
          </a:p>
        </p:txBody>
      </p:sp>
      <p:sp>
        <p:nvSpPr>
          <p:cNvPr id="7" name="Rectangle: Rounded Corners 6">
            <a:extLst>
              <a:ext uri="{FF2B5EF4-FFF2-40B4-BE49-F238E27FC236}">
                <a16:creationId xmlns:a16="http://schemas.microsoft.com/office/drawing/2014/main" id="{BE2CD3C8-FB24-4EB1-8D35-31337923F8AD}"/>
              </a:ext>
            </a:extLst>
          </p:cNvPr>
          <p:cNvSpPr>
            <a:spLocks noGrp="1"/>
          </p:cNvSpPr>
          <p:nvPr/>
        </p:nvSpPr>
        <p:spPr>
          <a:xfrm>
            <a:off x="5810250" y="1276350"/>
            <a:ext cx="2000250" cy="619125"/>
          </a:xfrm>
          <a:prstGeom prst="roundRect">
            <a:avLst>
              <a:gd name="adj" fmla="val 12308"/>
            </a:avLst>
          </a:prstGeom>
          <a:solidFill>
            <a:srgbClr val="E8F2F8"/>
          </a:solidFill>
          <a:ln w="19050">
            <a:solidFill>
              <a:srgbClr val="20639B"/>
            </a:solidFill>
          </a:ln>
        </p:spPr>
        <p:txBody>
          <a:bodyPr anchor="ctr">
            <a:noAutofit/>
          </a:bodyPr>
          <a:lstStyle/>
          <a:p>
            <a:pPr algn="ctr">
              <a:defRPr sz="2250" b="1">
                <a:solidFill>
                  <a:srgbClr val="20639B"/>
                </a:solidFill>
                <a:latin typeface="Arial"/>
                <a:ea typeface="Arial"/>
                <a:cs typeface="Arial"/>
              </a:defRPr>
            </a:pPr>
            <a:r>
              <a:rPr sz="2250" b="1">
                <a:solidFill>
                  <a:srgbClr val="20639B"/>
                </a:solidFill>
                <a:latin typeface="Arial"/>
                <a:ea typeface="Arial"/>
                <a:cs typeface="Arial"/>
              </a:rPr>
              <a:t>MESI</a:t>
            </a:r>
          </a:p>
        </p:txBody>
      </p:sp>
      <p:sp>
        <p:nvSpPr>
          <p:cNvPr id="8" name="Rectangle 7">
            <a:extLst>
              <a:ext uri="{FF2B5EF4-FFF2-40B4-BE49-F238E27FC236}">
                <a16:creationId xmlns:a16="http://schemas.microsoft.com/office/drawing/2014/main" id="{972EEDD6-3AAE-4C6A-9CE2-9CB82C1F86EF}"/>
              </a:ext>
            </a:extLst>
          </p:cNvPr>
          <p:cNvSpPr>
            <a:spLocks noGrp="1"/>
          </p:cNvSpPr>
          <p:nvPr/>
        </p:nvSpPr>
        <p:spPr>
          <a:xfrm>
            <a:off x="5810250" y="2019300"/>
            <a:ext cx="2000250" cy="1428750"/>
          </a:xfrm>
          <a:prstGeom prst="rect">
            <a:avLst/>
          </a:prstGeom>
          <a:noFill/>
          <a:ln w="0">
            <a:noFill/>
          </a:ln>
        </p:spPr>
        <p:txBody>
          <a:bodyPr anchor="t">
            <a:noAutofit/>
          </a:bodyPr>
          <a:lstStyle/>
          <a:p>
            <a:pPr algn="ctr">
              <a:defRPr sz="1575" b="0">
                <a:solidFill>
                  <a:srgbClr val="5D7893"/>
                </a:solidFill>
                <a:latin typeface="Arial"/>
                <a:ea typeface="Arial"/>
                <a:cs typeface="Arial"/>
              </a:defRPr>
            </a:pPr>
            <a:r>
              <a:rPr sz="1575" b="0">
                <a:solidFill>
                  <a:srgbClr val="5D7893"/>
                </a:solidFill>
                <a:latin typeface="Arial"/>
                <a:ea typeface="Arial"/>
                <a:cs typeface="Arial"/>
              </a:rPr>
              <a:t>Có Exclusive</a:t>
            </a:r>
          </a:p>
          <a:p>
            <a:pPr algn="ctr">
              <a:defRPr sz="1575" b="0">
                <a:solidFill>
                  <a:srgbClr val="5D7893"/>
                </a:solidFill>
                <a:latin typeface="Arial"/>
                <a:ea typeface="Arial"/>
                <a:cs typeface="Arial"/>
              </a:defRPr>
            </a:pPr>
            <a:r>
              <a:rPr sz="1575" b="0">
                <a:solidFill>
                  <a:srgbClr val="5D7893"/>
                </a:solidFill>
                <a:latin typeface="Arial"/>
                <a:ea typeface="Arial"/>
                <a:cs typeface="Arial"/>
              </a:rPr>
              <a:t>Cho phép E→M âm thầm</a:t>
            </a:r>
          </a:p>
          <a:p>
            <a:pPr algn="ctr">
              <a:defRPr sz="1575" b="0">
                <a:solidFill>
                  <a:srgbClr val="5D7893"/>
                </a:solidFill>
                <a:latin typeface="Arial"/>
                <a:ea typeface="Arial"/>
                <a:cs typeface="Arial"/>
              </a:defRPr>
            </a:pPr>
            <a:r>
              <a:rPr sz="1575" b="0">
                <a:solidFill>
                  <a:srgbClr val="5D7893"/>
                </a:solidFill>
                <a:latin typeface="Arial"/>
                <a:ea typeface="Arial"/>
                <a:cs typeface="Arial"/>
              </a:rPr>
              <a:t>Ít RFO hơn</a:t>
            </a:r>
          </a:p>
        </p:txBody>
      </p:sp>
      <p:sp>
        <p:nvSpPr>
          <p:cNvPr id="9" name="Rectangle: Rounded Corners 8">
            <a:extLst>
              <a:ext uri="{FF2B5EF4-FFF2-40B4-BE49-F238E27FC236}">
                <a16:creationId xmlns:a16="http://schemas.microsoft.com/office/drawing/2014/main" id="{1BA99C24-75F8-4089-BE6D-6C30D919B19F}"/>
              </a:ext>
            </a:extLst>
          </p:cNvPr>
          <p:cNvSpPr>
            <a:spLocks noGrp="1"/>
          </p:cNvSpPr>
          <p:nvPr/>
        </p:nvSpPr>
        <p:spPr>
          <a:xfrm>
            <a:off x="8858250" y="1276350"/>
            <a:ext cx="2000250" cy="619125"/>
          </a:xfrm>
          <a:prstGeom prst="roundRect">
            <a:avLst>
              <a:gd name="adj" fmla="val 12308"/>
            </a:avLst>
          </a:prstGeom>
          <a:solidFill>
            <a:srgbClr val="E8F6F4"/>
          </a:solidFill>
          <a:ln w="19050">
            <a:solidFill>
              <a:srgbClr val="2EA99C"/>
            </a:solidFill>
          </a:ln>
        </p:spPr>
        <p:txBody>
          <a:bodyPr anchor="ctr">
            <a:noAutofit/>
          </a:bodyPr>
          <a:lstStyle/>
          <a:p>
            <a:pPr algn="ctr">
              <a:defRPr sz="2250" b="1">
                <a:solidFill>
                  <a:srgbClr val="2EA99C"/>
                </a:solidFill>
                <a:latin typeface="Arial"/>
                <a:ea typeface="Arial"/>
                <a:cs typeface="Arial"/>
              </a:defRPr>
            </a:pPr>
            <a:r>
              <a:rPr sz="2250" b="1">
                <a:solidFill>
                  <a:srgbClr val="2EA99C"/>
                </a:solidFill>
                <a:latin typeface="Arial"/>
                <a:ea typeface="Arial"/>
                <a:cs typeface="Arial"/>
              </a:rPr>
              <a:t>MSI</a:t>
            </a:r>
          </a:p>
        </p:txBody>
      </p:sp>
      <p:sp>
        <p:nvSpPr>
          <p:cNvPr id="10" name="Rectangle 9">
            <a:extLst>
              <a:ext uri="{FF2B5EF4-FFF2-40B4-BE49-F238E27FC236}">
                <a16:creationId xmlns:a16="http://schemas.microsoft.com/office/drawing/2014/main" id="{62025F70-D40A-4CC4-8FFA-219979D1A8C5}"/>
              </a:ext>
            </a:extLst>
          </p:cNvPr>
          <p:cNvSpPr>
            <a:spLocks noGrp="1"/>
          </p:cNvSpPr>
          <p:nvPr/>
        </p:nvSpPr>
        <p:spPr>
          <a:xfrm>
            <a:off x="8572500" y="2019300"/>
            <a:ext cx="2571750" cy="1428750"/>
          </a:xfrm>
          <a:prstGeom prst="rect">
            <a:avLst/>
          </a:prstGeom>
          <a:noFill/>
          <a:ln w="0">
            <a:noFill/>
          </a:ln>
        </p:spPr>
        <p:txBody>
          <a:bodyPr anchor="t">
            <a:noAutofit/>
          </a:bodyPr>
          <a:lstStyle/>
          <a:p>
            <a:pPr algn="ctr">
              <a:defRPr sz="1575" b="0">
                <a:solidFill>
                  <a:srgbClr val="5D7893"/>
                </a:solidFill>
                <a:latin typeface="Arial"/>
                <a:ea typeface="Arial"/>
                <a:cs typeface="Arial"/>
              </a:defRPr>
            </a:pPr>
            <a:r>
              <a:rPr sz="1575" b="0">
                <a:solidFill>
                  <a:srgbClr val="5D7893"/>
                </a:solidFill>
                <a:latin typeface="Arial"/>
                <a:ea typeface="Arial"/>
                <a:cs typeface="Arial"/>
              </a:rPr>
              <a:t>Chỉ I / S / M</a:t>
            </a:r>
          </a:p>
          <a:p>
            <a:pPr algn="ctr">
              <a:defRPr sz="1575" b="0">
                <a:solidFill>
                  <a:srgbClr val="5D7893"/>
                </a:solidFill>
                <a:latin typeface="Arial"/>
                <a:ea typeface="Arial"/>
                <a:cs typeface="Arial"/>
              </a:defRPr>
            </a:pPr>
            <a:r>
              <a:rPr sz="1575" b="0">
                <a:solidFill>
                  <a:srgbClr val="5D7893"/>
                </a:solidFill>
                <a:latin typeface="Arial"/>
                <a:ea typeface="Arial"/>
                <a:cs typeface="Arial"/>
              </a:rPr>
              <a:t>Mọi S→M đều phát RFO</a:t>
            </a:r>
          </a:p>
          <a:p>
            <a:pPr algn="ctr">
              <a:defRPr sz="1575" b="0">
                <a:solidFill>
                  <a:srgbClr val="5D7893"/>
                </a:solidFill>
                <a:latin typeface="Arial"/>
                <a:ea typeface="Arial"/>
                <a:cs typeface="Arial"/>
              </a:defRPr>
            </a:pPr>
            <a:r>
              <a:rPr sz="1575" b="0">
                <a:solidFill>
                  <a:srgbClr val="5D7893"/>
                </a:solidFill>
                <a:latin typeface="Arial"/>
                <a:ea typeface="Arial"/>
                <a:cs typeface="Arial"/>
              </a:rPr>
              <a:t>Directory luôn thấy ownership</a:t>
            </a:r>
          </a:p>
        </p:txBody>
      </p:sp>
      <p:sp>
        <p:nvSpPr>
          <p:cNvPr id="11" name="Straight Connector 10">
            <a:extLst>
              <a:ext uri="{FF2B5EF4-FFF2-40B4-BE49-F238E27FC236}">
                <a16:creationId xmlns:a16="http://schemas.microsoft.com/office/drawing/2014/main" id="{A166B4E7-860F-4EE9-BB1D-99BEB4499FE3}"/>
              </a:ext>
            </a:extLst>
          </p:cNvPr>
          <p:cNvSpPr>
            <a:spLocks noGrp="1"/>
          </p:cNvSpPr>
          <p:nvPr/>
        </p:nvSpPr>
        <p:spPr>
          <a:xfrm>
            <a:off x="666750" y="3829050"/>
            <a:ext cx="10429875" cy="0"/>
          </a:xfrm>
          <a:prstGeom prst="line">
            <a:avLst/>
          </a:prstGeom>
          <a:noFill/>
          <a:ln w="9525">
            <a:solidFill>
              <a:srgbClr val="B8CAD8"/>
            </a:solidFill>
          </a:ln>
        </p:spPr>
      </p:sp>
      <p:sp>
        <p:nvSpPr>
          <p:cNvPr id="12" name="Rectangle 11">
            <a:extLst>
              <a:ext uri="{FF2B5EF4-FFF2-40B4-BE49-F238E27FC236}">
                <a16:creationId xmlns:a16="http://schemas.microsoft.com/office/drawing/2014/main" id="{C94A7368-48C3-4673-BF93-EE13BFCAAFAE}"/>
              </a:ext>
            </a:extLst>
          </p:cNvPr>
          <p:cNvSpPr>
            <a:spLocks noGrp="1"/>
          </p:cNvSpPr>
          <p:nvPr/>
        </p:nvSpPr>
        <p:spPr>
          <a:xfrm>
            <a:off x="666750" y="4114800"/>
            <a:ext cx="3048000" cy="400050"/>
          </a:xfrm>
          <a:prstGeom prst="rect">
            <a:avLst/>
          </a:prstGeom>
          <a:noFill/>
          <a:ln w="0">
            <a:noFill/>
          </a:ln>
        </p:spPr>
        <p:txBody>
          <a:bodyPr anchor="ctr">
            <a:noAutofit/>
          </a:bodyPr>
          <a:lstStyle/>
          <a:p>
            <a:pPr algn="l">
              <a:defRPr sz="1950" b="1">
                <a:solidFill>
                  <a:srgbClr val="123A5A"/>
                </a:solidFill>
                <a:latin typeface="Arial"/>
                <a:ea typeface="Arial"/>
                <a:cs typeface="Arial"/>
              </a:defRPr>
            </a:pPr>
            <a:r>
              <a:rPr sz="1950" b="1">
                <a:solidFill>
                  <a:srgbClr val="123A5A"/>
                </a:solidFill>
                <a:latin typeface="Arial"/>
                <a:ea typeface="Arial"/>
                <a:cs typeface="Arial"/>
              </a:rPr>
              <a:t>Quyết định kiến trúc</a:t>
            </a:r>
          </a:p>
        </p:txBody>
      </p:sp>
      <p:sp>
        <p:nvSpPr>
          <p:cNvPr id="13" name="Rectangle 12">
            <a:extLst>
              <a:ext uri="{FF2B5EF4-FFF2-40B4-BE49-F238E27FC236}">
                <a16:creationId xmlns:a16="http://schemas.microsoft.com/office/drawing/2014/main" id="{27F3C0B0-C8DD-42FE-A8F5-EEF97615460A}"/>
              </a:ext>
            </a:extLst>
          </p:cNvPr>
          <p:cNvSpPr>
            <a:spLocks noGrp="1"/>
          </p:cNvSpPr>
          <p:nvPr/>
        </p:nvSpPr>
        <p:spPr>
          <a:xfrm>
            <a:off x="666750" y="4648200"/>
            <a:ext cx="10382250" cy="971550"/>
          </a:xfrm>
          <a:prstGeom prst="rect">
            <a:avLst/>
          </a:prstGeom>
          <a:noFill/>
          <a:ln w="0">
            <a:noFill/>
          </a:ln>
        </p:spPr>
        <p:txBody>
          <a:bodyPr anchor="t">
            <a:noAutofit/>
          </a:bodyPr>
          <a:lstStyle/>
          <a:p>
            <a:pPr algn="l">
              <a:defRPr sz="2025" b="1">
                <a:solidFill>
                  <a:srgbClr val="102A43"/>
                </a:solidFill>
                <a:latin typeface="Arial"/>
                <a:ea typeface="Arial"/>
                <a:cs typeface="Arial"/>
              </a:defRPr>
            </a:pPr>
            <a:r>
              <a:rPr sz="2025" b="1">
                <a:solidFill>
                  <a:srgbClr val="102A43"/>
                </a:solidFill>
                <a:latin typeface="Arial"/>
                <a:ea typeface="Arial"/>
                <a:cs typeface="Arial"/>
              </a:rPr>
              <a:t>Ưu tiên correctness và khả năng kiểm chứng. MSI làm FSM và directory rõ ràng hơn; chi phí là thêm RFO khi dữ liệu chỉ một lõi sử dụng.</a:t>
            </a:r>
          </a:p>
        </p:txBody>
      </p:sp>
    </p:spTree>
    <p:extLst>
      <p:ext uri="{BB962C8B-B14F-4D97-AF65-F5344CB8AC3E}">
        <p14:creationId xmlns:p14="http://schemas.microsoft.com/office/powerpoint/2010/main" val="2086779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D94B24-3C24-4014-BB7E-D4651127460E}"/>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362AE45B-FA5F-4C22-AF43-64BDFE76D0E6}"/>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Kiến trúc cache và coherence MSI</a:t>
            </a:r>
          </a:p>
        </p:txBody>
      </p:sp>
      <p:sp>
        <p:nvSpPr>
          <p:cNvPr id="3" name="Rectangle 2">
            <a:extLst>
              <a:ext uri="{FF2B5EF4-FFF2-40B4-BE49-F238E27FC236}">
                <a16:creationId xmlns:a16="http://schemas.microsoft.com/office/drawing/2014/main" id="{8AF477EE-C3A6-46C9-A572-6B151FAF1E03}"/>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03</a:t>
            </a:r>
          </a:p>
        </p:txBody>
      </p:sp>
      <p:sp>
        <p:nvSpPr>
          <p:cNvPr id="4" name="Straight Connector 3">
            <a:extLst>
              <a:ext uri="{FF2B5EF4-FFF2-40B4-BE49-F238E27FC236}">
                <a16:creationId xmlns:a16="http://schemas.microsoft.com/office/drawing/2014/main" id="{EB62CFEE-0B43-4981-86B3-4ED5D30A18FA}"/>
              </a:ext>
            </a:extLst>
          </p:cNvPr>
          <p:cNvSpPr>
            <a:spLocks noGrp="1"/>
          </p:cNvSpPr>
          <p:nvPr/>
        </p:nvSpPr>
        <p:spPr>
          <a:xfrm>
            <a:off x="533400" y="933450"/>
            <a:ext cx="11096625" cy="0"/>
          </a:xfrm>
          <a:prstGeom prst="line">
            <a:avLst/>
          </a:prstGeom>
          <a:noFill/>
          <a:ln w="9525">
            <a:solidFill>
              <a:srgbClr val="B8CAD8"/>
            </a:solidFill>
          </a:ln>
        </p:spPr>
      </p:sp>
      <p:pic>
        <p:nvPicPr>
          <p:cNvPr id="10" name="Picture 9"/>
          <p:cNvPicPr>
            <a:picLocks noChangeAspect="1"/>
          </p:cNvPicPr>
          <p:nvPr/>
        </p:nvPicPr>
        <p:blipFill>
          <a:blip r:embed="rId3"/>
          <a:stretch/>
        </p:blipFill>
        <p:spPr>
          <a:xfrm>
            <a:off x="1371600" y="1066800"/>
            <a:ext cx="9448800" cy="5314950"/>
          </a:xfrm>
          <a:prstGeom prst="rect">
            <a:avLst/>
          </a:prstGeom>
        </p:spPr>
      </p:pic>
    </p:spTree>
    <p:extLst>
      <p:ext uri="{BB962C8B-B14F-4D97-AF65-F5344CB8AC3E}">
        <p14:creationId xmlns:p14="http://schemas.microsoft.com/office/powerpoint/2010/main" val="1656516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0CE807A-0052-495F-B5F6-AB86307C8EB1}"/>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1E332A25-B4E4-4E1C-8831-9E98D52EC123}"/>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FSM trạng thái của một D-cache line</a:t>
            </a:r>
          </a:p>
        </p:txBody>
      </p:sp>
      <p:sp>
        <p:nvSpPr>
          <p:cNvPr id="3" name="Rectangle 2">
            <a:extLst>
              <a:ext uri="{FF2B5EF4-FFF2-40B4-BE49-F238E27FC236}">
                <a16:creationId xmlns:a16="http://schemas.microsoft.com/office/drawing/2014/main" id="{24E7E1AC-F868-46E4-A640-7B634D318537}"/>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04</a:t>
            </a:r>
          </a:p>
        </p:txBody>
      </p:sp>
      <p:sp>
        <p:nvSpPr>
          <p:cNvPr id="4" name="Straight Connector 3">
            <a:extLst>
              <a:ext uri="{FF2B5EF4-FFF2-40B4-BE49-F238E27FC236}">
                <a16:creationId xmlns:a16="http://schemas.microsoft.com/office/drawing/2014/main" id="{38F90AD7-516A-4FD7-8C92-1297CED56569}"/>
              </a:ext>
            </a:extLst>
          </p:cNvPr>
          <p:cNvSpPr>
            <a:spLocks noGrp="1"/>
          </p:cNvSpPr>
          <p:nvPr/>
        </p:nvSpPr>
        <p:spPr>
          <a:xfrm>
            <a:off x="533400" y="933450"/>
            <a:ext cx="11096625" cy="0"/>
          </a:xfrm>
          <a:prstGeom prst="line">
            <a:avLst/>
          </a:prstGeom>
          <a:noFill/>
          <a:ln w="9525">
            <a:solidFill>
              <a:srgbClr val="B8CAD8"/>
            </a:solidFill>
          </a:ln>
        </p:spPr>
      </p:sp>
      <p:sp>
        <p:nvSpPr>
          <p:cNvPr id="5" name="Oval 4">
            <a:extLst>
              <a:ext uri="{FF2B5EF4-FFF2-40B4-BE49-F238E27FC236}">
                <a16:creationId xmlns:a16="http://schemas.microsoft.com/office/drawing/2014/main" id="{FF3C7966-02B4-4E42-9A84-96D4D5967AE1}"/>
              </a:ext>
            </a:extLst>
          </p:cNvPr>
          <p:cNvSpPr>
            <a:spLocks noGrp="1"/>
          </p:cNvSpPr>
          <p:nvPr/>
        </p:nvSpPr>
        <p:spPr>
          <a:xfrm>
            <a:off x="1000125" y="2428875"/>
            <a:ext cx="1809750" cy="1428750"/>
          </a:xfrm>
          <a:prstGeom prst="ellipse">
            <a:avLst/>
          </a:prstGeom>
          <a:solidFill>
            <a:srgbClr val="F3F7FA"/>
          </a:solidFill>
          <a:ln w="28575">
            <a:solidFill>
              <a:srgbClr val="5D7893"/>
            </a:solidFill>
          </a:ln>
        </p:spPr>
        <p:txBody>
          <a:bodyPr anchor="ctr">
            <a:noAutofit/>
          </a:bodyPr>
          <a:lstStyle/>
          <a:p>
            <a:pPr algn="ctr">
              <a:defRPr sz="2100" b="1">
                <a:solidFill>
                  <a:srgbClr val="102A43"/>
                </a:solidFill>
                <a:latin typeface="Arial"/>
                <a:ea typeface="Arial"/>
                <a:cs typeface="Arial"/>
              </a:defRPr>
            </a:pPr>
            <a:r>
              <a:rPr sz="2100" b="1">
                <a:solidFill>
                  <a:srgbClr val="102A43"/>
                </a:solidFill>
                <a:latin typeface="Arial"/>
                <a:ea typeface="Arial"/>
                <a:cs typeface="Arial"/>
              </a:rPr>
              <a:t>I</a:t>
            </a:r>
          </a:p>
          <a:p>
            <a:pPr algn="ctr">
              <a:defRPr sz="2100" b="1">
                <a:solidFill>
                  <a:srgbClr val="102A43"/>
                </a:solidFill>
                <a:latin typeface="Arial"/>
                <a:ea typeface="Arial"/>
                <a:cs typeface="Arial"/>
              </a:defRPr>
            </a:pPr>
            <a:r>
              <a:rPr sz="2100" b="1">
                <a:solidFill>
                  <a:srgbClr val="102A43"/>
                </a:solidFill>
                <a:latin typeface="Arial"/>
                <a:ea typeface="Arial"/>
                <a:cs typeface="Arial"/>
              </a:rPr>
              <a:t>Invalid</a:t>
            </a:r>
          </a:p>
        </p:txBody>
      </p:sp>
      <p:sp>
        <p:nvSpPr>
          <p:cNvPr id="6" name="Oval 5">
            <a:extLst>
              <a:ext uri="{FF2B5EF4-FFF2-40B4-BE49-F238E27FC236}">
                <a16:creationId xmlns:a16="http://schemas.microsoft.com/office/drawing/2014/main" id="{F59F9343-AFCA-4CDB-8558-C8428CFFE309}"/>
              </a:ext>
            </a:extLst>
          </p:cNvPr>
          <p:cNvSpPr>
            <a:spLocks noGrp="1"/>
          </p:cNvSpPr>
          <p:nvPr/>
        </p:nvSpPr>
        <p:spPr>
          <a:xfrm>
            <a:off x="5191125" y="2428875"/>
            <a:ext cx="1809750" cy="1428750"/>
          </a:xfrm>
          <a:prstGeom prst="ellipse">
            <a:avLst/>
          </a:prstGeom>
          <a:solidFill>
            <a:srgbClr val="E8F6F4"/>
          </a:solidFill>
          <a:ln w="28575">
            <a:solidFill>
              <a:srgbClr val="2EA99C"/>
            </a:solidFill>
          </a:ln>
        </p:spPr>
        <p:txBody>
          <a:bodyPr anchor="ctr">
            <a:noAutofit/>
          </a:bodyPr>
          <a:lstStyle/>
          <a:p>
            <a:pPr algn="ctr">
              <a:defRPr sz="2100" b="1">
                <a:solidFill>
                  <a:srgbClr val="102A43"/>
                </a:solidFill>
                <a:latin typeface="Arial"/>
                <a:ea typeface="Arial"/>
                <a:cs typeface="Arial"/>
              </a:defRPr>
            </a:pPr>
            <a:r>
              <a:rPr sz="2100" b="1">
                <a:solidFill>
                  <a:srgbClr val="102A43"/>
                </a:solidFill>
                <a:latin typeface="Arial"/>
                <a:ea typeface="Arial"/>
                <a:cs typeface="Arial"/>
              </a:rPr>
              <a:t>S</a:t>
            </a:r>
          </a:p>
          <a:p>
            <a:pPr algn="ctr">
              <a:defRPr sz="2100" b="1">
                <a:solidFill>
                  <a:srgbClr val="102A43"/>
                </a:solidFill>
                <a:latin typeface="Arial"/>
                <a:ea typeface="Arial"/>
                <a:cs typeface="Arial"/>
              </a:defRPr>
            </a:pPr>
            <a:r>
              <a:rPr sz="2100" b="1">
                <a:solidFill>
                  <a:srgbClr val="102A43"/>
                </a:solidFill>
                <a:latin typeface="Arial"/>
                <a:ea typeface="Arial"/>
                <a:cs typeface="Arial"/>
              </a:rPr>
              <a:t>Shared</a:t>
            </a:r>
          </a:p>
        </p:txBody>
      </p:sp>
      <p:sp>
        <p:nvSpPr>
          <p:cNvPr id="7" name="Oval 6">
            <a:extLst>
              <a:ext uri="{FF2B5EF4-FFF2-40B4-BE49-F238E27FC236}">
                <a16:creationId xmlns:a16="http://schemas.microsoft.com/office/drawing/2014/main" id="{9517FF76-2ADF-40D0-84F4-39C45D0EDCE3}"/>
              </a:ext>
            </a:extLst>
          </p:cNvPr>
          <p:cNvSpPr>
            <a:spLocks noGrp="1"/>
          </p:cNvSpPr>
          <p:nvPr/>
        </p:nvSpPr>
        <p:spPr>
          <a:xfrm>
            <a:off x="9382125" y="2428875"/>
            <a:ext cx="1809750" cy="1428750"/>
          </a:xfrm>
          <a:prstGeom prst="ellipse">
            <a:avLst/>
          </a:prstGeom>
          <a:solidFill>
            <a:srgbClr val="FDEDE9"/>
          </a:solidFill>
          <a:ln w="28575">
            <a:solidFill>
              <a:srgbClr val="ED553B"/>
            </a:solidFill>
          </a:ln>
        </p:spPr>
        <p:txBody>
          <a:bodyPr anchor="ctr">
            <a:noAutofit/>
          </a:bodyPr>
          <a:lstStyle/>
          <a:p>
            <a:pPr algn="ctr">
              <a:defRPr sz="1800" b="1">
                <a:solidFill>
                  <a:srgbClr val="102A43"/>
                </a:solidFill>
                <a:latin typeface="Arial"/>
                <a:ea typeface="Arial"/>
                <a:cs typeface="Arial"/>
              </a:defRPr>
            </a:pPr>
            <a:r>
              <a:rPr sz="1800" b="1">
                <a:solidFill>
                  <a:srgbClr val="102A43"/>
                </a:solidFill>
                <a:latin typeface="Arial"/>
                <a:ea typeface="Arial"/>
                <a:cs typeface="Arial"/>
              </a:rPr>
              <a:t>M</a:t>
            </a:r>
          </a:p>
          <a:p>
            <a:pPr algn="ctr">
              <a:defRPr sz="1800" b="1">
                <a:solidFill>
                  <a:srgbClr val="102A43"/>
                </a:solidFill>
                <a:latin typeface="Arial"/>
                <a:ea typeface="Arial"/>
                <a:cs typeface="Arial"/>
              </a:defRPr>
            </a:pPr>
            <a:r>
              <a:rPr sz="1800" b="1">
                <a:solidFill>
                  <a:srgbClr val="102A43"/>
                </a:solidFill>
                <a:latin typeface="Arial"/>
                <a:ea typeface="Arial"/>
                <a:cs typeface="Arial"/>
              </a:rPr>
              <a:t>Modified</a:t>
            </a:r>
          </a:p>
        </p:txBody>
      </p:sp>
      <p:cxnSp>
        <p:nvCxnSpPr>
          <p:cNvPr id="27" name="Straight Arrow Connector 26"/>
          <p:cNvCxnSpPr>
            <a:stCxn id="5" idx="6"/>
            <a:endCxn id="6" idx="2"/>
          </p:cNvCxnSpPr>
          <p:nvPr/>
        </p:nvCxnSpPr>
        <p:spPr>
          <a:xfrm>
            <a:off x="2809875" y="3143250"/>
            <a:ext cx="2381250" cy="0"/>
          </a:xfrm>
          <a:prstGeom prst="straightConnector1">
            <a:avLst/>
          </a:prstGeom>
          <a:ln w="28575">
            <a:solidFill>
              <a:srgbClr val="20639B"/>
            </a:solidFill>
            <a:tailEnd type="arrow" w="med" len="med"/>
          </a:ln>
        </p:spPr>
      </p:cxnSp>
      <p:cxnSp>
        <p:nvCxnSpPr>
          <p:cNvPr id="28" name="Straight Arrow Connector 27"/>
          <p:cNvCxnSpPr>
            <a:stCxn id="6" idx="6"/>
            <a:endCxn id="7" idx="2"/>
          </p:cNvCxnSpPr>
          <p:nvPr/>
        </p:nvCxnSpPr>
        <p:spPr>
          <a:xfrm>
            <a:off x="7000875" y="3143250"/>
            <a:ext cx="2381250" cy="0"/>
          </a:xfrm>
          <a:prstGeom prst="straightConnector1">
            <a:avLst/>
          </a:prstGeom>
          <a:ln w="28575">
            <a:solidFill>
              <a:srgbClr val="ED553B"/>
            </a:solidFill>
            <a:tailEnd type="arrow" w="med" len="med"/>
          </a:ln>
        </p:spPr>
      </p:cxnSp>
      <p:cxnSp>
        <p:nvCxnSpPr>
          <p:cNvPr id="29" name="Connector: Curved 28"/>
          <p:cNvCxnSpPr>
            <a:stCxn id="7" idx="4"/>
            <a:endCxn id="6" idx="4"/>
          </p:cNvCxnSpPr>
          <p:nvPr/>
        </p:nvCxnSpPr>
        <p:spPr>
          <a:xfrm flipH="1">
            <a:off x="6096000" y="3857625"/>
            <a:ext cx="4191000" cy="0"/>
          </a:xfrm>
          <a:prstGeom prst="curvedConnector2">
            <a:avLst/>
          </a:prstGeom>
          <a:ln w="19050">
            <a:solidFill>
              <a:srgbClr val="2EA99C"/>
            </a:solidFill>
            <a:tailEnd type="arrow" w="med" len="med"/>
          </a:ln>
        </p:spPr>
      </p:cxnSp>
      <p:cxnSp>
        <p:nvCxnSpPr>
          <p:cNvPr id="30" name="Connector: Curved 29"/>
          <p:cNvCxnSpPr>
            <a:stCxn id="6" idx="0"/>
            <a:endCxn id="5" idx="0"/>
          </p:cNvCxnSpPr>
          <p:nvPr/>
        </p:nvCxnSpPr>
        <p:spPr>
          <a:xfrm flipH="1">
            <a:off x="1905000" y="2428875"/>
            <a:ext cx="4191000" cy="0"/>
          </a:xfrm>
          <a:prstGeom prst="curvedConnector2">
            <a:avLst/>
          </a:prstGeom>
          <a:ln w="19050">
            <a:solidFill>
              <a:srgbClr val="5D7893"/>
            </a:solidFill>
            <a:tailEnd type="arrow" w="med" len="med"/>
          </a:ln>
        </p:spPr>
      </p:cxnSp>
      <p:cxnSp>
        <p:nvCxnSpPr>
          <p:cNvPr id="31" name="Connector: Curved 30"/>
          <p:cNvCxnSpPr>
            <a:cxnSpLocks/>
            <a:stCxn id="5" idx="5"/>
            <a:endCxn id="7" idx="3"/>
          </p:cNvCxnSpPr>
          <p:nvPr/>
        </p:nvCxnSpPr>
        <p:spPr>
          <a:xfrm rot="16200000" flipH="1">
            <a:off x="6096000" y="97232"/>
            <a:ext cx="12700" cy="7102314"/>
          </a:xfrm>
          <a:prstGeom prst="curvedConnector3">
            <a:avLst>
              <a:gd name="adj1" fmla="val 3447528"/>
            </a:avLst>
          </a:prstGeom>
          <a:ln w="19050">
            <a:solidFill>
              <a:srgbClr val="ED553B"/>
            </a:solidFill>
            <a:tailEnd type="arrow" w="med" len="med"/>
          </a:ln>
        </p:spPr>
      </p:cxnSp>
      <p:cxnSp>
        <p:nvCxnSpPr>
          <p:cNvPr id="32" name="Connector: Curved 31"/>
          <p:cNvCxnSpPr>
            <a:cxnSpLocks/>
            <a:stCxn id="7" idx="1"/>
            <a:endCxn id="5" idx="7"/>
          </p:cNvCxnSpPr>
          <p:nvPr/>
        </p:nvCxnSpPr>
        <p:spPr>
          <a:xfrm rot="16200000" flipV="1">
            <a:off x="6096000" y="-913046"/>
            <a:ext cx="12700" cy="7102314"/>
          </a:xfrm>
          <a:prstGeom prst="curvedConnector3">
            <a:avLst>
              <a:gd name="adj1" fmla="val 3447528"/>
            </a:avLst>
          </a:prstGeom>
          <a:ln w="19050">
            <a:solidFill>
              <a:srgbClr val="ED553B"/>
            </a:solidFill>
            <a:tailEnd type="arrow" w="med" len="med"/>
          </a:ln>
        </p:spPr>
      </p:cxnSp>
      <p:sp>
        <p:nvSpPr>
          <p:cNvPr id="14" name="Rectangle 13">
            <a:extLst>
              <a:ext uri="{FF2B5EF4-FFF2-40B4-BE49-F238E27FC236}">
                <a16:creationId xmlns:a16="http://schemas.microsoft.com/office/drawing/2014/main" id="{8E83C2CD-D76F-49D3-B5C5-638CB06A5A60}"/>
              </a:ext>
            </a:extLst>
          </p:cNvPr>
          <p:cNvSpPr>
            <a:spLocks noGrp="1"/>
          </p:cNvSpPr>
          <p:nvPr/>
        </p:nvSpPr>
        <p:spPr>
          <a:xfrm>
            <a:off x="3028950" y="2362200"/>
            <a:ext cx="1952625" cy="590550"/>
          </a:xfrm>
          <a:prstGeom prst="rect">
            <a:avLst/>
          </a:prstGeom>
          <a:noFill/>
          <a:ln w="0">
            <a:noFill/>
          </a:ln>
        </p:spPr>
        <p:txBody>
          <a:bodyPr anchor="ctr">
            <a:noAutofit/>
          </a:bodyPr>
          <a:lstStyle/>
          <a:p>
            <a:pPr algn="ctr">
              <a:defRPr sz="1425" b="1">
                <a:solidFill>
                  <a:srgbClr val="20639B"/>
                </a:solidFill>
                <a:latin typeface="Arial"/>
                <a:ea typeface="Arial"/>
                <a:cs typeface="Arial"/>
              </a:defRPr>
            </a:pPr>
            <a:r>
              <a:rPr sz="1425" b="1">
                <a:solidFill>
                  <a:srgbClr val="20639B"/>
                </a:solidFill>
                <a:latin typeface="Arial"/>
                <a:ea typeface="Arial"/>
                <a:cs typeface="Arial"/>
              </a:rPr>
              <a:t>Read miss</a:t>
            </a:r>
          </a:p>
          <a:p>
            <a:pPr algn="ctr">
              <a:defRPr sz="1425" b="1">
                <a:solidFill>
                  <a:srgbClr val="20639B"/>
                </a:solidFill>
                <a:latin typeface="Arial"/>
                <a:ea typeface="Arial"/>
                <a:cs typeface="Arial"/>
              </a:defRPr>
            </a:pPr>
            <a:r>
              <a:rPr sz="1425" b="1">
                <a:solidFill>
                  <a:srgbClr val="20639B"/>
                </a:solidFill>
                <a:latin typeface="Arial"/>
                <a:ea typeface="Arial"/>
                <a:cs typeface="Arial"/>
              </a:rPr>
              <a:t>BusRd + fill</a:t>
            </a:r>
          </a:p>
        </p:txBody>
      </p:sp>
      <p:sp>
        <p:nvSpPr>
          <p:cNvPr id="15" name="Rectangle 14">
            <a:extLst>
              <a:ext uri="{FF2B5EF4-FFF2-40B4-BE49-F238E27FC236}">
                <a16:creationId xmlns:a16="http://schemas.microsoft.com/office/drawing/2014/main" id="{11A8F33C-6D9A-4A5E-9E6B-D67FCFB44337}"/>
              </a:ext>
            </a:extLst>
          </p:cNvPr>
          <p:cNvSpPr>
            <a:spLocks noGrp="1"/>
          </p:cNvSpPr>
          <p:nvPr/>
        </p:nvSpPr>
        <p:spPr>
          <a:xfrm>
            <a:off x="7191375" y="2362200"/>
            <a:ext cx="2095500" cy="590550"/>
          </a:xfrm>
          <a:prstGeom prst="rect">
            <a:avLst/>
          </a:prstGeom>
          <a:noFill/>
          <a:ln w="0">
            <a:no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Local write</a:t>
            </a:r>
          </a:p>
          <a:p>
            <a:pPr algn="ctr">
              <a:defRPr sz="1425" b="1">
                <a:solidFill>
                  <a:srgbClr val="ED553B"/>
                </a:solidFill>
                <a:latin typeface="Arial"/>
                <a:ea typeface="Arial"/>
                <a:cs typeface="Arial"/>
              </a:defRPr>
            </a:pPr>
            <a:r>
              <a:rPr sz="1425" b="1">
                <a:solidFill>
                  <a:srgbClr val="ED553B"/>
                </a:solidFill>
                <a:latin typeface="Arial"/>
                <a:ea typeface="Arial"/>
                <a:cs typeface="Arial"/>
              </a:rPr>
              <a:t>RFO + invalidate</a:t>
            </a:r>
          </a:p>
        </p:txBody>
      </p:sp>
      <p:sp>
        <p:nvSpPr>
          <p:cNvPr id="16" name="Rectangle 15">
            <a:extLst>
              <a:ext uri="{FF2B5EF4-FFF2-40B4-BE49-F238E27FC236}">
                <a16:creationId xmlns:a16="http://schemas.microsoft.com/office/drawing/2014/main" id="{649BEB18-2B7B-49D2-B778-8BF172747090}"/>
              </a:ext>
            </a:extLst>
          </p:cNvPr>
          <p:cNvSpPr>
            <a:spLocks noGrp="1"/>
          </p:cNvSpPr>
          <p:nvPr/>
        </p:nvSpPr>
        <p:spPr>
          <a:xfrm>
            <a:off x="6858000" y="4400550"/>
            <a:ext cx="3429000" cy="428625"/>
          </a:xfrm>
          <a:prstGeom prst="rect">
            <a:avLst/>
          </a:prstGeom>
          <a:noFill/>
          <a:ln w="0">
            <a:noFill/>
          </a:ln>
        </p:spPr>
        <p:txBody>
          <a:bodyPr anchor="ctr">
            <a:noAutofit/>
          </a:bodyPr>
          <a:lstStyle/>
          <a:p>
            <a:pPr algn="ctr">
              <a:defRPr sz="1350" b="0">
                <a:solidFill>
                  <a:srgbClr val="2EA99C"/>
                </a:solidFill>
                <a:latin typeface="Arial"/>
                <a:ea typeface="Arial"/>
                <a:cs typeface="Arial"/>
              </a:defRPr>
            </a:pPr>
            <a:r>
              <a:rPr sz="1350" b="0">
                <a:solidFill>
                  <a:srgbClr val="2EA99C"/>
                </a:solidFill>
                <a:latin typeface="Arial"/>
                <a:ea typeface="Arial"/>
                <a:cs typeface="Arial"/>
              </a:rPr>
              <a:t>Remote read: forward dirty data, M→S</a:t>
            </a:r>
          </a:p>
        </p:txBody>
      </p:sp>
      <p:sp>
        <p:nvSpPr>
          <p:cNvPr id="17" name="Rectangle 16">
            <a:extLst>
              <a:ext uri="{FF2B5EF4-FFF2-40B4-BE49-F238E27FC236}">
                <a16:creationId xmlns:a16="http://schemas.microsoft.com/office/drawing/2014/main" id="{844E8D83-AC07-4602-84D3-62BEF78EE1C6}"/>
              </a:ext>
            </a:extLst>
          </p:cNvPr>
          <p:cNvSpPr>
            <a:spLocks noGrp="1"/>
          </p:cNvSpPr>
          <p:nvPr/>
        </p:nvSpPr>
        <p:spPr>
          <a:xfrm>
            <a:off x="2952750" y="1381125"/>
            <a:ext cx="2381250" cy="381000"/>
          </a:xfrm>
          <a:prstGeom prst="rect">
            <a:avLst/>
          </a:prstGeom>
          <a:noFill/>
          <a:ln w="0">
            <a:noFill/>
          </a:ln>
        </p:spPr>
        <p:txBody>
          <a:bodyPr anchor="ctr">
            <a:noAutofit/>
          </a:bodyPr>
          <a:lstStyle/>
          <a:p>
            <a:pPr algn="ctr">
              <a:defRPr sz="1350" b="0">
                <a:solidFill>
                  <a:srgbClr val="5D7893"/>
                </a:solidFill>
                <a:latin typeface="Arial"/>
                <a:ea typeface="Arial"/>
                <a:cs typeface="Arial"/>
              </a:defRPr>
            </a:pPr>
            <a:r>
              <a:rPr sz="1350" b="0">
                <a:solidFill>
                  <a:srgbClr val="5D7893"/>
                </a:solidFill>
                <a:latin typeface="Arial"/>
                <a:ea typeface="Arial"/>
                <a:cs typeface="Arial"/>
              </a:rPr>
              <a:t>Remote RFO / flush</a:t>
            </a:r>
          </a:p>
        </p:txBody>
      </p:sp>
      <p:sp>
        <p:nvSpPr>
          <p:cNvPr id="18" name="Rectangle 17">
            <a:extLst>
              <a:ext uri="{FF2B5EF4-FFF2-40B4-BE49-F238E27FC236}">
                <a16:creationId xmlns:a16="http://schemas.microsoft.com/office/drawing/2014/main" id="{4B54095A-35BD-45DB-A2F6-3514881C5E2A}"/>
              </a:ext>
            </a:extLst>
          </p:cNvPr>
          <p:cNvSpPr>
            <a:spLocks noGrp="1"/>
          </p:cNvSpPr>
          <p:nvPr/>
        </p:nvSpPr>
        <p:spPr>
          <a:xfrm>
            <a:off x="4333875" y="5143500"/>
            <a:ext cx="3524250" cy="400050"/>
          </a:xfrm>
          <a:prstGeom prst="rect">
            <a:avLst/>
          </a:prstGeom>
          <a:noFill/>
          <a:ln w="0">
            <a:noFill/>
          </a:ln>
        </p:spPr>
        <p:txBody>
          <a:bodyPr anchor="ctr">
            <a:noAutofit/>
          </a:bodyPr>
          <a:lstStyle/>
          <a:p>
            <a:pPr algn="ctr">
              <a:defRPr sz="1350" b="0">
                <a:solidFill>
                  <a:srgbClr val="ED553B"/>
                </a:solidFill>
                <a:latin typeface="Arial"/>
                <a:ea typeface="Arial"/>
                <a:cs typeface="Arial"/>
              </a:defRPr>
            </a:pPr>
            <a:r>
              <a:rPr sz="1350" b="0">
                <a:solidFill>
                  <a:srgbClr val="ED553B"/>
                </a:solidFill>
                <a:latin typeface="Arial"/>
                <a:ea typeface="Arial"/>
                <a:cs typeface="Arial"/>
              </a:rPr>
              <a:t>Write miss / RFO</a:t>
            </a:r>
          </a:p>
        </p:txBody>
      </p:sp>
      <p:sp>
        <p:nvSpPr>
          <p:cNvPr id="19" name="Rectangle 18">
            <a:extLst>
              <a:ext uri="{FF2B5EF4-FFF2-40B4-BE49-F238E27FC236}">
                <a16:creationId xmlns:a16="http://schemas.microsoft.com/office/drawing/2014/main" id="{0C41AD03-0BF2-4FE0-A16E-5105B290E1FB}"/>
              </a:ext>
            </a:extLst>
          </p:cNvPr>
          <p:cNvSpPr>
            <a:spLocks noGrp="1"/>
          </p:cNvSpPr>
          <p:nvPr/>
        </p:nvSpPr>
        <p:spPr>
          <a:xfrm>
            <a:off x="3381375" y="5905500"/>
            <a:ext cx="6191250" cy="342900"/>
          </a:xfrm>
          <a:prstGeom prst="rect">
            <a:avLst/>
          </a:prstGeom>
          <a:noFill/>
          <a:ln w="0">
            <a:noFill/>
          </a:ln>
        </p:spPr>
        <p:txBody>
          <a:bodyPr anchor="ctr">
            <a:noAutofit/>
          </a:bodyPr>
          <a:lstStyle/>
          <a:p>
            <a:pPr algn="ctr">
              <a:defRPr sz="1425" b="1">
                <a:solidFill>
                  <a:srgbClr val="102A43"/>
                </a:solidFill>
                <a:latin typeface="Arial"/>
                <a:ea typeface="Arial"/>
                <a:cs typeface="Arial"/>
              </a:defRPr>
            </a:pPr>
            <a:r>
              <a:rPr sz="1425" b="1">
                <a:solidFill>
                  <a:srgbClr val="102A43"/>
                </a:solidFill>
                <a:latin typeface="Arial"/>
                <a:ea typeface="Arial"/>
                <a:cs typeface="Arial"/>
              </a:rPr>
              <a:t>Remote RFO hoặc dirty eviction: chuyển về I sau khi bảo toàn dữ liệu</a:t>
            </a:r>
          </a:p>
        </p:txBody>
      </p:sp>
    </p:spTree>
    <p:extLst>
      <p:ext uri="{BB962C8B-B14F-4D97-AF65-F5344CB8AC3E}">
        <p14:creationId xmlns:p14="http://schemas.microsoft.com/office/powerpoint/2010/main" val="36590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4560CD5-B702-40B5-850B-5E975FEC3144}"/>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00158087-DC25-4102-A1F0-996A3216BA4B}"/>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Remote read khi owner đang Modified</a:t>
            </a:r>
          </a:p>
        </p:txBody>
      </p:sp>
      <p:sp>
        <p:nvSpPr>
          <p:cNvPr id="3" name="Rectangle 2">
            <a:extLst>
              <a:ext uri="{FF2B5EF4-FFF2-40B4-BE49-F238E27FC236}">
                <a16:creationId xmlns:a16="http://schemas.microsoft.com/office/drawing/2014/main" id="{64FD1DDA-30FB-4196-AC33-DED97306B5E7}"/>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05</a:t>
            </a:r>
          </a:p>
        </p:txBody>
      </p:sp>
      <p:sp>
        <p:nvSpPr>
          <p:cNvPr id="4" name="Straight Connector 3">
            <a:extLst>
              <a:ext uri="{FF2B5EF4-FFF2-40B4-BE49-F238E27FC236}">
                <a16:creationId xmlns:a16="http://schemas.microsoft.com/office/drawing/2014/main" id="{2C3BCFCF-8555-4139-861A-3490AD389640}"/>
              </a:ext>
            </a:extLst>
          </p:cNvPr>
          <p:cNvSpPr>
            <a:spLocks noGrp="1"/>
          </p:cNvSpPr>
          <p:nvPr/>
        </p:nvSpPr>
        <p:spPr>
          <a:xfrm>
            <a:off x="533400" y="933450"/>
            <a:ext cx="11096625" cy="0"/>
          </a:xfrm>
          <a:prstGeom prst="line">
            <a:avLst/>
          </a:prstGeom>
          <a:noFill/>
          <a:ln w="9525">
            <a:solidFill>
              <a:srgbClr val="B8CAD8"/>
            </a:solidFill>
          </a:ln>
        </p:spPr>
      </p:sp>
      <p:sp>
        <p:nvSpPr>
          <p:cNvPr id="5" name="Oval 4">
            <a:extLst>
              <a:ext uri="{FF2B5EF4-FFF2-40B4-BE49-F238E27FC236}">
                <a16:creationId xmlns:a16="http://schemas.microsoft.com/office/drawing/2014/main" id="{076616E4-95F2-4A53-A8D7-629FCE50B15C}"/>
              </a:ext>
            </a:extLst>
          </p:cNvPr>
          <p:cNvSpPr>
            <a:spLocks noGrp="1"/>
          </p:cNvSpPr>
          <p:nvPr/>
        </p:nvSpPr>
        <p:spPr>
          <a:xfrm>
            <a:off x="628650" y="1428750"/>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6" name="Rectangle 5">
            <a:extLst>
              <a:ext uri="{FF2B5EF4-FFF2-40B4-BE49-F238E27FC236}">
                <a16:creationId xmlns:a16="http://schemas.microsoft.com/office/drawing/2014/main" id="{58EB72CA-3BDB-4749-9F6E-B60F479E9870}"/>
              </a:ext>
            </a:extLst>
          </p:cNvPr>
          <p:cNvSpPr>
            <a:spLocks noGrp="1"/>
          </p:cNvSpPr>
          <p:nvPr/>
        </p:nvSpPr>
        <p:spPr>
          <a:xfrm>
            <a:off x="1219200" y="1409700"/>
            <a:ext cx="25527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Core 1 phát BusRd</a:t>
            </a:r>
          </a:p>
        </p:txBody>
      </p:sp>
      <p:sp>
        <p:nvSpPr>
          <p:cNvPr id="7" name="Rectangle 6">
            <a:extLst>
              <a:ext uri="{FF2B5EF4-FFF2-40B4-BE49-F238E27FC236}">
                <a16:creationId xmlns:a16="http://schemas.microsoft.com/office/drawing/2014/main" id="{D0B22322-7E3C-45E0-B3C7-A232A5C7D3F2}"/>
              </a:ext>
            </a:extLst>
          </p:cNvPr>
          <p:cNvSpPr>
            <a:spLocks noGrp="1"/>
          </p:cNvSpPr>
          <p:nvPr/>
        </p:nvSpPr>
        <p:spPr>
          <a:xfrm>
            <a:off x="1219200" y="1714500"/>
            <a:ext cx="25527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Read miss trên line A</a:t>
            </a:r>
          </a:p>
        </p:txBody>
      </p:sp>
      <p:sp>
        <p:nvSpPr>
          <p:cNvPr id="8" name="Oval 7">
            <a:extLst>
              <a:ext uri="{FF2B5EF4-FFF2-40B4-BE49-F238E27FC236}">
                <a16:creationId xmlns:a16="http://schemas.microsoft.com/office/drawing/2014/main" id="{CEB25F19-A7BE-4EE0-A734-A03667371D49}"/>
              </a:ext>
            </a:extLst>
          </p:cNvPr>
          <p:cNvSpPr>
            <a:spLocks noGrp="1"/>
          </p:cNvSpPr>
          <p:nvPr/>
        </p:nvSpPr>
        <p:spPr>
          <a:xfrm>
            <a:off x="4343400" y="1428750"/>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C082CB08-99C4-495D-B011-822FBC481165}"/>
              </a:ext>
            </a:extLst>
          </p:cNvPr>
          <p:cNvSpPr>
            <a:spLocks noGrp="1"/>
          </p:cNvSpPr>
          <p:nvPr/>
        </p:nvSpPr>
        <p:spPr>
          <a:xfrm>
            <a:off x="4933950" y="1409700"/>
            <a:ext cx="25527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Directory tìm owner</a:t>
            </a:r>
          </a:p>
        </p:txBody>
      </p:sp>
      <p:sp>
        <p:nvSpPr>
          <p:cNvPr id="10" name="Rectangle 9">
            <a:extLst>
              <a:ext uri="{FF2B5EF4-FFF2-40B4-BE49-F238E27FC236}">
                <a16:creationId xmlns:a16="http://schemas.microsoft.com/office/drawing/2014/main" id="{68DD0CAB-91F2-47C0-BE28-13D5A8BD9913}"/>
              </a:ext>
            </a:extLst>
          </p:cNvPr>
          <p:cNvSpPr>
            <a:spLocks noGrp="1"/>
          </p:cNvSpPr>
          <p:nvPr/>
        </p:nvSpPr>
        <p:spPr>
          <a:xfrm>
            <a:off x="4933950" y="1714500"/>
            <a:ext cx="25527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Core 0 đang giữ M</a:t>
            </a:r>
          </a:p>
        </p:txBody>
      </p:sp>
      <p:sp>
        <p:nvSpPr>
          <p:cNvPr id="11" name="Oval 10">
            <a:extLst>
              <a:ext uri="{FF2B5EF4-FFF2-40B4-BE49-F238E27FC236}">
                <a16:creationId xmlns:a16="http://schemas.microsoft.com/office/drawing/2014/main" id="{4D6D400A-641D-4712-85A4-80996EEA4C90}"/>
              </a:ext>
            </a:extLst>
          </p:cNvPr>
          <p:cNvSpPr>
            <a:spLocks noGrp="1"/>
          </p:cNvSpPr>
          <p:nvPr/>
        </p:nvSpPr>
        <p:spPr>
          <a:xfrm>
            <a:off x="8058150" y="1428750"/>
            <a:ext cx="457200" cy="457200"/>
          </a:xfrm>
          <a:prstGeom prst="ellipse">
            <a:avLst/>
          </a:prstGeom>
          <a:solidFill>
            <a:srgbClr val="ED553B"/>
          </a:solidFill>
          <a:ln w="9525">
            <a:solidFill>
              <a:srgbClr val="ED553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2" name="Rectangle 11">
            <a:extLst>
              <a:ext uri="{FF2B5EF4-FFF2-40B4-BE49-F238E27FC236}">
                <a16:creationId xmlns:a16="http://schemas.microsoft.com/office/drawing/2014/main" id="{D8E13B82-0BF1-4D05-9A77-67148858851A}"/>
              </a:ext>
            </a:extLst>
          </p:cNvPr>
          <p:cNvSpPr>
            <a:spLocks noGrp="1"/>
          </p:cNvSpPr>
          <p:nvPr/>
        </p:nvSpPr>
        <p:spPr>
          <a:xfrm>
            <a:off x="8648700" y="1409700"/>
            <a:ext cx="27432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Snoop downgrade</a:t>
            </a:r>
          </a:p>
        </p:txBody>
      </p:sp>
      <p:sp>
        <p:nvSpPr>
          <p:cNvPr id="13" name="Rectangle 12">
            <a:extLst>
              <a:ext uri="{FF2B5EF4-FFF2-40B4-BE49-F238E27FC236}">
                <a16:creationId xmlns:a16="http://schemas.microsoft.com/office/drawing/2014/main" id="{EB0427BD-64DA-4F37-9249-FB5D5F0D0C2F}"/>
              </a:ext>
            </a:extLst>
          </p:cNvPr>
          <p:cNvSpPr>
            <a:spLocks noGrp="1"/>
          </p:cNvSpPr>
          <p:nvPr/>
        </p:nvSpPr>
        <p:spPr>
          <a:xfrm>
            <a:off x="8648700" y="1714500"/>
            <a:ext cx="27432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Core 0 trả dirty line và M→S</a:t>
            </a:r>
          </a:p>
        </p:txBody>
      </p:sp>
      <p:sp>
        <p:nvSpPr>
          <p:cNvPr id="14" name="Straight Connector 13">
            <a:extLst>
              <a:ext uri="{FF2B5EF4-FFF2-40B4-BE49-F238E27FC236}">
                <a16:creationId xmlns:a16="http://schemas.microsoft.com/office/drawing/2014/main" id="{29105326-F055-49DC-9207-B6998651C905}"/>
              </a:ext>
            </a:extLst>
          </p:cNvPr>
          <p:cNvSpPr>
            <a:spLocks noGrp="1"/>
          </p:cNvSpPr>
          <p:nvPr/>
        </p:nvSpPr>
        <p:spPr>
          <a:xfrm>
            <a:off x="876300" y="3028950"/>
            <a:ext cx="9906000" cy="0"/>
          </a:xfrm>
          <a:prstGeom prst="line">
            <a:avLst/>
          </a:prstGeom>
          <a:noFill/>
          <a:ln w="19050">
            <a:solidFill>
              <a:srgbClr val="B8CAD8"/>
            </a:solidFill>
          </a:ln>
        </p:spPr>
      </p:sp>
      <p:sp>
        <p:nvSpPr>
          <p:cNvPr id="15" name="Oval 14">
            <a:extLst>
              <a:ext uri="{FF2B5EF4-FFF2-40B4-BE49-F238E27FC236}">
                <a16:creationId xmlns:a16="http://schemas.microsoft.com/office/drawing/2014/main" id="{2B6E6051-9495-4CA6-ABA3-624F79F8979B}"/>
              </a:ext>
            </a:extLst>
          </p:cNvPr>
          <p:cNvSpPr>
            <a:spLocks noGrp="1"/>
          </p:cNvSpPr>
          <p:nvPr/>
        </p:nvSpPr>
        <p:spPr>
          <a:xfrm>
            <a:off x="1524000" y="3714750"/>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AEC496D7-B424-4344-97A5-59754225EC52}"/>
              </a:ext>
            </a:extLst>
          </p:cNvPr>
          <p:cNvSpPr>
            <a:spLocks noGrp="1"/>
          </p:cNvSpPr>
          <p:nvPr/>
        </p:nvSpPr>
        <p:spPr>
          <a:xfrm>
            <a:off x="2114550" y="3695700"/>
            <a:ext cx="34099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L2 nhận dữ liệu mới nhất</a:t>
            </a:r>
          </a:p>
        </p:txBody>
      </p:sp>
      <p:sp>
        <p:nvSpPr>
          <p:cNvPr id="17" name="Rectangle 16">
            <a:extLst>
              <a:ext uri="{FF2B5EF4-FFF2-40B4-BE49-F238E27FC236}">
                <a16:creationId xmlns:a16="http://schemas.microsoft.com/office/drawing/2014/main" id="{3D96B2EF-5683-4825-BCC4-108F6F71AB5A}"/>
              </a:ext>
            </a:extLst>
          </p:cNvPr>
          <p:cNvSpPr>
            <a:spLocks noGrp="1"/>
          </p:cNvSpPr>
          <p:nvPr/>
        </p:nvSpPr>
        <p:spPr>
          <a:xfrm>
            <a:off x="2114550" y="4000500"/>
            <a:ext cx="34099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Không đọc lại bản cũ từ DRAM</a:t>
            </a:r>
          </a:p>
        </p:txBody>
      </p:sp>
      <p:sp>
        <p:nvSpPr>
          <p:cNvPr id="18" name="Oval 17">
            <a:extLst>
              <a:ext uri="{FF2B5EF4-FFF2-40B4-BE49-F238E27FC236}">
                <a16:creationId xmlns:a16="http://schemas.microsoft.com/office/drawing/2014/main" id="{8F7D5F3B-A6CF-411F-9818-97C6722353F8}"/>
              </a:ext>
            </a:extLst>
          </p:cNvPr>
          <p:cNvSpPr>
            <a:spLocks noGrp="1"/>
          </p:cNvSpPr>
          <p:nvPr/>
        </p:nvSpPr>
        <p:spPr>
          <a:xfrm>
            <a:off x="6667500" y="3714750"/>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8F847A3B-B733-43CD-8703-CC0703901A70}"/>
              </a:ext>
            </a:extLst>
          </p:cNvPr>
          <p:cNvSpPr>
            <a:spLocks noGrp="1"/>
          </p:cNvSpPr>
          <p:nvPr/>
        </p:nvSpPr>
        <p:spPr>
          <a:xfrm>
            <a:off x="7258050" y="3695700"/>
            <a:ext cx="35052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Grant Shared cho Core 1</a:t>
            </a:r>
          </a:p>
        </p:txBody>
      </p:sp>
      <p:sp>
        <p:nvSpPr>
          <p:cNvPr id="20" name="Rectangle 19">
            <a:extLst>
              <a:ext uri="{FF2B5EF4-FFF2-40B4-BE49-F238E27FC236}">
                <a16:creationId xmlns:a16="http://schemas.microsoft.com/office/drawing/2014/main" id="{9B286A1C-ABC8-4AB5-A9F2-1D114387DBDA}"/>
              </a:ext>
            </a:extLst>
          </p:cNvPr>
          <p:cNvSpPr>
            <a:spLocks noGrp="1"/>
          </p:cNvSpPr>
          <p:nvPr/>
        </p:nvSpPr>
        <p:spPr>
          <a:xfrm>
            <a:off x="7258050" y="4000500"/>
            <a:ext cx="35052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Sharer bitmap = Core 0 + Core 1</a:t>
            </a:r>
          </a:p>
        </p:txBody>
      </p:sp>
      <p:sp>
        <p:nvSpPr>
          <p:cNvPr id="21" name="Rectangle 20">
            <a:extLst>
              <a:ext uri="{FF2B5EF4-FFF2-40B4-BE49-F238E27FC236}">
                <a16:creationId xmlns:a16="http://schemas.microsoft.com/office/drawing/2014/main" id="{D7B90F3E-42A6-412B-9C79-E3130B61B9AC}"/>
              </a:ext>
            </a:extLst>
          </p:cNvPr>
          <p:cNvSpPr>
            <a:spLocks noGrp="1"/>
          </p:cNvSpPr>
          <p:nvPr/>
        </p:nvSpPr>
        <p:spPr>
          <a:xfrm>
            <a:off x="666750" y="5572125"/>
            <a:ext cx="1143000" cy="323850"/>
          </a:xfrm>
          <a:prstGeom prst="rect">
            <a:avLst/>
          </a:prstGeom>
          <a:noFill/>
          <a:ln w="0">
            <a:noFill/>
          </a:ln>
        </p:spPr>
        <p:txBody>
          <a:bodyPr anchor="ctr">
            <a:noAutofit/>
          </a:bodyPr>
          <a:lstStyle/>
          <a:p>
            <a:pPr algn="l">
              <a:defRPr sz="1575" b="1">
                <a:solidFill>
                  <a:srgbClr val="ED553B"/>
                </a:solidFill>
                <a:latin typeface="Arial"/>
                <a:ea typeface="Arial"/>
                <a:cs typeface="Arial"/>
              </a:defRPr>
            </a:pPr>
            <a:r>
              <a:rPr sz="1575" b="1">
                <a:solidFill>
                  <a:srgbClr val="ED553B"/>
                </a:solidFill>
                <a:latin typeface="Arial"/>
                <a:ea typeface="Arial"/>
                <a:cs typeface="Arial"/>
              </a:rPr>
              <a:t>Kết quả</a:t>
            </a:r>
          </a:p>
        </p:txBody>
      </p:sp>
      <p:sp>
        <p:nvSpPr>
          <p:cNvPr id="22" name="Rectangle 21">
            <a:extLst>
              <a:ext uri="{FF2B5EF4-FFF2-40B4-BE49-F238E27FC236}">
                <a16:creationId xmlns:a16="http://schemas.microsoft.com/office/drawing/2014/main" id="{95E28635-A48C-4D78-B88D-1C1E55DD90F3}"/>
              </a:ext>
            </a:extLst>
          </p:cNvPr>
          <p:cNvSpPr>
            <a:spLocks noGrp="1"/>
          </p:cNvSpPr>
          <p:nvPr/>
        </p:nvSpPr>
        <p:spPr>
          <a:xfrm>
            <a:off x="1809750" y="5467350"/>
            <a:ext cx="9048750" cy="514350"/>
          </a:xfrm>
          <a:prstGeom prst="rect">
            <a:avLst/>
          </a:prstGeom>
          <a:noFill/>
          <a:ln w="0">
            <a:noFill/>
          </a:ln>
        </p:spPr>
        <p:txBody>
          <a:bodyPr anchor="ctr">
            <a:noAutofit/>
          </a:bodyPr>
          <a:lstStyle/>
          <a:p>
            <a:pPr algn="l">
              <a:defRPr sz="1875" b="1">
                <a:solidFill>
                  <a:srgbClr val="102A43"/>
                </a:solidFill>
                <a:latin typeface="Arial"/>
                <a:ea typeface="Arial"/>
                <a:cs typeface="Arial"/>
              </a:defRPr>
            </a:pPr>
            <a:r>
              <a:rPr sz="1875" b="1">
                <a:solidFill>
                  <a:srgbClr val="102A43"/>
                </a:solidFill>
                <a:latin typeface="Arial"/>
                <a:ea typeface="Arial"/>
                <a:cs typeface="Arial"/>
              </a:rPr>
              <a:t>Core 0 = S    Core 1 = S    Dữ liệu mới nhất được giữ trong L2 và hai L1</a:t>
            </a:r>
          </a:p>
        </p:txBody>
      </p:sp>
    </p:spTree>
    <p:extLst>
      <p:ext uri="{BB962C8B-B14F-4D97-AF65-F5344CB8AC3E}">
        <p14:creationId xmlns:p14="http://schemas.microsoft.com/office/powerpoint/2010/main" val="1293891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ECC0779-CAC9-4ADB-B0DF-05D668C03607}"/>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6F1B6E9A-75E6-46FD-8853-71C671FF4AFF}"/>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Chuyển quyền sở hữu bằng RFO</a:t>
            </a:r>
          </a:p>
        </p:txBody>
      </p:sp>
      <p:sp>
        <p:nvSpPr>
          <p:cNvPr id="3" name="Rectangle 2">
            <a:extLst>
              <a:ext uri="{FF2B5EF4-FFF2-40B4-BE49-F238E27FC236}">
                <a16:creationId xmlns:a16="http://schemas.microsoft.com/office/drawing/2014/main" id="{ECD5E18F-AA6D-45B1-9228-D1CECCC326C2}"/>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06</a:t>
            </a:r>
          </a:p>
        </p:txBody>
      </p:sp>
      <p:sp>
        <p:nvSpPr>
          <p:cNvPr id="4" name="Straight Connector 3">
            <a:extLst>
              <a:ext uri="{FF2B5EF4-FFF2-40B4-BE49-F238E27FC236}">
                <a16:creationId xmlns:a16="http://schemas.microsoft.com/office/drawing/2014/main" id="{071DD456-DB34-4BA7-95E3-474849811D90}"/>
              </a:ext>
            </a:extLst>
          </p:cNvPr>
          <p:cNvSpPr>
            <a:spLocks noGrp="1"/>
          </p:cNvSpPr>
          <p:nvPr/>
        </p:nvSpPr>
        <p:spPr>
          <a:xfrm>
            <a:off x="533400" y="933450"/>
            <a:ext cx="11096625" cy="0"/>
          </a:xfrm>
          <a:prstGeom prst="line">
            <a:avLst/>
          </a:prstGeom>
          <a:noFill/>
          <a:ln w="9525">
            <a:solidFill>
              <a:srgbClr val="B8CAD8"/>
            </a:solidFill>
          </a:ln>
        </p:spPr>
      </p:sp>
      <p:sp>
        <p:nvSpPr>
          <p:cNvPr id="5" name="Rectangle: Rounded Corners 4">
            <a:extLst>
              <a:ext uri="{FF2B5EF4-FFF2-40B4-BE49-F238E27FC236}">
                <a16:creationId xmlns:a16="http://schemas.microsoft.com/office/drawing/2014/main" id="{6F726FF9-E572-4CC0-9DA6-B90CCB77581C}"/>
              </a:ext>
            </a:extLst>
          </p:cNvPr>
          <p:cNvSpPr>
            <a:spLocks noGrp="1"/>
          </p:cNvSpPr>
          <p:nvPr/>
        </p:nvSpPr>
        <p:spPr>
          <a:xfrm>
            <a:off x="590550" y="1714500"/>
            <a:ext cx="1809750" cy="1190625"/>
          </a:xfrm>
          <a:prstGeom prst="roundRect">
            <a:avLst>
              <a:gd name="adj" fmla="val 6400"/>
            </a:avLst>
          </a:prstGeom>
          <a:solidFill>
            <a:srgbClr val="FFFFFF"/>
          </a:solidFill>
          <a:ln w="28575">
            <a:solidFill>
              <a:srgbClr val="20639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Requester</a:t>
            </a:r>
          </a:p>
          <a:p>
            <a:pPr algn="ctr">
              <a:defRPr sz="1575" b="1">
                <a:solidFill>
                  <a:srgbClr val="102A43"/>
                </a:solidFill>
                <a:latin typeface="Arial"/>
                <a:ea typeface="Arial"/>
                <a:cs typeface="Arial"/>
              </a:defRPr>
            </a:pPr>
            <a:r>
              <a:rPr sz="1575" b="1">
                <a:solidFill>
                  <a:srgbClr val="102A43"/>
                </a:solidFill>
                <a:latin typeface="Arial"/>
                <a:ea typeface="Arial"/>
                <a:cs typeface="Arial"/>
              </a:rPr>
              <a:t>Write miss hoặc S→M</a:t>
            </a:r>
          </a:p>
        </p:txBody>
      </p:sp>
      <p:sp>
        <p:nvSpPr>
          <p:cNvPr id="6" name="Rectangle: Rounded Corners 5">
            <a:extLst>
              <a:ext uri="{FF2B5EF4-FFF2-40B4-BE49-F238E27FC236}">
                <a16:creationId xmlns:a16="http://schemas.microsoft.com/office/drawing/2014/main" id="{5DD1D8CE-6311-45F7-A115-700E165AAD5E}"/>
              </a:ext>
            </a:extLst>
          </p:cNvPr>
          <p:cNvSpPr>
            <a:spLocks noGrp="1"/>
          </p:cNvSpPr>
          <p:nvPr/>
        </p:nvSpPr>
        <p:spPr>
          <a:xfrm>
            <a:off x="2857500" y="1714500"/>
            <a:ext cx="1809750" cy="1190625"/>
          </a:xfrm>
          <a:prstGeom prst="roundRect">
            <a:avLst>
              <a:gd name="adj" fmla="val 6400"/>
            </a:avLst>
          </a:prstGeom>
          <a:solidFill>
            <a:srgbClr val="FFFFFF"/>
          </a:solidFill>
          <a:ln w="28575">
            <a:solidFill>
              <a:srgbClr val="ED553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RFO</a:t>
            </a:r>
          </a:p>
          <a:p>
            <a:pPr algn="ctr">
              <a:defRPr sz="1575" b="1">
                <a:solidFill>
                  <a:srgbClr val="102A43"/>
                </a:solidFill>
                <a:latin typeface="Arial"/>
                <a:ea typeface="Arial"/>
                <a:cs typeface="Arial"/>
              </a:defRPr>
            </a:pPr>
            <a:r>
              <a:rPr sz="1575" b="1">
                <a:solidFill>
                  <a:srgbClr val="102A43"/>
                </a:solidFill>
                <a:latin typeface="Arial"/>
                <a:ea typeface="Arial"/>
                <a:cs typeface="Arial"/>
              </a:rPr>
              <a:t>Xin quyền ghi độc quyền</a:t>
            </a:r>
          </a:p>
        </p:txBody>
      </p:sp>
      <p:cxnSp>
        <p:nvCxnSpPr>
          <p:cNvPr id="24" name="Straight Arrow Connector 23"/>
          <p:cNvCxnSpPr>
            <a:stCxn id="5" idx="3"/>
            <a:endCxn id="6" idx="1"/>
          </p:cNvCxnSpPr>
          <p:nvPr/>
        </p:nvCxnSpPr>
        <p:spPr>
          <a:xfrm>
            <a:off x="2400300" y="2309813"/>
            <a:ext cx="457200" cy="0"/>
          </a:xfrm>
          <a:prstGeom prst="straightConnector1">
            <a:avLst/>
          </a:prstGeom>
          <a:ln w="19050">
            <a:solidFill>
              <a:srgbClr val="5D7893"/>
            </a:solidFill>
            <a:tailEnd type="arrow" w="med" len="med"/>
          </a:ln>
        </p:spPr>
      </p:cxnSp>
      <p:sp>
        <p:nvSpPr>
          <p:cNvPr id="8" name="Rectangle: Rounded Corners 7">
            <a:extLst>
              <a:ext uri="{FF2B5EF4-FFF2-40B4-BE49-F238E27FC236}">
                <a16:creationId xmlns:a16="http://schemas.microsoft.com/office/drawing/2014/main" id="{246B1A18-AFD2-4AE9-BA63-9445E6BB5CEF}"/>
              </a:ext>
            </a:extLst>
          </p:cNvPr>
          <p:cNvSpPr>
            <a:spLocks noGrp="1"/>
          </p:cNvSpPr>
          <p:nvPr/>
        </p:nvSpPr>
        <p:spPr>
          <a:xfrm>
            <a:off x="5124450" y="1714500"/>
            <a:ext cx="1809750" cy="1190625"/>
          </a:xfrm>
          <a:prstGeom prst="roundRect">
            <a:avLst>
              <a:gd name="adj" fmla="val 6400"/>
            </a:avLst>
          </a:prstGeom>
          <a:solidFill>
            <a:srgbClr val="FFFFFF"/>
          </a:solidFill>
          <a:ln w="28575">
            <a:solidFill>
              <a:srgbClr val="2EA99C"/>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Directory</a:t>
            </a:r>
          </a:p>
          <a:p>
            <a:pPr algn="ctr">
              <a:defRPr sz="1575" b="1">
                <a:solidFill>
                  <a:srgbClr val="102A43"/>
                </a:solidFill>
                <a:latin typeface="Arial"/>
                <a:ea typeface="Arial"/>
                <a:cs typeface="Arial"/>
              </a:defRPr>
            </a:pPr>
            <a:r>
              <a:rPr sz="1575" b="1">
                <a:solidFill>
                  <a:srgbClr val="102A43"/>
                </a:solidFill>
                <a:latin typeface="Arial"/>
                <a:ea typeface="Arial"/>
                <a:cs typeface="Arial"/>
              </a:rPr>
              <a:t>Liệt kê sharer khác</a:t>
            </a:r>
          </a:p>
        </p:txBody>
      </p:sp>
      <p:cxnSp>
        <p:nvCxnSpPr>
          <p:cNvPr id="26" name="Straight Arrow Connector 25"/>
          <p:cNvCxnSpPr>
            <a:stCxn id="6" idx="3"/>
            <a:endCxn id="8" idx="1"/>
          </p:cNvCxnSpPr>
          <p:nvPr/>
        </p:nvCxnSpPr>
        <p:spPr>
          <a:xfrm>
            <a:off x="4667250" y="2309813"/>
            <a:ext cx="457200" cy="0"/>
          </a:xfrm>
          <a:prstGeom prst="straightConnector1">
            <a:avLst/>
          </a:prstGeom>
          <a:ln w="19050">
            <a:solidFill>
              <a:srgbClr val="5D7893"/>
            </a:solidFill>
            <a:tailEnd type="arrow" w="med" len="med"/>
          </a:ln>
        </p:spPr>
      </p:cxnSp>
      <p:sp>
        <p:nvSpPr>
          <p:cNvPr id="10" name="Rectangle: Rounded Corners 9">
            <a:extLst>
              <a:ext uri="{FF2B5EF4-FFF2-40B4-BE49-F238E27FC236}">
                <a16:creationId xmlns:a16="http://schemas.microsoft.com/office/drawing/2014/main" id="{55263499-6BFD-464F-9BB6-0003BBA27046}"/>
              </a:ext>
            </a:extLst>
          </p:cNvPr>
          <p:cNvSpPr>
            <a:spLocks noGrp="1"/>
          </p:cNvSpPr>
          <p:nvPr/>
        </p:nvSpPr>
        <p:spPr>
          <a:xfrm>
            <a:off x="7391400" y="1714500"/>
            <a:ext cx="1809750" cy="1190625"/>
          </a:xfrm>
          <a:prstGeom prst="roundRect">
            <a:avLst>
              <a:gd name="adj" fmla="val 6400"/>
            </a:avLst>
          </a:prstGeom>
          <a:solidFill>
            <a:srgbClr val="FFFFFF"/>
          </a:solidFill>
          <a:ln w="28575">
            <a:solidFill>
              <a:srgbClr val="ED553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Invalidate</a:t>
            </a:r>
          </a:p>
          <a:p>
            <a:pPr algn="ctr">
              <a:defRPr sz="1575" b="1">
                <a:solidFill>
                  <a:srgbClr val="102A43"/>
                </a:solidFill>
                <a:latin typeface="Arial"/>
                <a:ea typeface="Arial"/>
                <a:cs typeface="Arial"/>
              </a:defRPr>
            </a:pPr>
            <a:r>
              <a:rPr sz="1575" b="1">
                <a:solidFill>
                  <a:srgbClr val="102A43"/>
                </a:solidFill>
                <a:latin typeface="Arial"/>
                <a:ea typeface="Arial"/>
                <a:cs typeface="Arial"/>
              </a:rPr>
              <a:t>Thu hồi mọi bản sao</a:t>
            </a:r>
          </a:p>
        </p:txBody>
      </p:sp>
      <p:cxnSp>
        <p:nvCxnSpPr>
          <p:cNvPr id="28" name="Straight Arrow Connector 27"/>
          <p:cNvCxnSpPr>
            <a:stCxn id="8" idx="3"/>
            <a:endCxn id="10" idx="1"/>
          </p:cNvCxnSpPr>
          <p:nvPr/>
        </p:nvCxnSpPr>
        <p:spPr>
          <a:xfrm>
            <a:off x="6934200" y="2309813"/>
            <a:ext cx="457200" cy="0"/>
          </a:xfrm>
          <a:prstGeom prst="straightConnector1">
            <a:avLst/>
          </a:prstGeom>
          <a:ln w="19050">
            <a:solidFill>
              <a:srgbClr val="5D7893"/>
            </a:solidFill>
            <a:tailEnd type="arrow" w="med" len="med"/>
          </a:ln>
        </p:spPr>
      </p:cxnSp>
      <p:sp>
        <p:nvSpPr>
          <p:cNvPr id="12" name="Rectangle: Rounded Corners 11">
            <a:extLst>
              <a:ext uri="{FF2B5EF4-FFF2-40B4-BE49-F238E27FC236}">
                <a16:creationId xmlns:a16="http://schemas.microsoft.com/office/drawing/2014/main" id="{964171E1-279E-477E-869B-7E3B858580B1}"/>
              </a:ext>
            </a:extLst>
          </p:cNvPr>
          <p:cNvSpPr>
            <a:spLocks noGrp="1"/>
          </p:cNvSpPr>
          <p:nvPr/>
        </p:nvSpPr>
        <p:spPr>
          <a:xfrm>
            <a:off x="9658350" y="1714500"/>
            <a:ext cx="1809750" cy="1190625"/>
          </a:xfrm>
          <a:prstGeom prst="roundRect">
            <a:avLst>
              <a:gd name="adj" fmla="val 6400"/>
            </a:avLst>
          </a:prstGeom>
          <a:solidFill>
            <a:srgbClr val="FFFFFF"/>
          </a:solidFill>
          <a:ln w="28575">
            <a:solidFill>
              <a:srgbClr val="20639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Grant M</a:t>
            </a:r>
          </a:p>
          <a:p>
            <a:pPr algn="ctr">
              <a:defRPr sz="1575" b="1">
                <a:solidFill>
                  <a:srgbClr val="102A43"/>
                </a:solidFill>
                <a:latin typeface="Arial"/>
                <a:ea typeface="Arial"/>
                <a:cs typeface="Arial"/>
              </a:defRPr>
            </a:pPr>
            <a:r>
              <a:rPr sz="1575" b="1">
                <a:solidFill>
                  <a:srgbClr val="102A43"/>
                </a:solidFill>
                <a:latin typeface="Arial"/>
                <a:ea typeface="Arial"/>
                <a:cs typeface="Arial"/>
              </a:rPr>
              <a:t>Chỉ requester còn sharer</a:t>
            </a:r>
          </a:p>
        </p:txBody>
      </p:sp>
      <p:cxnSp>
        <p:nvCxnSpPr>
          <p:cNvPr id="30" name="Straight Arrow Connector 29"/>
          <p:cNvCxnSpPr>
            <a:stCxn id="10" idx="3"/>
            <a:endCxn id="12" idx="1"/>
          </p:cNvCxnSpPr>
          <p:nvPr/>
        </p:nvCxnSpPr>
        <p:spPr>
          <a:xfrm>
            <a:off x="9201150" y="2309813"/>
            <a:ext cx="457200" cy="0"/>
          </a:xfrm>
          <a:prstGeom prst="straightConnector1">
            <a:avLst/>
          </a:prstGeom>
          <a:ln w="19050">
            <a:solidFill>
              <a:srgbClr val="5D7893"/>
            </a:solidFill>
            <a:tailEnd type="arrow" w="med" len="med"/>
          </a:ln>
        </p:spPr>
      </p:cxnSp>
      <p:sp>
        <p:nvSpPr>
          <p:cNvPr id="14" name="Rectangle 13">
            <a:extLst>
              <a:ext uri="{FF2B5EF4-FFF2-40B4-BE49-F238E27FC236}">
                <a16:creationId xmlns:a16="http://schemas.microsoft.com/office/drawing/2014/main" id="{F9189F23-B9B9-47E0-838C-34180FF901FA}"/>
              </a:ext>
            </a:extLst>
          </p:cNvPr>
          <p:cNvSpPr>
            <a:spLocks noGrp="1"/>
          </p:cNvSpPr>
          <p:nvPr/>
        </p:nvSpPr>
        <p:spPr>
          <a:xfrm>
            <a:off x="685800" y="3619500"/>
            <a:ext cx="3143250" cy="381000"/>
          </a:xfrm>
          <a:prstGeom prst="rect">
            <a:avLst/>
          </a:prstGeom>
          <a:noFill/>
          <a:ln w="0">
            <a:noFill/>
          </a:ln>
        </p:spPr>
        <p:txBody>
          <a:bodyPr anchor="ctr">
            <a:noAutofit/>
          </a:bodyPr>
          <a:lstStyle/>
          <a:p>
            <a:pPr algn="l">
              <a:defRPr sz="1800" b="1">
                <a:solidFill>
                  <a:srgbClr val="ED553B"/>
                </a:solidFill>
                <a:latin typeface="Arial"/>
                <a:ea typeface="Arial"/>
                <a:cs typeface="Arial"/>
              </a:defRPr>
            </a:pPr>
            <a:r>
              <a:rPr sz="1800" b="1">
                <a:solidFill>
                  <a:srgbClr val="ED553B"/>
                </a:solidFill>
                <a:latin typeface="Arial"/>
                <a:ea typeface="Arial"/>
                <a:cs typeface="Arial"/>
              </a:rPr>
              <a:t>Nếu một sharer giữ M</a:t>
            </a:r>
          </a:p>
        </p:txBody>
      </p:sp>
      <p:sp>
        <p:nvSpPr>
          <p:cNvPr id="15" name="Rectangle 14">
            <a:extLst>
              <a:ext uri="{FF2B5EF4-FFF2-40B4-BE49-F238E27FC236}">
                <a16:creationId xmlns:a16="http://schemas.microsoft.com/office/drawing/2014/main" id="{3A37BAC4-0844-41F5-B58D-F13C276AD23A}"/>
              </a:ext>
            </a:extLst>
          </p:cNvPr>
          <p:cNvSpPr>
            <a:spLocks noGrp="1"/>
          </p:cNvSpPr>
          <p:nvPr/>
        </p:nvSpPr>
        <p:spPr>
          <a:xfrm>
            <a:off x="685800" y="4076700"/>
            <a:ext cx="10096500" cy="619125"/>
          </a:xfrm>
          <a:prstGeom prst="rect">
            <a:avLst/>
          </a:prstGeom>
          <a:noFill/>
          <a:ln w="0">
            <a:noFill/>
          </a:ln>
        </p:spPr>
        <p:txBody>
          <a:bodyPr anchor="ctr">
            <a:noAutofit/>
          </a:bodyPr>
          <a:lstStyle/>
          <a:p>
            <a:pPr algn="l">
              <a:defRPr sz="1875" b="0">
                <a:solidFill>
                  <a:srgbClr val="102A43"/>
                </a:solidFill>
                <a:latin typeface="Arial"/>
                <a:ea typeface="Arial"/>
                <a:cs typeface="Arial"/>
              </a:defRPr>
            </a:pPr>
            <a:r>
              <a:rPr sz="1875" b="0">
                <a:solidFill>
                  <a:srgbClr val="102A43"/>
                </a:solidFill>
                <a:latin typeface="Arial"/>
                <a:ea typeface="Arial"/>
                <a:cs typeface="Arial"/>
              </a:rPr>
              <a:t>Snoop response mang theo toàn bộ dirty line trước khi invalidate, nên dữ liệu mới nhất không bị mất.</a:t>
            </a:r>
          </a:p>
        </p:txBody>
      </p:sp>
      <p:sp>
        <p:nvSpPr>
          <p:cNvPr id="16" name="Rectangle 15">
            <a:extLst>
              <a:ext uri="{FF2B5EF4-FFF2-40B4-BE49-F238E27FC236}">
                <a16:creationId xmlns:a16="http://schemas.microsoft.com/office/drawing/2014/main" id="{EE27E540-BAC7-4621-B2E4-1564807FEF59}"/>
              </a:ext>
            </a:extLst>
          </p:cNvPr>
          <p:cNvSpPr>
            <a:spLocks noGrp="1"/>
          </p:cNvSpPr>
          <p:nvPr/>
        </p:nvSpPr>
        <p:spPr>
          <a:xfrm>
            <a:off x="685800" y="5095875"/>
            <a:ext cx="2095500" cy="342900"/>
          </a:xfrm>
          <a:prstGeom prst="rect">
            <a:avLst/>
          </a:prstGeom>
          <a:noFill/>
          <a:ln w="0">
            <a:noFill/>
          </a:ln>
        </p:spPr>
        <p:txBody>
          <a:bodyPr anchor="ctr">
            <a:noAutofit/>
          </a:bodyPr>
          <a:lstStyle/>
          <a:p>
            <a:pPr algn="l">
              <a:defRPr sz="1650" b="1">
                <a:solidFill>
                  <a:srgbClr val="2EA99C"/>
                </a:solidFill>
                <a:latin typeface="Arial"/>
                <a:ea typeface="Arial"/>
                <a:cs typeface="Arial"/>
              </a:defRPr>
            </a:pPr>
            <a:r>
              <a:rPr sz="1650" b="1">
                <a:solidFill>
                  <a:srgbClr val="2EA99C"/>
                </a:solidFill>
                <a:latin typeface="Arial"/>
                <a:ea typeface="Arial"/>
                <a:cs typeface="Arial"/>
              </a:rPr>
              <a:t>False sharing</a:t>
            </a:r>
          </a:p>
        </p:txBody>
      </p:sp>
      <p:sp>
        <p:nvSpPr>
          <p:cNvPr id="17" name="Rectangle 16">
            <a:extLst>
              <a:ext uri="{FF2B5EF4-FFF2-40B4-BE49-F238E27FC236}">
                <a16:creationId xmlns:a16="http://schemas.microsoft.com/office/drawing/2014/main" id="{387FC2FF-DB30-4770-BB28-C4C955ED65F8}"/>
              </a:ext>
            </a:extLst>
          </p:cNvPr>
          <p:cNvSpPr>
            <a:spLocks noGrp="1"/>
          </p:cNvSpPr>
          <p:nvPr/>
        </p:nvSpPr>
        <p:spPr>
          <a:xfrm>
            <a:off x="685800" y="5505450"/>
            <a:ext cx="10287000" cy="552450"/>
          </a:xfrm>
          <a:prstGeom prst="rect">
            <a:avLst/>
          </a:prstGeom>
          <a:noFill/>
          <a:ln w="0">
            <a:noFill/>
          </a:ln>
        </p:spPr>
        <p:txBody>
          <a:bodyPr anchor="ctr">
            <a:noAutofit/>
          </a:bodyPr>
          <a:lstStyle/>
          <a:p>
            <a:pPr algn="l">
              <a:defRPr sz="1650" b="0">
                <a:solidFill>
                  <a:srgbClr val="5D7893"/>
                </a:solidFill>
                <a:latin typeface="Arial"/>
                <a:ea typeface="Arial"/>
                <a:cs typeface="Arial"/>
              </a:defRPr>
            </a:pPr>
            <a:r>
              <a:rPr sz="1650" b="0">
                <a:solidFill>
                  <a:srgbClr val="5D7893"/>
                </a:solidFill>
                <a:latin typeface="Arial"/>
                <a:ea typeface="Arial"/>
                <a:cs typeface="Arial"/>
              </a:rPr>
              <a:t>Hai core ghi hai word khác nhau trong cùng line vẫn chuyển ownership, nhưng các word còn lại được bảo toàn.</a:t>
            </a:r>
          </a:p>
        </p:txBody>
      </p:sp>
    </p:spTree>
    <p:extLst>
      <p:ext uri="{BB962C8B-B14F-4D97-AF65-F5344CB8AC3E}">
        <p14:creationId xmlns:p14="http://schemas.microsoft.com/office/powerpoint/2010/main" val="1216636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A5CD946-E2CF-4C3E-82BF-C2CD683DBD77}"/>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692C0475-B43D-4767-9960-64045260E616}"/>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FSM giao dịch của coherence manager</a:t>
            </a:r>
          </a:p>
        </p:txBody>
      </p:sp>
      <p:sp>
        <p:nvSpPr>
          <p:cNvPr id="3" name="Rectangle 2">
            <a:extLst>
              <a:ext uri="{FF2B5EF4-FFF2-40B4-BE49-F238E27FC236}">
                <a16:creationId xmlns:a16="http://schemas.microsoft.com/office/drawing/2014/main" id="{EE236C81-E8A5-40BA-BC2F-3122BAE37379}"/>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07</a:t>
            </a:r>
          </a:p>
        </p:txBody>
      </p:sp>
      <p:sp>
        <p:nvSpPr>
          <p:cNvPr id="4" name="Straight Connector 3">
            <a:extLst>
              <a:ext uri="{FF2B5EF4-FFF2-40B4-BE49-F238E27FC236}">
                <a16:creationId xmlns:a16="http://schemas.microsoft.com/office/drawing/2014/main" id="{071153E7-3ABD-4216-B7AC-3C7854643E31}"/>
              </a:ext>
            </a:extLst>
          </p:cNvPr>
          <p:cNvSpPr>
            <a:spLocks noGrp="1"/>
          </p:cNvSpPr>
          <p:nvPr/>
        </p:nvSpPr>
        <p:spPr>
          <a:xfrm>
            <a:off x="533400" y="933450"/>
            <a:ext cx="11096625" cy="0"/>
          </a:xfrm>
          <a:prstGeom prst="line">
            <a:avLst/>
          </a:prstGeom>
          <a:noFill/>
          <a:ln w="9525">
            <a:solidFill>
              <a:srgbClr val="B8CAD8"/>
            </a:solidFill>
          </a:ln>
        </p:spPr>
      </p:sp>
      <p:sp>
        <p:nvSpPr>
          <p:cNvPr id="5" name="Rectangle: Rounded Corners 4">
            <a:extLst>
              <a:ext uri="{FF2B5EF4-FFF2-40B4-BE49-F238E27FC236}">
                <a16:creationId xmlns:a16="http://schemas.microsoft.com/office/drawing/2014/main" id="{1DBC7F24-BB21-4EB2-AC25-6537548C6A50}"/>
              </a:ext>
            </a:extLst>
          </p:cNvPr>
          <p:cNvSpPr>
            <a:spLocks noGrp="1"/>
          </p:cNvSpPr>
          <p:nvPr/>
        </p:nvSpPr>
        <p:spPr>
          <a:xfrm>
            <a:off x="590550" y="1428750"/>
            <a:ext cx="2238375" cy="952500"/>
          </a:xfrm>
          <a:prstGeom prst="roundRect">
            <a:avLst>
              <a:gd name="adj" fmla="val 8000"/>
            </a:avLst>
          </a:prstGeom>
          <a:solidFill>
            <a:srgbClr val="E8F2F8"/>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IDLE</a:t>
            </a:r>
          </a:p>
          <a:p>
            <a:pPr algn="ctr">
              <a:defRPr sz="1500" b="1">
                <a:solidFill>
                  <a:srgbClr val="102A43"/>
                </a:solidFill>
                <a:latin typeface="Arial"/>
                <a:ea typeface="Arial"/>
                <a:cs typeface="Arial"/>
              </a:defRPr>
            </a:pPr>
            <a:r>
              <a:rPr sz="1500" b="1">
                <a:solidFill>
                  <a:srgbClr val="102A43"/>
                </a:solidFill>
                <a:latin typeface="Arial"/>
                <a:ea typeface="Arial"/>
                <a:cs typeface="Arial"/>
              </a:rPr>
              <a:t>Round-robin chọn request</a:t>
            </a:r>
          </a:p>
        </p:txBody>
      </p:sp>
      <p:sp>
        <p:nvSpPr>
          <p:cNvPr id="6" name="Rectangle: Rounded Corners 5">
            <a:extLst>
              <a:ext uri="{FF2B5EF4-FFF2-40B4-BE49-F238E27FC236}">
                <a16:creationId xmlns:a16="http://schemas.microsoft.com/office/drawing/2014/main" id="{1BEA8EFD-587E-4FB8-8386-887E64129BCB}"/>
              </a:ext>
            </a:extLst>
          </p:cNvPr>
          <p:cNvSpPr>
            <a:spLocks noGrp="1"/>
          </p:cNvSpPr>
          <p:nvPr/>
        </p:nvSpPr>
        <p:spPr>
          <a:xfrm>
            <a:off x="3390900" y="1428750"/>
            <a:ext cx="2238375"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L2 LOOKUP</a:t>
            </a:r>
          </a:p>
          <a:p>
            <a:pPr algn="ctr">
              <a:defRPr sz="1500" b="1">
                <a:solidFill>
                  <a:srgbClr val="102A43"/>
                </a:solidFill>
                <a:latin typeface="Arial"/>
                <a:ea typeface="Arial"/>
                <a:cs typeface="Arial"/>
              </a:defRPr>
            </a:pPr>
            <a:r>
              <a:rPr sz="1500" b="1">
                <a:solidFill>
                  <a:srgbClr val="102A43"/>
                </a:solidFill>
                <a:latin typeface="Arial"/>
                <a:ea typeface="Arial"/>
                <a:cs typeface="Arial"/>
              </a:rPr>
              <a:t>Hit, miss, RFO, WB</a:t>
            </a:r>
          </a:p>
        </p:txBody>
      </p:sp>
      <p:cxnSp>
        <p:nvCxnSpPr>
          <p:cNvPr id="28" name="Straight Arrow Connector 27"/>
          <p:cNvCxnSpPr>
            <a:stCxn id="5" idx="3"/>
            <a:endCxn id="6" idx="1"/>
          </p:cNvCxnSpPr>
          <p:nvPr/>
        </p:nvCxnSpPr>
        <p:spPr>
          <a:xfrm>
            <a:off x="2828925" y="1905000"/>
            <a:ext cx="561975" cy="0"/>
          </a:xfrm>
          <a:prstGeom prst="straightConnector1">
            <a:avLst/>
          </a:prstGeom>
          <a:ln w="19050">
            <a:solidFill>
              <a:srgbClr val="5D7893"/>
            </a:solidFill>
            <a:tailEnd type="arrow" w="med" len="med"/>
          </a:ln>
        </p:spPr>
      </p:cxnSp>
      <p:sp>
        <p:nvSpPr>
          <p:cNvPr id="8" name="Rectangle: Rounded Corners 7">
            <a:extLst>
              <a:ext uri="{FF2B5EF4-FFF2-40B4-BE49-F238E27FC236}">
                <a16:creationId xmlns:a16="http://schemas.microsoft.com/office/drawing/2014/main" id="{ED29A809-ED39-4F70-A04B-7C326E49E8A4}"/>
              </a:ext>
            </a:extLst>
          </p:cNvPr>
          <p:cNvSpPr>
            <a:spLocks noGrp="1"/>
          </p:cNvSpPr>
          <p:nvPr/>
        </p:nvSpPr>
        <p:spPr>
          <a:xfrm>
            <a:off x="6191250" y="1428750"/>
            <a:ext cx="2238375" cy="952500"/>
          </a:xfrm>
          <a:prstGeom prst="roundRect">
            <a:avLst>
              <a:gd name="adj" fmla="val 8000"/>
            </a:avLst>
          </a:prstGeom>
          <a:solidFill>
            <a:srgbClr val="FFFFFF"/>
          </a:solidFill>
          <a:ln w="19050">
            <a:solidFill>
              <a:srgbClr val="ED553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SNOOP</a:t>
            </a:r>
          </a:p>
          <a:p>
            <a:pPr algn="ctr">
              <a:defRPr sz="1500" b="1">
                <a:solidFill>
                  <a:srgbClr val="102A43"/>
                </a:solidFill>
                <a:latin typeface="Arial"/>
                <a:ea typeface="Arial"/>
                <a:cs typeface="Arial"/>
              </a:defRPr>
            </a:pPr>
            <a:r>
              <a:rPr sz="1500" b="1">
                <a:solidFill>
                  <a:srgbClr val="102A43"/>
                </a:solidFill>
                <a:latin typeface="Arial"/>
                <a:ea typeface="Arial"/>
                <a:cs typeface="Arial"/>
              </a:rPr>
              <a:t>Invalidate hoặc downgrade</a:t>
            </a:r>
          </a:p>
        </p:txBody>
      </p:sp>
      <p:cxnSp>
        <p:nvCxnSpPr>
          <p:cNvPr id="30" name="Straight Arrow Connector 29"/>
          <p:cNvCxnSpPr>
            <a:stCxn id="6" idx="3"/>
            <a:endCxn id="8" idx="1"/>
          </p:cNvCxnSpPr>
          <p:nvPr/>
        </p:nvCxnSpPr>
        <p:spPr>
          <a:xfrm>
            <a:off x="5629275" y="1905000"/>
            <a:ext cx="561975" cy="0"/>
          </a:xfrm>
          <a:prstGeom prst="straightConnector1">
            <a:avLst/>
          </a:prstGeom>
          <a:ln w="19050">
            <a:solidFill>
              <a:srgbClr val="5D7893"/>
            </a:solidFill>
            <a:tailEnd type="arrow" w="med" len="med"/>
          </a:ln>
        </p:spPr>
      </p:cxnSp>
      <p:sp>
        <p:nvSpPr>
          <p:cNvPr id="10" name="Rectangle: Rounded Corners 9">
            <a:extLst>
              <a:ext uri="{FF2B5EF4-FFF2-40B4-BE49-F238E27FC236}">
                <a16:creationId xmlns:a16="http://schemas.microsoft.com/office/drawing/2014/main" id="{4A04F520-B71C-432B-BDCD-76D277F729D3}"/>
              </a:ext>
            </a:extLst>
          </p:cNvPr>
          <p:cNvSpPr>
            <a:spLocks noGrp="1"/>
          </p:cNvSpPr>
          <p:nvPr/>
        </p:nvSpPr>
        <p:spPr>
          <a:xfrm>
            <a:off x="8991600" y="1428750"/>
            <a:ext cx="2238375"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MEMORY</a:t>
            </a:r>
          </a:p>
          <a:p>
            <a:pPr algn="ctr">
              <a:defRPr sz="1500" b="1">
                <a:solidFill>
                  <a:srgbClr val="102A43"/>
                </a:solidFill>
                <a:latin typeface="Arial"/>
                <a:ea typeface="Arial"/>
                <a:cs typeface="Arial"/>
              </a:defRPr>
            </a:pPr>
            <a:r>
              <a:rPr sz="1500" b="1">
                <a:solidFill>
                  <a:srgbClr val="102A43"/>
                </a:solidFill>
                <a:latin typeface="Arial"/>
                <a:ea typeface="Arial"/>
                <a:cs typeface="Arial"/>
              </a:rPr>
              <a:t>Victim WB hoặc line fill</a:t>
            </a:r>
          </a:p>
        </p:txBody>
      </p:sp>
      <p:cxnSp>
        <p:nvCxnSpPr>
          <p:cNvPr id="32" name="Straight Arrow Connector 31"/>
          <p:cNvCxnSpPr>
            <a:stCxn id="8" idx="3"/>
            <a:endCxn id="10" idx="1"/>
          </p:cNvCxnSpPr>
          <p:nvPr/>
        </p:nvCxnSpPr>
        <p:spPr>
          <a:xfrm>
            <a:off x="8429625" y="1905000"/>
            <a:ext cx="561975" cy="0"/>
          </a:xfrm>
          <a:prstGeom prst="straightConnector1">
            <a:avLst/>
          </a:prstGeom>
          <a:ln w="19050">
            <a:solidFill>
              <a:srgbClr val="5D7893"/>
            </a:solidFill>
            <a:tailEnd type="arrow" w="med" len="med"/>
          </a:ln>
        </p:spPr>
      </p:cxnSp>
      <p:sp>
        <p:nvSpPr>
          <p:cNvPr id="12" name="Rectangle: Rounded Corners 11">
            <a:extLst>
              <a:ext uri="{FF2B5EF4-FFF2-40B4-BE49-F238E27FC236}">
                <a16:creationId xmlns:a16="http://schemas.microsoft.com/office/drawing/2014/main" id="{216EF89D-8FF6-4AA5-8D2A-D4DCBB85AA35}"/>
              </a:ext>
            </a:extLst>
          </p:cNvPr>
          <p:cNvSpPr>
            <a:spLocks noGrp="1"/>
          </p:cNvSpPr>
          <p:nvPr/>
        </p:nvSpPr>
        <p:spPr>
          <a:xfrm>
            <a:off x="8191500" y="3714750"/>
            <a:ext cx="2381250" cy="952500"/>
          </a:xfrm>
          <a:prstGeom prst="roundRect">
            <a:avLst>
              <a:gd name="adj" fmla="val 8000"/>
            </a:avLst>
          </a:prstGeom>
          <a:solidFill>
            <a:srgbClr val="E8F6F4"/>
          </a:solidFill>
          <a:ln w="19050">
            <a:solidFill>
              <a:srgbClr val="2EA99C"/>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UPDATE L2</a:t>
            </a:r>
          </a:p>
          <a:p>
            <a:pPr algn="ctr">
              <a:defRPr sz="1500" b="1">
                <a:solidFill>
                  <a:srgbClr val="102A43"/>
                </a:solidFill>
                <a:latin typeface="Arial"/>
                <a:ea typeface="Arial"/>
                <a:cs typeface="Arial"/>
              </a:defRPr>
            </a:pPr>
            <a:r>
              <a:rPr sz="1500" b="1">
                <a:solidFill>
                  <a:srgbClr val="102A43"/>
                </a:solidFill>
                <a:latin typeface="Arial"/>
                <a:ea typeface="Arial"/>
                <a:cs typeface="Arial"/>
              </a:rPr>
              <a:t>Data + dirty + sharers</a:t>
            </a:r>
          </a:p>
        </p:txBody>
      </p:sp>
      <p:sp>
        <p:nvSpPr>
          <p:cNvPr id="13" name="Rectangle: Rounded Corners 12">
            <a:extLst>
              <a:ext uri="{FF2B5EF4-FFF2-40B4-BE49-F238E27FC236}">
                <a16:creationId xmlns:a16="http://schemas.microsoft.com/office/drawing/2014/main" id="{2CE881D8-4B3B-4887-AECB-EDCF07E3C4B8}"/>
              </a:ext>
            </a:extLst>
          </p:cNvPr>
          <p:cNvSpPr>
            <a:spLocks noGrp="1"/>
          </p:cNvSpPr>
          <p:nvPr/>
        </p:nvSpPr>
        <p:spPr>
          <a:xfrm>
            <a:off x="5143500" y="3714750"/>
            <a:ext cx="2381250"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RESPOND</a:t>
            </a:r>
          </a:p>
          <a:p>
            <a:pPr algn="ctr">
              <a:defRPr sz="1500" b="1">
                <a:solidFill>
                  <a:srgbClr val="102A43"/>
                </a:solidFill>
                <a:latin typeface="Arial"/>
                <a:ea typeface="Arial"/>
                <a:cs typeface="Arial"/>
              </a:defRPr>
            </a:pPr>
            <a:r>
              <a:rPr sz="1500" b="1">
                <a:solidFill>
                  <a:srgbClr val="102A43"/>
                </a:solidFill>
                <a:latin typeface="Arial"/>
                <a:ea typeface="Arial"/>
                <a:cs typeface="Arial"/>
              </a:rPr>
              <a:t>Trả line và state S/M</a:t>
            </a:r>
          </a:p>
        </p:txBody>
      </p:sp>
      <p:cxnSp>
        <p:nvCxnSpPr>
          <p:cNvPr id="35" name="Straight Arrow Connector 34"/>
          <p:cNvCxnSpPr>
            <a:stCxn id="12" idx="1"/>
            <a:endCxn id="13" idx="3"/>
          </p:cNvCxnSpPr>
          <p:nvPr/>
        </p:nvCxnSpPr>
        <p:spPr>
          <a:xfrm flipH="1">
            <a:off x="7524750" y="4191000"/>
            <a:ext cx="666750" cy="0"/>
          </a:xfrm>
          <a:prstGeom prst="straightConnector1">
            <a:avLst/>
          </a:prstGeom>
          <a:ln w="19050">
            <a:solidFill>
              <a:srgbClr val="5D7893"/>
            </a:solidFill>
            <a:tailEnd type="arrow" w="med" len="med"/>
          </a:ln>
        </p:spPr>
      </p:cxnSp>
      <p:sp>
        <p:nvSpPr>
          <p:cNvPr id="15" name="Rectangle: Rounded Corners 14">
            <a:extLst>
              <a:ext uri="{FF2B5EF4-FFF2-40B4-BE49-F238E27FC236}">
                <a16:creationId xmlns:a16="http://schemas.microsoft.com/office/drawing/2014/main" id="{C687E879-101F-4687-941C-FCB58D6A0B57}"/>
              </a:ext>
            </a:extLst>
          </p:cNvPr>
          <p:cNvSpPr>
            <a:spLocks noGrp="1"/>
          </p:cNvSpPr>
          <p:nvPr/>
        </p:nvSpPr>
        <p:spPr>
          <a:xfrm>
            <a:off x="2095500" y="3714750"/>
            <a:ext cx="2381250"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WAIT DROP</a:t>
            </a:r>
          </a:p>
          <a:p>
            <a:pPr algn="ctr">
              <a:defRPr sz="1500" b="1">
                <a:solidFill>
                  <a:srgbClr val="102A43"/>
                </a:solidFill>
                <a:latin typeface="Arial"/>
                <a:ea typeface="Arial"/>
                <a:cs typeface="Arial"/>
              </a:defRPr>
            </a:pPr>
            <a:r>
              <a:rPr sz="1500" b="1">
                <a:solidFill>
                  <a:srgbClr val="102A43"/>
                </a:solidFill>
                <a:latin typeface="Arial"/>
                <a:ea typeface="Arial"/>
                <a:cs typeface="Arial"/>
              </a:rPr>
              <a:t>Chờ requester hạ valid</a:t>
            </a:r>
          </a:p>
        </p:txBody>
      </p:sp>
      <p:cxnSp>
        <p:nvCxnSpPr>
          <p:cNvPr id="37" name="Straight Arrow Connector 36"/>
          <p:cNvCxnSpPr>
            <a:stCxn id="13" idx="1"/>
            <a:endCxn id="15" idx="3"/>
          </p:cNvCxnSpPr>
          <p:nvPr/>
        </p:nvCxnSpPr>
        <p:spPr>
          <a:xfrm flipH="1">
            <a:off x="4476750" y="4191000"/>
            <a:ext cx="666750" cy="0"/>
          </a:xfrm>
          <a:prstGeom prst="straightConnector1">
            <a:avLst/>
          </a:prstGeom>
          <a:ln w="19050">
            <a:solidFill>
              <a:srgbClr val="5D7893"/>
            </a:solidFill>
            <a:tailEnd type="arrow" w="med" len="med"/>
          </a:ln>
        </p:spPr>
      </p:cxnSp>
      <p:cxnSp>
        <p:nvCxnSpPr>
          <p:cNvPr id="38" name="Connector: Elbow 37"/>
          <p:cNvCxnSpPr>
            <a:stCxn id="10" idx="2"/>
            <a:endCxn id="12" idx="0"/>
          </p:cNvCxnSpPr>
          <p:nvPr/>
        </p:nvCxnSpPr>
        <p:spPr>
          <a:xfrm flipH="1">
            <a:off x="9382125" y="2381250"/>
            <a:ext cx="728663" cy="1333500"/>
          </a:xfrm>
          <a:prstGeom prst="bentConnector4">
            <a:avLst>
              <a:gd name="adj1" fmla="val 0"/>
              <a:gd name="adj2" fmla="val 50000"/>
            </a:avLst>
          </a:prstGeom>
          <a:ln w="19050">
            <a:solidFill>
              <a:srgbClr val="5D7893"/>
            </a:solidFill>
            <a:tailEnd type="arrow" w="med" len="med"/>
          </a:ln>
        </p:spPr>
      </p:cxnSp>
      <p:cxnSp>
        <p:nvCxnSpPr>
          <p:cNvPr id="39" name="Connector: Elbow 38"/>
          <p:cNvCxnSpPr>
            <a:stCxn id="15" idx="0"/>
            <a:endCxn id="5" idx="2"/>
          </p:cNvCxnSpPr>
          <p:nvPr/>
        </p:nvCxnSpPr>
        <p:spPr>
          <a:xfrm flipH="1" flipV="1">
            <a:off x="1581150" y="2381250"/>
            <a:ext cx="1704975" cy="1333500"/>
          </a:xfrm>
          <a:prstGeom prst="bentConnector4">
            <a:avLst/>
          </a:prstGeom>
          <a:ln w="19050">
            <a:solidFill>
              <a:srgbClr val="5D7893"/>
            </a:solidFill>
            <a:tailEnd type="arrow" w="med" len="med"/>
          </a:ln>
        </p:spPr>
      </p:cxnSp>
      <p:sp>
        <p:nvSpPr>
          <p:cNvPr id="19" name="Rectangle 18">
            <a:extLst>
              <a:ext uri="{FF2B5EF4-FFF2-40B4-BE49-F238E27FC236}">
                <a16:creationId xmlns:a16="http://schemas.microsoft.com/office/drawing/2014/main" id="{AE590F3E-2176-41AB-9F07-9FDBB2A4DC83}"/>
              </a:ext>
            </a:extLst>
          </p:cNvPr>
          <p:cNvSpPr>
            <a:spLocks noGrp="1"/>
          </p:cNvSpPr>
          <p:nvPr/>
        </p:nvSpPr>
        <p:spPr>
          <a:xfrm>
            <a:off x="1695450" y="3000375"/>
            <a:ext cx="2095500" cy="285750"/>
          </a:xfrm>
          <a:prstGeom prst="rect">
            <a:avLst/>
          </a:prstGeom>
          <a:noFill/>
          <a:ln w="0">
            <a:noFill/>
          </a:ln>
        </p:spPr>
        <p:txBody>
          <a:bodyPr anchor="ctr">
            <a:noAutofit/>
          </a:bodyPr>
          <a:lstStyle/>
          <a:p>
            <a:pPr algn="ctr">
              <a:defRPr sz="1200" b="0">
                <a:solidFill>
                  <a:srgbClr val="5D7893"/>
                </a:solidFill>
                <a:latin typeface="Arial"/>
                <a:ea typeface="Arial"/>
                <a:cs typeface="Arial"/>
              </a:defRPr>
            </a:pPr>
            <a:r>
              <a:rPr sz="1200" b="0">
                <a:solidFill>
                  <a:srgbClr val="5D7893"/>
                </a:solidFill>
                <a:latin typeface="Arial"/>
                <a:ea typeface="Arial"/>
                <a:cs typeface="Arial"/>
              </a:rPr>
              <a:t>Requester hạ valid</a:t>
            </a:r>
          </a:p>
        </p:txBody>
      </p:sp>
      <p:sp>
        <p:nvSpPr>
          <p:cNvPr id="20" name="Rectangle: Rounded Corners 19">
            <a:extLst>
              <a:ext uri="{FF2B5EF4-FFF2-40B4-BE49-F238E27FC236}">
                <a16:creationId xmlns:a16="http://schemas.microsoft.com/office/drawing/2014/main" id="{9723D12D-AD76-4DF6-8F0E-003A4D2F3622}"/>
              </a:ext>
            </a:extLst>
          </p:cNvPr>
          <p:cNvSpPr>
            <a:spLocks noGrp="1"/>
          </p:cNvSpPr>
          <p:nvPr/>
        </p:nvSpPr>
        <p:spPr>
          <a:xfrm>
            <a:off x="590550" y="5353050"/>
            <a:ext cx="2095500" cy="628650"/>
          </a:xfrm>
          <a:prstGeom prst="roundRect">
            <a:avLst>
              <a:gd name="adj" fmla="val 12121"/>
            </a:avLst>
          </a:prstGeom>
          <a:solidFill>
            <a:srgbClr val="FDEDE9"/>
          </a:solidFill>
          <a:ln w="19050">
            <a:solidFill>
              <a:srgbClr val="ED553B"/>
            </a:solidFill>
          </a:ln>
        </p:spPr>
        <p:txBody>
          <a:bodyPr anchor="ctr">
            <a:noAutofit/>
          </a:bodyPr>
          <a:lstStyle/>
          <a:p>
            <a:pPr algn="ctr">
              <a:defRPr sz="1500" b="1">
                <a:solidFill>
                  <a:srgbClr val="ED553B"/>
                </a:solidFill>
                <a:latin typeface="Arial"/>
                <a:ea typeface="Arial"/>
                <a:cs typeface="Arial"/>
              </a:defRPr>
            </a:pPr>
            <a:r>
              <a:rPr sz="1500" b="1">
                <a:solidFill>
                  <a:srgbClr val="ED553B"/>
                </a:solidFill>
                <a:latin typeface="Arial"/>
                <a:ea typeface="Arial"/>
                <a:cs typeface="Arial"/>
              </a:rPr>
              <a:t>ERROR RESTORE</a:t>
            </a:r>
          </a:p>
        </p:txBody>
      </p:sp>
      <p:sp>
        <p:nvSpPr>
          <p:cNvPr id="21" name="Rectangle 20">
            <a:extLst>
              <a:ext uri="{FF2B5EF4-FFF2-40B4-BE49-F238E27FC236}">
                <a16:creationId xmlns:a16="http://schemas.microsoft.com/office/drawing/2014/main" id="{A17944E6-5221-436E-8E86-129F8C0D9FD1}"/>
              </a:ext>
            </a:extLst>
          </p:cNvPr>
          <p:cNvSpPr>
            <a:spLocks noGrp="1"/>
          </p:cNvSpPr>
          <p:nvPr/>
        </p:nvSpPr>
        <p:spPr>
          <a:xfrm>
            <a:off x="2905125" y="5391150"/>
            <a:ext cx="8096250" cy="552450"/>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Writeback lỗi: khôi phục victim authoritative vào L2 dirty trước khi báo lỗi</a:t>
            </a:r>
          </a:p>
        </p:txBody>
      </p:sp>
    </p:spTree>
    <p:extLst>
      <p:ext uri="{BB962C8B-B14F-4D97-AF65-F5344CB8AC3E}">
        <p14:creationId xmlns:p14="http://schemas.microsoft.com/office/powerpoint/2010/main" val="525757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B8B0EBC-B1B4-40FC-8C36-C92BEA3861CB}"/>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8F0C450B-94CA-4C7E-9850-CDFA507846C6}"/>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Phần chức năng đã hoàn thiện</a:t>
            </a:r>
          </a:p>
        </p:txBody>
      </p:sp>
      <p:sp>
        <p:nvSpPr>
          <p:cNvPr id="3" name="Rectangle 2">
            <a:extLst>
              <a:ext uri="{FF2B5EF4-FFF2-40B4-BE49-F238E27FC236}">
                <a16:creationId xmlns:a16="http://schemas.microsoft.com/office/drawing/2014/main" id="{39A4B269-E1B6-48A7-B03C-ED6BE6B2626B}"/>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08</a:t>
            </a:r>
          </a:p>
        </p:txBody>
      </p:sp>
      <p:sp>
        <p:nvSpPr>
          <p:cNvPr id="4" name="Straight Connector 3">
            <a:extLst>
              <a:ext uri="{FF2B5EF4-FFF2-40B4-BE49-F238E27FC236}">
                <a16:creationId xmlns:a16="http://schemas.microsoft.com/office/drawing/2014/main" id="{F51DC30E-F36A-4702-B494-E4EC01E4210D}"/>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D6944832-3C5C-43EA-9E6F-D904EDED548A}"/>
              </a:ext>
            </a:extLst>
          </p:cNvPr>
          <p:cNvSpPr>
            <a:spLocks noGrp="1"/>
          </p:cNvSpPr>
          <p:nvPr/>
        </p:nvSpPr>
        <p:spPr>
          <a:xfrm>
            <a:off x="685800" y="1343025"/>
            <a:ext cx="76200" cy="819150"/>
          </a:xfrm>
          <a:prstGeom prst="rect">
            <a:avLst/>
          </a:prstGeom>
          <a:solidFill>
            <a:srgbClr val="20639B"/>
          </a:solidFill>
          <a:ln w="0">
            <a:noFill/>
          </a:ln>
        </p:spPr>
      </p:sp>
      <p:sp>
        <p:nvSpPr>
          <p:cNvPr id="6" name="Rectangle 5">
            <a:extLst>
              <a:ext uri="{FF2B5EF4-FFF2-40B4-BE49-F238E27FC236}">
                <a16:creationId xmlns:a16="http://schemas.microsoft.com/office/drawing/2014/main" id="{4CB7B30C-532B-42D9-A2A6-869486732249}"/>
              </a:ext>
            </a:extLst>
          </p:cNvPr>
          <p:cNvSpPr>
            <a:spLocks noGrp="1"/>
          </p:cNvSpPr>
          <p:nvPr/>
        </p:nvSpPr>
        <p:spPr>
          <a:xfrm>
            <a:off x="933450" y="13144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MSI data coherence</a:t>
            </a:r>
          </a:p>
        </p:txBody>
      </p:sp>
      <p:sp>
        <p:nvSpPr>
          <p:cNvPr id="7" name="Rectangle 6">
            <a:extLst>
              <a:ext uri="{FF2B5EF4-FFF2-40B4-BE49-F238E27FC236}">
                <a16:creationId xmlns:a16="http://schemas.microsoft.com/office/drawing/2014/main" id="{1ACBAE52-12CC-4733-A9DA-8C672E4875A8}"/>
              </a:ext>
            </a:extLst>
          </p:cNvPr>
          <p:cNvSpPr>
            <a:spLocks noGrp="1"/>
          </p:cNvSpPr>
          <p:nvPr/>
        </p:nvSpPr>
        <p:spPr>
          <a:xfrm>
            <a:off x="933450" y="16954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I/S/M, BusRd, RFO, owner forwarding, invalidate và downgrade</a:t>
            </a:r>
          </a:p>
        </p:txBody>
      </p:sp>
      <p:sp>
        <p:nvSpPr>
          <p:cNvPr id="8" name="Rectangle 7">
            <a:extLst>
              <a:ext uri="{FF2B5EF4-FFF2-40B4-BE49-F238E27FC236}">
                <a16:creationId xmlns:a16="http://schemas.microsoft.com/office/drawing/2014/main" id="{8FEAA2AC-5C49-458F-AC1C-5902C1EDC2B3}"/>
              </a:ext>
            </a:extLst>
          </p:cNvPr>
          <p:cNvSpPr>
            <a:spLocks noGrp="1"/>
          </p:cNvSpPr>
          <p:nvPr/>
        </p:nvSpPr>
        <p:spPr>
          <a:xfrm>
            <a:off x="685800" y="2562225"/>
            <a:ext cx="76200" cy="819150"/>
          </a:xfrm>
          <a:prstGeom prst="rect">
            <a:avLst/>
          </a:prstGeom>
          <a:solidFill>
            <a:srgbClr val="20639B"/>
          </a:solidFill>
          <a:ln w="0">
            <a:noFill/>
          </a:ln>
        </p:spPr>
      </p:sp>
      <p:sp>
        <p:nvSpPr>
          <p:cNvPr id="9" name="Rectangle 8">
            <a:extLst>
              <a:ext uri="{FF2B5EF4-FFF2-40B4-BE49-F238E27FC236}">
                <a16:creationId xmlns:a16="http://schemas.microsoft.com/office/drawing/2014/main" id="{5F4B7099-CA14-419E-ABB3-9360D3443EAC}"/>
              </a:ext>
            </a:extLst>
          </p:cNvPr>
          <p:cNvSpPr>
            <a:spLocks noGrp="1"/>
          </p:cNvSpPr>
          <p:nvPr/>
        </p:nvSpPr>
        <p:spPr>
          <a:xfrm>
            <a:off x="933450" y="25336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Inclusive shared L2</a:t>
            </a:r>
          </a:p>
        </p:txBody>
      </p:sp>
      <p:sp>
        <p:nvSpPr>
          <p:cNvPr id="10" name="Rectangle 9">
            <a:extLst>
              <a:ext uri="{FF2B5EF4-FFF2-40B4-BE49-F238E27FC236}">
                <a16:creationId xmlns:a16="http://schemas.microsoft.com/office/drawing/2014/main" id="{4D38BE64-C53E-48E3-B9B8-6C3A848D0CF8}"/>
              </a:ext>
            </a:extLst>
          </p:cNvPr>
          <p:cNvSpPr>
            <a:spLocks noGrp="1"/>
          </p:cNvSpPr>
          <p:nvPr/>
        </p:nvSpPr>
        <p:spPr>
          <a:xfrm>
            <a:off x="933450" y="29146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Sharer bitmap, dirty victim recovery và full-line writeback</a:t>
            </a:r>
          </a:p>
        </p:txBody>
      </p:sp>
      <p:sp>
        <p:nvSpPr>
          <p:cNvPr id="11" name="Rectangle 10">
            <a:extLst>
              <a:ext uri="{FF2B5EF4-FFF2-40B4-BE49-F238E27FC236}">
                <a16:creationId xmlns:a16="http://schemas.microsoft.com/office/drawing/2014/main" id="{6F9D5EFB-08AE-44E0-9AC8-62789567F818}"/>
              </a:ext>
            </a:extLst>
          </p:cNvPr>
          <p:cNvSpPr>
            <a:spLocks noGrp="1"/>
          </p:cNvSpPr>
          <p:nvPr/>
        </p:nvSpPr>
        <p:spPr>
          <a:xfrm>
            <a:off x="685800" y="3781425"/>
            <a:ext cx="76200" cy="819150"/>
          </a:xfrm>
          <a:prstGeom prst="rect">
            <a:avLst/>
          </a:prstGeom>
          <a:solidFill>
            <a:srgbClr val="20639B"/>
          </a:solidFill>
          <a:ln w="0">
            <a:noFill/>
          </a:ln>
        </p:spPr>
      </p:sp>
      <p:sp>
        <p:nvSpPr>
          <p:cNvPr id="12" name="Rectangle 11">
            <a:extLst>
              <a:ext uri="{FF2B5EF4-FFF2-40B4-BE49-F238E27FC236}">
                <a16:creationId xmlns:a16="http://schemas.microsoft.com/office/drawing/2014/main" id="{E8FA5E22-0766-46A9-8B5E-2663467BB6F7}"/>
              </a:ext>
            </a:extLst>
          </p:cNvPr>
          <p:cNvSpPr>
            <a:spLocks noGrp="1"/>
          </p:cNvSpPr>
          <p:nvPr/>
        </p:nvSpPr>
        <p:spPr>
          <a:xfrm>
            <a:off x="933450" y="37528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Arbitration</a:t>
            </a:r>
          </a:p>
        </p:txBody>
      </p:sp>
      <p:sp>
        <p:nvSpPr>
          <p:cNvPr id="13" name="Rectangle 12">
            <a:extLst>
              <a:ext uri="{FF2B5EF4-FFF2-40B4-BE49-F238E27FC236}">
                <a16:creationId xmlns:a16="http://schemas.microsoft.com/office/drawing/2014/main" id="{BAB3D92B-2DC3-4C01-B1E6-9869BD5BD876}"/>
              </a:ext>
            </a:extLst>
          </p:cNvPr>
          <p:cNvSpPr>
            <a:spLocks noGrp="1"/>
          </p:cNvSpPr>
          <p:nvPr/>
        </p:nvSpPr>
        <p:spPr>
          <a:xfrm>
            <a:off x="933450" y="41338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Round-robin tám nguồn I$/D$, không starvation trong mô hình blocking</a:t>
            </a:r>
          </a:p>
        </p:txBody>
      </p:sp>
      <p:sp>
        <p:nvSpPr>
          <p:cNvPr id="14" name="Rectangle 13">
            <a:extLst>
              <a:ext uri="{FF2B5EF4-FFF2-40B4-BE49-F238E27FC236}">
                <a16:creationId xmlns:a16="http://schemas.microsoft.com/office/drawing/2014/main" id="{91A132AC-0573-4DE5-A3D9-116A8DA37BB2}"/>
              </a:ext>
            </a:extLst>
          </p:cNvPr>
          <p:cNvSpPr>
            <a:spLocks noGrp="1"/>
          </p:cNvSpPr>
          <p:nvPr/>
        </p:nvSpPr>
        <p:spPr>
          <a:xfrm>
            <a:off x="685800" y="5000625"/>
            <a:ext cx="76200" cy="819150"/>
          </a:xfrm>
          <a:prstGeom prst="rect">
            <a:avLst/>
          </a:prstGeom>
          <a:solidFill>
            <a:srgbClr val="20639B"/>
          </a:solidFill>
          <a:ln w="0">
            <a:noFill/>
          </a:ln>
        </p:spPr>
      </p:sp>
      <p:sp>
        <p:nvSpPr>
          <p:cNvPr id="15" name="Rectangle 14">
            <a:extLst>
              <a:ext uri="{FF2B5EF4-FFF2-40B4-BE49-F238E27FC236}">
                <a16:creationId xmlns:a16="http://schemas.microsoft.com/office/drawing/2014/main" id="{78B4B21D-80FA-4DEC-B26D-4628833284E3}"/>
              </a:ext>
            </a:extLst>
          </p:cNvPr>
          <p:cNvSpPr>
            <a:spLocks noGrp="1"/>
          </p:cNvSpPr>
          <p:nvPr/>
        </p:nvSpPr>
        <p:spPr>
          <a:xfrm>
            <a:off x="933450" y="49720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RV32A</a:t>
            </a:r>
          </a:p>
        </p:txBody>
      </p:sp>
      <p:sp>
        <p:nvSpPr>
          <p:cNvPr id="16" name="Rectangle 15">
            <a:extLst>
              <a:ext uri="{FF2B5EF4-FFF2-40B4-BE49-F238E27FC236}">
                <a16:creationId xmlns:a16="http://schemas.microsoft.com/office/drawing/2014/main" id="{D89CF457-FEE1-4619-9C67-288145B26DB6}"/>
              </a:ext>
            </a:extLst>
          </p:cNvPr>
          <p:cNvSpPr>
            <a:spLocks noGrp="1"/>
          </p:cNvSpPr>
          <p:nvPr/>
        </p:nvSpPr>
        <p:spPr>
          <a:xfrm>
            <a:off x="933450" y="53530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AMO coherent; LR/SC reservation bị hủy bởi snoop invalidate</a:t>
            </a:r>
          </a:p>
        </p:txBody>
      </p:sp>
      <p:sp>
        <p:nvSpPr>
          <p:cNvPr id="17" name="Rectangle 16">
            <a:extLst>
              <a:ext uri="{FF2B5EF4-FFF2-40B4-BE49-F238E27FC236}">
                <a16:creationId xmlns:a16="http://schemas.microsoft.com/office/drawing/2014/main" id="{9AF168D8-3193-4388-8B4E-83DE7067FB3E}"/>
              </a:ext>
            </a:extLst>
          </p:cNvPr>
          <p:cNvSpPr>
            <a:spLocks noGrp="1"/>
          </p:cNvSpPr>
          <p:nvPr/>
        </p:nvSpPr>
        <p:spPr>
          <a:xfrm>
            <a:off x="6381750" y="1343025"/>
            <a:ext cx="76200" cy="819150"/>
          </a:xfrm>
          <a:prstGeom prst="rect">
            <a:avLst/>
          </a:prstGeom>
          <a:solidFill>
            <a:srgbClr val="2EA99C"/>
          </a:solidFill>
          <a:ln w="0">
            <a:noFill/>
          </a:ln>
        </p:spPr>
      </p:sp>
      <p:sp>
        <p:nvSpPr>
          <p:cNvPr id="18" name="Rectangle 17">
            <a:extLst>
              <a:ext uri="{FF2B5EF4-FFF2-40B4-BE49-F238E27FC236}">
                <a16:creationId xmlns:a16="http://schemas.microsoft.com/office/drawing/2014/main" id="{1C8BB502-8676-4A8F-A630-52A22695E868}"/>
              </a:ext>
            </a:extLst>
          </p:cNvPr>
          <p:cNvSpPr>
            <a:spLocks noGrp="1"/>
          </p:cNvSpPr>
          <p:nvPr/>
        </p:nvSpPr>
        <p:spPr>
          <a:xfrm>
            <a:off x="6629400" y="13144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FENCE.I</a:t>
            </a:r>
          </a:p>
        </p:txBody>
      </p:sp>
      <p:sp>
        <p:nvSpPr>
          <p:cNvPr id="19" name="Rectangle 18">
            <a:extLst>
              <a:ext uri="{FF2B5EF4-FFF2-40B4-BE49-F238E27FC236}">
                <a16:creationId xmlns:a16="http://schemas.microsoft.com/office/drawing/2014/main" id="{32555C60-9548-4562-81D7-91C6F7BB6A62}"/>
              </a:ext>
            </a:extLst>
          </p:cNvPr>
          <p:cNvSpPr>
            <a:spLocks noGrp="1"/>
          </p:cNvSpPr>
          <p:nvPr/>
        </p:nvSpPr>
        <p:spPr>
          <a:xfrm>
            <a:off x="6629400" y="16954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Clean D-cache có thứ tự rồi invalidate I-cache</a:t>
            </a:r>
          </a:p>
        </p:txBody>
      </p:sp>
      <p:sp>
        <p:nvSpPr>
          <p:cNvPr id="20" name="Rectangle 19">
            <a:extLst>
              <a:ext uri="{FF2B5EF4-FFF2-40B4-BE49-F238E27FC236}">
                <a16:creationId xmlns:a16="http://schemas.microsoft.com/office/drawing/2014/main" id="{5F858DBF-EDF2-4E05-8421-296B3C64D9DB}"/>
              </a:ext>
            </a:extLst>
          </p:cNvPr>
          <p:cNvSpPr>
            <a:spLocks noGrp="1"/>
          </p:cNvSpPr>
          <p:nvPr/>
        </p:nvSpPr>
        <p:spPr>
          <a:xfrm>
            <a:off x="6381750" y="2562225"/>
            <a:ext cx="76200" cy="819150"/>
          </a:xfrm>
          <a:prstGeom prst="rect">
            <a:avLst/>
          </a:prstGeom>
          <a:solidFill>
            <a:srgbClr val="2EA99C"/>
          </a:solidFill>
          <a:ln w="0">
            <a:noFill/>
          </a:ln>
        </p:spPr>
      </p:sp>
      <p:sp>
        <p:nvSpPr>
          <p:cNvPr id="21" name="Rectangle 20">
            <a:extLst>
              <a:ext uri="{FF2B5EF4-FFF2-40B4-BE49-F238E27FC236}">
                <a16:creationId xmlns:a16="http://schemas.microsoft.com/office/drawing/2014/main" id="{E06B0170-6861-4336-ADDD-4040B54C4151}"/>
              </a:ext>
            </a:extLst>
          </p:cNvPr>
          <p:cNvSpPr>
            <a:spLocks noGrp="1"/>
          </p:cNvSpPr>
          <p:nvPr/>
        </p:nvSpPr>
        <p:spPr>
          <a:xfrm>
            <a:off x="6629400" y="25336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AHB và AXI</a:t>
            </a:r>
          </a:p>
        </p:txBody>
      </p:sp>
      <p:sp>
        <p:nvSpPr>
          <p:cNvPr id="22" name="Rectangle 21">
            <a:extLst>
              <a:ext uri="{FF2B5EF4-FFF2-40B4-BE49-F238E27FC236}">
                <a16:creationId xmlns:a16="http://schemas.microsoft.com/office/drawing/2014/main" id="{82529D0C-B22F-4F36-B32C-5CD6AF09F4D6}"/>
              </a:ext>
            </a:extLst>
          </p:cNvPr>
          <p:cNvSpPr>
            <a:spLocks noGrp="1"/>
          </p:cNvSpPr>
          <p:nvPr/>
        </p:nvSpPr>
        <p:spPr>
          <a:xfrm>
            <a:off x="6629400" y="29146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RFO giữ qua HMASTLOCK; error sideband đi về đúng requester</a:t>
            </a:r>
          </a:p>
        </p:txBody>
      </p:sp>
      <p:sp>
        <p:nvSpPr>
          <p:cNvPr id="23" name="Rectangle 22">
            <a:extLst>
              <a:ext uri="{FF2B5EF4-FFF2-40B4-BE49-F238E27FC236}">
                <a16:creationId xmlns:a16="http://schemas.microsoft.com/office/drawing/2014/main" id="{9D9E2B53-ADFB-4510-B185-E2286C9C0958}"/>
              </a:ext>
            </a:extLst>
          </p:cNvPr>
          <p:cNvSpPr>
            <a:spLocks noGrp="1"/>
          </p:cNvSpPr>
          <p:nvPr/>
        </p:nvSpPr>
        <p:spPr>
          <a:xfrm>
            <a:off x="6381750" y="3781425"/>
            <a:ext cx="76200" cy="819150"/>
          </a:xfrm>
          <a:prstGeom prst="rect">
            <a:avLst/>
          </a:prstGeom>
          <a:solidFill>
            <a:srgbClr val="2EA99C"/>
          </a:solidFill>
          <a:ln w="0">
            <a:noFill/>
          </a:ln>
        </p:spPr>
      </p:sp>
      <p:sp>
        <p:nvSpPr>
          <p:cNvPr id="24" name="Rectangle 23">
            <a:extLst>
              <a:ext uri="{FF2B5EF4-FFF2-40B4-BE49-F238E27FC236}">
                <a16:creationId xmlns:a16="http://schemas.microsoft.com/office/drawing/2014/main" id="{9D4B8DE5-CD5E-45B6-A9FA-5B9B6E5D894D}"/>
              </a:ext>
            </a:extLst>
          </p:cNvPr>
          <p:cNvSpPr>
            <a:spLocks noGrp="1"/>
          </p:cNvSpPr>
          <p:nvPr/>
        </p:nvSpPr>
        <p:spPr>
          <a:xfrm>
            <a:off x="6629400" y="37528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MMIO</a:t>
            </a:r>
          </a:p>
        </p:txBody>
      </p:sp>
      <p:sp>
        <p:nvSpPr>
          <p:cNvPr id="25" name="Rectangle 24">
            <a:extLst>
              <a:ext uri="{FF2B5EF4-FFF2-40B4-BE49-F238E27FC236}">
                <a16:creationId xmlns:a16="http://schemas.microsoft.com/office/drawing/2014/main" id="{D69BB919-82B9-4C5B-A242-CD73E5CA3728}"/>
              </a:ext>
            </a:extLst>
          </p:cNvPr>
          <p:cNvSpPr>
            <a:spLocks noGrp="1"/>
          </p:cNvSpPr>
          <p:nvPr/>
        </p:nvSpPr>
        <p:spPr>
          <a:xfrm>
            <a:off x="6629400" y="41338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Uncached one-word bypass, byte strobe được giữ tới AXI WSTRB</a:t>
            </a:r>
          </a:p>
        </p:txBody>
      </p:sp>
      <p:sp>
        <p:nvSpPr>
          <p:cNvPr id="26" name="Rectangle 25">
            <a:extLst>
              <a:ext uri="{FF2B5EF4-FFF2-40B4-BE49-F238E27FC236}">
                <a16:creationId xmlns:a16="http://schemas.microsoft.com/office/drawing/2014/main" id="{5A0997E9-41A7-4859-9707-1A513244F6B2}"/>
              </a:ext>
            </a:extLst>
          </p:cNvPr>
          <p:cNvSpPr>
            <a:spLocks noGrp="1"/>
          </p:cNvSpPr>
          <p:nvPr/>
        </p:nvSpPr>
        <p:spPr>
          <a:xfrm>
            <a:off x="6381750" y="5000625"/>
            <a:ext cx="76200" cy="819150"/>
          </a:xfrm>
          <a:prstGeom prst="rect">
            <a:avLst/>
          </a:prstGeom>
          <a:solidFill>
            <a:srgbClr val="2EA99C"/>
          </a:solidFill>
          <a:ln w="0">
            <a:noFill/>
          </a:ln>
        </p:spPr>
      </p:sp>
      <p:sp>
        <p:nvSpPr>
          <p:cNvPr id="27" name="Rectangle 26">
            <a:extLst>
              <a:ext uri="{FF2B5EF4-FFF2-40B4-BE49-F238E27FC236}">
                <a16:creationId xmlns:a16="http://schemas.microsoft.com/office/drawing/2014/main" id="{35A5388C-C5B9-4737-992A-CE7A29293DFD}"/>
              </a:ext>
            </a:extLst>
          </p:cNvPr>
          <p:cNvSpPr>
            <a:spLocks noGrp="1"/>
          </p:cNvSpPr>
          <p:nvPr/>
        </p:nvSpPr>
        <p:spPr>
          <a:xfrm>
            <a:off x="6629400" y="49720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DMA maintenance</a:t>
            </a:r>
          </a:p>
        </p:txBody>
      </p:sp>
      <p:sp>
        <p:nvSpPr>
          <p:cNvPr id="28" name="Rectangle 27">
            <a:extLst>
              <a:ext uri="{FF2B5EF4-FFF2-40B4-BE49-F238E27FC236}">
                <a16:creationId xmlns:a16="http://schemas.microsoft.com/office/drawing/2014/main" id="{A1BB58AD-08BE-4419-BAAF-CC7CC3043382}"/>
              </a:ext>
            </a:extLst>
          </p:cNvPr>
          <p:cNvSpPr>
            <a:spLocks noGrp="1"/>
          </p:cNvSpPr>
          <p:nvPr/>
        </p:nvSpPr>
        <p:spPr>
          <a:xfrm>
            <a:off x="6629400" y="53530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Busy/Done/Error, watchdog và thanh ghi PS tại offset 0xC</a:t>
            </a:r>
          </a:p>
        </p:txBody>
      </p:sp>
    </p:spTree>
    <p:extLst>
      <p:ext uri="{BB962C8B-B14F-4D97-AF65-F5344CB8AC3E}">
        <p14:creationId xmlns:p14="http://schemas.microsoft.com/office/powerpoint/2010/main" val="1409464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3C5E955-80E1-4599-8578-E78335F5DAB9}"/>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52ADB271-F374-4F8A-A801-03D58C4BEB67}"/>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Bằng chứng kiểm chứng hiện tại</a:t>
            </a:r>
          </a:p>
        </p:txBody>
      </p:sp>
      <p:sp>
        <p:nvSpPr>
          <p:cNvPr id="3" name="Rectangle 2">
            <a:extLst>
              <a:ext uri="{FF2B5EF4-FFF2-40B4-BE49-F238E27FC236}">
                <a16:creationId xmlns:a16="http://schemas.microsoft.com/office/drawing/2014/main" id="{580B5C97-32FE-46C6-AC04-6B6D5B6D122A}"/>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09</a:t>
            </a:r>
          </a:p>
        </p:txBody>
      </p:sp>
      <p:sp>
        <p:nvSpPr>
          <p:cNvPr id="4" name="Straight Connector 3">
            <a:extLst>
              <a:ext uri="{FF2B5EF4-FFF2-40B4-BE49-F238E27FC236}">
                <a16:creationId xmlns:a16="http://schemas.microsoft.com/office/drawing/2014/main" id="{D5863F40-6316-41DA-8EE9-74E180EDA174}"/>
              </a:ext>
            </a:extLst>
          </p:cNvPr>
          <p:cNvSpPr>
            <a:spLocks noGrp="1"/>
          </p:cNvSpPr>
          <p:nvPr/>
        </p:nvSpPr>
        <p:spPr>
          <a:xfrm>
            <a:off x="533400" y="933450"/>
            <a:ext cx="11096625" cy="0"/>
          </a:xfrm>
          <a:prstGeom prst="line">
            <a:avLst/>
          </a:prstGeom>
          <a:noFill/>
          <a:ln w="9525">
            <a:solidFill>
              <a:srgbClr val="B8CAD8"/>
            </a:solidFill>
          </a:ln>
        </p:spPr>
      </p:sp>
      <p:pic>
        <p:nvPicPr>
          <p:cNvPr id="18" name="Picture 17"/>
          <p:cNvPicPr>
            <a:picLocks noChangeAspect="1"/>
          </p:cNvPicPr>
          <p:nvPr/>
        </p:nvPicPr>
        <p:blipFill>
          <a:blip r:embed="rId3"/>
          <a:stretch/>
        </p:blipFill>
        <p:spPr>
          <a:xfrm>
            <a:off x="428625" y="1270992"/>
            <a:ext cx="7334250" cy="4125516"/>
          </a:xfrm>
          <a:prstGeom prst="rect">
            <a:avLst/>
          </a:prstGeom>
        </p:spPr>
      </p:pic>
      <p:sp>
        <p:nvSpPr>
          <p:cNvPr id="6" name="Rectangle 5">
            <a:extLst>
              <a:ext uri="{FF2B5EF4-FFF2-40B4-BE49-F238E27FC236}">
                <a16:creationId xmlns:a16="http://schemas.microsoft.com/office/drawing/2014/main" id="{504004D8-6801-45CB-A7DB-FC560D0F0A8D}"/>
              </a:ext>
            </a:extLst>
          </p:cNvPr>
          <p:cNvSpPr>
            <a:spLocks noGrp="1"/>
          </p:cNvSpPr>
          <p:nvPr/>
        </p:nvSpPr>
        <p:spPr>
          <a:xfrm>
            <a:off x="8286750" y="1381125"/>
            <a:ext cx="2857500" cy="1000125"/>
          </a:xfrm>
          <a:prstGeom prst="rect">
            <a:avLst/>
          </a:prstGeom>
          <a:noFill/>
          <a:ln w="0">
            <a:noFill/>
          </a:ln>
        </p:spPr>
        <p:txBody>
          <a:bodyPr anchor="ctr">
            <a:noAutofit/>
          </a:bodyPr>
          <a:lstStyle/>
          <a:p>
            <a:pPr algn="ctr">
              <a:defRPr sz="5400" b="1">
                <a:solidFill>
                  <a:srgbClr val="2EA99C"/>
                </a:solidFill>
                <a:latin typeface="Arial"/>
                <a:ea typeface="Arial"/>
                <a:cs typeface="Arial"/>
              </a:defRPr>
            </a:pPr>
            <a:r>
              <a:rPr sz="5400" b="1">
                <a:solidFill>
                  <a:srgbClr val="2EA99C"/>
                </a:solidFill>
                <a:latin typeface="Arial"/>
                <a:ea typeface="Arial"/>
                <a:cs typeface="Arial"/>
              </a:rPr>
              <a:t>26/26</a:t>
            </a:r>
          </a:p>
        </p:txBody>
      </p:sp>
      <p:sp>
        <p:nvSpPr>
          <p:cNvPr id="7" name="Rectangle 6">
            <a:extLst>
              <a:ext uri="{FF2B5EF4-FFF2-40B4-BE49-F238E27FC236}">
                <a16:creationId xmlns:a16="http://schemas.microsoft.com/office/drawing/2014/main" id="{C050BDAF-2CB1-4596-B530-DF49C7404801}"/>
              </a:ext>
            </a:extLst>
          </p:cNvPr>
          <p:cNvSpPr>
            <a:spLocks noGrp="1"/>
          </p:cNvSpPr>
          <p:nvPr/>
        </p:nvSpPr>
        <p:spPr>
          <a:xfrm>
            <a:off x="8572500" y="2238375"/>
            <a:ext cx="2286000" cy="552450"/>
          </a:xfrm>
          <a:prstGeom prst="rect">
            <a:avLst/>
          </a:prstGeom>
          <a:noFill/>
          <a:ln w="0">
            <a:noFill/>
          </a:ln>
        </p:spPr>
        <p:txBody>
          <a:bodyPr anchor="ctr">
            <a:noAutofit/>
          </a:bodyPr>
          <a:lstStyle/>
          <a:p>
            <a:pPr algn="ctr">
              <a:defRPr sz="2550" b="1">
                <a:solidFill>
                  <a:srgbClr val="123A5A"/>
                </a:solidFill>
                <a:latin typeface="Arial"/>
                <a:ea typeface="Arial"/>
                <a:cs typeface="Arial"/>
              </a:defRPr>
            </a:pPr>
            <a:r>
              <a:rPr sz="2550" b="1">
                <a:solidFill>
                  <a:srgbClr val="123A5A"/>
                </a:solidFill>
                <a:latin typeface="Arial"/>
                <a:ea typeface="Arial"/>
                <a:cs typeface="Arial"/>
              </a:rPr>
              <a:t>PASS</a:t>
            </a:r>
          </a:p>
        </p:txBody>
      </p:sp>
      <p:sp>
        <p:nvSpPr>
          <p:cNvPr id="8" name="Rectangle 7">
            <a:extLst>
              <a:ext uri="{FF2B5EF4-FFF2-40B4-BE49-F238E27FC236}">
                <a16:creationId xmlns:a16="http://schemas.microsoft.com/office/drawing/2014/main" id="{E521A3CE-442C-4B7A-A0D8-38954644C399}"/>
              </a:ext>
            </a:extLst>
          </p:cNvPr>
          <p:cNvSpPr>
            <a:spLocks noGrp="1"/>
          </p:cNvSpPr>
          <p:nvPr/>
        </p:nvSpPr>
        <p:spPr>
          <a:xfrm>
            <a:off x="8572500" y="2781300"/>
            <a:ext cx="2286000" cy="342900"/>
          </a:xfrm>
          <a:prstGeom prst="rect">
            <a:avLst/>
          </a:prstGeom>
          <a:noFill/>
          <a:ln w="0">
            <a:noFill/>
          </a:ln>
        </p:spPr>
        <p:txBody>
          <a:bodyPr anchor="ctr">
            <a:noAutofit/>
          </a:bodyPr>
          <a:lstStyle/>
          <a:p>
            <a:pPr algn="ctr">
              <a:defRPr sz="1500" b="0">
                <a:solidFill>
                  <a:srgbClr val="5D7893"/>
                </a:solidFill>
                <a:latin typeface="Arial"/>
                <a:ea typeface="Arial"/>
                <a:cs typeface="Arial"/>
              </a:defRPr>
            </a:pPr>
            <a:r>
              <a:rPr lang="en-US" sz="1500" b="0" dirty="0" err="1">
                <a:solidFill>
                  <a:srgbClr val="5D7893"/>
                </a:solidFill>
                <a:latin typeface="Arial"/>
                <a:ea typeface="Arial"/>
                <a:cs typeface="Arial"/>
              </a:rPr>
              <a:t>Vivado</a:t>
            </a:r>
            <a:r>
              <a:rPr sz="1500" b="0" dirty="0">
                <a:solidFill>
                  <a:srgbClr val="5D7893"/>
                </a:solidFill>
                <a:latin typeface="Arial"/>
                <a:ea typeface="Arial"/>
                <a:cs typeface="Arial"/>
              </a:rPr>
              <a:t> RTL</a:t>
            </a:r>
          </a:p>
        </p:txBody>
      </p:sp>
      <p:sp>
        <p:nvSpPr>
          <p:cNvPr id="9" name="Rectangle 8">
            <a:extLst>
              <a:ext uri="{FF2B5EF4-FFF2-40B4-BE49-F238E27FC236}">
                <a16:creationId xmlns:a16="http://schemas.microsoft.com/office/drawing/2014/main" id="{5EF97E59-19D6-4D86-83EC-B58BD51296BA}"/>
              </a:ext>
            </a:extLst>
          </p:cNvPr>
          <p:cNvSpPr>
            <a:spLocks noGrp="1"/>
          </p:cNvSpPr>
          <p:nvPr/>
        </p:nvSpPr>
        <p:spPr>
          <a:xfrm>
            <a:off x="8191500" y="3571875"/>
            <a:ext cx="857250" cy="457200"/>
          </a:xfrm>
          <a:prstGeom prst="rect">
            <a:avLst/>
          </a:prstGeom>
          <a:noFill/>
          <a:ln w="0">
            <a:noFill/>
          </a:ln>
        </p:spPr>
        <p:txBody>
          <a:bodyPr anchor="ctr">
            <a:noAutofit/>
          </a:bodyPr>
          <a:lstStyle/>
          <a:p>
            <a:pPr algn="ctr">
              <a:defRPr sz="2700" b="1">
                <a:solidFill>
                  <a:srgbClr val="ED553B"/>
                </a:solidFill>
                <a:latin typeface="Arial"/>
                <a:ea typeface="Arial"/>
                <a:cs typeface="Arial"/>
              </a:defRPr>
            </a:pPr>
            <a:r>
              <a:rPr sz="2700" b="1">
                <a:solidFill>
                  <a:srgbClr val="ED553B"/>
                </a:solidFill>
                <a:latin typeface="Arial"/>
                <a:ea typeface="Arial"/>
                <a:cs typeface="Arial"/>
              </a:rPr>
              <a:t>160</a:t>
            </a:r>
          </a:p>
        </p:txBody>
      </p:sp>
      <p:sp>
        <p:nvSpPr>
          <p:cNvPr id="10" name="Rectangle 9">
            <a:extLst>
              <a:ext uri="{FF2B5EF4-FFF2-40B4-BE49-F238E27FC236}">
                <a16:creationId xmlns:a16="http://schemas.microsoft.com/office/drawing/2014/main" id="{1D7F7C12-A34A-4F66-ADA1-751E345A7513}"/>
              </a:ext>
            </a:extLst>
          </p:cNvPr>
          <p:cNvSpPr>
            <a:spLocks noGrp="1"/>
          </p:cNvSpPr>
          <p:nvPr/>
        </p:nvSpPr>
        <p:spPr>
          <a:xfrm>
            <a:off x="9048750" y="3609975"/>
            <a:ext cx="2286000" cy="381000"/>
          </a:xfrm>
          <a:prstGeom prst="rect">
            <a:avLst/>
          </a:prstGeom>
          <a:noFill/>
          <a:ln w="0">
            <a:noFill/>
          </a:ln>
        </p:spPr>
        <p:txBody>
          <a:bodyPr anchor="ctr">
            <a:no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giao dịch stress tái lập</a:t>
            </a:r>
          </a:p>
        </p:txBody>
      </p:sp>
      <p:sp>
        <p:nvSpPr>
          <p:cNvPr id="11" name="Rectangle 10">
            <a:extLst>
              <a:ext uri="{FF2B5EF4-FFF2-40B4-BE49-F238E27FC236}">
                <a16:creationId xmlns:a16="http://schemas.microsoft.com/office/drawing/2014/main" id="{26A1698F-AF80-4236-BD76-C048C65A3FBB}"/>
              </a:ext>
            </a:extLst>
          </p:cNvPr>
          <p:cNvSpPr>
            <a:spLocks noGrp="1"/>
          </p:cNvSpPr>
          <p:nvPr/>
        </p:nvSpPr>
        <p:spPr>
          <a:xfrm>
            <a:off x="8191500" y="4248150"/>
            <a:ext cx="857250" cy="457200"/>
          </a:xfrm>
          <a:prstGeom prst="rect">
            <a:avLst/>
          </a:prstGeom>
          <a:noFill/>
          <a:ln w="0">
            <a:noFill/>
          </a:ln>
        </p:spPr>
        <p:txBody>
          <a:bodyPr anchor="ctr">
            <a:noAutofit/>
          </a:bodyPr>
          <a:lstStyle/>
          <a:p>
            <a:pPr algn="ctr">
              <a:defRPr sz="2700" b="1">
                <a:solidFill>
                  <a:srgbClr val="ED553B"/>
                </a:solidFill>
                <a:latin typeface="Arial"/>
                <a:ea typeface="Arial"/>
                <a:cs typeface="Arial"/>
              </a:defRPr>
            </a:pPr>
            <a:r>
              <a:rPr sz="2700" b="1">
                <a:solidFill>
                  <a:srgbClr val="ED553B"/>
                </a:solidFill>
                <a:latin typeface="Arial"/>
                <a:ea typeface="Arial"/>
                <a:cs typeface="Arial"/>
              </a:rPr>
              <a:t>64</a:t>
            </a:r>
          </a:p>
        </p:txBody>
      </p:sp>
      <p:sp>
        <p:nvSpPr>
          <p:cNvPr id="12" name="Rectangle 11">
            <a:extLst>
              <a:ext uri="{FF2B5EF4-FFF2-40B4-BE49-F238E27FC236}">
                <a16:creationId xmlns:a16="http://schemas.microsoft.com/office/drawing/2014/main" id="{8020F703-770B-46D1-BC8E-63CD5D0D6FCD}"/>
              </a:ext>
            </a:extLst>
          </p:cNvPr>
          <p:cNvSpPr>
            <a:spLocks noGrp="1"/>
          </p:cNvSpPr>
          <p:nvPr/>
        </p:nvSpPr>
        <p:spPr>
          <a:xfrm>
            <a:off x="9048750" y="4286250"/>
            <a:ext cx="2428875" cy="457200"/>
          </a:xfrm>
          <a:prstGeom prst="rect">
            <a:avLst/>
          </a:prstGeom>
          <a:noFill/>
          <a:ln w="0">
            <a:noFill/>
          </a:ln>
        </p:spPr>
        <p:txBody>
          <a:bodyPr anchor="ctr">
            <a:no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word kiểm tra bằng scoreboard</a:t>
            </a:r>
          </a:p>
        </p:txBody>
      </p:sp>
      <p:sp>
        <p:nvSpPr>
          <p:cNvPr id="13" name="Rectangle 12">
            <a:extLst>
              <a:ext uri="{FF2B5EF4-FFF2-40B4-BE49-F238E27FC236}">
                <a16:creationId xmlns:a16="http://schemas.microsoft.com/office/drawing/2014/main" id="{B6E1CA6A-E933-4DB6-8582-B9BB21244DE6}"/>
              </a:ext>
            </a:extLst>
          </p:cNvPr>
          <p:cNvSpPr>
            <a:spLocks noGrp="1"/>
          </p:cNvSpPr>
          <p:nvPr/>
        </p:nvSpPr>
        <p:spPr>
          <a:xfrm>
            <a:off x="647700" y="5810250"/>
            <a:ext cx="10572750" cy="590550"/>
          </a:xfrm>
          <a:prstGeom prst="rect">
            <a:avLst/>
          </a:prstGeom>
          <a:noFill/>
          <a:ln w="0">
            <a:no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Đã kiểm tra: MSI trực tiếp + AHB, AMO, LR/SC, FENCE.I, MMIO, error recovery, watchdog và boot/DMA control</a:t>
            </a:r>
          </a:p>
        </p:txBody>
      </p:sp>
    </p:spTree>
    <p:extLst>
      <p:ext uri="{BB962C8B-B14F-4D97-AF65-F5344CB8AC3E}">
        <p14:creationId xmlns:p14="http://schemas.microsoft.com/office/powerpoint/2010/main" val="1946283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4AA66E6-25C2-4422-8741-A1EC6C095D82}"/>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FEBC00B6-2CDB-43C9-B2F8-426298452D6F}"/>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Giới hạn hiện tại và kế hoạch tiếp theo</a:t>
            </a:r>
          </a:p>
        </p:txBody>
      </p:sp>
      <p:sp>
        <p:nvSpPr>
          <p:cNvPr id="3" name="Rectangle 2">
            <a:extLst>
              <a:ext uri="{FF2B5EF4-FFF2-40B4-BE49-F238E27FC236}">
                <a16:creationId xmlns:a16="http://schemas.microsoft.com/office/drawing/2014/main" id="{97F3BFDF-E0F3-4BA8-84AB-AB5F49788C98}"/>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10</a:t>
            </a:r>
          </a:p>
        </p:txBody>
      </p:sp>
      <p:sp>
        <p:nvSpPr>
          <p:cNvPr id="4" name="Straight Connector 3">
            <a:extLst>
              <a:ext uri="{FF2B5EF4-FFF2-40B4-BE49-F238E27FC236}">
                <a16:creationId xmlns:a16="http://schemas.microsoft.com/office/drawing/2014/main" id="{DAC28212-3A47-4D4C-9DB6-52E362EED950}"/>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CA08BCBA-6072-4FFF-9A4B-B70A1AFB7777}"/>
              </a:ext>
            </a:extLst>
          </p:cNvPr>
          <p:cNvSpPr>
            <a:spLocks noGrp="1"/>
          </p:cNvSpPr>
          <p:nvPr/>
        </p:nvSpPr>
        <p:spPr>
          <a:xfrm>
            <a:off x="666750" y="1219200"/>
            <a:ext cx="2476500" cy="400050"/>
          </a:xfrm>
          <a:prstGeom prst="rect">
            <a:avLst/>
          </a:prstGeom>
          <a:noFill/>
          <a:ln w="0">
            <a:noFill/>
          </a:ln>
        </p:spPr>
        <p:txBody>
          <a:bodyPr anchor="ctr">
            <a:noAutofit/>
          </a:bodyPr>
          <a:lstStyle/>
          <a:p>
            <a:pPr algn="l">
              <a:defRPr sz="2025" b="1">
                <a:solidFill>
                  <a:srgbClr val="ED553B"/>
                </a:solidFill>
                <a:latin typeface="Arial"/>
                <a:ea typeface="Arial"/>
                <a:cs typeface="Arial"/>
              </a:defRPr>
            </a:pPr>
            <a:r>
              <a:rPr sz="2025" b="1">
                <a:solidFill>
                  <a:srgbClr val="ED553B"/>
                </a:solidFill>
                <a:latin typeface="Arial"/>
                <a:ea typeface="Arial"/>
                <a:cs typeface="Arial"/>
              </a:rPr>
              <a:t>Giới hạn</a:t>
            </a:r>
          </a:p>
        </p:txBody>
      </p:sp>
      <p:sp>
        <p:nvSpPr>
          <p:cNvPr id="6" name="Oval 5">
            <a:extLst>
              <a:ext uri="{FF2B5EF4-FFF2-40B4-BE49-F238E27FC236}">
                <a16:creationId xmlns:a16="http://schemas.microsoft.com/office/drawing/2014/main" id="{9713BA05-8949-440F-BE03-4AD43756AE92}"/>
              </a:ext>
            </a:extLst>
          </p:cNvPr>
          <p:cNvSpPr>
            <a:spLocks noGrp="1"/>
          </p:cNvSpPr>
          <p:nvPr/>
        </p:nvSpPr>
        <p:spPr>
          <a:xfrm>
            <a:off x="762000" y="180975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1</a:t>
            </a:r>
          </a:p>
        </p:txBody>
      </p:sp>
      <p:sp>
        <p:nvSpPr>
          <p:cNvPr id="7" name="Rectangle 6">
            <a:extLst>
              <a:ext uri="{FF2B5EF4-FFF2-40B4-BE49-F238E27FC236}">
                <a16:creationId xmlns:a16="http://schemas.microsoft.com/office/drawing/2014/main" id="{61992D53-C347-436E-80E0-F6143C26D94C}"/>
              </a:ext>
            </a:extLst>
          </p:cNvPr>
          <p:cNvSpPr>
            <a:spLocks noGrp="1"/>
          </p:cNvSpPr>
          <p:nvPr/>
        </p:nvSpPr>
        <p:spPr>
          <a:xfrm>
            <a:off x="1285875" y="176212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Một giao dịch coherence toàn hệ thống tại một thời điểm</a:t>
            </a:r>
          </a:p>
        </p:txBody>
      </p:sp>
      <p:sp>
        <p:nvSpPr>
          <p:cNvPr id="8" name="Oval 7">
            <a:extLst>
              <a:ext uri="{FF2B5EF4-FFF2-40B4-BE49-F238E27FC236}">
                <a16:creationId xmlns:a16="http://schemas.microsoft.com/office/drawing/2014/main" id="{148DBC48-2368-4752-8964-C7A6247B9495}"/>
              </a:ext>
            </a:extLst>
          </p:cNvPr>
          <p:cNvSpPr>
            <a:spLocks noGrp="1"/>
          </p:cNvSpPr>
          <p:nvPr/>
        </p:nvSpPr>
        <p:spPr>
          <a:xfrm>
            <a:off x="762000" y="262890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2</a:t>
            </a:r>
          </a:p>
        </p:txBody>
      </p:sp>
      <p:sp>
        <p:nvSpPr>
          <p:cNvPr id="9" name="Rectangle 8">
            <a:extLst>
              <a:ext uri="{FF2B5EF4-FFF2-40B4-BE49-F238E27FC236}">
                <a16:creationId xmlns:a16="http://schemas.microsoft.com/office/drawing/2014/main" id="{492F071A-44CF-4CF8-83A0-FB7035C7A989}"/>
              </a:ext>
            </a:extLst>
          </p:cNvPr>
          <p:cNvSpPr>
            <a:spLocks noGrp="1"/>
          </p:cNvSpPr>
          <p:nvPr/>
        </p:nvSpPr>
        <p:spPr>
          <a:xfrm>
            <a:off x="1285875" y="258127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DMA dùng maintenance coarse-grain, chưa là MSI master theo line</a:t>
            </a:r>
          </a:p>
        </p:txBody>
      </p:sp>
      <p:sp>
        <p:nvSpPr>
          <p:cNvPr id="10" name="Oval 9">
            <a:extLst>
              <a:ext uri="{FF2B5EF4-FFF2-40B4-BE49-F238E27FC236}">
                <a16:creationId xmlns:a16="http://schemas.microsoft.com/office/drawing/2014/main" id="{D65BC92C-466E-4E7A-99D6-86936629D7A4}"/>
              </a:ext>
            </a:extLst>
          </p:cNvPr>
          <p:cNvSpPr>
            <a:spLocks noGrp="1"/>
          </p:cNvSpPr>
          <p:nvPr/>
        </p:nvSpPr>
        <p:spPr>
          <a:xfrm>
            <a:off x="762000" y="344805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3</a:t>
            </a:r>
          </a:p>
        </p:txBody>
      </p:sp>
      <p:sp>
        <p:nvSpPr>
          <p:cNvPr id="11" name="Rectangle 10">
            <a:extLst>
              <a:ext uri="{FF2B5EF4-FFF2-40B4-BE49-F238E27FC236}">
                <a16:creationId xmlns:a16="http://schemas.microsoft.com/office/drawing/2014/main" id="{A7975F5B-FBCB-4264-8CC0-A8CE85088B32}"/>
              </a:ext>
            </a:extLst>
          </p:cNvPr>
          <p:cNvSpPr>
            <a:spLocks noGrp="1"/>
          </p:cNvSpPr>
          <p:nvPr/>
        </p:nvSpPr>
        <p:spPr>
          <a:xfrm>
            <a:off x="1285875" y="340042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I-cache không snoop và phụ thuộc FENCE.I</a:t>
            </a:r>
          </a:p>
        </p:txBody>
      </p:sp>
      <p:sp>
        <p:nvSpPr>
          <p:cNvPr id="12" name="Oval 11">
            <a:extLst>
              <a:ext uri="{FF2B5EF4-FFF2-40B4-BE49-F238E27FC236}">
                <a16:creationId xmlns:a16="http://schemas.microsoft.com/office/drawing/2014/main" id="{FD446FC0-AB88-4E5E-A9A7-AD5223DD6FAF}"/>
              </a:ext>
            </a:extLst>
          </p:cNvPr>
          <p:cNvSpPr>
            <a:spLocks noGrp="1"/>
          </p:cNvSpPr>
          <p:nvPr/>
        </p:nvSpPr>
        <p:spPr>
          <a:xfrm>
            <a:off x="762000" y="426720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4</a:t>
            </a:r>
          </a:p>
        </p:txBody>
      </p:sp>
      <p:sp>
        <p:nvSpPr>
          <p:cNvPr id="13" name="Rectangle 12">
            <a:extLst>
              <a:ext uri="{FF2B5EF4-FFF2-40B4-BE49-F238E27FC236}">
                <a16:creationId xmlns:a16="http://schemas.microsoft.com/office/drawing/2014/main" id="{37D12D7E-3036-48B5-8267-745DC2FD39B5}"/>
              </a:ext>
            </a:extLst>
          </p:cNvPr>
          <p:cNvSpPr>
            <a:spLocks noGrp="1"/>
          </p:cNvSpPr>
          <p:nvPr/>
        </p:nvSpPr>
        <p:spPr>
          <a:xfrm>
            <a:off x="1285875" y="421957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Chưa có formal proof, timing và kết quả FPGA</a:t>
            </a:r>
          </a:p>
        </p:txBody>
      </p:sp>
    </p:spTree>
    <p:extLst>
      <p:ext uri="{BB962C8B-B14F-4D97-AF65-F5344CB8AC3E}">
        <p14:creationId xmlns:p14="http://schemas.microsoft.com/office/powerpoint/2010/main" val="1999292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DA94AA9-06BD-4EC3-8418-F12605FC012D}"/>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DBFEE0FC-217B-45AC-B3E2-35B82850C600}"/>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Kết luận và câu hỏi phản biện</a:t>
            </a:r>
          </a:p>
        </p:txBody>
      </p:sp>
      <p:sp>
        <p:nvSpPr>
          <p:cNvPr id="3" name="Rectangle 2">
            <a:extLst>
              <a:ext uri="{FF2B5EF4-FFF2-40B4-BE49-F238E27FC236}">
                <a16:creationId xmlns:a16="http://schemas.microsoft.com/office/drawing/2014/main" id="{4CB84668-A59F-4A71-AA06-23537F71CA83}"/>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11</a:t>
            </a:r>
          </a:p>
        </p:txBody>
      </p:sp>
      <p:sp>
        <p:nvSpPr>
          <p:cNvPr id="4" name="Straight Connector 3">
            <a:extLst>
              <a:ext uri="{FF2B5EF4-FFF2-40B4-BE49-F238E27FC236}">
                <a16:creationId xmlns:a16="http://schemas.microsoft.com/office/drawing/2014/main" id="{203310B7-F635-41CA-B07F-9505A12DADF5}"/>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FCD6D1F4-CFCE-411E-9EA3-90E0094775B7}"/>
              </a:ext>
            </a:extLst>
          </p:cNvPr>
          <p:cNvSpPr>
            <a:spLocks noGrp="1"/>
          </p:cNvSpPr>
          <p:nvPr/>
        </p:nvSpPr>
        <p:spPr>
          <a:xfrm>
            <a:off x="666750" y="1257300"/>
            <a:ext cx="4286250" cy="400050"/>
          </a:xfrm>
          <a:prstGeom prst="rect">
            <a:avLst/>
          </a:prstGeom>
          <a:noFill/>
          <a:ln w="0">
            <a:noFill/>
          </a:ln>
        </p:spPr>
        <p:txBody>
          <a:bodyPr anchor="ctr">
            <a:noAutofit/>
          </a:bodyPr>
          <a:lstStyle/>
          <a:p>
            <a:pPr algn="l">
              <a:defRPr sz="2100" b="1">
                <a:solidFill>
                  <a:srgbClr val="123A5A"/>
                </a:solidFill>
                <a:latin typeface="Arial"/>
                <a:ea typeface="Arial"/>
                <a:cs typeface="Arial"/>
              </a:defRPr>
            </a:pPr>
            <a:r>
              <a:rPr sz="2100" b="1">
                <a:solidFill>
                  <a:srgbClr val="123A5A"/>
                </a:solidFill>
                <a:latin typeface="Arial"/>
                <a:ea typeface="Arial"/>
                <a:cs typeface="Arial"/>
              </a:rPr>
              <a:t>Ba kết luận cần chốt</a:t>
            </a:r>
          </a:p>
        </p:txBody>
      </p:sp>
      <p:sp>
        <p:nvSpPr>
          <p:cNvPr id="6" name="Oval 5">
            <a:extLst>
              <a:ext uri="{FF2B5EF4-FFF2-40B4-BE49-F238E27FC236}">
                <a16:creationId xmlns:a16="http://schemas.microsoft.com/office/drawing/2014/main" id="{B4BC8085-FE33-4ECA-9C25-F83376EEDD5D}"/>
              </a:ext>
            </a:extLst>
          </p:cNvPr>
          <p:cNvSpPr>
            <a:spLocks noGrp="1"/>
          </p:cNvSpPr>
          <p:nvPr/>
        </p:nvSpPr>
        <p:spPr>
          <a:xfrm>
            <a:off x="666750" y="1857375"/>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BD953DC-1736-40BA-8885-72F49E78055E}"/>
              </a:ext>
            </a:extLst>
          </p:cNvPr>
          <p:cNvSpPr>
            <a:spLocks noGrp="1"/>
          </p:cNvSpPr>
          <p:nvPr/>
        </p:nvSpPr>
        <p:spPr>
          <a:xfrm>
            <a:off x="1257300" y="1838325"/>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RTL đã khóa chức năng</a:t>
            </a:r>
          </a:p>
        </p:txBody>
      </p:sp>
      <p:sp>
        <p:nvSpPr>
          <p:cNvPr id="8" name="Rectangle 7">
            <a:extLst>
              <a:ext uri="{FF2B5EF4-FFF2-40B4-BE49-F238E27FC236}">
                <a16:creationId xmlns:a16="http://schemas.microsoft.com/office/drawing/2014/main" id="{CACC7FA1-8DCD-4693-A6BF-B5603BA8A292}"/>
              </a:ext>
            </a:extLst>
          </p:cNvPr>
          <p:cNvSpPr>
            <a:spLocks noGrp="1"/>
          </p:cNvSpPr>
          <p:nvPr/>
        </p:nvSpPr>
        <p:spPr>
          <a:xfrm>
            <a:off x="1257300" y="2143125"/>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MSI blocking đạt 26/26 test PASS</a:t>
            </a:r>
          </a:p>
        </p:txBody>
      </p:sp>
      <p:sp>
        <p:nvSpPr>
          <p:cNvPr id="9" name="Oval 8">
            <a:extLst>
              <a:ext uri="{FF2B5EF4-FFF2-40B4-BE49-F238E27FC236}">
                <a16:creationId xmlns:a16="http://schemas.microsoft.com/office/drawing/2014/main" id="{E9D54FC8-79A2-4FC6-B2CD-2995F6423236}"/>
              </a:ext>
            </a:extLst>
          </p:cNvPr>
          <p:cNvSpPr>
            <a:spLocks noGrp="1"/>
          </p:cNvSpPr>
          <p:nvPr/>
        </p:nvSpPr>
        <p:spPr>
          <a:xfrm>
            <a:off x="666750" y="3000375"/>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74AD347D-EA2A-4914-A4E8-CF5ADE7519E7}"/>
              </a:ext>
            </a:extLst>
          </p:cNvPr>
          <p:cNvSpPr>
            <a:spLocks noGrp="1"/>
          </p:cNvSpPr>
          <p:nvPr/>
        </p:nvSpPr>
        <p:spPr>
          <a:xfrm>
            <a:off x="1257300" y="2981325"/>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MSI là quyết định có chủ đích</a:t>
            </a:r>
          </a:p>
        </p:txBody>
      </p:sp>
      <p:sp>
        <p:nvSpPr>
          <p:cNvPr id="11" name="Rectangle 10">
            <a:extLst>
              <a:ext uri="{FF2B5EF4-FFF2-40B4-BE49-F238E27FC236}">
                <a16:creationId xmlns:a16="http://schemas.microsoft.com/office/drawing/2014/main" id="{F7DB15F8-C454-4008-A379-97F16190A90D}"/>
              </a:ext>
            </a:extLst>
          </p:cNvPr>
          <p:cNvSpPr>
            <a:spLocks noGrp="1"/>
          </p:cNvSpPr>
          <p:nvPr/>
        </p:nvSpPr>
        <p:spPr>
          <a:xfrm>
            <a:off x="1257300" y="3286125"/>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Mọi ownership change đều đi qua RFO</a:t>
            </a:r>
          </a:p>
        </p:txBody>
      </p:sp>
      <p:sp>
        <p:nvSpPr>
          <p:cNvPr id="12" name="Oval 11">
            <a:extLst>
              <a:ext uri="{FF2B5EF4-FFF2-40B4-BE49-F238E27FC236}">
                <a16:creationId xmlns:a16="http://schemas.microsoft.com/office/drawing/2014/main" id="{AE46206E-812D-4B00-9B3D-CE0869B227B4}"/>
              </a:ext>
            </a:extLst>
          </p:cNvPr>
          <p:cNvSpPr>
            <a:spLocks noGrp="1"/>
          </p:cNvSpPr>
          <p:nvPr/>
        </p:nvSpPr>
        <p:spPr>
          <a:xfrm>
            <a:off x="666750" y="4143375"/>
            <a:ext cx="457200" cy="457200"/>
          </a:xfrm>
          <a:prstGeom prst="ellipse">
            <a:avLst/>
          </a:prstGeom>
          <a:solidFill>
            <a:srgbClr val="ED553B"/>
          </a:solidFill>
          <a:ln w="9525">
            <a:solidFill>
              <a:srgbClr val="ED553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F8770DD-D685-404A-99F2-CABD1C95C487}"/>
              </a:ext>
            </a:extLst>
          </p:cNvPr>
          <p:cNvSpPr>
            <a:spLocks noGrp="1"/>
          </p:cNvSpPr>
          <p:nvPr/>
        </p:nvSpPr>
        <p:spPr>
          <a:xfrm>
            <a:off x="1257300" y="4124325"/>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Phần còn lại là bằng chứng hệ thống</a:t>
            </a:r>
          </a:p>
        </p:txBody>
      </p:sp>
      <p:sp>
        <p:nvSpPr>
          <p:cNvPr id="14" name="Rectangle 13">
            <a:extLst>
              <a:ext uri="{FF2B5EF4-FFF2-40B4-BE49-F238E27FC236}">
                <a16:creationId xmlns:a16="http://schemas.microsoft.com/office/drawing/2014/main" id="{54BD8D46-5845-440D-9584-A7CDF0A525BC}"/>
              </a:ext>
            </a:extLst>
          </p:cNvPr>
          <p:cNvSpPr>
            <a:spLocks noGrp="1"/>
          </p:cNvSpPr>
          <p:nvPr/>
        </p:nvSpPr>
        <p:spPr>
          <a:xfrm>
            <a:off x="1257300" y="4429125"/>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Vivado, timing, FPGA và hiệu năng</a:t>
            </a:r>
          </a:p>
        </p:txBody>
      </p:sp>
    </p:spTree>
    <p:extLst>
      <p:ext uri="{BB962C8B-B14F-4D97-AF65-F5344CB8AC3E}">
        <p14:creationId xmlns:p14="http://schemas.microsoft.com/office/powerpoint/2010/main" val="7655081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2750</Words>
  <Application>Microsoft Office PowerPoint</Application>
  <DocSecurity>0</DocSecurity>
  <PresentationFormat>Widescreen</PresentationFormat>
  <Paragraphs>202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Lâm Võ Lê Phước</cp:lastModifiedBy>
  <cp:revision>1</cp:revision>
  <dcterms:created xsi:type="dcterms:W3CDTF">2026-10-04T02:52:20Z</dcterms:created>
  <dcterms:modified xsi:type="dcterms:W3CDTF">2026-10-04T02:56:17Z</dcterms:modified>
</cp:coreProperties>
</file>