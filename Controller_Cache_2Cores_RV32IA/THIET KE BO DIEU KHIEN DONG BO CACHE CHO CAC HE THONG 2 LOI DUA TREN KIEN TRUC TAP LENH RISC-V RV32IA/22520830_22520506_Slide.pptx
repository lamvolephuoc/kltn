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j3mLY/6kd6OGdXZDKAgqK94II8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815456-44F8-4D1A-AE71-F7906A878445}">
  <a:tblStyle styleId="{B5815456-44F8-4D1A-AE71-F7906A878445}"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E7"/>
          </a:solidFill>
        </a:fill>
      </a:tcStyle>
    </a:wholeTbl>
    <a:band1H>
      <a:tcTxStyle b="off" i="off"/>
      <a:tcStyle>
        <a:fill>
          <a:solidFill>
            <a:srgbClr val="CFDECC"/>
          </a:solidFill>
        </a:fill>
      </a:tcStyle>
    </a:band1H>
    <a:band2H>
      <a:tcTxStyle b="off" i="off"/>
    </a:band2H>
    <a:band1V>
      <a:tcTxStyle b="off" i="off"/>
      <a:tcStyle>
        <a:fill>
          <a:solidFill>
            <a:srgbClr val="CFDECC"/>
          </a:solidFill>
        </a:fill>
      </a:tcStyle>
    </a:band1V>
    <a:band2V>
      <a:tcTxStyle b="off" i="off"/>
    </a:band2V>
    <a:lastCol>
      <a:tcTxStyle b="on" i="off">
        <a:font>
          <a:latin typeface="Arial"/>
          <a:ea typeface="Arial"/>
          <a:cs typeface="Arial"/>
        </a:font>
        <a:srgbClr val="FFFFFF"/>
      </a:tcTxStyle>
      <a:tcStyle>
        <a:fill>
          <a:solidFill>
            <a:srgbClr val="549E39"/>
          </a:solidFill>
        </a:fill>
      </a:tcStyle>
    </a:lastCol>
    <a:firstCol>
      <a:tcTxStyle b="on" i="off">
        <a:font>
          <a:latin typeface="Arial"/>
          <a:ea typeface="Arial"/>
          <a:cs typeface="Arial"/>
        </a:font>
        <a:srgbClr val="FFFFFF"/>
      </a:tcTxStyle>
      <a:tcStyle>
        <a:fill>
          <a:solidFill>
            <a:srgbClr val="549E39"/>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549E39"/>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549E39"/>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2bd68531b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g3f2bd68531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7b23973b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g3f7b23973b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2" name="Google Shape;4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17"/>
          <p:cNvSpPr/>
          <p:nvPr/>
        </p:nvSpPr>
        <p:spPr>
          <a:xfrm>
            <a:off x="-24143" y="0"/>
            <a:ext cx="633743" cy="6858000"/>
          </a:xfrm>
          <a:prstGeom prst="rect">
            <a:avLst/>
          </a:prstGeom>
          <a:gradFill>
            <a:gsLst>
              <a:gs pos="0">
                <a:srgbClr val="10CC57"/>
              </a:gs>
              <a:gs pos="100000">
                <a:srgbClr val="017058"/>
              </a:gs>
            </a:gsLst>
            <a:lin ang="5400000" scaled="0"/>
          </a:gra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 name="Google Shape;19;p17"/>
          <p:cNvSpPr/>
          <p:nvPr/>
        </p:nvSpPr>
        <p:spPr>
          <a:xfrm flipH="1" rot="10800000">
            <a:off x="-31247" y="0"/>
            <a:ext cx="633743"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 name="Google Shape;20;p17"/>
          <p:cNvSpPr txBox="1"/>
          <p:nvPr/>
        </p:nvSpPr>
        <p:spPr>
          <a:xfrm rot="-5400000">
            <a:off x="-1800908" y="4465666"/>
            <a:ext cx="41730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sp>
        <p:nvSpPr>
          <p:cNvPr id="21" name="Google Shape;21;p17"/>
          <p:cNvSpPr/>
          <p:nvPr>
            <p:ph type="ctrTitle"/>
          </p:nvPr>
        </p:nvSpPr>
        <p:spPr>
          <a:xfrm>
            <a:off x="1524000" y="1923591"/>
            <a:ext cx="9144000" cy="2387600"/>
          </a:xfrm>
          <a:prstGeom prst="roundRect">
            <a:avLst>
              <a:gd fmla="val 3901" name="adj"/>
            </a:avLst>
          </a:prstGeom>
          <a:noFill/>
          <a:ln cap="flat" cmpd="sng" w="25400">
            <a:solidFill>
              <a:srgbClr val="10CC57"/>
            </a:solidFill>
            <a:prstDash val="solid"/>
            <a:round/>
            <a:headEnd len="sm" w="sm" type="none"/>
            <a:tailEnd len="sm" w="sm" type="none"/>
          </a:ln>
        </p:spPr>
        <p:txBody>
          <a:bodyPr anchorCtr="0" anchor="ctr" bIns="45700" lIns="91425" spcFirstLastPara="1" rIns="91425" wrap="square" tIns="45700">
            <a:normAutofit/>
          </a:bodyPr>
          <a:lstStyle>
            <a:lvl1pPr lvl="0" algn="ctr">
              <a:lnSpc>
                <a:spcPct val="90000"/>
              </a:lnSpc>
              <a:spcBef>
                <a:spcPts val="0"/>
              </a:spcBef>
              <a:spcAft>
                <a:spcPts val="0"/>
              </a:spcAft>
              <a:buClr>
                <a:srgbClr val="11998E"/>
              </a:buClr>
              <a:buSzPts val="6000"/>
              <a:buFont typeface="Times New Roman"/>
              <a:buNone/>
              <a:defRPr b="1" sz="6000">
                <a:solidFill>
                  <a:srgbClr val="11998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24" name="Google Shape;24;p17"/>
          <p:cNvGrpSpPr/>
          <p:nvPr/>
        </p:nvGrpSpPr>
        <p:grpSpPr>
          <a:xfrm>
            <a:off x="11508226" y="243069"/>
            <a:ext cx="546132" cy="546132"/>
            <a:chOff x="11082048" y="197383"/>
            <a:chExt cx="486579" cy="486579"/>
          </a:xfrm>
        </p:grpSpPr>
        <p:sp>
          <p:nvSpPr>
            <p:cNvPr id="25" name="Google Shape;25;p17"/>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 name="Google Shape;26;p17"/>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7" name="Google Shape;27;p17"/>
          <p:cNvGrpSpPr/>
          <p:nvPr/>
        </p:nvGrpSpPr>
        <p:grpSpPr>
          <a:xfrm>
            <a:off x="4479985" y="131938"/>
            <a:ext cx="3232030" cy="768394"/>
            <a:chOff x="4280055" y="84406"/>
            <a:chExt cx="3631889" cy="863458"/>
          </a:xfrm>
        </p:grpSpPr>
        <p:sp>
          <p:nvSpPr>
            <p:cNvPr id="28" name="Google Shape;28;p17"/>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 name="Google Shape;29;p17"/>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30" name="Google Shape;30;p17"/>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31" name="Google Shape;31;p17"/>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sp>
        <p:nvSpPr>
          <p:cNvPr id="32" name="Google Shape;32;p17"/>
          <p:cNvSpPr txBox="1"/>
          <p:nvPr>
            <p:ph idx="1" type="body"/>
          </p:nvPr>
        </p:nvSpPr>
        <p:spPr>
          <a:xfrm>
            <a:off x="1524000" y="5542055"/>
            <a:ext cx="9144000" cy="51911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i="1"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p:nvPr>
            <p:ph idx="2" type="body"/>
          </p:nvPr>
        </p:nvSpPr>
        <p:spPr>
          <a:xfrm>
            <a:off x="3730283" y="1550070"/>
            <a:ext cx="2365717"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lt1"/>
              </a:buClr>
              <a:buSzPts val="1600"/>
              <a:buChar char="•"/>
              <a:defRPr b="1"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7"/>
          <p:cNvSpPr/>
          <p:nvPr>
            <p:ph idx="3" type="body"/>
          </p:nvPr>
        </p:nvSpPr>
        <p:spPr>
          <a:xfrm>
            <a:off x="6096000" y="4309683"/>
            <a:ext cx="3388242"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lt1"/>
              </a:buClr>
              <a:buSzPts val="1600"/>
              <a:buChar char="•"/>
              <a:defRPr b="1"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7"/>
          <p:cNvSpPr txBox="1"/>
          <p:nvPr>
            <p:ph idx="12" type="sldNum"/>
          </p:nvPr>
        </p:nvSpPr>
        <p:spPr>
          <a:xfrm>
            <a:off x="10409692" y="333573"/>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6" name="Google Shape;36;p17"/>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37" name="Shape 37"/>
        <p:cNvGrpSpPr/>
        <p:nvPr/>
      </p:nvGrpSpPr>
      <p:grpSpPr>
        <a:xfrm>
          <a:off x="0" y="0"/>
          <a:ext cx="0" cy="0"/>
          <a:chOff x="0" y="0"/>
          <a:chExt cx="0" cy="0"/>
        </a:xfrm>
      </p:grpSpPr>
      <p:sp>
        <p:nvSpPr>
          <p:cNvPr id="38" name="Google Shape;38;p1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3" name="Google Shape;43;p18"/>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4" name="Google Shape;44;p18"/>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45" name="Google Shape;45;p18"/>
          <p:cNvGrpSpPr/>
          <p:nvPr/>
        </p:nvGrpSpPr>
        <p:grpSpPr>
          <a:xfrm>
            <a:off x="4479985" y="241694"/>
            <a:ext cx="3232030" cy="768394"/>
            <a:chOff x="4280055" y="84406"/>
            <a:chExt cx="3631889" cy="863458"/>
          </a:xfrm>
        </p:grpSpPr>
        <p:sp>
          <p:nvSpPr>
            <p:cNvPr id="46" name="Google Shape;46;p18"/>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7" name="Google Shape;47;p18"/>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48" name="Google Shape;48;p18"/>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49" name="Google Shape;49;p18"/>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50" name="Google Shape;50;p18"/>
          <p:cNvGrpSpPr/>
          <p:nvPr/>
        </p:nvGrpSpPr>
        <p:grpSpPr>
          <a:xfrm>
            <a:off x="11508226" y="6270255"/>
            <a:ext cx="546132" cy="546132"/>
            <a:chOff x="11082048" y="197383"/>
            <a:chExt cx="486579" cy="486579"/>
          </a:xfrm>
        </p:grpSpPr>
        <p:sp>
          <p:nvSpPr>
            <p:cNvPr id="51" name="Google Shape;51;p18"/>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2" name="Google Shape;52;p18"/>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53" name="Google Shape;53;p1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8"/>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 name="Shape 55"/>
        <p:cNvGrpSpPr/>
        <p:nvPr/>
      </p:nvGrpSpPr>
      <p:grpSpPr>
        <a:xfrm>
          <a:off x="0" y="0"/>
          <a:ext cx="0" cy="0"/>
          <a:chOff x="0" y="0"/>
          <a:chExt cx="0" cy="0"/>
        </a:xfrm>
      </p:grpSpPr>
      <p:sp>
        <p:nvSpPr>
          <p:cNvPr id="56" name="Google Shape;56;p19"/>
          <p:cNvSpPr txBox="1"/>
          <p:nvPr>
            <p:ph idx="10" type="dt"/>
          </p:nvPr>
        </p:nvSpPr>
        <p:spPr>
          <a:xfrm>
            <a:off x="4236403"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p:nvPr/>
        </p:nvSpPr>
        <p:spPr>
          <a:xfrm>
            <a:off x="-24143" y="0"/>
            <a:ext cx="4056393" cy="6858000"/>
          </a:xfrm>
          <a:prstGeom prst="rect">
            <a:avLst/>
          </a:prstGeom>
          <a:gradFill>
            <a:gsLst>
              <a:gs pos="0">
                <a:srgbClr val="38EF7D"/>
              </a:gs>
              <a:gs pos="100000">
                <a:srgbClr val="11998E"/>
              </a:gs>
            </a:gsLst>
            <a:lin ang="5400000" scaled="0"/>
          </a:gra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 name="Google Shape;59;p19"/>
          <p:cNvSpPr/>
          <p:nvPr/>
        </p:nvSpPr>
        <p:spPr>
          <a:xfrm flipH="1" rot="10800000">
            <a:off x="-31247" y="0"/>
            <a:ext cx="1804783"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 name="Google Shape;60;p19"/>
          <p:cNvSpPr txBox="1"/>
          <p:nvPr/>
        </p:nvSpPr>
        <p:spPr>
          <a:xfrm rot="-5400000">
            <a:off x="-1800908" y="4465666"/>
            <a:ext cx="417306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61" name="Google Shape;61;p19"/>
          <p:cNvGrpSpPr/>
          <p:nvPr/>
        </p:nvGrpSpPr>
        <p:grpSpPr>
          <a:xfrm>
            <a:off x="4479985" y="131938"/>
            <a:ext cx="3232030" cy="768394"/>
            <a:chOff x="4280055" y="84406"/>
            <a:chExt cx="3631889" cy="863458"/>
          </a:xfrm>
        </p:grpSpPr>
        <p:sp>
          <p:nvSpPr>
            <p:cNvPr id="62" name="Google Shape;62;p19"/>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 name="Google Shape;63;p19"/>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64" name="Google Shape;64;p19"/>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65" name="Google Shape;65;p19"/>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66" name="Google Shape;66;p19"/>
          <p:cNvGrpSpPr/>
          <p:nvPr/>
        </p:nvGrpSpPr>
        <p:grpSpPr>
          <a:xfrm>
            <a:off x="11508226" y="243069"/>
            <a:ext cx="546132" cy="546132"/>
            <a:chOff x="11082048" y="197383"/>
            <a:chExt cx="486579" cy="486579"/>
          </a:xfrm>
        </p:grpSpPr>
        <p:sp>
          <p:nvSpPr>
            <p:cNvPr id="67" name="Google Shape;67;p19"/>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 name="Google Shape;68;p19"/>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69" name="Google Shape;69;p19"/>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19"/>
          <p:cNvSpPr/>
          <p:nvPr/>
        </p:nvSpPr>
        <p:spPr>
          <a:xfrm>
            <a:off x="1136821" y="1450428"/>
            <a:ext cx="10210628" cy="4289654"/>
          </a:xfrm>
          <a:prstGeom prst="roundRect">
            <a:avLst>
              <a:gd fmla="val 2701" name="adj"/>
            </a:avLst>
          </a:prstGeom>
          <a:blipFill rotWithShape="1">
            <a:blip r:embed="rId5">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 name="Google Shape;71;p19"/>
          <p:cNvSpPr/>
          <p:nvPr/>
        </p:nvSpPr>
        <p:spPr>
          <a:xfrm>
            <a:off x="1136821" y="1450428"/>
            <a:ext cx="10210628" cy="4289654"/>
          </a:xfrm>
          <a:prstGeom prst="roundRect">
            <a:avLst>
              <a:gd fmla="val 2701" name="adj"/>
            </a:avLst>
          </a:prstGeom>
          <a:gradFill>
            <a:gsLst>
              <a:gs pos="0">
                <a:srgbClr val="38EF7D">
                  <a:alpha val="40000"/>
                </a:srgbClr>
              </a:gs>
              <a:gs pos="100000">
                <a:srgbClr val="11998E">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 name="Google Shape;72;p19"/>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5400"/>
              <a:buFont typeface="Times New Roman"/>
              <a:buNone/>
              <a:defRPr b="1"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 type="body"/>
          </p:nvPr>
        </p:nvSpPr>
        <p:spPr>
          <a:xfrm>
            <a:off x="1653362" y="4108231"/>
            <a:ext cx="5564835" cy="7419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4" name="Google Shape;74;p19"/>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1500"/>
              <a:buNone/>
              <a:defRPr b="1" sz="115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76" name="Shape 76"/>
        <p:cNvGrpSpPr/>
        <p:nvPr/>
      </p:nvGrpSpPr>
      <p:grpSpPr>
        <a:xfrm>
          <a:off x="0" y="0"/>
          <a:ext cx="0" cy="0"/>
          <a:chOff x="0" y="0"/>
          <a:chExt cx="0" cy="0"/>
        </a:xfrm>
      </p:grpSpPr>
      <p:sp>
        <p:nvSpPr>
          <p:cNvPr id="77" name="Google Shape;77;p2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0"/>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0"/>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0"/>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2" name="Google Shape;82;p20"/>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 name="Google Shape;83;p20"/>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84" name="Google Shape;84;p20"/>
          <p:cNvGrpSpPr/>
          <p:nvPr/>
        </p:nvGrpSpPr>
        <p:grpSpPr>
          <a:xfrm>
            <a:off x="4479985" y="241694"/>
            <a:ext cx="3232030" cy="768394"/>
            <a:chOff x="4280055" y="84406"/>
            <a:chExt cx="3631889" cy="863458"/>
          </a:xfrm>
        </p:grpSpPr>
        <p:sp>
          <p:nvSpPr>
            <p:cNvPr id="85" name="Google Shape;85;p20"/>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 name="Google Shape;86;p20"/>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87" name="Google Shape;87;p20"/>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88" name="Google Shape;88;p20"/>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89" name="Google Shape;89;p20"/>
          <p:cNvGrpSpPr/>
          <p:nvPr/>
        </p:nvGrpSpPr>
        <p:grpSpPr>
          <a:xfrm>
            <a:off x="11508226" y="6270255"/>
            <a:ext cx="546132" cy="546132"/>
            <a:chOff x="11082048" y="197383"/>
            <a:chExt cx="486579" cy="486579"/>
          </a:xfrm>
        </p:grpSpPr>
        <p:sp>
          <p:nvSpPr>
            <p:cNvPr id="90" name="Google Shape;90;p20"/>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20"/>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92" name="Google Shape;92;p2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20"/>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94" name="Shape 94"/>
        <p:cNvGrpSpPr/>
        <p:nvPr/>
      </p:nvGrpSpPr>
      <p:grpSpPr>
        <a:xfrm>
          <a:off x="0" y="0"/>
          <a:ext cx="0" cy="0"/>
          <a:chOff x="0" y="0"/>
          <a:chExt cx="0" cy="0"/>
        </a:xfrm>
      </p:grpSpPr>
      <p:sp>
        <p:nvSpPr>
          <p:cNvPr id="95" name="Google Shape;95;p2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1"/>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21"/>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1"/>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0" name="Google Shape;100;p21"/>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1" name="Google Shape;101;p21"/>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02" name="Google Shape;102;p21"/>
          <p:cNvGrpSpPr/>
          <p:nvPr/>
        </p:nvGrpSpPr>
        <p:grpSpPr>
          <a:xfrm>
            <a:off x="4479985" y="241694"/>
            <a:ext cx="3232030" cy="768394"/>
            <a:chOff x="4280055" y="84406"/>
            <a:chExt cx="3631889" cy="863458"/>
          </a:xfrm>
        </p:grpSpPr>
        <p:sp>
          <p:nvSpPr>
            <p:cNvPr id="103" name="Google Shape;103;p21"/>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4" name="Google Shape;104;p21"/>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05" name="Google Shape;105;p21"/>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06" name="Google Shape;106;p21"/>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07" name="Google Shape;107;p21"/>
          <p:cNvGrpSpPr/>
          <p:nvPr/>
        </p:nvGrpSpPr>
        <p:grpSpPr>
          <a:xfrm>
            <a:off x="11508226" y="6270255"/>
            <a:ext cx="546132" cy="546132"/>
            <a:chOff x="11082048" y="197383"/>
            <a:chExt cx="486579" cy="486579"/>
          </a:xfrm>
        </p:grpSpPr>
        <p:sp>
          <p:nvSpPr>
            <p:cNvPr id="108" name="Google Shape;108;p21"/>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9" name="Google Shape;109;p21"/>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10" name="Google Shape;110;p2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11" name="Google Shape;111;p21"/>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12" name="Shape 112"/>
        <p:cNvGrpSpPr/>
        <p:nvPr/>
      </p:nvGrpSpPr>
      <p:grpSpPr>
        <a:xfrm>
          <a:off x="0" y="0"/>
          <a:ext cx="0" cy="0"/>
          <a:chOff x="0" y="0"/>
          <a:chExt cx="0" cy="0"/>
        </a:xfrm>
      </p:grpSpPr>
      <p:sp>
        <p:nvSpPr>
          <p:cNvPr id="113" name="Google Shape;113;p2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2"/>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22"/>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2"/>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 name="Google Shape;118;p22"/>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9" name="Google Shape;119;p22"/>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20" name="Google Shape;120;p22"/>
          <p:cNvGrpSpPr/>
          <p:nvPr/>
        </p:nvGrpSpPr>
        <p:grpSpPr>
          <a:xfrm>
            <a:off x="4479985" y="241694"/>
            <a:ext cx="3232030" cy="768394"/>
            <a:chOff x="4280055" y="84406"/>
            <a:chExt cx="3631889" cy="863458"/>
          </a:xfrm>
        </p:grpSpPr>
        <p:sp>
          <p:nvSpPr>
            <p:cNvPr id="121" name="Google Shape;121;p22"/>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2" name="Google Shape;122;p22"/>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23" name="Google Shape;123;p22"/>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24" name="Google Shape;124;p22"/>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25" name="Google Shape;125;p22"/>
          <p:cNvGrpSpPr/>
          <p:nvPr/>
        </p:nvGrpSpPr>
        <p:grpSpPr>
          <a:xfrm>
            <a:off x="11508226" y="6270255"/>
            <a:ext cx="546132" cy="546132"/>
            <a:chOff x="11082048" y="197383"/>
            <a:chExt cx="486579" cy="486579"/>
          </a:xfrm>
        </p:grpSpPr>
        <p:sp>
          <p:nvSpPr>
            <p:cNvPr id="126" name="Google Shape;126;p22"/>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 name="Google Shape;127;p22"/>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28" name="Google Shape;128;p2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29" name="Google Shape;129;p22"/>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0" name="Shape 130"/>
        <p:cNvGrpSpPr/>
        <p:nvPr/>
      </p:nvGrpSpPr>
      <p:grpSpPr>
        <a:xfrm>
          <a:off x="0" y="0"/>
          <a:ext cx="0" cy="0"/>
          <a:chOff x="0" y="0"/>
          <a:chExt cx="0" cy="0"/>
        </a:xfrm>
      </p:grpSpPr>
      <p:sp>
        <p:nvSpPr>
          <p:cNvPr id="131" name="Google Shape;131;p2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3"/>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23"/>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3"/>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6" name="Google Shape;136;p23"/>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7" name="Google Shape;137;p23"/>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38" name="Google Shape;138;p23"/>
          <p:cNvGrpSpPr/>
          <p:nvPr/>
        </p:nvGrpSpPr>
        <p:grpSpPr>
          <a:xfrm>
            <a:off x="4479985" y="241694"/>
            <a:ext cx="3232030" cy="768394"/>
            <a:chOff x="4280055" y="84406"/>
            <a:chExt cx="3631889" cy="863458"/>
          </a:xfrm>
        </p:grpSpPr>
        <p:sp>
          <p:nvSpPr>
            <p:cNvPr id="139" name="Google Shape;139;p23"/>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0" name="Google Shape;140;p23"/>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41" name="Google Shape;141;p23"/>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42" name="Google Shape;142;p23"/>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43" name="Google Shape;143;p23"/>
          <p:cNvGrpSpPr/>
          <p:nvPr/>
        </p:nvGrpSpPr>
        <p:grpSpPr>
          <a:xfrm>
            <a:off x="11508226" y="6270255"/>
            <a:ext cx="546132" cy="546132"/>
            <a:chOff x="11082048" y="197383"/>
            <a:chExt cx="486579" cy="486579"/>
          </a:xfrm>
        </p:grpSpPr>
        <p:sp>
          <p:nvSpPr>
            <p:cNvPr id="144" name="Google Shape;144;p23"/>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5" name="Google Shape;145;p23"/>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46" name="Google Shape;146;p2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47" name="Google Shape;147;p23"/>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8" name="Shape 148"/>
        <p:cNvGrpSpPr/>
        <p:nvPr/>
      </p:nvGrpSpPr>
      <p:grpSpPr>
        <a:xfrm>
          <a:off x="0" y="0"/>
          <a:ext cx="0" cy="0"/>
          <a:chOff x="0" y="0"/>
          <a:chExt cx="0" cy="0"/>
        </a:xfrm>
      </p:grpSpPr>
      <p:sp>
        <p:nvSpPr>
          <p:cNvPr id="149" name="Google Shape;149;p24"/>
          <p:cNvSpPr txBox="1"/>
          <p:nvPr>
            <p:ph type="title"/>
          </p:nvPr>
        </p:nvSpPr>
        <p:spPr>
          <a:xfrm>
            <a:off x="606000" y="898975"/>
            <a:ext cx="10980000" cy="84123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24"/>
          <p:cNvSpPr txBox="1"/>
          <p:nvPr>
            <p:ph idx="1" type="body"/>
          </p:nvPr>
        </p:nvSpPr>
        <p:spPr>
          <a:xfrm>
            <a:off x="616856" y="2006210"/>
            <a:ext cx="5310000" cy="417075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24"/>
          <p:cNvSpPr txBox="1"/>
          <p:nvPr>
            <p:ph idx="2" type="body"/>
          </p:nvPr>
        </p:nvSpPr>
        <p:spPr>
          <a:xfrm>
            <a:off x="6276000" y="2006210"/>
            <a:ext cx="5310000" cy="417075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5" name="Google Shape;155;p24"/>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6" name="Google Shape;156;p24"/>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57" name="Google Shape;157;p24"/>
          <p:cNvGrpSpPr/>
          <p:nvPr/>
        </p:nvGrpSpPr>
        <p:grpSpPr>
          <a:xfrm>
            <a:off x="4479985" y="241694"/>
            <a:ext cx="3232030" cy="768394"/>
            <a:chOff x="4280055" y="84406"/>
            <a:chExt cx="3631889" cy="863458"/>
          </a:xfrm>
        </p:grpSpPr>
        <p:sp>
          <p:nvSpPr>
            <p:cNvPr id="158" name="Google Shape;158;p24"/>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9" name="Google Shape;159;p24"/>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60" name="Google Shape;160;p24"/>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61" name="Google Shape;161;p24"/>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62" name="Google Shape;162;p24"/>
          <p:cNvGrpSpPr/>
          <p:nvPr/>
        </p:nvGrpSpPr>
        <p:grpSpPr>
          <a:xfrm>
            <a:off x="11508226" y="6270255"/>
            <a:ext cx="546132" cy="546132"/>
            <a:chOff x="11082048" y="197383"/>
            <a:chExt cx="486579" cy="486579"/>
          </a:xfrm>
        </p:grpSpPr>
        <p:sp>
          <p:nvSpPr>
            <p:cNvPr id="163" name="Google Shape;163;p24"/>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4" name="Google Shape;164;p24"/>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65" name="Google Shape;165;p24"/>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6" name="Google Shape;166;p24"/>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7" name="Shape 167"/>
        <p:cNvGrpSpPr/>
        <p:nvPr/>
      </p:nvGrpSpPr>
      <p:grpSpPr>
        <a:xfrm>
          <a:off x="0" y="0"/>
          <a:ext cx="0" cy="0"/>
          <a:chOff x="0" y="0"/>
          <a:chExt cx="0" cy="0"/>
        </a:xfrm>
      </p:grpSpPr>
      <p:sp>
        <p:nvSpPr>
          <p:cNvPr id="168" name="Google Shape;168;p25"/>
          <p:cNvSpPr txBox="1"/>
          <p:nvPr>
            <p:ph type="title"/>
          </p:nvPr>
        </p:nvSpPr>
        <p:spPr>
          <a:xfrm>
            <a:off x="606000" y="891895"/>
            <a:ext cx="10980000" cy="9892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25"/>
          <p:cNvSpPr txBox="1"/>
          <p:nvPr>
            <p:ph idx="1" type="body"/>
          </p:nvPr>
        </p:nvSpPr>
        <p:spPr>
          <a:xfrm>
            <a:off x="606001" y="1992588"/>
            <a:ext cx="5310000" cy="64303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accent6"/>
              </a:buClr>
              <a:buSzPts val="2400"/>
              <a:buNone/>
              <a:defRPr b="1" sz="2400">
                <a:solidFill>
                  <a:schemeClr val="accent6"/>
                </a:solidFil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0" name="Google Shape;170;p25"/>
          <p:cNvSpPr txBox="1"/>
          <p:nvPr>
            <p:ph idx="2" type="body"/>
          </p:nvPr>
        </p:nvSpPr>
        <p:spPr>
          <a:xfrm>
            <a:off x="606001" y="2747028"/>
            <a:ext cx="5310000" cy="344263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25"/>
          <p:cNvSpPr txBox="1"/>
          <p:nvPr>
            <p:ph idx="3" type="body"/>
          </p:nvPr>
        </p:nvSpPr>
        <p:spPr>
          <a:xfrm>
            <a:off x="6276000" y="1992588"/>
            <a:ext cx="5310000" cy="64303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accent6"/>
              </a:buClr>
              <a:buSzPts val="2400"/>
              <a:buNone/>
              <a:defRPr b="1" sz="2400">
                <a:solidFill>
                  <a:schemeClr val="accent6"/>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2" name="Google Shape;172;p25"/>
          <p:cNvSpPr txBox="1"/>
          <p:nvPr>
            <p:ph idx="4" type="body"/>
          </p:nvPr>
        </p:nvSpPr>
        <p:spPr>
          <a:xfrm>
            <a:off x="6276000" y="2747028"/>
            <a:ext cx="5310000" cy="344263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25"/>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6" name="Google Shape;176;p25"/>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7" name="Google Shape;177;p25"/>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78" name="Google Shape;178;p25"/>
          <p:cNvGrpSpPr/>
          <p:nvPr/>
        </p:nvGrpSpPr>
        <p:grpSpPr>
          <a:xfrm>
            <a:off x="4479985" y="241694"/>
            <a:ext cx="3232030" cy="768394"/>
            <a:chOff x="4280055" y="84406"/>
            <a:chExt cx="3631889" cy="863458"/>
          </a:xfrm>
        </p:grpSpPr>
        <p:sp>
          <p:nvSpPr>
            <p:cNvPr id="179" name="Google Shape;179;p25"/>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0" name="Google Shape;180;p25"/>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81" name="Google Shape;181;p25"/>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82" name="Google Shape;182;p25"/>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83" name="Google Shape;183;p25"/>
          <p:cNvGrpSpPr/>
          <p:nvPr/>
        </p:nvGrpSpPr>
        <p:grpSpPr>
          <a:xfrm>
            <a:off x="11508226" y="6270255"/>
            <a:ext cx="546132" cy="546132"/>
            <a:chOff x="11082048" y="197383"/>
            <a:chExt cx="486579" cy="486579"/>
          </a:xfrm>
        </p:grpSpPr>
        <p:sp>
          <p:nvSpPr>
            <p:cNvPr id="184" name="Google Shape;184;p25"/>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5" name="Google Shape;185;p25"/>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186" name="Google Shape;186;p25"/>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7" name="Google Shape;187;p25"/>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26"/>
          <p:cNvSpPr txBox="1"/>
          <p:nvPr>
            <p:ph type="title"/>
          </p:nvPr>
        </p:nvSpPr>
        <p:spPr>
          <a:xfrm>
            <a:off x="606000" y="977990"/>
            <a:ext cx="10980000" cy="98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26"/>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3" name="Google Shape;193;p26"/>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4" name="Google Shape;194;p26"/>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195" name="Google Shape;195;p26"/>
          <p:cNvGrpSpPr/>
          <p:nvPr/>
        </p:nvGrpSpPr>
        <p:grpSpPr>
          <a:xfrm>
            <a:off x="4479985" y="241694"/>
            <a:ext cx="3232030" cy="768394"/>
            <a:chOff x="4280055" y="84406"/>
            <a:chExt cx="3631889" cy="863458"/>
          </a:xfrm>
        </p:grpSpPr>
        <p:sp>
          <p:nvSpPr>
            <p:cNvPr id="196" name="Google Shape;196;p26"/>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7" name="Google Shape;197;p26"/>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198" name="Google Shape;198;p26"/>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99" name="Google Shape;199;p26"/>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00" name="Google Shape;200;p26"/>
          <p:cNvGrpSpPr/>
          <p:nvPr/>
        </p:nvGrpSpPr>
        <p:grpSpPr>
          <a:xfrm>
            <a:off x="11508226" y="6270255"/>
            <a:ext cx="546132" cy="546132"/>
            <a:chOff x="11082048" y="197383"/>
            <a:chExt cx="486579" cy="486579"/>
          </a:xfrm>
        </p:grpSpPr>
        <p:sp>
          <p:nvSpPr>
            <p:cNvPr id="201" name="Google Shape;201;p26"/>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2" name="Google Shape;202;p26"/>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03" name="Google Shape;203;p26"/>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4" name="Google Shape;204;p26"/>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209" name="Shape 209"/>
        <p:cNvGrpSpPr/>
        <p:nvPr/>
      </p:nvGrpSpPr>
      <p:grpSpPr>
        <a:xfrm>
          <a:off x="0" y="0"/>
          <a:ext cx="0" cy="0"/>
          <a:chOff x="0" y="0"/>
          <a:chExt cx="0" cy="0"/>
        </a:xfrm>
      </p:grpSpPr>
      <p:sp>
        <p:nvSpPr>
          <p:cNvPr id="210" name="Google Shape;21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13" name="Shape 213"/>
        <p:cNvGrpSpPr/>
        <p:nvPr/>
      </p:nvGrpSpPr>
      <p:grpSpPr>
        <a:xfrm>
          <a:off x="0" y="0"/>
          <a:ext cx="0" cy="0"/>
          <a:chOff x="0" y="0"/>
          <a:chExt cx="0" cy="0"/>
        </a:xfrm>
      </p:grpSpPr>
      <p:sp>
        <p:nvSpPr>
          <p:cNvPr id="214" name="Google Shape;21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7" name="Shape 217"/>
        <p:cNvGrpSpPr/>
        <p:nvPr/>
      </p:nvGrpSpPr>
      <p:grpSpPr>
        <a:xfrm>
          <a:off x="0" y="0"/>
          <a:ext cx="0" cy="0"/>
          <a:chOff x="0" y="0"/>
          <a:chExt cx="0" cy="0"/>
        </a:xfrm>
      </p:grpSpPr>
      <p:sp>
        <p:nvSpPr>
          <p:cNvPr id="218" name="Google Shape;218;p30"/>
          <p:cNvSpPr txBox="1"/>
          <p:nvPr>
            <p:ph type="title"/>
          </p:nvPr>
        </p:nvSpPr>
        <p:spPr>
          <a:xfrm>
            <a:off x="657226" y="1248198"/>
            <a:ext cx="4114799" cy="1399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17058"/>
              </a:buClr>
              <a:buSzPts val="4000"/>
              <a:buFont typeface="Times New Roman"/>
              <a:buNone/>
              <a:defRPr b="1" sz="40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30"/>
          <p:cNvSpPr txBox="1"/>
          <p:nvPr>
            <p:ph idx="1" type="body"/>
          </p:nvPr>
        </p:nvSpPr>
        <p:spPr>
          <a:xfrm>
            <a:off x="5183188" y="1247490"/>
            <a:ext cx="6325038" cy="478855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0" name="Google Shape;220;p30"/>
          <p:cNvSpPr txBox="1"/>
          <p:nvPr>
            <p:ph idx="2" type="body"/>
          </p:nvPr>
        </p:nvSpPr>
        <p:spPr>
          <a:xfrm>
            <a:off x="657226" y="2777068"/>
            <a:ext cx="4114799" cy="32669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1" name="Google Shape;22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30"/>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4" name="Google Shape;224;p30"/>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5" name="Google Shape;225;p30"/>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226" name="Google Shape;226;p30"/>
          <p:cNvGrpSpPr/>
          <p:nvPr/>
        </p:nvGrpSpPr>
        <p:grpSpPr>
          <a:xfrm>
            <a:off x="4479985" y="241694"/>
            <a:ext cx="3232030" cy="768394"/>
            <a:chOff x="4280055" y="84406"/>
            <a:chExt cx="3631889" cy="863458"/>
          </a:xfrm>
        </p:grpSpPr>
        <p:sp>
          <p:nvSpPr>
            <p:cNvPr id="227" name="Google Shape;227;p30"/>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8" name="Google Shape;228;p30"/>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229" name="Google Shape;229;p30"/>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30" name="Google Shape;230;p30"/>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31" name="Google Shape;231;p30"/>
          <p:cNvGrpSpPr/>
          <p:nvPr/>
        </p:nvGrpSpPr>
        <p:grpSpPr>
          <a:xfrm>
            <a:off x="11508226" y="6270255"/>
            <a:ext cx="546132" cy="546132"/>
            <a:chOff x="11082048" y="197383"/>
            <a:chExt cx="486579" cy="486579"/>
          </a:xfrm>
        </p:grpSpPr>
        <p:sp>
          <p:nvSpPr>
            <p:cNvPr id="232" name="Google Shape;232;p30"/>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3" name="Google Shape;233;p30"/>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34" name="Google Shape;234;p30"/>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5" name="Google Shape;235;p30"/>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6" name="Shape 236"/>
        <p:cNvGrpSpPr/>
        <p:nvPr/>
      </p:nvGrpSpPr>
      <p:grpSpPr>
        <a:xfrm>
          <a:off x="0" y="0"/>
          <a:ext cx="0" cy="0"/>
          <a:chOff x="0" y="0"/>
          <a:chExt cx="0" cy="0"/>
        </a:xfrm>
      </p:grpSpPr>
      <p:sp>
        <p:nvSpPr>
          <p:cNvPr id="237" name="Google Shape;237;p31"/>
          <p:cNvSpPr txBox="1"/>
          <p:nvPr>
            <p:ph type="title"/>
          </p:nvPr>
        </p:nvSpPr>
        <p:spPr>
          <a:xfrm>
            <a:off x="657226" y="1270699"/>
            <a:ext cx="4114799" cy="116218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17058"/>
              </a:buClr>
              <a:buSzPts val="4000"/>
              <a:buFont typeface="Times New Roman"/>
              <a:buNone/>
              <a:defRPr b="1" sz="40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31"/>
          <p:cNvSpPr/>
          <p:nvPr>
            <p:ph idx="2" type="pic"/>
          </p:nvPr>
        </p:nvSpPr>
        <p:spPr>
          <a:xfrm>
            <a:off x="5183188" y="1270699"/>
            <a:ext cx="6325038" cy="4796495"/>
          </a:xfrm>
          <a:prstGeom prst="rect">
            <a:avLst/>
          </a:prstGeom>
          <a:noFill/>
          <a:ln>
            <a:noFill/>
          </a:ln>
        </p:spPr>
      </p:sp>
      <p:sp>
        <p:nvSpPr>
          <p:cNvPr id="239" name="Google Shape;239;p31"/>
          <p:cNvSpPr txBox="1"/>
          <p:nvPr>
            <p:ph idx="1" type="body"/>
          </p:nvPr>
        </p:nvSpPr>
        <p:spPr>
          <a:xfrm>
            <a:off x="657226" y="2561454"/>
            <a:ext cx="4114799" cy="35057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0" name="Google Shape;24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p31"/>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3" name="Google Shape;243;p31"/>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4" name="Google Shape;244;p31"/>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245" name="Google Shape;245;p31"/>
          <p:cNvGrpSpPr/>
          <p:nvPr/>
        </p:nvGrpSpPr>
        <p:grpSpPr>
          <a:xfrm>
            <a:off x="4479985" y="241694"/>
            <a:ext cx="3232030" cy="768394"/>
            <a:chOff x="4280055" y="84406"/>
            <a:chExt cx="3631889" cy="863458"/>
          </a:xfrm>
        </p:grpSpPr>
        <p:sp>
          <p:nvSpPr>
            <p:cNvPr id="246" name="Google Shape;246;p31"/>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7" name="Google Shape;247;p31"/>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248" name="Google Shape;248;p31"/>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49" name="Google Shape;249;p31"/>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50" name="Google Shape;250;p31"/>
          <p:cNvGrpSpPr/>
          <p:nvPr/>
        </p:nvGrpSpPr>
        <p:grpSpPr>
          <a:xfrm>
            <a:off x="11508226" y="6270255"/>
            <a:ext cx="546132" cy="546132"/>
            <a:chOff x="11082048" y="197383"/>
            <a:chExt cx="486579" cy="486579"/>
          </a:xfrm>
        </p:grpSpPr>
        <p:sp>
          <p:nvSpPr>
            <p:cNvPr id="251" name="Google Shape;251;p31"/>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2" name="Google Shape;252;p31"/>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53" name="Google Shape;253;p31"/>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4" name="Google Shape;254;p31"/>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5" name="Shape 255"/>
        <p:cNvGrpSpPr/>
        <p:nvPr/>
      </p:nvGrpSpPr>
      <p:grpSpPr>
        <a:xfrm>
          <a:off x="0" y="0"/>
          <a:ext cx="0" cy="0"/>
          <a:chOff x="0" y="0"/>
          <a:chExt cx="0" cy="0"/>
        </a:xfrm>
      </p:grpSpPr>
      <p:sp>
        <p:nvSpPr>
          <p:cNvPr id="256" name="Google Shape;256;p32"/>
          <p:cNvSpPr txBox="1"/>
          <p:nvPr>
            <p:ph type="title"/>
          </p:nvPr>
        </p:nvSpPr>
        <p:spPr>
          <a:xfrm>
            <a:off x="838200" y="929761"/>
            <a:ext cx="10515600" cy="77654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32"/>
          <p:cNvSpPr txBox="1"/>
          <p:nvPr>
            <p:ph idx="1" type="body"/>
          </p:nvPr>
        </p:nvSpPr>
        <p:spPr>
          <a:xfrm rot="5400000">
            <a:off x="3903721" y="-1273116"/>
            <a:ext cx="4384559"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32"/>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p32"/>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2" name="Google Shape;262;p32"/>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263" name="Google Shape;263;p32"/>
          <p:cNvGrpSpPr/>
          <p:nvPr/>
        </p:nvGrpSpPr>
        <p:grpSpPr>
          <a:xfrm>
            <a:off x="4479985" y="241694"/>
            <a:ext cx="3232030" cy="768394"/>
            <a:chOff x="4280055" y="84406"/>
            <a:chExt cx="3631889" cy="863458"/>
          </a:xfrm>
        </p:grpSpPr>
        <p:sp>
          <p:nvSpPr>
            <p:cNvPr id="264" name="Google Shape;264;p32"/>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5" name="Google Shape;265;p32"/>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266" name="Google Shape;266;p32"/>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67" name="Google Shape;267;p32"/>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68" name="Google Shape;268;p32"/>
          <p:cNvGrpSpPr/>
          <p:nvPr/>
        </p:nvGrpSpPr>
        <p:grpSpPr>
          <a:xfrm>
            <a:off x="11508226" y="6270255"/>
            <a:ext cx="546132" cy="546132"/>
            <a:chOff x="11082048" y="197383"/>
            <a:chExt cx="486579" cy="486579"/>
          </a:xfrm>
        </p:grpSpPr>
        <p:sp>
          <p:nvSpPr>
            <p:cNvPr id="269" name="Google Shape;269;p32"/>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0" name="Google Shape;270;p32"/>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71" name="Google Shape;271;p32"/>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2" name="Google Shape;272;p32"/>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3" name="Shape 273"/>
        <p:cNvGrpSpPr/>
        <p:nvPr/>
      </p:nvGrpSpPr>
      <p:grpSpPr>
        <a:xfrm>
          <a:off x="0" y="0"/>
          <a:ext cx="0" cy="0"/>
          <a:chOff x="0" y="0"/>
          <a:chExt cx="0" cy="0"/>
        </a:xfrm>
      </p:grpSpPr>
      <p:sp>
        <p:nvSpPr>
          <p:cNvPr id="274" name="Google Shape;274;p33"/>
          <p:cNvSpPr txBox="1"/>
          <p:nvPr>
            <p:ph type="title"/>
          </p:nvPr>
        </p:nvSpPr>
        <p:spPr>
          <a:xfrm rot="5400000">
            <a:off x="7470079" y="2293242"/>
            <a:ext cx="5138542"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33"/>
          <p:cNvSpPr txBox="1"/>
          <p:nvPr>
            <p:ph idx="1" type="body"/>
          </p:nvPr>
        </p:nvSpPr>
        <p:spPr>
          <a:xfrm rot="5400000">
            <a:off x="2136079" y="-259458"/>
            <a:ext cx="5138542"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33"/>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9" name="Google Shape;279;p33"/>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0" name="Google Shape;280;p33"/>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FACULTY OF COMPUTER ENGINEERING</a:t>
            </a:r>
            <a:endParaRPr b="0" i="0" sz="1400" u="none" cap="none" strike="noStrike">
              <a:solidFill>
                <a:srgbClr val="000000"/>
              </a:solidFill>
              <a:latin typeface="Arial"/>
              <a:ea typeface="Arial"/>
              <a:cs typeface="Arial"/>
              <a:sym typeface="Arial"/>
            </a:endParaRPr>
          </a:p>
        </p:txBody>
      </p:sp>
      <p:grpSp>
        <p:nvGrpSpPr>
          <p:cNvPr id="281" name="Google Shape;281;p33"/>
          <p:cNvGrpSpPr/>
          <p:nvPr/>
        </p:nvGrpSpPr>
        <p:grpSpPr>
          <a:xfrm>
            <a:off x="4479985" y="241694"/>
            <a:ext cx="3232030" cy="768394"/>
            <a:chOff x="4280055" y="84406"/>
            <a:chExt cx="3631889" cy="863458"/>
          </a:xfrm>
        </p:grpSpPr>
        <p:sp>
          <p:nvSpPr>
            <p:cNvPr id="282" name="Google Shape;282;p33"/>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3" name="Google Shape;283;p33"/>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Icon&#10;&#10;Description automatically generated with medium confidence" id="284" name="Google Shape;284;p33"/>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85" name="Google Shape;285;p33"/>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86" name="Google Shape;286;p33"/>
          <p:cNvGrpSpPr/>
          <p:nvPr/>
        </p:nvGrpSpPr>
        <p:grpSpPr>
          <a:xfrm>
            <a:off x="11508226" y="6270255"/>
            <a:ext cx="546132" cy="546132"/>
            <a:chOff x="11082048" y="197383"/>
            <a:chExt cx="486579" cy="486579"/>
          </a:xfrm>
        </p:grpSpPr>
        <p:sp>
          <p:nvSpPr>
            <p:cNvPr id="287" name="Google Shape;287;p33"/>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8" name="Google Shape;288;p33"/>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89" name="Google Shape;289;p33"/>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0" name="Google Shape;290;p33"/>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200"/>
              <a:buFont typeface="Arial"/>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nvSpPr>
        <p:spPr>
          <a:xfrm>
            <a:off x="0" y="-1543110"/>
            <a:ext cx="121920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3C3C3"/>
                </a:solidFill>
                <a:latin typeface="Arial"/>
                <a:ea typeface="Arial"/>
                <a:cs typeface="Arial"/>
                <a:sym typeface="Arial"/>
              </a:rPr>
              <a:t>www.9slide.vn</a:t>
            </a:r>
            <a:endParaRPr b="0" i="0" sz="2000" u="none" cap="none" strike="noStrike">
              <a:solidFill>
                <a:srgbClr val="C3C3C3"/>
              </a:solidFill>
              <a:latin typeface="Arial"/>
              <a:ea typeface="Arial"/>
              <a:cs typeface="Arial"/>
              <a:sym typeface="Arial"/>
            </a:endParaRPr>
          </a:p>
        </p:txBody>
      </p:sp>
      <p:sp>
        <p:nvSpPr>
          <p:cNvPr id="11" name="Google Shape;1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16"/>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drive.google.com/file/d/1qepLOGMRH4fQsE4SXaJw6BUJTzPWmPRZ/view" TargetMode="External"/><Relationship Id="rId4"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
          <p:cNvSpPr/>
          <p:nvPr>
            <p:ph type="ctrTitle"/>
          </p:nvPr>
        </p:nvSpPr>
        <p:spPr>
          <a:xfrm>
            <a:off x="1524000" y="1591081"/>
            <a:ext cx="9144000" cy="1837919"/>
          </a:xfrm>
          <a:prstGeom prst="roundRect">
            <a:avLst>
              <a:gd fmla="val 3901" name="adj"/>
            </a:avLst>
          </a:prstGeom>
          <a:noFill/>
          <a:ln cap="flat" cmpd="sng" w="25400">
            <a:solidFill>
              <a:srgbClr val="10CC57"/>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1998E"/>
              </a:buClr>
              <a:buSzPts val="4800"/>
              <a:buFont typeface="Times New Roman"/>
              <a:buNone/>
            </a:pPr>
            <a:r>
              <a:rPr lang="en-US" sz="3200"/>
              <a:t>THIẾT KẾ BỘ ĐIỀU KHIỂN ĐỒNG BỘ CACHE CHO CÁC HỆ THỐNG 2 LÕI DỰA TRÊN KIẾN TRÚC TẬP LỆNH RISC-V RV32IA </a:t>
            </a:r>
            <a:endParaRPr sz="3200"/>
          </a:p>
        </p:txBody>
      </p:sp>
      <p:sp>
        <p:nvSpPr>
          <p:cNvPr id="296" name="Google Shape;296;p1"/>
          <p:cNvSpPr txBox="1"/>
          <p:nvPr>
            <p:ph idx="1" type="body"/>
          </p:nvPr>
        </p:nvSpPr>
        <p:spPr>
          <a:xfrm>
            <a:off x="1524000" y="6005193"/>
            <a:ext cx="9144000" cy="51911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a:t>Thành phố Hồ Chí Minh, 07 tháng 07 năm 2026</a:t>
            </a:r>
            <a:endParaRPr/>
          </a:p>
        </p:txBody>
      </p:sp>
      <p:sp>
        <p:nvSpPr>
          <p:cNvPr id="297" name="Google Shape;297;p1"/>
          <p:cNvSpPr/>
          <p:nvPr>
            <p:ph idx="2" type="body"/>
          </p:nvPr>
        </p:nvSpPr>
        <p:spPr>
          <a:xfrm>
            <a:off x="3730283" y="1217560"/>
            <a:ext cx="2365717"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1200"/>
              <a:buNone/>
            </a:pPr>
            <a:r>
              <a:rPr lang="en-US" sz="1200"/>
              <a:t>KHÓA LUẬN TỐT NGHIỆP</a:t>
            </a:r>
            <a:endParaRPr/>
          </a:p>
        </p:txBody>
      </p:sp>
      <p:sp>
        <p:nvSpPr>
          <p:cNvPr id="298" name="Google Shape;298;p1"/>
          <p:cNvSpPr txBox="1"/>
          <p:nvPr/>
        </p:nvSpPr>
        <p:spPr>
          <a:xfrm>
            <a:off x="1524000" y="3681350"/>
            <a:ext cx="9144000" cy="15762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400"/>
              <a:buFont typeface="Arial"/>
              <a:buNone/>
            </a:pPr>
            <a:r>
              <a:rPr b="1" i="0" lang="en-US" sz="2400" u="none" cap="none" strike="noStrike">
                <a:solidFill>
                  <a:schemeClr val="accent4"/>
                </a:solidFill>
                <a:latin typeface="Arial"/>
                <a:ea typeface="Arial"/>
                <a:cs typeface="Arial"/>
                <a:sym typeface="Arial"/>
              </a:rPr>
              <a:t>GVHD: Th</a:t>
            </a:r>
            <a:r>
              <a:rPr b="1" lang="en-US" sz="2400">
                <a:solidFill>
                  <a:schemeClr val="accent4"/>
                </a:solidFill>
              </a:rPr>
              <a:t>S. </a:t>
            </a:r>
            <a:r>
              <a:rPr b="1" i="0" lang="en-US" sz="2400" u="none" cap="none" strike="noStrike">
                <a:solidFill>
                  <a:schemeClr val="accent4"/>
                </a:solidFill>
                <a:latin typeface="Arial"/>
                <a:ea typeface="Arial"/>
                <a:cs typeface="Arial"/>
                <a:sym typeface="Arial"/>
              </a:rPr>
              <a:t>Thân Thế Tùng, KS. Trần Đại Dương</a:t>
            </a:r>
            <a:endParaRPr b="0" i="0" sz="1400" u="none" cap="none" strike="noStrike">
              <a:solidFill>
                <a:srgbClr val="000000"/>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Lê Minh Hùng</a:t>
            </a:r>
            <a:r>
              <a:rPr b="0" i="0" lang="en-US" sz="2400" u="none" cap="none" strike="noStrike">
                <a:solidFill>
                  <a:schemeClr val="dk1"/>
                </a:solidFill>
                <a:latin typeface="Arial"/>
                <a:ea typeface="Arial"/>
                <a:cs typeface="Arial"/>
                <a:sym typeface="Arial"/>
              </a:rPr>
              <a:t>			22520506</a:t>
            </a:r>
            <a:endParaRPr b="0" i="0" sz="1400" u="none" cap="none" strike="noStrike">
              <a:solidFill>
                <a:srgbClr val="000000"/>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Văn Công Gia Luật</a:t>
            </a:r>
            <a:r>
              <a:rPr b="0" i="0" lang="en-US" sz="2400" u="none" cap="none" strike="noStrike">
                <a:solidFill>
                  <a:schemeClr val="dk1"/>
                </a:solidFill>
                <a:latin typeface="Arial"/>
                <a:ea typeface="Arial"/>
                <a:cs typeface="Arial"/>
                <a:sym typeface="Arial"/>
              </a:rPr>
              <a:t>		22520830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Nội dung báo cáo</a:t>
            </a:r>
            <a:endParaRPr/>
          </a:p>
        </p:txBody>
      </p:sp>
      <p:sp>
        <p:nvSpPr>
          <p:cNvPr id="304" name="Google Shape;304;p2"/>
          <p:cNvSpPr txBox="1"/>
          <p:nvPr>
            <p:ph idx="11" type="ftr"/>
          </p:nvPr>
        </p:nvSpPr>
        <p:spPr>
          <a:xfrm rot="-5400000">
            <a:off x="9932860" y="3850428"/>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05" name="Google Shape;305;p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pSp>
        <p:nvGrpSpPr>
          <p:cNvPr id="306" name="Google Shape;306;p2"/>
          <p:cNvGrpSpPr/>
          <p:nvPr/>
        </p:nvGrpSpPr>
        <p:grpSpPr>
          <a:xfrm>
            <a:off x="1033164" y="2094865"/>
            <a:ext cx="7770177" cy="948373"/>
            <a:chOff x="1033164" y="2094865"/>
            <a:chExt cx="7770177" cy="948373"/>
          </a:xfrm>
        </p:grpSpPr>
        <p:sp>
          <p:nvSpPr>
            <p:cNvPr id="307" name="Google Shape;307;p2"/>
            <p:cNvSpPr/>
            <p:nvPr/>
          </p:nvSpPr>
          <p:spPr>
            <a:xfrm>
              <a:off x="1033164" y="2094865"/>
              <a:ext cx="7770177" cy="948373"/>
            </a:xfrm>
            <a:prstGeom prst="roundRect">
              <a:avLst>
                <a:gd fmla="val 6767" name="adj"/>
              </a:avLst>
            </a:prstGeom>
            <a:solidFill>
              <a:schemeClr val="lt1"/>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8" name="Google Shape;308;p2"/>
            <p:cNvSpPr/>
            <p:nvPr/>
          </p:nvSpPr>
          <p:spPr>
            <a:xfrm>
              <a:off x="1193006" y="2265441"/>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09" name="Google Shape;309;p2"/>
            <p:cNvSpPr txBox="1"/>
            <p:nvPr/>
          </p:nvSpPr>
          <p:spPr>
            <a:xfrm>
              <a:off x="1862399" y="2338218"/>
              <a:ext cx="6940941" cy="4616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Tổng quan đề tài</a:t>
              </a:r>
              <a:endParaRPr b="0" i="0" sz="2400" u="none" cap="none" strike="noStrike">
                <a:solidFill>
                  <a:schemeClr val="dk1"/>
                </a:solidFill>
                <a:latin typeface="Arial"/>
                <a:ea typeface="Arial"/>
                <a:cs typeface="Arial"/>
                <a:sym typeface="Arial"/>
              </a:endParaRPr>
            </a:p>
          </p:txBody>
        </p:sp>
      </p:grpSp>
      <p:grpSp>
        <p:nvGrpSpPr>
          <p:cNvPr id="310" name="Google Shape;310;p2"/>
          <p:cNvGrpSpPr/>
          <p:nvPr/>
        </p:nvGrpSpPr>
        <p:grpSpPr>
          <a:xfrm>
            <a:off x="1033164" y="3255196"/>
            <a:ext cx="7770177" cy="948373"/>
            <a:chOff x="1033164" y="3239499"/>
            <a:chExt cx="7770177" cy="948373"/>
          </a:xfrm>
        </p:grpSpPr>
        <p:sp>
          <p:nvSpPr>
            <p:cNvPr id="311" name="Google Shape;311;p2"/>
            <p:cNvSpPr/>
            <p:nvPr/>
          </p:nvSpPr>
          <p:spPr>
            <a:xfrm>
              <a:off x="1033164" y="3239499"/>
              <a:ext cx="7770177" cy="948373"/>
            </a:xfrm>
            <a:prstGeom prst="roundRect">
              <a:avLst>
                <a:gd fmla="val 6767" name="adj"/>
              </a:avLst>
            </a:prstGeom>
            <a:solidFill>
              <a:srgbClr val="017058"/>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Arial"/>
                <a:ea typeface="Arial"/>
                <a:cs typeface="Arial"/>
                <a:sym typeface="Arial"/>
              </a:endParaRPr>
            </a:p>
          </p:txBody>
        </p:sp>
        <p:sp>
          <p:nvSpPr>
            <p:cNvPr id="312" name="Google Shape;312;p2"/>
            <p:cNvSpPr/>
            <p:nvPr/>
          </p:nvSpPr>
          <p:spPr>
            <a:xfrm>
              <a:off x="1193005" y="3410075"/>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13" name="Google Shape;313;p2"/>
            <p:cNvSpPr txBox="1"/>
            <p:nvPr/>
          </p:nvSpPr>
          <p:spPr>
            <a:xfrm>
              <a:off x="1862399" y="3482851"/>
              <a:ext cx="6609248" cy="4616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Giải pháp</a:t>
              </a:r>
              <a:endParaRPr b="0" i="0" sz="2400" u="none" cap="none" strike="noStrike">
                <a:solidFill>
                  <a:schemeClr val="lt1"/>
                </a:solidFill>
                <a:latin typeface="Arial"/>
                <a:ea typeface="Arial"/>
                <a:cs typeface="Arial"/>
                <a:sym typeface="Arial"/>
              </a:endParaRPr>
            </a:p>
          </p:txBody>
        </p:sp>
      </p:grpSp>
      <p:grpSp>
        <p:nvGrpSpPr>
          <p:cNvPr id="314" name="Google Shape;314;p2"/>
          <p:cNvGrpSpPr/>
          <p:nvPr/>
        </p:nvGrpSpPr>
        <p:grpSpPr>
          <a:xfrm>
            <a:off x="1033164" y="4415527"/>
            <a:ext cx="7770177" cy="948373"/>
            <a:chOff x="1033164" y="4431224"/>
            <a:chExt cx="7770177" cy="948373"/>
          </a:xfrm>
        </p:grpSpPr>
        <p:sp>
          <p:nvSpPr>
            <p:cNvPr id="315" name="Google Shape;315;p2"/>
            <p:cNvSpPr/>
            <p:nvPr/>
          </p:nvSpPr>
          <p:spPr>
            <a:xfrm>
              <a:off x="1033164" y="4431224"/>
              <a:ext cx="7770177" cy="948373"/>
            </a:xfrm>
            <a:prstGeom prst="roundRect">
              <a:avLst>
                <a:gd fmla="val 6767" name="adj"/>
              </a:avLst>
            </a:prstGeom>
            <a:solidFill>
              <a:schemeClr val="lt1"/>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6" name="Google Shape;316;p2"/>
            <p:cNvSpPr/>
            <p:nvPr/>
          </p:nvSpPr>
          <p:spPr>
            <a:xfrm>
              <a:off x="1193006" y="4601800"/>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3</a:t>
              </a:r>
              <a:endParaRPr b="1" i="0" sz="2800" u="none" cap="none" strike="noStrike">
                <a:solidFill>
                  <a:schemeClr val="lt1"/>
                </a:solidFill>
                <a:latin typeface="Times New Roman"/>
                <a:ea typeface="Times New Roman"/>
                <a:cs typeface="Times New Roman"/>
                <a:sym typeface="Times New Roman"/>
              </a:endParaRPr>
            </a:p>
          </p:txBody>
        </p:sp>
        <p:sp>
          <p:nvSpPr>
            <p:cNvPr id="317" name="Google Shape;317;p2"/>
            <p:cNvSpPr txBox="1"/>
            <p:nvPr/>
          </p:nvSpPr>
          <p:spPr>
            <a:xfrm>
              <a:off x="1862400" y="4674577"/>
              <a:ext cx="6609248" cy="4616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Kết quả</a:t>
              </a:r>
              <a:endParaRPr b="0" i="0" sz="2400" u="none" cap="none" strike="noStrike">
                <a:solidFill>
                  <a:schemeClr val="dk1"/>
                </a:solidFill>
                <a:latin typeface="Arial"/>
                <a:ea typeface="Arial"/>
                <a:cs typeface="Arial"/>
                <a:sym typeface="Arial"/>
              </a:endParaRPr>
            </a:p>
          </p:txBody>
        </p:sp>
      </p:grpSp>
      <p:grpSp>
        <p:nvGrpSpPr>
          <p:cNvPr id="318" name="Google Shape;318;p2"/>
          <p:cNvGrpSpPr/>
          <p:nvPr/>
        </p:nvGrpSpPr>
        <p:grpSpPr>
          <a:xfrm>
            <a:off x="1033164" y="5575858"/>
            <a:ext cx="7770177" cy="948373"/>
            <a:chOff x="1033164" y="5575858"/>
            <a:chExt cx="7770177" cy="948373"/>
          </a:xfrm>
        </p:grpSpPr>
        <p:sp>
          <p:nvSpPr>
            <p:cNvPr id="319" name="Google Shape;319;p2"/>
            <p:cNvSpPr/>
            <p:nvPr/>
          </p:nvSpPr>
          <p:spPr>
            <a:xfrm>
              <a:off x="1033164" y="5575858"/>
              <a:ext cx="7770177" cy="948373"/>
            </a:xfrm>
            <a:prstGeom prst="roundRect">
              <a:avLst>
                <a:gd fmla="val 6767" name="adj"/>
              </a:avLst>
            </a:prstGeom>
            <a:solidFill>
              <a:srgbClr val="017058"/>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Arial"/>
                <a:ea typeface="Arial"/>
                <a:cs typeface="Arial"/>
                <a:sym typeface="Arial"/>
              </a:endParaRPr>
            </a:p>
          </p:txBody>
        </p:sp>
        <p:sp>
          <p:nvSpPr>
            <p:cNvPr id="320" name="Google Shape;320;p2"/>
            <p:cNvSpPr/>
            <p:nvPr/>
          </p:nvSpPr>
          <p:spPr>
            <a:xfrm>
              <a:off x="1193005" y="5746434"/>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4</a:t>
              </a:r>
              <a:endParaRPr b="1" i="0" sz="2800" u="none" cap="none" strike="noStrike">
                <a:solidFill>
                  <a:schemeClr val="lt1"/>
                </a:solidFill>
                <a:latin typeface="Times New Roman"/>
                <a:ea typeface="Times New Roman"/>
                <a:cs typeface="Times New Roman"/>
                <a:sym typeface="Times New Roman"/>
              </a:endParaRPr>
            </a:p>
          </p:txBody>
        </p:sp>
        <p:sp>
          <p:nvSpPr>
            <p:cNvPr id="321" name="Google Shape;321;p2"/>
            <p:cNvSpPr txBox="1"/>
            <p:nvPr/>
          </p:nvSpPr>
          <p:spPr>
            <a:xfrm>
              <a:off x="1862399" y="5819210"/>
              <a:ext cx="6609248" cy="46166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Hướng phát triển</a:t>
              </a:r>
              <a:endParaRPr b="0" i="0" sz="24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1. Tổng quan đề tài</a:t>
            </a:r>
            <a:endParaRPr/>
          </a:p>
        </p:txBody>
      </p:sp>
      <p:sp>
        <p:nvSpPr>
          <p:cNvPr id="327" name="Google Shape;327;p4"/>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28" name="Google Shape;328;p4"/>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29" name="Google Shape;329;p4"/>
          <p:cNvSpPr txBox="1"/>
          <p:nvPr>
            <p:ph idx="1" type="body"/>
          </p:nvPr>
        </p:nvSpPr>
        <p:spPr>
          <a:xfrm>
            <a:off x="518750" y="2063500"/>
            <a:ext cx="5958900" cy="4293000"/>
          </a:xfrm>
          <a:prstGeom prst="rect">
            <a:avLst/>
          </a:prstGeom>
          <a:noFill/>
          <a:ln>
            <a:noFill/>
          </a:ln>
        </p:spPr>
        <p:txBody>
          <a:bodyPr anchorCtr="0" anchor="t" bIns="45700" lIns="91425" spcFirstLastPara="1" rIns="91425" wrap="square" tIns="45700">
            <a:noAutofit/>
          </a:bodyPr>
          <a:lstStyle/>
          <a:p>
            <a:pPr indent="-368300" lvl="0" marL="457200" rtl="0" algn="just">
              <a:lnSpc>
                <a:spcPct val="115000"/>
              </a:lnSpc>
              <a:spcBef>
                <a:spcPts val="0"/>
              </a:spcBef>
              <a:spcAft>
                <a:spcPts val="0"/>
              </a:spcAft>
              <a:buSzPts val="2200"/>
              <a:buFont typeface="Arial"/>
              <a:buChar char="•"/>
            </a:pPr>
            <a:r>
              <a:rPr b="1" lang="en-US" sz="2000"/>
              <a:t>Vấn đề :</a:t>
            </a:r>
            <a:endParaRPr b="1" sz="2000"/>
          </a:p>
          <a:p>
            <a:pPr indent="-368300" lvl="1" marL="914400" rtl="0" algn="just">
              <a:lnSpc>
                <a:spcPct val="115000"/>
              </a:lnSpc>
              <a:spcBef>
                <a:spcPts val="0"/>
              </a:spcBef>
              <a:spcAft>
                <a:spcPts val="0"/>
              </a:spcAft>
              <a:buSzPts val="2200"/>
              <a:buFont typeface="Arial"/>
              <a:buChar char="•"/>
            </a:pPr>
            <a:r>
              <a:rPr lang="en-US" sz="1600"/>
              <a:t>Cache Incoherence: Các lõi dùng L1 Cache độc lập, dễ đọc nhầm dữ liệu cũ, gây sai lệch logic.</a:t>
            </a:r>
            <a:endParaRPr/>
          </a:p>
          <a:p>
            <a:pPr indent="-368300" lvl="1" marL="914400" rtl="0" algn="just">
              <a:lnSpc>
                <a:spcPct val="115000"/>
              </a:lnSpc>
              <a:spcBef>
                <a:spcPts val="0"/>
              </a:spcBef>
              <a:spcAft>
                <a:spcPts val="0"/>
              </a:spcAft>
              <a:buSzPts val="2200"/>
              <a:buFont typeface="Arial"/>
              <a:buChar char="•"/>
            </a:pPr>
            <a:r>
              <a:rPr lang="en-US" sz="1600"/>
              <a:t>Xung đột tương tranh: Tranh chấp bộ nhớ khi nhiều lõi cùng chỉnh sửa một ô nhớ đồng thời.</a:t>
            </a:r>
            <a:endParaRPr/>
          </a:p>
          <a:p>
            <a:pPr indent="-368300" lvl="0" marL="457200" rtl="0" algn="just">
              <a:lnSpc>
                <a:spcPct val="115000"/>
              </a:lnSpc>
              <a:spcBef>
                <a:spcPts val="0"/>
              </a:spcBef>
              <a:spcAft>
                <a:spcPts val="0"/>
              </a:spcAft>
              <a:buSzPts val="2200"/>
              <a:buFont typeface="Arial"/>
              <a:buChar char="•"/>
            </a:pPr>
            <a:r>
              <a:rPr b="1" lang="en-US" sz="2000"/>
              <a:t>Giải Pháp:</a:t>
            </a:r>
            <a:endParaRPr/>
          </a:p>
          <a:p>
            <a:pPr indent="-368300" lvl="1" marL="914400" rtl="0" algn="just">
              <a:lnSpc>
                <a:spcPct val="115000"/>
              </a:lnSpc>
              <a:spcBef>
                <a:spcPts val="0"/>
              </a:spcBef>
              <a:spcAft>
                <a:spcPts val="0"/>
              </a:spcAft>
              <a:buSzPts val="2200"/>
              <a:buFont typeface="Arial"/>
              <a:buChar char="•"/>
            </a:pPr>
            <a:r>
              <a:rPr lang="en-US" sz="1600"/>
              <a:t>Cache Coherence: Tích hợp giao thức MOESI Snoopy tại L1 D-Cache để tự động đồng bộ dữ liệu.</a:t>
            </a:r>
            <a:endParaRPr/>
          </a:p>
          <a:p>
            <a:pPr indent="-368300" lvl="1" marL="914400" rtl="0" algn="just">
              <a:lnSpc>
                <a:spcPct val="115000"/>
              </a:lnSpc>
              <a:spcBef>
                <a:spcPts val="0"/>
              </a:spcBef>
              <a:spcAft>
                <a:spcPts val="0"/>
              </a:spcAft>
              <a:buSzPts val="2200"/>
              <a:buFont typeface="Arial"/>
              <a:buChar char="•"/>
            </a:pPr>
            <a:r>
              <a:rPr lang="en-US" sz="1600"/>
              <a:t>Tập lệnh Atomic (RV32A): Xử lý lệnh tính toán qua </a:t>
            </a:r>
            <a:r>
              <a:rPr i="1" lang="en-US" sz="1600"/>
              <a:t>AMO ALU</a:t>
            </a:r>
            <a:r>
              <a:rPr lang="en-US" sz="1600"/>
              <a:t> và giải quyết xung đột dữ liệu bằng cặp lệnh </a:t>
            </a:r>
            <a:r>
              <a:rPr i="1" lang="en-US" sz="1600"/>
              <a:t>LR/SC</a:t>
            </a:r>
            <a:r>
              <a:rPr lang="en-US" sz="1600"/>
              <a:t>.</a:t>
            </a:r>
            <a:endParaRPr/>
          </a:p>
        </p:txBody>
      </p:sp>
      <p:pic>
        <p:nvPicPr>
          <p:cNvPr id="330" name="Google Shape;330;p4"/>
          <p:cNvPicPr preferRelativeResize="0"/>
          <p:nvPr/>
        </p:nvPicPr>
        <p:blipFill rotWithShape="1">
          <a:blip r:embed="rId3">
            <a:alphaModFix/>
          </a:blip>
          <a:srcRect b="0" l="0" r="0" t="0"/>
          <a:stretch/>
        </p:blipFill>
        <p:spPr>
          <a:xfrm>
            <a:off x="6689673" y="1782226"/>
            <a:ext cx="4982777" cy="4039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lang="en-US"/>
              <a:t>2. Giải pháp</a:t>
            </a:r>
            <a:endParaRPr/>
          </a:p>
        </p:txBody>
      </p:sp>
      <p:sp>
        <p:nvSpPr>
          <p:cNvPr id="336" name="Google Shape;336;p3"/>
          <p:cNvSpPr txBox="1"/>
          <p:nvPr>
            <p:ph idx="1" type="body"/>
          </p:nvPr>
        </p:nvSpPr>
        <p:spPr>
          <a:xfrm>
            <a:off x="518750" y="1927430"/>
            <a:ext cx="6039366" cy="4293000"/>
          </a:xfrm>
          <a:prstGeom prst="rect">
            <a:avLst/>
          </a:prstGeom>
          <a:noFill/>
          <a:ln>
            <a:noFill/>
          </a:ln>
        </p:spPr>
        <p:txBody>
          <a:bodyPr anchorCtr="0" anchor="t" bIns="45700" lIns="91425" spcFirstLastPara="1" rIns="91425" wrap="square" tIns="45700">
            <a:noAutofit/>
          </a:bodyPr>
          <a:lstStyle/>
          <a:p>
            <a:pPr indent="0" lvl="0" marL="50800" rtl="0" algn="just">
              <a:lnSpc>
                <a:spcPct val="130000"/>
              </a:lnSpc>
              <a:spcBef>
                <a:spcPts val="300"/>
              </a:spcBef>
              <a:spcAft>
                <a:spcPts val="0"/>
              </a:spcAft>
              <a:buSzPts val="2800"/>
              <a:buNone/>
            </a:pPr>
            <a:r>
              <a:rPr b="1" lang="en-US" sz="2000"/>
              <a:t>Mạng Lưới Phân Xử &amp; Đồng Bộ Đa Lõi</a:t>
            </a:r>
            <a:endParaRPr sz="2000"/>
          </a:p>
          <a:p>
            <a:pPr indent="-330200" lvl="0" marL="457200" rtl="0" algn="just">
              <a:lnSpc>
                <a:spcPct val="130000"/>
              </a:lnSpc>
              <a:spcBef>
                <a:spcPts val="300"/>
              </a:spcBef>
              <a:spcAft>
                <a:spcPts val="0"/>
              </a:spcAft>
              <a:buSzPts val="1600"/>
              <a:buChar char="•"/>
            </a:pPr>
            <a:r>
              <a:rPr lang="en-US" sz="1600"/>
              <a:t>Mục tiêu chính:</a:t>
            </a:r>
            <a:endParaRPr sz="1600"/>
          </a:p>
          <a:p>
            <a:pPr indent="-330200" lvl="1" marL="914400" rtl="0" algn="just">
              <a:lnSpc>
                <a:spcPct val="130000"/>
              </a:lnSpc>
              <a:spcBef>
                <a:spcPts val="300"/>
              </a:spcBef>
              <a:spcAft>
                <a:spcPts val="0"/>
              </a:spcAft>
              <a:buSzPts val="1600"/>
              <a:buChar char="•"/>
            </a:pPr>
            <a:r>
              <a:rPr lang="en-US" sz="1600"/>
              <a:t>Chống tắc nghẽn đường truyền (Xung đột Bus).</a:t>
            </a:r>
            <a:endParaRPr sz="1600"/>
          </a:p>
          <a:p>
            <a:pPr indent="-330200" lvl="1" marL="914400" rtl="0" algn="just">
              <a:lnSpc>
                <a:spcPct val="130000"/>
              </a:lnSpc>
              <a:spcBef>
                <a:spcPts val="300"/>
              </a:spcBef>
              <a:spcAft>
                <a:spcPts val="0"/>
              </a:spcAft>
              <a:buSzPts val="1600"/>
              <a:buChar char="•"/>
            </a:pPr>
            <a:r>
              <a:rPr lang="en-US" sz="1600"/>
              <a:t>Giữ dữ liệu luôn chính xác (Nhất quán Cache).</a:t>
            </a:r>
            <a:endParaRPr sz="1600"/>
          </a:p>
          <a:p>
            <a:pPr indent="-330200" lvl="0" marL="457200" rtl="0" algn="just">
              <a:lnSpc>
                <a:spcPct val="130000"/>
              </a:lnSpc>
              <a:spcBef>
                <a:spcPts val="300"/>
              </a:spcBef>
              <a:spcAft>
                <a:spcPts val="0"/>
              </a:spcAft>
              <a:buSzPts val="1600"/>
              <a:buChar char="•"/>
            </a:pPr>
            <a:r>
              <a:rPr lang="en-US" sz="1600"/>
              <a:t>Cấu trúc phân cấp (3 khối độc lập):</a:t>
            </a:r>
            <a:endParaRPr sz="1600"/>
          </a:p>
          <a:p>
            <a:pPr indent="-330200" lvl="1" marL="914400" rtl="0" algn="just">
              <a:lnSpc>
                <a:spcPct val="130000"/>
              </a:lnSpc>
              <a:spcBef>
                <a:spcPts val="300"/>
              </a:spcBef>
              <a:spcAft>
                <a:spcPts val="0"/>
              </a:spcAft>
              <a:buSzPts val="1600"/>
              <a:buChar char="•"/>
            </a:pPr>
            <a:r>
              <a:rPr b="1" lang="en-US" sz="1600"/>
              <a:t>I-</a:t>
            </a:r>
            <a:r>
              <a:rPr b="1" lang="en-US" sz="1600"/>
              <a:t>Interconnect</a:t>
            </a:r>
            <a:r>
              <a:rPr b="1" lang="en-US" sz="1600"/>
              <a:t>:</a:t>
            </a:r>
            <a:r>
              <a:rPr lang="en-US" sz="1600"/>
              <a:t> Chia đều lượt nạp lệnh (Thuật toán Round-Robin).</a:t>
            </a:r>
            <a:endParaRPr sz="1600"/>
          </a:p>
          <a:p>
            <a:pPr indent="-330200" lvl="1" marL="914400" rtl="0" algn="just">
              <a:lnSpc>
                <a:spcPct val="130000"/>
              </a:lnSpc>
              <a:spcBef>
                <a:spcPts val="300"/>
              </a:spcBef>
              <a:spcAft>
                <a:spcPts val="0"/>
              </a:spcAft>
              <a:buSzPts val="1600"/>
              <a:buChar char="•"/>
            </a:pPr>
            <a:r>
              <a:rPr b="1" lang="en-US" sz="1600"/>
              <a:t>D-Coherence:</a:t>
            </a:r>
            <a:r>
              <a:rPr lang="en-US" sz="1600"/>
              <a:t> Lọc và đồng bộ dữ liệu (Cơ chế Snoop Filter).</a:t>
            </a:r>
            <a:endParaRPr sz="1600"/>
          </a:p>
          <a:p>
            <a:pPr indent="-330200" lvl="1" marL="914400" rtl="0" algn="just">
              <a:lnSpc>
                <a:spcPct val="130000"/>
              </a:lnSpc>
              <a:spcBef>
                <a:spcPts val="300"/>
              </a:spcBef>
              <a:spcAft>
                <a:spcPts val="0"/>
              </a:spcAft>
              <a:buSzPts val="1600"/>
              <a:buChar char="•"/>
            </a:pPr>
            <a:r>
              <a:rPr b="1" lang="en-US" sz="1600"/>
              <a:t>Main Arbiter:</a:t>
            </a:r>
            <a:r>
              <a:rPr lang="en-US" sz="1600"/>
              <a:t> Phân xử tối cao trước khi vào L2 Cache.</a:t>
            </a:r>
            <a:endParaRPr sz="1600"/>
          </a:p>
        </p:txBody>
      </p:sp>
      <p:sp>
        <p:nvSpPr>
          <p:cNvPr id="337" name="Google Shape;337;p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38" name="Google Shape;338;p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39" name="Google Shape;339;p3"/>
          <p:cNvPicPr preferRelativeResize="0"/>
          <p:nvPr/>
        </p:nvPicPr>
        <p:blipFill rotWithShape="1">
          <a:blip r:embed="rId3">
            <a:alphaModFix/>
          </a:blip>
          <a:srcRect b="0" l="0" r="0" t="0"/>
          <a:stretch/>
        </p:blipFill>
        <p:spPr>
          <a:xfrm>
            <a:off x="6689673" y="1782226"/>
            <a:ext cx="4982777" cy="40390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45" name="Google Shape;345;p5"/>
          <p:cNvSpPr txBox="1"/>
          <p:nvPr>
            <p:ph idx="1" type="body"/>
          </p:nvPr>
        </p:nvSpPr>
        <p:spPr>
          <a:xfrm>
            <a:off x="518750" y="1927425"/>
            <a:ext cx="6396900" cy="4293000"/>
          </a:xfrm>
          <a:prstGeom prst="rect">
            <a:avLst/>
          </a:prstGeom>
          <a:noFill/>
          <a:ln>
            <a:noFill/>
          </a:ln>
        </p:spPr>
        <p:txBody>
          <a:bodyPr anchorCtr="0" anchor="t" bIns="45700" lIns="91425" spcFirstLastPara="1" rIns="91425" wrap="square" tIns="45700">
            <a:noAutofit/>
          </a:bodyPr>
          <a:lstStyle/>
          <a:p>
            <a:pPr indent="0" lvl="0" marL="50800" rtl="0" algn="l">
              <a:lnSpc>
                <a:spcPct val="130000"/>
              </a:lnSpc>
              <a:spcBef>
                <a:spcPts val="300"/>
              </a:spcBef>
              <a:spcAft>
                <a:spcPts val="0"/>
              </a:spcAft>
              <a:buSzPts val="2800"/>
              <a:buNone/>
            </a:pPr>
            <a:r>
              <a:rPr b="1" lang="en-US" sz="2000"/>
              <a:t>Khối kết nối luồng lệnh</a:t>
            </a:r>
            <a:r>
              <a:rPr b="1" lang="en-US" sz="2000"/>
              <a:t> (Instruction Interconnect):</a:t>
            </a:r>
            <a:endParaRPr/>
          </a:p>
          <a:p>
            <a:pPr indent="-406400" lvl="0" marL="457200" rtl="0" algn="just">
              <a:lnSpc>
                <a:spcPct val="130000"/>
              </a:lnSpc>
              <a:spcBef>
                <a:spcPts val="300"/>
              </a:spcBef>
              <a:spcAft>
                <a:spcPts val="0"/>
              </a:spcAft>
              <a:buSzPts val="2800"/>
              <a:buChar char="•"/>
            </a:pPr>
            <a:r>
              <a:rPr lang="en-US" sz="2000"/>
              <a:t>Chức năng: Điều phối yêu cầu nạp lệnh (chỉ đọc) từ I-Cache của 2 lõi xuống bộ nhớ dưới.</a:t>
            </a:r>
            <a:endParaRPr sz="2000"/>
          </a:p>
          <a:p>
            <a:pPr indent="-406400" lvl="0" marL="457200" rtl="0" algn="just">
              <a:lnSpc>
                <a:spcPct val="130000"/>
              </a:lnSpc>
              <a:spcBef>
                <a:spcPts val="300"/>
              </a:spcBef>
              <a:spcAft>
                <a:spcPts val="0"/>
              </a:spcAft>
              <a:buSzPts val="2800"/>
              <a:buChar char="•"/>
            </a:pPr>
            <a:r>
              <a:rPr lang="en-US" sz="2000"/>
              <a:t>Cơ chế: Mạch chọn kênh sử dụng thuật toán luân phiên (Round-Robin).</a:t>
            </a:r>
            <a:endParaRPr/>
          </a:p>
          <a:p>
            <a:pPr indent="-406400" lvl="0" marL="457200" rtl="0" algn="just">
              <a:lnSpc>
                <a:spcPct val="130000"/>
              </a:lnSpc>
              <a:spcBef>
                <a:spcPts val="300"/>
              </a:spcBef>
              <a:spcAft>
                <a:spcPts val="0"/>
              </a:spcAft>
              <a:buSzPts val="2800"/>
              <a:buChar char="•"/>
            </a:pPr>
            <a:r>
              <a:rPr lang="en-US" sz="2000"/>
              <a:t>Mục tiêu: Cấp phát băng thông công bằng, chống "đói" tài nguyên (starvation) các lõi.</a:t>
            </a:r>
            <a:endParaRPr/>
          </a:p>
        </p:txBody>
      </p:sp>
      <p:sp>
        <p:nvSpPr>
          <p:cNvPr id="346" name="Google Shape;346;p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47" name="Google Shape;347;p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48" name="Google Shape;348;p5"/>
          <p:cNvPicPr preferRelativeResize="0"/>
          <p:nvPr/>
        </p:nvPicPr>
        <p:blipFill>
          <a:blip r:embed="rId3">
            <a:alphaModFix/>
          </a:blip>
          <a:stretch>
            <a:fillRect/>
          </a:stretch>
        </p:blipFill>
        <p:spPr>
          <a:xfrm>
            <a:off x="6981125" y="1366942"/>
            <a:ext cx="4857694" cy="41241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7"/>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54" name="Google Shape;354;p7"/>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55" name="Google Shape;355;p7"/>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56" name="Google Shape;356;p7"/>
          <p:cNvPicPr preferRelativeResize="0"/>
          <p:nvPr/>
        </p:nvPicPr>
        <p:blipFill rotWithShape="1">
          <a:blip r:embed="rId3">
            <a:alphaModFix/>
          </a:blip>
          <a:srcRect b="0" l="0" r="0" t="0"/>
          <a:stretch/>
        </p:blipFill>
        <p:spPr>
          <a:xfrm>
            <a:off x="6213986" y="2309193"/>
            <a:ext cx="5851678" cy="2867184"/>
          </a:xfrm>
          <a:prstGeom prst="rect">
            <a:avLst/>
          </a:prstGeom>
          <a:noFill/>
          <a:ln>
            <a:noFill/>
          </a:ln>
        </p:spPr>
      </p:pic>
      <p:sp>
        <p:nvSpPr>
          <p:cNvPr id="357" name="Google Shape;357;p7"/>
          <p:cNvSpPr txBox="1"/>
          <p:nvPr/>
        </p:nvSpPr>
        <p:spPr>
          <a:xfrm>
            <a:off x="518749" y="1927430"/>
            <a:ext cx="5695237" cy="4293000"/>
          </a:xfrm>
          <a:prstGeom prst="rect">
            <a:avLst/>
          </a:prstGeom>
          <a:noFill/>
          <a:ln>
            <a:noFill/>
          </a:ln>
        </p:spPr>
        <p:txBody>
          <a:bodyPr anchorCtr="0" anchor="t" bIns="45700" lIns="91425" spcFirstLastPara="1" rIns="91425" wrap="square" tIns="45700">
            <a:noAutofit/>
          </a:bodyPr>
          <a:lstStyle/>
          <a:p>
            <a:pPr indent="0" lvl="0" marL="50800" marR="0" rtl="0" algn="just">
              <a:lnSpc>
                <a:spcPct val="130000"/>
              </a:lnSpc>
              <a:spcBef>
                <a:spcPts val="300"/>
              </a:spcBef>
              <a:spcAft>
                <a:spcPts val="0"/>
              </a:spcAft>
              <a:buClr>
                <a:schemeClr val="dk1"/>
              </a:buClr>
              <a:buSzPts val="2800"/>
              <a:buFont typeface="Arial"/>
              <a:buNone/>
            </a:pPr>
            <a:r>
              <a:rPr b="1" i="0" lang="en-US" sz="2000" u="none" cap="none" strike="noStrike">
                <a:solidFill>
                  <a:schemeClr val="dk1"/>
                </a:solidFill>
                <a:latin typeface="Arial"/>
                <a:ea typeface="Arial"/>
                <a:cs typeface="Arial"/>
                <a:sym typeface="Arial"/>
              </a:rPr>
              <a:t>Khối phân xử &amp; đồng bộ luồng dữ liệu:</a:t>
            </a:r>
            <a:endParaRPr/>
          </a:p>
          <a:p>
            <a:pPr indent="-406400" lvl="0" marL="457200" marR="0" rtl="0" algn="just">
              <a:lnSpc>
                <a:spcPct val="130000"/>
              </a:lnSpc>
              <a:spcBef>
                <a:spcPts val="300"/>
              </a:spcBef>
              <a:spcAft>
                <a:spcPts val="0"/>
              </a:spcAft>
              <a:buClr>
                <a:schemeClr val="dk1"/>
              </a:buClr>
              <a:buSzPts val="2800"/>
              <a:buFont typeface="Arial"/>
              <a:buChar char="•"/>
            </a:pPr>
            <a:r>
              <a:rPr b="0" i="0" lang="en-US" sz="2000" u="none" cap="none" strike="noStrike">
                <a:solidFill>
                  <a:schemeClr val="dk1"/>
                </a:solidFill>
                <a:latin typeface="Arial"/>
                <a:ea typeface="Arial"/>
                <a:cs typeface="Arial"/>
                <a:sym typeface="Arial"/>
              </a:rPr>
              <a:t>Phân xử truy cập dữ liệu từ 2 D-Cache theo Round-Robin, đồng thời điều phối tín hiệu giao thức MOESI giữa 2 lõi tr</a:t>
            </a:r>
            <a:r>
              <a:rPr lang="en-US" sz="2000">
                <a:solidFill>
                  <a:schemeClr val="dk1"/>
                </a:solidFill>
              </a:rPr>
              <a:t>ánh xung đột</a:t>
            </a:r>
            <a:endParaRPr b="0" i="0" sz="2000" u="none" cap="none" strike="noStrike">
              <a:solidFill>
                <a:schemeClr val="dk1"/>
              </a:solidFill>
              <a:latin typeface="Arial"/>
              <a:ea typeface="Arial"/>
              <a:cs typeface="Arial"/>
              <a:sym typeface="Arial"/>
            </a:endParaRPr>
          </a:p>
          <a:p>
            <a:pPr indent="-406400" lvl="0" marL="457200" marR="0" rtl="0" algn="just">
              <a:lnSpc>
                <a:spcPct val="130000"/>
              </a:lnSpc>
              <a:spcBef>
                <a:spcPts val="300"/>
              </a:spcBef>
              <a:spcAft>
                <a:spcPts val="0"/>
              </a:spcAft>
              <a:buClr>
                <a:schemeClr val="dk1"/>
              </a:buClr>
              <a:buSzPts val="2800"/>
              <a:buFont typeface="Arial"/>
              <a:buChar char="•"/>
            </a:pPr>
            <a:r>
              <a:rPr b="0" i="0" lang="en-US" sz="2000" u="none" cap="none" strike="noStrike">
                <a:solidFill>
                  <a:schemeClr val="dk1"/>
                </a:solidFill>
                <a:latin typeface="Arial"/>
                <a:ea typeface="Arial"/>
                <a:cs typeface="Arial"/>
                <a:sym typeface="Arial"/>
              </a:rPr>
              <a:t>Cache-to-Cache Transfer (C2C Buffer): khi Snoop Hit → truyền dữ liệu trực tiếp giữa 2 lõi, bỏ qua L2 Cache → giảm độ trễ đáng kể</a:t>
            </a:r>
            <a:endParaRPr b="0" i="0" sz="2000" u="none" cap="none" strike="noStrike">
              <a:solidFill>
                <a:schemeClr val="dk1"/>
              </a:solidFill>
              <a:latin typeface="Arial"/>
              <a:ea typeface="Arial"/>
              <a:cs typeface="Arial"/>
              <a:sym typeface="Arial"/>
            </a:endParaRPr>
          </a:p>
          <a:p>
            <a:pPr indent="-406400" lvl="0" marL="457200" marR="0" rtl="0" algn="just">
              <a:lnSpc>
                <a:spcPct val="130000"/>
              </a:lnSpc>
              <a:spcBef>
                <a:spcPts val="300"/>
              </a:spcBef>
              <a:spcAft>
                <a:spcPts val="0"/>
              </a:spcAft>
              <a:buClr>
                <a:schemeClr val="dk1"/>
              </a:buClr>
              <a:buSzPts val="2800"/>
              <a:buFont typeface="Arial"/>
              <a:buChar char="•"/>
            </a:pPr>
            <a:r>
              <a:rPr b="0" i="0" lang="en-US" sz="2000" u="none" cap="none" strike="noStrike">
                <a:solidFill>
                  <a:schemeClr val="dk1"/>
                </a:solidFill>
                <a:latin typeface="Arial"/>
                <a:ea typeface="Arial"/>
                <a:cs typeface="Arial"/>
                <a:sym typeface="Arial"/>
              </a:rPr>
              <a:t>Khi Snoop Miss → chuyển yêu cầu xuống Main L2 Arbiter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63" name="Google Shape;363;p8"/>
          <p:cNvSpPr txBox="1"/>
          <p:nvPr>
            <p:ph idx="1" type="body"/>
          </p:nvPr>
        </p:nvSpPr>
        <p:spPr>
          <a:xfrm>
            <a:off x="518749" y="2063500"/>
            <a:ext cx="5901715"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50000"/>
              </a:lnSpc>
              <a:spcBef>
                <a:spcPts val="0"/>
              </a:spcBef>
              <a:spcAft>
                <a:spcPts val="0"/>
              </a:spcAft>
              <a:buSzPts val="2200"/>
              <a:buNone/>
            </a:pPr>
            <a:r>
              <a:rPr b="1" lang="en-US" sz="2000"/>
              <a:t>Khối phân xử trung tâm (Main L2 Arbiter):</a:t>
            </a:r>
            <a:endParaRPr/>
          </a:p>
          <a:p>
            <a:pPr indent="-368300" lvl="0" marL="457200" rtl="0" algn="just">
              <a:lnSpc>
                <a:spcPct val="150000"/>
              </a:lnSpc>
              <a:spcBef>
                <a:spcPts val="0"/>
              </a:spcBef>
              <a:spcAft>
                <a:spcPts val="0"/>
              </a:spcAft>
              <a:buSzPts val="2200"/>
              <a:buFont typeface="Arial"/>
              <a:buChar char="•"/>
            </a:pPr>
            <a:r>
              <a:rPr lang="en-US" sz="2000"/>
              <a:t>Điểm hội tụ cuối: quyết định quyền truy xuất L2 Cache giữa luồng lệnh và luồng dữ liệu</a:t>
            </a:r>
            <a:endParaRPr sz="2000"/>
          </a:p>
          <a:p>
            <a:pPr indent="-368300" lvl="0" marL="457200" rtl="0" algn="just">
              <a:lnSpc>
                <a:spcPct val="150000"/>
              </a:lnSpc>
              <a:spcBef>
                <a:spcPts val="0"/>
              </a:spcBef>
              <a:spcAft>
                <a:spcPts val="0"/>
              </a:spcAft>
              <a:buSzPts val="2200"/>
              <a:buFont typeface="Arial"/>
              <a:buChar char="•"/>
            </a:pPr>
            <a:r>
              <a:rPr lang="en-US" sz="2000"/>
              <a:t>Chính sách Fixed Priority: Data &gt; Instruction</a:t>
            </a:r>
            <a:endParaRPr/>
          </a:p>
          <a:p>
            <a:pPr indent="-368300" lvl="0" marL="457200" rtl="0" algn="just">
              <a:lnSpc>
                <a:spcPct val="150000"/>
              </a:lnSpc>
              <a:spcBef>
                <a:spcPts val="0"/>
              </a:spcBef>
              <a:spcAft>
                <a:spcPts val="0"/>
              </a:spcAft>
              <a:buSzPts val="2200"/>
              <a:buFont typeface="Arial"/>
              <a:buChar char="•"/>
            </a:pPr>
            <a:r>
              <a:rPr lang="en-US" sz="2000"/>
              <a:t>Lý do: Data Hazard gây Stall sâu tại các tầng thực thi; độ trễ lệnh chỉ ảnh hưởng Front-end pipeline → ưu tiên Data.</a:t>
            </a:r>
            <a:endParaRPr sz="2000"/>
          </a:p>
        </p:txBody>
      </p:sp>
      <p:sp>
        <p:nvSpPr>
          <p:cNvPr id="364" name="Google Shape;364;p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65" name="Google Shape;365;p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66" name="Google Shape;366;p8"/>
          <p:cNvPicPr preferRelativeResize="0"/>
          <p:nvPr/>
        </p:nvPicPr>
        <p:blipFill>
          <a:blip r:embed="rId3">
            <a:alphaModFix/>
          </a:blip>
          <a:stretch>
            <a:fillRect/>
          </a:stretch>
        </p:blipFill>
        <p:spPr>
          <a:xfrm>
            <a:off x="6894464" y="1462680"/>
            <a:ext cx="4759269" cy="41241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72" name="Google Shape;372;p6"/>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73" name="Google Shape;373;p6"/>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74" name="Google Shape;374;p6"/>
          <p:cNvPicPr preferRelativeResize="0"/>
          <p:nvPr/>
        </p:nvPicPr>
        <p:blipFill rotWithShape="1">
          <a:blip r:embed="rId3">
            <a:alphaModFix/>
          </a:blip>
          <a:srcRect b="0" l="0" r="0" t="0"/>
          <a:stretch/>
        </p:blipFill>
        <p:spPr>
          <a:xfrm>
            <a:off x="6499122" y="2251895"/>
            <a:ext cx="5481937" cy="2592234"/>
          </a:xfrm>
          <a:prstGeom prst="rect">
            <a:avLst/>
          </a:prstGeom>
          <a:noFill/>
          <a:ln>
            <a:noFill/>
          </a:ln>
        </p:spPr>
      </p:pic>
      <p:sp>
        <p:nvSpPr>
          <p:cNvPr id="375" name="Google Shape;375;p6"/>
          <p:cNvSpPr txBox="1"/>
          <p:nvPr>
            <p:ph idx="1" type="body"/>
          </p:nvPr>
        </p:nvSpPr>
        <p:spPr>
          <a:xfrm>
            <a:off x="518749" y="2063500"/>
            <a:ext cx="5803393"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Lõi vi xử lý RV32IA – Pipeline 6 tầng:</a:t>
            </a:r>
            <a:endParaRPr/>
          </a:p>
          <a:p>
            <a:pPr indent="-342900" lvl="0" marL="431800" rtl="0" algn="just">
              <a:lnSpc>
                <a:spcPct val="115000"/>
              </a:lnSpc>
              <a:spcBef>
                <a:spcPts val="0"/>
              </a:spcBef>
              <a:spcAft>
                <a:spcPts val="0"/>
              </a:spcAft>
              <a:buSzPts val="2200"/>
              <a:buFont typeface="Arial"/>
              <a:buChar char="•"/>
            </a:pPr>
            <a:r>
              <a:rPr lang="en-US" sz="1800"/>
              <a:t>6 tầng: IF (S1) → S2 → ID → EX → MEM → WB</a:t>
            </a:r>
            <a:endParaRPr/>
          </a:p>
          <a:p>
            <a:pPr indent="-342900" lvl="0" marL="431800" rtl="0" algn="just">
              <a:lnSpc>
                <a:spcPct val="115000"/>
              </a:lnSpc>
              <a:spcBef>
                <a:spcPts val="0"/>
              </a:spcBef>
              <a:spcAft>
                <a:spcPts val="0"/>
              </a:spcAft>
              <a:buSzPts val="2200"/>
              <a:buFont typeface="Arial"/>
              <a:buChar char="•"/>
            </a:pPr>
            <a:r>
              <a:rPr lang="en-US" sz="1800"/>
              <a:t>Tách S1/S2: phân rã giai đoạn nạp lệnh → tối ưu tần số, giảm độ trễ SRAM</a:t>
            </a:r>
            <a:endParaRPr/>
          </a:p>
          <a:p>
            <a:pPr indent="-342900" lvl="0" marL="431800" rtl="0" algn="just">
              <a:lnSpc>
                <a:spcPct val="115000"/>
              </a:lnSpc>
              <a:spcBef>
                <a:spcPts val="0"/>
              </a:spcBef>
              <a:spcAft>
                <a:spcPts val="0"/>
              </a:spcAft>
              <a:buSzPts val="2200"/>
              <a:buFont typeface="Arial"/>
              <a:buChar char="•"/>
            </a:pPr>
            <a:r>
              <a:rPr lang="en-US" sz="1800"/>
              <a:t>BPU (Branch Prediction Unit): kiến trúc lai GShare + BTB 4-Way SA, cập nhật tại tầng EX</a:t>
            </a:r>
            <a:endParaRPr/>
          </a:p>
          <a:p>
            <a:pPr indent="-342900" lvl="0" marL="431800" rtl="0" algn="just">
              <a:lnSpc>
                <a:spcPct val="115000"/>
              </a:lnSpc>
              <a:spcBef>
                <a:spcPts val="0"/>
              </a:spcBef>
              <a:spcAft>
                <a:spcPts val="0"/>
              </a:spcAft>
              <a:buSzPts val="2200"/>
              <a:buFont typeface="Arial"/>
              <a:buChar char="•"/>
            </a:pPr>
            <a:r>
              <a:rPr lang="en-US" sz="1800"/>
              <a:t>Hazard Unit: xử lý Forwarding, Stall (Load-Use / Cache Miss), Flush (Branch Mispredict)</a:t>
            </a:r>
            <a:endParaRPr/>
          </a:p>
          <a:p>
            <a:pPr indent="-342900" lvl="0" marL="431800" rtl="0" algn="just">
              <a:lnSpc>
                <a:spcPct val="115000"/>
              </a:lnSpc>
              <a:spcBef>
                <a:spcPts val="0"/>
              </a:spcBef>
              <a:spcAft>
                <a:spcPts val="0"/>
              </a:spcAft>
              <a:buSzPts val="2200"/>
              <a:buFont typeface="Arial"/>
              <a:buChar char="•"/>
            </a:pPr>
            <a:r>
              <a:rPr lang="en-US" sz="1800"/>
              <a:t>Gối đầu D-Cache tại tầng EX→MEM: kích hoạt Access ở EX, Compare Tag ở MEM</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9"/>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81" name="Google Shape;381;p9"/>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82" name="Google Shape;382;p9"/>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383" name="Google Shape;383;p9"/>
          <p:cNvSpPr txBox="1"/>
          <p:nvPr>
            <p:ph idx="1" type="body"/>
          </p:nvPr>
        </p:nvSpPr>
        <p:spPr>
          <a:xfrm>
            <a:off x="518749" y="2063500"/>
            <a:ext cx="5282283"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Giao thức đồng bộ MOESI Snooping:</a:t>
            </a:r>
            <a:endParaRPr/>
          </a:p>
          <a:p>
            <a:pPr indent="-342900" lvl="0" marL="431800" rtl="0" algn="just">
              <a:lnSpc>
                <a:spcPct val="115000"/>
              </a:lnSpc>
              <a:spcBef>
                <a:spcPts val="0"/>
              </a:spcBef>
              <a:spcAft>
                <a:spcPts val="0"/>
              </a:spcAft>
              <a:buSzPts val="2200"/>
              <a:buFont typeface="Arial"/>
              <a:buChar char="•"/>
            </a:pPr>
            <a:r>
              <a:rPr lang="en-US" sz="1800"/>
              <a:t>5 trạng thái: Modified, Owned, Exclusive, Shared, Invalid</a:t>
            </a:r>
            <a:endParaRPr/>
          </a:p>
          <a:p>
            <a:pPr indent="-342900" lvl="0" marL="431800" rtl="0" algn="just">
              <a:lnSpc>
                <a:spcPct val="115000"/>
              </a:lnSpc>
              <a:spcBef>
                <a:spcPts val="0"/>
              </a:spcBef>
              <a:spcAft>
                <a:spcPts val="0"/>
              </a:spcAft>
              <a:buSzPts val="2200"/>
              <a:buFont typeface="Arial"/>
              <a:buChar char="•"/>
            </a:pPr>
            <a:r>
              <a:rPr lang="en-US" sz="1800"/>
              <a:t>Snooping: mỗi L1 D-Cache giám sát bus liên tục để phát hiện giao dịch của lõi kia</a:t>
            </a:r>
            <a:endParaRPr/>
          </a:p>
          <a:p>
            <a:pPr indent="-342900" lvl="0" marL="431800" rtl="0" algn="just">
              <a:lnSpc>
                <a:spcPct val="115000"/>
              </a:lnSpc>
              <a:spcBef>
                <a:spcPts val="0"/>
              </a:spcBef>
              <a:spcAft>
                <a:spcPts val="0"/>
              </a:spcAft>
              <a:buSzPts val="2200"/>
              <a:buFont typeface="Arial"/>
              <a:buChar char="•"/>
            </a:pPr>
            <a:r>
              <a:rPr lang="en-US" sz="1800"/>
              <a:t>Điểm mấu chốt — trạng thái Owned (O): lõi giữ bản sao bẩn nhưng chia sẻ với lõi khác → tránh Write-back không cần thiết lên L2 Lõi ghi độc quyền (WM/BW): phát Bus Write → ép tất cả bản sao còn lại về Invalid</a:t>
            </a:r>
            <a:endParaRPr sz="1800"/>
          </a:p>
        </p:txBody>
      </p:sp>
      <p:pic>
        <p:nvPicPr>
          <p:cNvPr id="384" name="Google Shape;384;p9"/>
          <p:cNvPicPr preferRelativeResize="0"/>
          <p:nvPr/>
        </p:nvPicPr>
        <p:blipFill>
          <a:blip r:embed="rId3">
            <a:alphaModFix/>
          </a:blip>
          <a:stretch>
            <a:fillRect/>
          </a:stretch>
        </p:blipFill>
        <p:spPr>
          <a:xfrm>
            <a:off x="5896657" y="1436630"/>
            <a:ext cx="5787193" cy="412412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90" name="Google Shape;390;p1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391" name="Google Shape;391;p1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392" name="Google Shape;392;p10"/>
          <p:cNvPicPr preferRelativeResize="0"/>
          <p:nvPr/>
        </p:nvPicPr>
        <p:blipFill rotWithShape="1">
          <a:blip r:embed="rId3">
            <a:alphaModFix/>
          </a:blip>
          <a:srcRect b="0" l="0" r="0" t="0"/>
          <a:stretch/>
        </p:blipFill>
        <p:spPr>
          <a:xfrm>
            <a:off x="6546137" y="2550855"/>
            <a:ext cx="5248407" cy="2581583"/>
          </a:xfrm>
          <a:prstGeom prst="rect">
            <a:avLst/>
          </a:prstGeom>
          <a:noFill/>
          <a:ln>
            <a:noFill/>
          </a:ln>
        </p:spPr>
      </p:pic>
      <p:sp>
        <p:nvSpPr>
          <p:cNvPr id="393" name="Google Shape;393;p10"/>
          <p:cNvSpPr txBox="1"/>
          <p:nvPr>
            <p:ph idx="1" type="body"/>
          </p:nvPr>
        </p:nvSpPr>
        <p:spPr>
          <a:xfrm>
            <a:off x="518749" y="2063500"/>
            <a:ext cx="5764064"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Vi kiến trúc nền tảng – Pipeline 2 giai đoạn truy xuất Cache:</a:t>
            </a:r>
            <a:endParaRPr/>
          </a:p>
          <a:p>
            <a:pPr indent="-285750" lvl="0" marL="374650" rtl="0" algn="just">
              <a:lnSpc>
                <a:spcPct val="115000"/>
              </a:lnSpc>
              <a:spcBef>
                <a:spcPts val="0"/>
              </a:spcBef>
              <a:spcAft>
                <a:spcPts val="0"/>
              </a:spcAft>
              <a:buSzPts val="2200"/>
              <a:buFont typeface="Arial"/>
              <a:buChar char="•"/>
            </a:pPr>
            <a:r>
              <a:rPr lang="en-US" sz="1800"/>
              <a:t>Địa chỉ 32-bit phân rã: Tag · Index (4-bit L1 / 6-bit L2) · Offset (6-bit, Cache Line 64B)</a:t>
            </a:r>
            <a:endParaRPr/>
          </a:p>
          <a:p>
            <a:pPr indent="-285750" lvl="0" marL="374650" rtl="0" algn="just">
              <a:lnSpc>
                <a:spcPct val="115000"/>
              </a:lnSpc>
              <a:spcBef>
                <a:spcPts val="0"/>
              </a:spcBef>
              <a:spcAft>
                <a:spcPts val="0"/>
              </a:spcAft>
              <a:buSzPts val="2200"/>
              <a:buFont typeface="Arial"/>
              <a:buChar char="•"/>
            </a:pPr>
            <a:r>
              <a:rPr lang="en-US" sz="1800"/>
              <a:t>Giai đoạn 1 – Access: Index → đọc mảng SRAM; Tag → chốt vào REG</a:t>
            </a:r>
            <a:endParaRPr/>
          </a:p>
          <a:p>
            <a:pPr indent="-285750" lvl="0" marL="374650" rtl="0" algn="just">
              <a:lnSpc>
                <a:spcPct val="115000"/>
              </a:lnSpc>
              <a:spcBef>
                <a:spcPts val="0"/>
              </a:spcBef>
              <a:spcAft>
                <a:spcPts val="0"/>
              </a:spcAft>
              <a:buSzPts val="2200"/>
              <a:buFont typeface="Arial"/>
              <a:buChar char="•"/>
            </a:pPr>
            <a:r>
              <a:rPr lang="en-US" sz="1800"/>
              <a:t>Giai đoạn 2 – Compare: Check Hit đối chiếu Tag từ SRAM với Tag trongREG → xuất tín hiệu Hit</a:t>
            </a:r>
            <a:endParaRPr/>
          </a:p>
          <a:p>
            <a:pPr indent="-285750" lvl="0" marL="374650" rtl="0" algn="just">
              <a:lnSpc>
                <a:spcPct val="115000"/>
              </a:lnSpc>
              <a:spcBef>
                <a:spcPts val="0"/>
              </a:spcBef>
              <a:spcAft>
                <a:spcPts val="0"/>
              </a:spcAft>
              <a:buSzPts val="2200"/>
              <a:buFont typeface="Arial"/>
              <a:buChar char="•"/>
            </a:pPr>
            <a:r>
              <a:rPr lang="en-US" sz="1800"/>
              <a:t>REG còn dùng để giữ Stall pipeline khi Cache Miss</a:t>
            </a:r>
            <a:endParaRPr/>
          </a:p>
          <a:p>
            <a:pPr indent="-285750" lvl="0" marL="374650" rtl="0" algn="just">
              <a:lnSpc>
                <a:spcPct val="115000"/>
              </a:lnSpc>
              <a:spcBef>
                <a:spcPts val="0"/>
              </a:spcBef>
              <a:spcAft>
                <a:spcPts val="0"/>
              </a:spcAft>
              <a:buSzPts val="2200"/>
              <a:buFont typeface="Arial"/>
              <a:buChar char="•"/>
            </a:pPr>
            <a:r>
              <a:rPr lang="en-US" sz="1800"/>
              <a:t>Áp dụng thống nhất cho L1 I-Cache, L1 D-Cache và L2 Cache</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399" name="Google Shape;399;p1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00" name="Google Shape;400;p1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01" name="Google Shape;401;p11"/>
          <p:cNvPicPr preferRelativeResize="0"/>
          <p:nvPr/>
        </p:nvPicPr>
        <p:blipFill rotWithShape="1">
          <a:blip r:embed="rId3">
            <a:alphaModFix/>
          </a:blip>
          <a:srcRect b="0" l="0" r="0" t="0"/>
          <a:stretch/>
        </p:blipFill>
        <p:spPr>
          <a:xfrm>
            <a:off x="7179494" y="1570588"/>
            <a:ext cx="4314416" cy="4470594"/>
          </a:xfrm>
          <a:prstGeom prst="rect">
            <a:avLst/>
          </a:prstGeom>
          <a:noFill/>
          <a:ln>
            <a:noFill/>
          </a:ln>
        </p:spPr>
      </p:pic>
      <p:sp>
        <p:nvSpPr>
          <p:cNvPr id="402" name="Google Shape;402;p11"/>
          <p:cNvSpPr txBox="1"/>
          <p:nvPr>
            <p:ph idx="1" type="body"/>
          </p:nvPr>
        </p:nvSpPr>
        <p:spPr>
          <a:xfrm>
            <a:off x="518749" y="2063500"/>
            <a:ext cx="6314670"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Vi kiến trúc L1 D-Cache – Đọc/Ghi + MOESI + Atomic:</a:t>
            </a:r>
            <a:endParaRPr/>
          </a:p>
          <a:p>
            <a:pPr indent="-285750" lvl="0" marL="374650" rtl="0" algn="just">
              <a:lnSpc>
                <a:spcPct val="115000"/>
              </a:lnSpc>
              <a:spcBef>
                <a:spcPts val="0"/>
              </a:spcBef>
              <a:spcAft>
                <a:spcPts val="0"/>
              </a:spcAft>
              <a:buSzPts val="2200"/>
              <a:buFont typeface="Arial"/>
              <a:buChar char="•"/>
            </a:pPr>
            <a:r>
              <a:rPr lang="en-US" sz="1800"/>
              <a:t>Kế thừa pipeline 2 giai đoạn nền tảng, mở rộng với 3 phân hệ chuyên biệt</a:t>
            </a:r>
            <a:endParaRPr sz="1800"/>
          </a:p>
          <a:p>
            <a:pPr indent="-285750" lvl="0" marL="374650" rtl="0" algn="just">
              <a:lnSpc>
                <a:spcPct val="115000"/>
              </a:lnSpc>
              <a:spcBef>
                <a:spcPts val="0"/>
              </a:spcBef>
              <a:spcAft>
                <a:spcPts val="0"/>
              </a:spcAft>
              <a:buSzPts val="2200"/>
              <a:buFont typeface="Arial"/>
              <a:buChar char="•"/>
            </a:pPr>
            <a:r>
              <a:rPr lang="en-US" sz="1800"/>
              <a:t>Controller (FSM 9 trạng thái): phân xử Hit/Miss, Write-back, Bus Request, Upgrade</a:t>
            </a:r>
            <a:endParaRPr/>
          </a:p>
          <a:p>
            <a:pPr indent="-285750" lvl="0" marL="374650" rtl="0" algn="just">
              <a:lnSpc>
                <a:spcPct val="115000"/>
              </a:lnSpc>
              <a:spcBef>
                <a:spcPts val="0"/>
              </a:spcBef>
              <a:spcAft>
                <a:spcPts val="0"/>
              </a:spcAft>
              <a:buSzPts val="2200"/>
              <a:buFont typeface="Arial"/>
              <a:buChar char="•"/>
            </a:pPr>
            <a:r>
              <a:rPr lang="en-US" sz="1800"/>
              <a:t>Snoop Controller: giám sát bus tổ hợp, xử lý Invalidation và cập nhật trạng thái MOESI trong 1 chu kỳ</a:t>
            </a:r>
            <a:endParaRPr sz="1800"/>
          </a:p>
          <a:p>
            <a:pPr indent="-285750" lvl="0" marL="374650" rtl="0" algn="just">
              <a:lnSpc>
                <a:spcPct val="115000"/>
              </a:lnSpc>
              <a:spcBef>
                <a:spcPts val="0"/>
              </a:spcBef>
              <a:spcAft>
                <a:spcPts val="0"/>
              </a:spcAft>
              <a:buSzPts val="2200"/>
              <a:buFont typeface="Arial"/>
              <a:buChar char="•"/>
            </a:pPr>
            <a:r>
              <a:rPr lang="en-US" sz="1800"/>
              <a:t>AMO ALU: thực thi 7 lệnh nguyên tử (SWAP, ADD, AND, OR, XOR, MAX, MIN) trực tiếp trên SRAM, không qua pipeline CPU</a:t>
            </a:r>
            <a:endParaRPr/>
          </a:p>
          <a:p>
            <a:pPr indent="-285750" lvl="0" marL="374650" rtl="0" algn="just">
              <a:lnSpc>
                <a:spcPct val="115000"/>
              </a:lnSpc>
              <a:spcBef>
                <a:spcPts val="0"/>
              </a:spcBef>
              <a:spcAft>
                <a:spcPts val="0"/>
              </a:spcAft>
              <a:buSzPts val="2200"/>
              <a:buFont typeface="Arial"/>
              <a:buChar char="•"/>
            </a:pPr>
            <a:r>
              <a:rPr lang="en-US" sz="1800"/>
              <a:t>Chính sách ghi: Write-back + Write/Read Allocate · Thay thế: PLRUt 3-bit</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4"/>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408" name="Google Shape;408;p14"/>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09" name="Google Shape;409;p14"/>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10" name="Google Shape;410;p14"/>
          <p:cNvPicPr preferRelativeResize="0"/>
          <p:nvPr/>
        </p:nvPicPr>
        <p:blipFill rotWithShape="1">
          <a:blip r:embed="rId3">
            <a:alphaModFix/>
          </a:blip>
          <a:srcRect b="0" l="0" r="0" t="0"/>
          <a:stretch/>
        </p:blipFill>
        <p:spPr>
          <a:xfrm>
            <a:off x="6662706" y="1555665"/>
            <a:ext cx="4526404" cy="4664615"/>
          </a:xfrm>
          <a:prstGeom prst="rect">
            <a:avLst/>
          </a:prstGeom>
          <a:noFill/>
          <a:ln>
            <a:noFill/>
          </a:ln>
        </p:spPr>
      </p:pic>
      <p:sp>
        <p:nvSpPr>
          <p:cNvPr id="411" name="Google Shape;411;p14"/>
          <p:cNvSpPr txBox="1"/>
          <p:nvPr>
            <p:ph idx="1" type="body"/>
          </p:nvPr>
        </p:nvSpPr>
        <p:spPr>
          <a:xfrm>
            <a:off x="518748" y="2063500"/>
            <a:ext cx="5891883"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Vi kiến trúc L1 I-Cache – Chỉ đọc (Read-Only):</a:t>
            </a:r>
            <a:endParaRPr/>
          </a:p>
          <a:p>
            <a:pPr indent="-285750" lvl="0" marL="374650" rtl="0" algn="just">
              <a:lnSpc>
                <a:spcPct val="115000"/>
              </a:lnSpc>
              <a:spcBef>
                <a:spcPts val="0"/>
              </a:spcBef>
              <a:spcAft>
                <a:spcPts val="0"/>
              </a:spcAft>
              <a:buSzPts val="2200"/>
              <a:buFont typeface="Arial"/>
              <a:buChar char="•"/>
            </a:pPr>
            <a:r>
              <a:rPr lang="en-US" sz="1800"/>
              <a:t>Tối ưu hóa chuyên biệt cho tầng nạp lệnh: lược bỏ Snoop Controller, AMO ALU, MOESI Memory</a:t>
            </a:r>
            <a:endParaRPr/>
          </a:p>
          <a:p>
            <a:pPr indent="-285750" lvl="0" marL="374650" rtl="0" algn="just">
              <a:lnSpc>
                <a:spcPct val="115000"/>
              </a:lnSpc>
              <a:spcBef>
                <a:spcPts val="0"/>
              </a:spcBef>
              <a:spcAft>
                <a:spcPts val="0"/>
              </a:spcAft>
              <a:buSzPts val="2200"/>
              <a:buFont typeface="Arial"/>
              <a:buChar char="•"/>
            </a:pPr>
            <a:r>
              <a:rPr lang="en-US" sz="1800"/>
              <a:t>Tag RAM chỉ lưu Valid bit (thay vì 3-bit MOESI) → tiết kiệm diện tích</a:t>
            </a:r>
            <a:endParaRPr sz="1800"/>
          </a:p>
          <a:p>
            <a:pPr indent="-285750" lvl="0" marL="374650" rtl="0" algn="just">
              <a:lnSpc>
                <a:spcPct val="115000"/>
              </a:lnSpc>
              <a:spcBef>
                <a:spcPts val="0"/>
              </a:spcBef>
              <a:spcAft>
                <a:spcPts val="0"/>
              </a:spcAft>
              <a:buSzPts val="2200"/>
              <a:buFont typeface="Arial"/>
              <a:buChar char="•"/>
            </a:pPr>
            <a:r>
              <a:rPr lang="en-US" sz="1800"/>
              <a:t>Khi Miss: Controller (FSM 5 trạng thái) xin Bus → chờ → ghi vào Refill Buffer → Update SRAM</a:t>
            </a:r>
            <a:endParaRPr/>
          </a:p>
          <a:p>
            <a:pPr indent="-285750" lvl="0" marL="374650" rtl="0" algn="just">
              <a:lnSpc>
                <a:spcPct val="115000"/>
              </a:lnSpc>
              <a:spcBef>
                <a:spcPts val="0"/>
              </a:spcBef>
              <a:spcAft>
                <a:spcPts val="0"/>
              </a:spcAft>
              <a:buSzPts val="2200"/>
              <a:buFont typeface="Arial"/>
              <a:buChar char="•"/>
            </a:pPr>
            <a:r>
              <a:rPr lang="en-US" sz="1800"/>
              <a:t>Global Stall: I-Cache khóa pipeline từ 3 nguồn độc lập: Cache Miss cục bộ · CPU (Control Hazard) · D-Cache bận (đồng bộ nhịp toàn hệ thống)</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a:t>
            </a:r>
            <a:endParaRPr/>
          </a:p>
        </p:txBody>
      </p:sp>
      <p:sp>
        <p:nvSpPr>
          <p:cNvPr id="417" name="Google Shape;417;p1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18" name="Google Shape;418;p1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19" name="Google Shape;419;p15"/>
          <p:cNvPicPr preferRelativeResize="0"/>
          <p:nvPr/>
        </p:nvPicPr>
        <p:blipFill rotWithShape="1">
          <a:blip r:embed="rId3">
            <a:alphaModFix/>
          </a:blip>
          <a:srcRect b="0" l="0" r="0" t="0"/>
          <a:stretch/>
        </p:blipFill>
        <p:spPr>
          <a:xfrm>
            <a:off x="6577781" y="1570589"/>
            <a:ext cx="5368413" cy="4160059"/>
          </a:xfrm>
          <a:prstGeom prst="rect">
            <a:avLst/>
          </a:prstGeom>
          <a:noFill/>
          <a:ln>
            <a:noFill/>
          </a:ln>
        </p:spPr>
      </p:pic>
      <p:sp>
        <p:nvSpPr>
          <p:cNvPr id="420" name="Google Shape;420;p15"/>
          <p:cNvSpPr txBox="1"/>
          <p:nvPr>
            <p:ph idx="1" type="body"/>
          </p:nvPr>
        </p:nvSpPr>
        <p:spPr>
          <a:xfrm>
            <a:off x="518749" y="2063500"/>
            <a:ext cx="6059032" cy="4293000"/>
          </a:xfrm>
          <a:prstGeom prst="rect">
            <a:avLst/>
          </a:prstGeom>
          <a:noFill/>
          <a:ln>
            <a:noFill/>
          </a:ln>
        </p:spPr>
        <p:txBody>
          <a:bodyPr anchorCtr="0" anchor="t" bIns="45700" lIns="91425" spcFirstLastPara="1" rIns="91425" wrap="square" tIns="45700">
            <a:noAutofit/>
          </a:bodyPr>
          <a:lstStyle/>
          <a:p>
            <a:pPr indent="0" lvl="0" marL="88900" rtl="0" algn="just">
              <a:lnSpc>
                <a:spcPct val="115000"/>
              </a:lnSpc>
              <a:spcBef>
                <a:spcPts val="0"/>
              </a:spcBef>
              <a:spcAft>
                <a:spcPts val="0"/>
              </a:spcAft>
              <a:buSzPts val="2200"/>
              <a:buNone/>
            </a:pPr>
            <a:r>
              <a:rPr b="1" lang="en-US" sz="1800"/>
              <a:t>Vi kiến trúc L2 Cache – 4-Way SA · 64-Set · AXI4 Full:</a:t>
            </a:r>
            <a:endParaRPr/>
          </a:p>
          <a:p>
            <a:pPr indent="-285750" lvl="0" marL="374650" rtl="0" algn="just">
              <a:lnSpc>
                <a:spcPct val="115000"/>
              </a:lnSpc>
              <a:spcBef>
                <a:spcPts val="0"/>
              </a:spcBef>
              <a:spcAft>
                <a:spcPts val="0"/>
              </a:spcAft>
              <a:buSzPts val="2200"/>
              <a:buFont typeface="Arial"/>
              <a:buChar char="•"/>
            </a:pPr>
            <a:r>
              <a:rPr lang="en-US" sz="1800"/>
              <a:t>Bộ nhớ đệm dùng chung cho cả 2 lõi: 16KB, 4-Way SA, 64 Sets, Cache Line 64B</a:t>
            </a:r>
            <a:endParaRPr/>
          </a:p>
          <a:p>
            <a:pPr indent="-285750" lvl="0" marL="374650" rtl="0" algn="just">
              <a:lnSpc>
                <a:spcPct val="115000"/>
              </a:lnSpc>
              <a:spcBef>
                <a:spcPts val="0"/>
              </a:spcBef>
              <a:spcAft>
                <a:spcPts val="0"/>
              </a:spcAft>
              <a:buSzPts val="2200"/>
              <a:buFont typeface="Arial"/>
              <a:buChar char="•"/>
            </a:pPr>
            <a:r>
              <a:rPr lang="en-US" sz="1800"/>
              <a:t>Valid/Dirty bit dùng Flip-Flop độc lập (thay vì SRAM) → giảm độ trễ so sánh</a:t>
            </a:r>
            <a:endParaRPr sz="1800"/>
          </a:p>
          <a:p>
            <a:pPr indent="-285750" lvl="0" marL="374650" rtl="0" algn="just">
              <a:lnSpc>
                <a:spcPct val="115000"/>
              </a:lnSpc>
              <a:spcBef>
                <a:spcPts val="0"/>
              </a:spcBef>
              <a:spcAft>
                <a:spcPts val="0"/>
              </a:spcAft>
              <a:buSzPts val="2200"/>
              <a:buFont typeface="Arial"/>
              <a:buChar char="•"/>
            </a:pPr>
            <a:r>
              <a:rPr lang="en-US" sz="1800"/>
              <a:t>AXI4 Full Burst Controller: tự động tính độ dài Burst từ Cache Line size; địa chỉ Write-back trích thẳng từ Tag của Victim Way</a:t>
            </a:r>
            <a:endParaRPr/>
          </a:p>
          <a:p>
            <a:pPr indent="-285750" lvl="0" marL="374650" rtl="0" algn="just">
              <a:lnSpc>
                <a:spcPct val="115000"/>
              </a:lnSpc>
              <a:spcBef>
                <a:spcPts val="0"/>
              </a:spcBef>
              <a:spcAft>
                <a:spcPts val="0"/>
              </a:spcAft>
              <a:buSzPts val="2200"/>
              <a:buFont typeface="Arial"/>
              <a:buChar char="•"/>
            </a:pPr>
            <a:r>
              <a:rPr lang="en-US" sz="1800"/>
              <a:t>5 kênh AXI4: AW (Write Address) · W (Write Data) · B (Write Response) · AR (Read Address) · R (Read Data)</a:t>
            </a:r>
            <a:endParaRPr/>
          </a:p>
          <a:p>
            <a:pPr indent="-285750" lvl="0" marL="374650" rtl="0" algn="just">
              <a:lnSpc>
                <a:spcPct val="115000"/>
              </a:lnSpc>
              <a:spcBef>
                <a:spcPts val="0"/>
              </a:spcBef>
              <a:spcAft>
                <a:spcPts val="0"/>
              </a:spcAft>
              <a:buSzPts val="2200"/>
              <a:buFont typeface="Arial"/>
              <a:buChar char="•"/>
            </a:pPr>
            <a:r>
              <a:rPr lang="en-US" sz="1800"/>
              <a:t>FSM 9 trạng thái đảm bảo đúng quy tắc handshake AXI4</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txBox="1"/>
          <p:nvPr>
            <p:ph type="title"/>
          </p:nvPr>
        </p:nvSpPr>
        <p:spPr>
          <a:xfrm>
            <a:off x="606000" y="72391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26" name="Google Shape;426;p34"/>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27" name="Google Shape;427;p34"/>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28" name="Google Shape;428;p34"/>
          <p:cNvSpPr txBox="1"/>
          <p:nvPr>
            <p:ph idx="1" type="body"/>
          </p:nvPr>
        </p:nvSpPr>
        <p:spPr>
          <a:xfrm>
            <a:off x="3468274" y="928097"/>
            <a:ext cx="6151975" cy="550733"/>
          </a:xfrm>
          <a:prstGeom prst="rect">
            <a:avLst/>
          </a:prstGeom>
          <a:noFill/>
          <a:ln>
            <a:noFill/>
          </a:ln>
        </p:spPr>
        <p:txBody>
          <a:bodyPr anchorCtr="0" anchor="t" bIns="45700" lIns="91425" spcFirstLastPara="1" rIns="91425" wrap="square" tIns="45700">
            <a:noAutofit/>
          </a:bodyPr>
          <a:lstStyle/>
          <a:p>
            <a:pPr indent="-368300" lvl="0" marL="457200" rtl="0" algn="just">
              <a:lnSpc>
                <a:spcPct val="115000"/>
              </a:lnSpc>
              <a:spcBef>
                <a:spcPts val="0"/>
              </a:spcBef>
              <a:spcAft>
                <a:spcPts val="0"/>
              </a:spcAft>
              <a:buSzPts val="2200"/>
              <a:buFont typeface="Arial"/>
              <a:buChar char="•"/>
            </a:pPr>
            <a:r>
              <a:rPr lang="en-US" sz="2400"/>
              <a:t>Testcase 1: Mutex Lock bằng LR/SC</a:t>
            </a:r>
            <a:endParaRPr sz="2200"/>
          </a:p>
        </p:txBody>
      </p:sp>
      <p:pic>
        <p:nvPicPr>
          <p:cNvPr id="429" name="Google Shape;429;p34"/>
          <p:cNvPicPr preferRelativeResize="0"/>
          <p:nvPr/>
        </p:nvPicPr>
        <p:blipFill rotWithShape="1">
          <a:blip r:embed="rId3">
            <a:alphaModFix/>
          </a:blip>
          <a:srcRect b="0" l="0" r="0" t="0"/>
          <a:stretch/>
        </p:blipFill>
        <p:spPr>
          <a:xfrm>
            <a:off x="2468898" y="1478830"/>
            <a:ext cx="8211802" cy="49245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5"/>
          <p:cNvSpPr txBox="1"/>
          <p:nvPr>
            <p:ph type="title"/>
          </p:nvPr>
        </p:nvSpPr>
        <p:spPr>
          <a:xfrm>
            <a:off x="606000" y="72391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35" name="Google Shape;435;p35"/>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36" name="Google Shape;436;p35"/>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37" name="Google Shape;437;p35"/>
          <p:cNvPicPr preferRelativeResize="0"/>
          <p:nvPr/>
        </p:nvPicPr>
        <p:blipFill rotWithShape="1">
          <a:blip r:embed="rId3">
            <a:alphaModFix/>
          </a:blip>
          <a:srcRect b="0" l="0" r="0" t="0"/>
          <a:stretch/>
        </p:blipFill>
        <p:spPr>
          <a:xfrm>
            <a:off x="3735847" y="1073151"/>
            <a:ext cx="4963653" cy="5378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6"/>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43" name="Google Shape;443;p36"/>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44" name="Google Shape;444;p36"/>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45" name="Google Shape;445;p36"/>
          <p:cNvSpPr txBox="1"/>
          <p:nvPr>
            <p:ph idx="1" type="body"/>
          </p:nvPr>
        </p:nvSpPr>
        <p:spPr>
          <a:xfrm>
            <a:off x="547276" y="2063350"/>
            <a:ext cx="5775689" cy="4293000"/>
          </a:xfrm>
          <a:prstGeom prst="rect">
            <a:avLst/>
          </a:prstGeom>
          <a:noFill/>
          <a:ln>
            <a:noFill/>
          </a:ln>
        </p:spPr>
        <p:txBody>
          <a:bodyPr anchorCtr="0" anchor="t" bIns="45700" lIns="91425" spcFirstLastPara="1" rIns="91425" wrap="square" tIns="45700">
            <a:noAutofit/>
          </a:bodyPr>
          <a:lstStyle/>
          <a:p>
            <a:pPr indent="-342900" lvl="0" marL="457200" rtl="0" algn="just">
              <a:lnSpc>
                <a:spcPct val="130000"/>
              </a:lnSpc>
              <a:spcBef>
                <a:spcPts val="300"/>
              </a:spcBef>
              <a:spcAft>
                <a:spcPts val="0"/>
              </a:spcAft>
              <a:buSzPts val="1800"/>
              <a:buFont typeface="Arial"/>
              <a:buChar char="•"/>
            </a:pPr>
            <a:r>
              <a:rPr lang="en-US" sz="1800"/>
              <a:t>Tần số hoạt động mục tiêu (Constraint): 100 MHz (với WNS = +1,428 ns)</a:t>
            </a:r>
            <a:endParaRPr sz="1800"/>
          </a:p>
          <a:p>
            <a:pPr indent="-342900" lvl="0" marL="457200" rtl="0" algn="just">
              <a:spcBef>
                <a:spcPts val="300"/>
              </a:spcBef>
              <a:spcAft>
                <a:spcPts val="0"/>
              </a:spcAft>
              <a:buSzPts val="1800"/>
              <a:buChar char="•"/>
            </a:pPr>
            <a:r>
              <a:rPr lang="en-US" sz="1800"/>
              <a:t>T</a:t>
            </a:r>
            <a:r>
              <a:rPr lang="en-US" sz="1800"/>
              <a:t>ần số hoạt động tối đa lý thuyết (Max Frequency): 116 MHz (ước tính từ độ dư thời gian slack dương)</a:t>
            </a:r>
            <a:endParaRPr sz="1800"/>
          </a:p>
          <a:p>
            <a:pPr indent="-342900" lvl="0" marL="457200" rtl="0" algn="just">
              <a:lnSpc>
                <a:spcPct val="130000"/>
              </a:lnSpc>
              <a:spcBef>
                <a:spcPts val="300"/>
              </a:spcBef>
              <a:spcAft>
                <a:spcPts val="0"/>
              </a:spcAft>
              <a:buSzPts val="1800"/>
              <a:buFont typeface="Arial"/>
              <a:buChar char="•"/>
            </a:pPr>
            <a:r>
              <a:rPr lang="en-US" sz="1800"/>
              <a:t>LUT: 43.516 (15,88%) - 2 lõi mỗi lõi ~16.000 LUT; L2 Cache 9.183 LUT; Coherence chỉ 1.363 LUT</a:t>
            </a:r>
            <a:endParaRPr sz="1800"/>
          </a:p>
          <a:p>
            <a:pPr indent="-342900" lvl="0" marL="457200" rtl="0" algn="just">
              <a:lnSpc>
                <a:spcPct val="130000"/>
              </a:lnSpc>
              <a:spcBef>
                <a:spcPts val="300"/>
              </a:spcBef>
              <a:spcAft>
                <a:spcPts val="0"/>
              </a:spcAft>
              <a:buSzPts val="1800"/>
              <a:buFont typeface="Arial"/>
              <a:buChar char="•"/>
            </a:pPr>
            <a:r>
              <a:rPr lang="en-US" sz="1800"/>
              <a:t>FF: 24.248 (4,42%) - LUTRAM: 16.824 (11,68%)</a:t>
            </a:r>
            <a:endParaRPr sz="1800"/>
          </a:p>
          <a:p>
            <a:pPr indent="-342900" lvl="0" marL="457200" rtl="0" algn="just">
              <a:lnSpc>
                <a:spcPct val="130000"/>
              </a:lnSpc>
              <a:spcBef>
                <a:spcPts val="300"/>
              </a:spcBef>
              <a:spcAft>
                <a:spcPts val="0"/>
              </a:spcAft>
              <a:buSzPts val="1800"/>
              <a:buFont typeface="Arial"/>
              <a:buChar char="•"/>
            </a:pPr>
            <a:r>
              <a:rPr lang="en-US" sz="1800"/>
              <a:t>Tổng công suất: 0,967 W</a:t>
            </a:r>
            <a:endParaRPr sz="1800"/>
          </a:p>
          <a:p>
            <a:pPr indent="-342900" lvl="0" marL="457200" rtl="0" algn="just">
              <a:lnSpc>
                <a:spcPct val="130000"/>
              </a:lnSpc>
              <a:spcBef>
                <a:spcPts val="300"/>
              </a:spcBef>
              <a:spcAft>
                <a:spcPts val="0"/>
              </a:spcAft>
              <a:buSzPts val="1800"/>
              <a:buFont typeface="Arial"/>
              <a:buChar char="•"/>
            </a:pPr>
            <a:r>
              <a:rPr lang="en-US" sz="1800"/>
              <a:t>Nhiệt độ Junction: 25,9 °C</a:t>
            </a:r>
            <a:endParaRPr sz="1800"/>
          </a:p>
        </p:txBody>
      </p:sp>
      <p:pic>
        <p:nvPicPr>
          <p:cNvPr id="446" name="Google Shape;446;p36"/>
          <p:cNvPicPr preferRelativeResize="0"/>
          <p:nvPr/>
        </p:nvPicPr>
        <p:blipFill rotWithShape="1">
          <a:blip r:embed="rId3">
            <a:alphaModFix/>
          </a:blip>
          <a:srcRect b="0" l="0" r="0" t="0"/>
          <a:stretch/>
        </p:blipFill>
        <p:spPr>
          <a:xfrm>
            <a:off x="6322975" y="1770925"/>
            <a:ext cx="5603701" cy="1157475"/>
          </a:xfrm>
          <a:prstGeom prst="rect">
            <a:avLst/>
          </a:prstGeom>
          <a:noFill/>
          <a:ln>
            <a:noFill/>
          </a:ln>
        </p:spPr>
      </p:pic>
      <p:pic>
        <p:nvPicPr>
          <p:cNvPr id="447" name="Google Shape;447;p36"/>
          <p:cNvPicPr preferRelativeResize="0"/>
          <p:nvPr/>
        </p:nvPicPr>
        <p:blipFill rotWithShape="1">
          <a:blip r:embed="rId4">
            <a:alphaModFix/>
          </a:blip>
          <a:srcRect b="0" l="0" r="0" t="0"/>
          <a:stretch/>
        </p:blipFill>
        <p:spPr>
          <a:xfrm>
            <a:off x="7575908" y="2928395"/>
            <a:ext cx="2847036" cy="33905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7"/>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53" name="Google Shape;453;p37"/>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54" name="Google Shape;454;p37"/>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aphicFrame>
        <p:nvGraphicFramePr>
          <p:cNvPr id="455" name="Google Shape;455;p37"/>
          <p:cNvGraphicFramePr/>
          <p:nvPr/>
        </p:nvGraphicFramePr>
        <p:xfrm>
          <a:off x="1083493" y="1927470"/>
          <a:ext cx="3000000" cy="3000000"/>
        </p:xfrm>
        <a:graphic>
          <a:graphicData uri="http://schemas.openxmlformats.org/drawingml/2006/table">
            <a:tbl>
              <a:tblPr bandRow="1" firstRow="1">
                <a:noFill/>
                <a:tableStyleId>{B5815456-44F8-4D1A-AE71-F7906A878445}</a:tableStyleId>
              </a:tblPr>
              <a:tblGrid>
                <a:gridCol w="1995525"/>
                <a:gridCol w="1694975"/>
                <a:gridCol w="1462075"/>
                <a:gridCol w="1694975"/>
                <a:gridCol w="1694975"/>
                <a:gridCol w="1606925"/>
              </a:tblGrid>
              <a:tr h="656425">
                <a:tc>
                  <a:txBody>
                    <a:bodyPr/>
                    <a:lstStyle/>
                    <a:p>
                      <a:pPr indent="0" lvl="0" marL="0" marR="0" rtl="0" algn="ctr">
                        <a:lnSpc>
                          <a:spcPct val="100000"/>
                        </a:lnSpc>
                        <a:spcBef>
                          <a:spcPts val="0"/>
                        </a:spcBef>
                        <a:spcAft>
                          <a:spcPts val="0"/>
                        </a:spcAft>
                        <a:buNone/>
                      </a:pPr>
                      <a:r>
                        <a:rPr lang="en-US" sz="1600"/>
                        <a:t>Yếu tố so sánh</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Khóa luận này</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N.Q.T. An [1]</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T.T.H. Nam [3]</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E. Humblet [20]</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X. Guo [21] </a:t>
                      </a:r>
                      <a:endParaRPr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u="none" cap="none" strike="noStrike"/>
                        <a:t>Kiến trúc tập lệnh</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RV32IA</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RV32I</a:t>
                      </a:r>
                      <a:endParaRPr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u="none" cap="none" strike="noStrike"/>
                        <a:t>RV32IMF</a:t>
                      </a:r>
                      <a:endParaRPr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a:t>RV64V</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b="1" lang="en-US" sz="1600"/>
                        <a:t>RV64GC</a:t>
                      </a:r>
                      <a:endParaRPr b="1" sz="1600" u="none" cap="none" strike="noStrike"/>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u="none" cap="none" strike="noStrike"/>
                        <a:t>Dự đoán rẽ nhánh</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b="1" lang="en-US" sz="1600"/>
                        <a:t>Dự đoán động</a:t>
                      </a:r>
                      <a:endParaRPr b="1"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a:t>N/A</a:t>
                      </a:r>
                      <a:endParaRPr sz="1600" u="none" cap="none" strike="noStrike"/>
                    </a:p>
                  </a:txBody>
                  <a:tcPr marT="45725" marB="45725" marR="91450" marL="91450" anchor="ctr"/>
                </a:tc>
                <a:tc>
                  <a:txBody>
                    <a:bodyPr/>
                    <a:lstStyle/>
                    <a:p>
                      <a:pPr indent="0" lvl="0" marL="0" rtl="0" algn="ctr">
                        <a:spcBef>
                          <a:spcPts val="0"/>
                        </a:spcBef>
                        <a:spcAft>
                          <a:spcPts val="0"/>
                        </a:spcAft>
                        <a:buNone/>
                      </a:pPr>
                      <a:r>
                        <a:rPr b="1" lang="en-US" sz="1600"/>
                        <a:t>Dự đoán động</a:t>
                      </a:r>
                      <a:endParaRPr b="1" sz="1600"/>
                    </a:p>
                  </a:txBody>
                  <a:tcPr marT="45725" marB="45725" marR="91450" marL="91450" anchor="ctr"/>
                </a:tc>
                <a:tc>
                  <a:txBody>
                    <a:bodyPr/>
                    <a:lstStyle/>
                    <a:p>
                      <a:pPr indent="0" lvl="0" marL="0" rtl="0" algn="ctr">
                        <a:spcBef>
                          <a:spcPts val="0"/>
                        </a:spcBef>
                        <a:spcAft>
                          <a:spcPts val="0"/>
                        </a:spcAft>
                        <a:buNone/>
                      </a:pPr>
                      <a:r>
                        <a:rPr b="1" lang="en-US" sz="1600"/>
                        <a:t>Dự đoán động</a:t>
                      </a:r>
                      <a:endParaRPr b="1" sz="1600"/>
                    </a:p>
                  </a:txBody>
                  <a:tcPr marT="45725" marB="45725" marR="91450" marL="91450" anchor="ctr"/>
                </a:tc>
                <a:tc>
                  <a:txBody>
                    <a:bodyPr/>
                    <a:lstStyle/>
                    <a:p>
                      <a:pPr indent="0" lvl="0" marL="0" rtl="0" algn="l">
                        <a:spcBef>
                          <a:spcPts val="0"/>
                        </a:spcBef>
                        <a:spcAft>
                          <a:spcPts val="0"/>
                        </a:spcAft>
                        <a:buNone/>
                      </a:pPr>
                      <a:r>
                        <a:rPr b="1" lang="en-US" sz="1600"/>
                        <a:t>Dự đoán động</a:t>
                      </a:r>
                      <a:endParaRPr b="1" sz="1600"/>
                    </a:p>
                  </a:txBody>
                  <a:tcPr marT="45725" marB="45725" marR="91450" marL="91450" anchor="ctr"/>
                </a:tc>
              </a:tr>
              <a:tr h="603250">
                <a:tc>
                  <a:txBody>
                    <a:bodyPr/>
                    <a:lstStyle/>
                    <a:p>
                      <a:pPr indent="0" lvl="0" marL="0" marR="0" rtl="0" algn="ctr">
                        <a:lnSpc>
                          <a:spcPct val="100000"/>
                        </a:lnSpc>
                        <a:spcBef>
                          <a:spcPts val="0"/>
                        </a:spcBef>
                        <a:spcAft>
                          <a:spcPts val="0"/>
                        </a:spcAft>
                        <a:buNone/>
                      </a:pPr>
                      <a:r>
                        <a:rPr lang="en-US" sz="1600" u="none" cap="none" strike="noStrike"/>
                        <a:t>Kiến trúc Cache</a:t>
                      </a:r>
                      <a:endParaRPr sz="1600"/>
                    </a:p>
                  </a:txBody>
                  <a:tcPr marT="45725" marB="45725" marR="91450" marL="91450" anchor="ctr"/>
                </a:tc>
                <a:tc>
                  <a:txBody>
                    <a:bodyPr/>
                    <a:lstStyle/>
                    <a:p>
                      <a:pPr indent="0" lvl="0" marL="0" rtl="0" algn="ctr">
                        <a:spcBef>
                          <a:spcPts val="0"/>
                        </a:spcBef>
                        <a:spcAft>
                          <a:spcPts val="0"/>
                        </a:spcAft>
                        <a:buNone/>
                      </a:pPr>
                      <a:r>
                        <a:rPr b="1" lang="en-US" sz="1600"/>
                        <a:t>4-Way Set Associative</a:t>
                      </a:r>
                      <a:endParaRPr b="1" sz="1600"/>
                    </a:p>
                  </a:txBody>
                  <a:tcPr marT="45725" marB="45725" marR="91450" marL="91450" anchor="ctr"/>
                </a:tc>
                <a:tc>
                  <a:txBody>
                    <a:bodyPr/>
                    <a:lstStyle/>
                    <a:p>
                      <a:pPr indent="0" lvl="0" marL="0" rtl="0" algn="ctr">
                        <a:spcBef>
                          <a:spcPts val="0"/>
                        </a:spcBef>
                        <a:spcAft>
                          <a:spcPts val="0"/>
                        </a:spcAft>
                        <a:buNone/>
                      </a:pPr>
                      <a:r>
                        <a:rPr b="1" lang="en-US" sz="1600"/>
                        <a:t>4-Way Set Associative</a:t>
                      </a:r>
                      <a:endParaRPr b="1" sz="1600"/>
                    </a:p>
                  </a:txBody>
                  <a:tcPr marT="45725" marB="45725" marR="91450" marL="91450" anchor="ctr"/>
                </a:tc>
                <a:tc>
                  <a:txBody>
                    <a:bodyPr/>
                    <a:lstStyle/>
                    <a:p>
                      <a:pPr indent="0" lvl="0" marL="0" rtl="0" algn="ctr">
                        <a:spcBef>
                          <a:spcPts val="0"/>
                        </a:spcBef>
                        <a:spcAft>
                          <a:spcPts val="0"/>
                        </a:spcAft>
                        <a:buNone/>
                      </a:pPr>
                      <a:r>
                        <a:rPr b="1" lang="en-US" sz="1600"/>
                        <a:t>4-Way Set Associative</a:t>
                      </a:r>
                      <a:endParaRPr b="1" sz="1600"/>
                    </a:p>
                  </a:txBody>
                  <a:tcPr marT="45725" marB="45725" marR="91450" marL="91450" anchor="ctr"/>
                </a:tc>
                <a:tc>
                  <a:txBody>
                    <a:bodyPr/>
                    <a:lstStyle/>
                    <a:p>
                      <a:pPr indent="0" lvl="0" marL="0" rtl="0" algn="ctr">
                        <a:spcBef>
                          <a:spcPts val="0"/>
                        </a:spcBef>
                        <a:spcAft>
                          <a:spcPts val="0"/>
                        </a:spcAft>
                        <a:buNone/>
                      </a:pPr>
                      <a:r>
                        <a:rPr b="1" lang="en-US" sz="1600"/>
                        <a:t>4-Way Set Associative</a:t>
                      </a:r>
                      <a:endParaRPr b="1" sz="1600"/>
                    </a:p>
                  </a:txBody>
                  <a:tcPr marT="45725" marB="45725" marR="91450" marL="91450" anchor="ctr"/>
                </a:tc>
                <a:tc>
                  <a:txBody>
                    <a:bodyPr/>
                    <a:lstStyle/>
                    <a:p>
                      <a:pPr indent="0" lvl="0" marL="0" rtl="0" algn="ctr">
                        <a:spcBef>
                          <a:spcPts val="0"/>
                        </a:spcBef>
                        <a:spcAft>
                          <a:spcPts val="0"/>
                        </a:spcAft>
                        <a:buNone/>
                      </a:pPr>
                      <a:r>
                        <a:rPr b="1" lang="en-US" sz="1600"/>
                        <a:t>4-Way Set Associative</a:t>
                      </a:r>
                      <a:endParaRPr b="1"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a:t>Chính sách</a:t>
                      </a:r>
                      <a:r>
                        <a:rPr lang="en-US" sz="1600" u="none" cap="none" strike="noStrike"/>
                        <a:t> thay thế</a:t>
                      </a:r>
                      <a:endParaRPr sz="1600" u="none" cap="none" strike="noStrike"/>
                    </a:p>
                  </a:txBody>
                  <a:tcPr marT="45725" marB="45725" marR="91450" marL="91450" anchor="ctr"/>
                </a:tc>
                <a:tc>
                  <a:txBody>
                    <a:bodyPr/>
                    <a:lstStyle/>
                    <a:p>
                      <a:pPr indent="0" lvl="0" marL="0" rtl="0" algn="ctr">
                        <a:spcBef>
                          <a:spcPts val="0"/>
                        </a:spcBef>
                        <a:spcAft>
                          <a:spcPts val="0"/>
                        </a:spcAft>
                        <a:buNone/>
                      </a:pPr>
                      <a:r>
                        <a:rPr b="1" lang="en-US" sz="1600"/>
                        <a:t>PLRUt</a:t>
                      </a:r>
                      <a:endParaRPr b="1" sz="1600"/>
                    </a:p>
                  </a:txBody>
                  <a:tcPr marT="45725" marB="45725" marR="91450" marL="91450" anchor="ctr"/>
                </a:tc>
                <a:tc>
                  <a:txBody>
                    <a:bodyPr/>
                    <a:lstStyle/>
                    <a:p>
                      <a:pPr indent="0" lvl="0" marL="0" rtl="0" algn="ctr">
                        <a:spcBef>
                          <a:spcPts val="0"/>
                        </a:spcBef>
                        <a:spcAft>
                          <a:spcPts val="0"/>
                        </a:spcAft>
                        <a:buNone/>
                      </a:pPr>
                      <a:r>
                        <a:rPr b="1" lang="en-US" sz="1600"/>
                        <a:t>PLRUt</a:t>
                      </a:r>
                      <a:endParaRPr b="1" sz="1600"/>
                    </a:p>
                  </a:txBody>
                  <a:tcPr marT="45725" marB="45725" marR="91450" marL="91450" anchor="ctr"/>
                </a:tc>
                <a:tc>
                  <a:txBody>
                    <a:bodyPr/>
                    <a:lstStyle/>
                    <a:p>
                      <a:pPr indent="0" lvl="0" marL="0" rtl="0" algn="ctr">
                        <a:spcBef>
                          <a:spcPts val="0"/>
                        </a:spcBef>
                        <a:spcAft>
                          <a:spcPts val="0"/>
                        </a:spcAft>
                        <a:buNone/>
                      </a:pPr>
                      <a:r>
                        <a:rPr b="1" lang="en-US" sz="1600"/>
                        <a:t>PLRUt</a:t>
                      </a:r>
                      <a:endParaRPr b="1" sz="1600"/>
                    </a:p>
                  </a:txBody>
                  <a:tcPr marT="45725" marB="45725" marR="91450" marL="91450" anchor="ctr"/>
                </a:tc>
                <a:tc>
                  <a:txBody>
                    <a:bodyPr/>
                    <a:lstStyle/>
                    <a:p>
                      <a:pPr indent="0" lvl="0" marL="0" rtl="0" algn="ctr">
                        <a:spcBef>
                          <a:spcPts val="0"/>
                        </a:spcBef>
                        <a:spcAft>
                          <a:spcPts val="0"/>
                        </a:spcAft>
                        <a:buNone/>
                      </a:pPr>
                      <a:r>
                        <a:rPr lang="en-US" sz="1600"/>
                        <a:t>N/A</a:t>
                      </a:r>
                      <a:endParaRPr sz="1600"/>
                    </a:p>
                  </a:txBody>
                  <a:tcPr marT="45725" marB="45725" marR="91450" marL="91450" anchor="ctr"/>
                </a:tc>
                <a:tc>
                  <a:txBody>
                    <a:bodyPr/>
                    <a:lstStyle/>
                    <a:p>
                      <a:pPr indent="0" lvl="0" marL="0" rtl="0" algn="ctr">
                        <a:spcBef>
                          <a:spcPts val="0"/>
                        </a:spcBef>
                        <a:spcAft>
                          <a:spcPts val="0"/>
                        </a:spcAft>
                        <a:buNone/>
                      </a:pPr>
                      <a:r>
                        <a:rPr b="1" lang="en-US" sz="1600"/>
                        <a:t>PLRUt</a:t>
                      </a:r>
                      <a:endParaRPr b="1"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u="none" cap="none" strike="noStrike"/>
                        <a:t>Đồng bộ Cache</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b="1" lang="en-US" sz="1600" u="none" cap="none" strike="noStrike"/>
                        <a:t>MOESI</a:t>
                      </a:r>
                      <a:endParaRPr b="1" sz="1600"/>
                    </a:p>
                  </a:txBody>
                  <a:tcPr marT="45725" marB="45725" marR="91450" marL="91450" anchor="ctr"/>
                </a:tc>
                <a:tc>
                  <a:txBody>
                    <a:bodyPr/>
                    <a:lstStyle/>
                    <a:p>
                      <a:pPr indent="0" lvl="0" marL="0" marR="0" rtl="0" algn="ctr">
                        <a:lnSpc>
                          <a:spcPct val="100000"/>
                        </a:lnSpc>
                        <a:spcBef>
                          <a:spcPts val="0"/>
                        </a:spcBef>
                        <a:spcAft>
                          <a:spcPts val="0"/>
                        </a:spcAft>
                        <a:buNone/>
                      </a:pPr>
                      <a:r>
                        <a:rPr b="1" lang="en-US" sz="1600" u="none" cap="none" strike="noStrike"/>
                        <a:t>MOESI</a:t>
                      </a:r>
                      <a:endParaRPr b="1"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N/A</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MESI</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MESI</a:t>
                      </a:r>
                      <a:endParaRPr sz="1600" u="none" cap="none" strike="noStrike"/>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u="none" cap="none" strike="noStrike"/>
                        <a:t>Số </a:t>
                      </a:r>
                      <a:r>
                        <a:rPr lang="en-US" sz="1600"/>
                        <a:t>lượng vi xử lý</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2-</a:t>
                      </a:r>
                      <a:r>
                        <a:rPr lang="en-US" sz="1600"/>
                        <a:t>Core</a:t>
                      </a:r>
                      <a:endParaRPr sz="1600"/>
                    </a:p>
                  </a:txBody>
                  <a:tcPr marT="45725" marB="45725" marR="91450" marL="91450" anchor="ctr"/>
                </a:tc>
                <a:tc>
                  <a:txBody>
                    <a:bodyPr/>
                    <a:lstStyle/>
                    <a:p>
                      <a:pPr indent="0" lvl="0" marL="0" rtl="0" algn="ctr">
                        <a:spcBef>
                          <a:spcPts val="0"/>
                        </a:spcBef>
                        <a:spcAft>
                          <a:spcPts val="0"/>
                        </a:spcAft>
                        <a:buNone/>
                      </a:pPr>
                      <a:r>
                        <a:rPr lang="en-US" sz="1600"/>
                        <a:t>2-Core</a:t>
                      </a:r>
                      <a:endParaRPr sz="1600"/>
                    </a:p>
                  </a:txBody>
                  <a:tcPr marT="45725" marB="45725" marR="91450" marL="91450" anchor="ctr"/>
                </a:tc>
                <a:tc>
                  <a:txBody>
                    <a:bodyPr/>
                    <a:lstStyle/>
                    <a:p>
                      <a:pPr indent="0" lvl="0" marL="0" rtl="0" algn="ctr">
                        <a:spcBef>
                          <a:spcPts val="0"/>
                        </a:spcBef>
                        <a:spcAft>
                          <a:spcPts val="0"/>
                        </a:spcAft>
                        <a:buNone/>
                      </a:pPr>
                      <a:r>
                        <a:rPr b="1" lang="en-US" sz="1600"/>
                        <a:t>8-Core</a:t>
                      </a:r>
                      <a:endParaRPr b="1" sz="1600"/>
                    </a:p>
                  </a:txBody>
                  <a:tcPr marT="45725" marB="45725" marR="91450" marL="91450" anchor="ctr"/>
                </a:tc>
                <a:tc>
                  <a:txBody>
                    <a:bodyPr/>
                    <a:lstStyle/>
                    <a:p>
                      <a:pPr indent="0" lvl="0" marL="0" rtl="0" algn="ctr">
                        <a:spcBef>
                          <a:spcPts val="0"/>
                        </a:spcBef>
                        <a:spcAft>
                          <a:spcPts val="0"/>
                        </a:spcAft>
                        <a:buNone/>
                      </a:pPr>
                      <a:r>
                        <a:rPr lang="en-US" sz="1600"/>
                        <a:t>4-Core</a:t>
                      </a:r>
                      <a:endParaRPr sz="1600"/>
                    </a:p>
                  </a:txBody>
                  <a:tcPr marT="45725" marB="45725" marR="91450" marL="91450" anchor="ctr"/>
                </a:tc>
                <a:tc>
                  <a:txBody>
                    <a:bodyPr/>
                    <a:lstStyle/>
                    <a:p>
                      <a:pPr indent="0" lvl="0" marL="0" rtl="0" algn="ctr">
                        <a:spcBef>
                          <a:spcPts val="0"/>
                        </a:spcBef>
                        <a:spcAft>
                          <a:spcPts val="0"/>
                        </a:spcAft>
                        <a:buNone/>
                      </a:pPr>
                      <a:r>
                        <a:rPr b="1" lang="en-US" sz="1600"/>
                        <a:t>8-Core</a:t>
                      </a:r>
                      <a:endParaRPr b="1"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u="none" cap="none" strike="noStrike"/>
                        <a:t>Tần số</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116 MHz</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b="1" lang="en-US" sz="1600" u="none" cap="none" strike="noStrike"/>
                        <a:t>124 MHz</a:t>
                      </a:r>
                      <a:endParaRPr b="1"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106 MHz</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75 </a:t>
                      </a:r>
                      <a:r>
                        <a:rPr lang="en-US" sz="1600" u="none" cap="none" strike="noStrike"/>
                        <a:t>MHz</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89 MHz</a:t>
                      </a:r>
                      <a:endParaRPr sz="1600" u="none" cap="none" strike="noStrike"/>
                    </a:p>
                  </a:txBody>
                  <a:tcPr marT="45725" marB="45725" marR="91450" marL="9145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f2bd68531b_0_19"/>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61" name="Google Shape;461;g3f2bd68531b_0_19"/>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62" name="Google Shape;462;g3f2bd68531b_0_19"/>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graphicFrame>
        <p:nvGraphicFramePr>
          <p:cNvPr id="463" name="Google Shape;463;g3f2bd68531b_0_19"/>
          <p:cNvGraphicFramePr/>
          <p:nvPr/>
        </p:nvGraphicFramePr>
        <p:xfrm>
          <a:off x="1083493" y="1927470"/>
          <a:ext cx="3000000" cy="3000000"/>
        </p:xfrm>
        <a:graphic>
          <a:graphicData uri="http://schemas.openxmlformats.org/drawingml/2006/table">
            <a:tbl>
              <a:tblPr bandRow="1" firstRow="1">
                <a:noFill/>
                <a:tableStyleId>{B5815456-44F8-4D1A-AE71-F7906A878445}</a:tableStyleId>
              </a:tblPr>
              <a:tblGrid>
                <a:gridCol w="1995525"/>
                <a:gridCol w="1694975"/>
                <a:gridCol w="1648675"/>
                <a:gridCol w="1663900"/>
                <a:gridCol w="1912675"/>
                <a:gridCol w="1586750"/>
              </a:tblGrid>
              <a:tr h="656425">
                <a:tc>
                  <a:txBody>
                    <a:bodyPr/>
                    <a:lstStyle/>
                    <a:p>
                      <a:pPr indent="0" lvl="0" marL="0" marR="0" rtl="0" algn="ctr">
                        <a:lnSpc>
                          <a:spcPct val="100000"/>
                        </a:lnSpc>
                        <a:spcBef>
                          <a:spcPts val="0"/>
                        </a:spcBef>
                        <a:spcAft>
                          <a:spcPts val="0"/>
                        </a:spcAft>
                        <a:buNone/>
                      </a:pPr>
                      <a:r>
                        <a:rPr lang="en-US" sz="1600"/>
                        <a:t>Yếu tố so sánh</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Khóa luận này</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N.Q.T. An [1]</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T.T.H. Nam [3]</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E. Humblet [20]</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X. Guo [21] </a:t>
                      </a:r>
                      <a:endParaRPr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a:t>LUT</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43500</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b="1" lang="en-US" sz="1600"/>
                        <a:t>8598</a:t>
                      </a:r>
                      <a:endParaRPr b="1"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a:t>190775</a:t>
                      </a:r>
                      <a:endParaRPr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600"/>
                        <a:t>1400560</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17420</a:t>
                      </a:r>
                      <a:endParaRPr sz="1600" u="none" cap="none" strike="noStrike"/>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a:t>LUTRAM</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16824</a:t>
                      </a:r>
                      <a:endParaRPr sz="1600"/>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600"/>
                        <a:t>390</a:t>
                      </a:r>
                      <a:endParaRPr b="1" sz="1600" u="none" cap="none" strike="noStrike"/>
                    </a:p>
                  </a:txBody>
                  <a:tcPr marT="45725" marB="45725" marR="91450" marL="91450" anchor="ctr"/>
                </a:tc>
                <a:tc>
                  <a:txBody>
                    <a:bodyPr/>
                    <a:lstStyle/>
                    <a:p>
                      <a:pPr indent="0" lvl="0" marL="0" rtl="0" algn="ctr">
                        <a:spcBef>
                          <a:spcPts val="0"/>
                        </a:spcBef>
                        <a:spcAft>
                          <a:spcPts val="0"/>
                        </a:spcAft>
                        <a:buNone/>
                      </a:pPr>
                      <a:r>
                        <a:rPr lang="en-US" sz="1600"/>
                        <a:t>6192</a:t>
                      </a:r>
                      <a:endParaRPr sz="1600"/>
                    </a:p>
                  </a:txBody>
                  <a:tcPr marT="45725" marB="45725" marR="91450" marL="91450" anchor="ctr"/>
                </a:tc>
                <a:tc>
                  <a:txBody>
                    <a:bodyPr/>
                    <a:lstStyle/>
                    <a:p>
                      <a:pPr indent="0" lvl="0" marL="0" rtl="0" algn="ctr">
                        <a:spcBef>
                          <a:spcPts val="0"/>
                        </a:spcBef>
                        <a:spcAft>
                          <a:spcPts val="0"/>
                        </a:spcAft>
                        <a:buNone/>
                      </a:pPr>
                      <a:r>
                        <a:rPr lang="en-US" sz="1600"/>
                        <a:t>4629</a:t>
                      </a:r>
                      <a:endParaRPr sz="1600"/>
                    </a:p>
                  </a:txBody>
                  <a:tcPr marT="45725" marB="45725" marR="91450" marL="91450" anchor="ctr"/>
                </a:tc>
                <a:tc>
                  <a:txBody>
                    <a:bodyPr/>
                    <a:lstStyle/>
                    <a:p>
                      <a:pPr indent="0" lvl="0" marL="0" rtl="0" algn="ctr">
                        <a:spcBef>
                          <a:spcPts val="0"/>
                        </a:spcBef>
                        <a:spcAft>
                          <a:spcPts val="0"/>
                        </a:spcAft>
                        <a:buNone/>
                      </a:pPr>
                      <a:r>
                        <a:rPr lang="en-US" sz="1600"/>
                        <a:t>N/A</a:t>
                      </a:r>
                      <a:endParaRPr sz="1600"/>
                    </a:p>
                  </a:txBody>
                  <a:tcPr marT="45725" marB="45725" marR="91450" marL="91450" anchor="ctr"/>
                </a:tc>
              </a:tr>
              <a:tr h="490775">
                <a:tc>
                  <a:txBody>
                    <a:bodyPr/>
                    <a:lstStyle/>
                    <a:p>
                      <a:pPr indent="0" lvl="0" marL="0" marR="0" rtl="0" algn="ctr">
                        <a:lnSpc>
                          <a:spcPct val="100000"/>
                        </a:lnSpc>
                        <a:spcBef>
                          <a:spcPts val="0"/>
                        </a:spcBef>
                        <a:spcAft>
                          <a:spcPts val="0"/>
                        </a:spcAft>
                        <a:buNone/>
                      </a:pPr>
                      <a:r>
                        <a:rPr lang="en-US" sz="1600"/>
                        <a:t>FF</a:t>
                      </a:r>
                      <a:endParaRPr sz="1600"/>
                    </a:p>
                  </a:txBody>
                  <a:tcPr marT="45725" marB="45725" marR="91450" marL="91450" anchor="ctr"/>
                </a:tc>
                <a:tc>
                  <a:txBody>
                    <a:bodyPr/>
                    <a:lstStyle/>
                    <a:p>
                      <a:pPr indent="0" lvl="0" marL="0" rtl="0" algn="ctr">
                        <a:spcBef>
                          <a:spcPts val="0"/>
                        </a:spcBef>
                        <a:spcAft>
                          <a:spcPts val="0"/>
                        </a:spcAft>
                        <a:buNone/>
                      </a:pPr>
                      <a:r>
                        <a:rPr lang="en-US" sz="1600"/>
                        <a:t>24245</a:t>
                      </a:r>
                      <a:endParaRPr sz="1600"/>
                    </a:p>
                  </a:txBody>
                  <a:tcPr marT="45725" marB="45725" marR="91450" marL="91450" anchor="ctr"/>
                </a:tc>
                <a:tc>
                  <a:txBody>
                    <a:bodyPr/>
                    <a:lstStyle/>
                    <a:p>
                      <a:pPr indent="0" lvl="0" marL="0" rtl="0" algn="ctr">
                        <a:spcBef>
                          <a:spcPts val="0"/>
                        </a:spcBef>
                        <a:spcAft>
                          <a:spcPts val="0"/>
                        </a:spcAft>
                        <a:buNone/>
                      </a:pPr>
                      <a:r>
                        <a:rPr lang="en-US" sz="1600"/>
                        <a:t>6732</a:t>
                      </a:r>
                      <a:endParaRPr sz="1600"/>
                    </a:p>
                  </a:txBody>
                  <a:tcPr marT="45725" marB="45725" marR="91450" marL="91450" anchor="ctr"/>
                </a:tc>
                <a:tc>
                  <a:txBody>
                    <a:bodyPr/>
                    <a:lstStyle/>
                    <a:p>
                      <a:pPr indent="0" lvl="0" marL="0" rtl="0" algn="ctr">
                        <a:spcBef>
                          <a:spcPts val="0"/>
                        </a:spcBef>
                        <a:spcAft>
                          <a:spcPts val="0"/>
                        </a:spcAft>
                        <a:buNone/>
                      </a:pPr>
                      <a:r>
                        <a:rPr lang="en-US" sz="1600"/>
                        <a:t>204124</a:t>
                      </a:r>
                      <a:endParaRPr sz="1600"/>
                    </a:p>
                  </a:txBody>
                  <a:tcPr marT="45725" marB="45725" marR="91450" marL="91450" anchor="ctr"/>
                </a:tc>
                <a:tc>
                  <a:txBody>
                    <a:bodyPr/>
                    <a:lstStyle/>
                    <a:p>
                      <a:pPr indent="0" lvl="0" marL="0" rtl="0" algn="ctr">
                        <a:spcBef>
                          <a:spcPts val="0"/>
                        </a:spcBef>
                        <a:spcAft>
                          <a:spcPts val="0"/>
                        </a:spcAft>
                        <a:buNone/>
                      </a:pPr>
                      <a:r>
                        <a:rPr lang="en-US" sz="1600"/>
                        <a:t>409619</a:t>
                      </a:r>
                      <a:endParaRPr sz="1600"/>
                    </a:p>
                  </a:txBody>
                  <a:tcPr marT="45725" marB="45725" marR="91450" marL="91450" anchor="ctr"/>
                </a:tc>
                <a:tc>
                  <a:txBody>
                    <a:bodyPr/>
                    <a:lstStyle/>
                    <a:p>
                      <a:pPr indent="0" lvl="0" marL="0" rtl="0" algn="ctr">
                        <a:spcBef>
                          <a:spcPts val="0"/>
                        </a:spcBef>
                        <a:spcAft>
                          <a:spcPts val="0"/>
                        </a:spcAft>
                        <a:buNone/>
                      </a:pPr>
                      <a:r>
                        <a:rPr b="1" lang="en-US" sz="1600"/>
                        <a:t>6683</a:t>
                      </a:r>
                      <a:endParaRPr b="1"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a:t>BRAM</a:t>
                      </a:r>
                      <a:endParaRPr sz="1600" u="none" cap="none" strike="noStrike"/>
                    </a:p>
                  </a:txBody>
                  <a:tcPr marT="45725" marB="45725" marR="91450" marL="91450" anchor="ctr"/>
                </a:tc>
                <a:tc>
                  <a:txBody>
                    <a:bodyPr/>
                    <a:lstStyle/>
                    <a:p>
                      <a:pPr indent="0" lvl="0" marL="0" rtl="0" algn="ctr">
                        <a:spcBef>
                          <a:spcPts val="0"/>
                        </a:spcBef>
                        <a:spcAft>
                          <a:spcPts val="0"/>
                        </a:spcAft>
                        <a:buNone/>
                      </a:pPr>
                      <a:r>
                        <a:rPr lang="en-US" sz="1600"/>
                        <a:t>2</a:t>
                      </a:r>
                      <a:endParaRPr sz="1600"/>
                    </a:p>
                  </a:txBody>
                  <a:tcPr marT="45725" marB="45725" marR="91450" marL="91450" anchor="ctr"/>
                </a:tc>
                <a:tc>
                  <a:txBody>
                    <a:bodyPr/>
                    <a:lstStyle/>
                    <a:p>
                      <a:pPr indent="0" lvl="0" marL="0" rtl="0" algn="ctr">
                        <a:spcBef>
                          <a:spcPts val="0"/>
                        </a:spcBef>
                        <a:spcAft>
                          <a:spcPts val="0"/>
                        </a:spcAft>
                        <a:buNone/>
                      </a:pPr>
                      <a:r>
                        <a:rPr lang="en-US" sz="1600"/>
                        <a:t>108.35</a:t>
                      </a:r>
                      <a:endParaRPr sz="1600"/>
                    </a:p>
                  </a:txBody>
                  <a:tcPr marT="45725" marB="45725" marR="91450" marL="91450" anchor="ctr"/>
                </a:tc>
                <a:tc>
                  <a:txBody>
                    <a:bodyPr/>
                    <a:lstStyle/>
                    <a:p>
                      <a:pPr indent="0" lvl="0" marL="0" rtl="0" algn="ctr">
                        <a:spcBef>
                          <a:spcPts val="0"/>
                        </a:spcBef>
                        <a:spcAft>
                          <a:spcPts val="0"/>
                        </a:spcAft>
                        <a:buNone/>
                      </a:pPr>
                      <a:r>
                        <a:rPr b="1" lang="en-US" sz="1600"/>
                        <a:t>0</a:t>
                      </a:r>
                      <a:endParaRPr b="1" sz="1600"/>
                    </a:p>
                  </a:txBody>
                  <a:tcPr marT="45725" marB="45725" marR="91450" marL="91450" anchor="ctr"/>
                </a:tc>
                <a:tc>
                  <a:txBody>
                    <a:bodyPr/>
                    <a:lstStyle/>
                    <a:p>
                      <a:pPr indent="0" lvl="0" marL="0" rtl="0" algn="ctr">
                        <a:spcBef>
                          <a:spcPts val="0"/>
                        </a:spcBef>
                        <a:spcAft>
                          <a:spcPts val="0"/>
                        </a:spcAft>
                        <a:buNone/>
                      </a:pPr>
                      <a:r>
                        <a:rPr lang="en-US" sz="1600"/>
                        <a:t>294</a:t>
                      </a:r>
                      <a:endParaRPr sz="1600"/>
                    </a:p>
                  </a:txBody>
                  <a:tcPr marT="45725" marB="45725" marR="91450" marL="91450" anchor="ctr"/>
                </a:tc>
                <a:tc>
                  <a:txBody>
                    <a:bodyPr/>
                    <a:lstStyle/>
                    <a:p>
                      <a:pPr indent="0" lvl="0" marL="0" rtl="0" algn="ctr">
                        <a:spcBef>
                          <a:spcPts val="0"/>
                        </a:spcBef>
                        <a:spcAft>
                          <a:spcPts val="0"/>
                        </a:spcAft>
                        <a:buNone/>
                      </a:pPr>
                      <a:r>
                        <a:rPr lang="en-US" sz="1600"/>
                        <a:t>N/A</a:t>
                      </a:r>
                      <a:endParaRPr sz="1600"/>
                    </a:p>
                  </a:txBody>
                  <a:tcPr marT="45725" marB="45725" marR="91450" marL="91450" anchor="ctr"/>
                </a:tc>
              </a:tr>
              <a:tr h="469800">
                <a:tc>
                  <a:txBody>
                    <a:bodyPr/>
                    <a:lstStyle/>
                    <a:p>
                      <a:pPr indent="0" lvl="0" marL="0" marR="0" rtl="0" algn="ctr">
                        <a:lnSpc>
                          <a:spcPct val="100000"/>
                        </a:lnSpc>
                        <a:spcBef>
                          <a:spcPts val="0"/>
                        </a:spcBef>
                        <a:spcAft>
                          <a:spcPts val="0"/>
                        </a:spcAft>
                        <a:buNone/>
                      </a:pPr>
                      <a:r>
                        <a:rPr lang="en-US" sz="1600"/>
                        <a:t>Power</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0.967 (W)</a:t>
                      </a:r>
                      <a:endParaRPr sz="1600"/>
                    </a:p>
                  </a:txBody>
                  <a:tcPr marT="45725" marB="45725" marR="91450" marL="91450" anchor="ctr"/>
                </a:tc>
                <a:tc>
                  <a:txBody>
                    <a:bodyPr/>
                    <a:lstStyle/>
                    <a:p>
                      <a:pPr indent="0" lvl="0" marL="0" marR="0" rtl="0" algn="ctr">
                        <a:lnSpc>
                          <a:spcPct val="100000"/>
                        </a:lnSpc>
                        <a:spcBef>
                          <a:spcPts val="0"/>
                        </a:spcBef>
                        <a:spcAft>
                          <a:spcPts val="0"/>
                        </a:spcAft>
                        <a:buNone/>
                      </a:pPr>
                      <a:r>
                        <a:rPr b="1" lang="en-US" sz="1600"/>
                        <a:t>0.625 (W)</a:t>
                      </a:r>
                      <a:endParaRPr b="1" sz="1600"/>
                    </a:p>
                  </a:txBody>
                  <a:tcPr marT="45725" marB="45725" marR="91450" marL="91450" anchor="ctr"/>
                </a:tc>
                <a:tc>
                  <a:txBody>
                    <a:bodyPr/>
                    <a:lstStyle/>
                    <a:p>
                      <a:pPr indent="0" lvl="0" marL="0" marR="0" rtl="0" algn="ctr">
                        <a:lnSpc>
                          <a:spcPct val="100000"/>
                        </a:lnSpc>
                        <a:spcBef>
                          <a:spcPts val="0"/>
                        </a:spcBef>
                        <a:spcAft>
                          <a:spcPts val="0"/>
                        </a:spcAft>
                        <a:buNone/>
                      </a:pPr>
                      <a:r>
                        <a:rPr lang="en-US" sz="1600"/>
                        <a:t>3,85 (W)</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1,782(W)</a:t>
                      </a:r>
                      <a:endParaRPr sz="1600" u="none" cap="none" strike="noStrike"/>
                    </a:p>
                  </a:txBody>
                  <a:tcPr marT="45725" marB="45725" marR="91450" marL="91450" anchor="ctr"/>
                </a:tc>
                <a:tc>
                  <a:txBody>
                    <a:bodyPr/>
                    <a:lstStyle/>
                    <a:p>
                      <a:pPr indent="0" lvl="0" marL="0" rtl="0" algn="ctr">
                        <a:spcBef>
                          <a:spcPts val="0"/>
                        </a:spcBef>
                        <a:spcAft>
                          <a:spcPts val="0"/>
                        </a:spcAft>
                        <a:buClr>
                          <a:schemeClr val="dk1"/>
                        </a:buClr>
                        <a:buSzPts val="1100"/>
                        <a:buFont typeface="Arial"/>
                        <a:buNone/>
                      </a:pPr>
                      <a:r>
                        <a:rPr lang="en-US" sz="1600">
                          <a:solidFill>
                            <a:schemeClr val="dk1"/>
                          </a:solidFill>
                        </a:rPr>
                        <a:t>N/A</a:t>
                      </a:r>
                      <a:endParaRPr sz="1600" u="none" cap="none" strike="noStrike"/>
                    </a:p>
                  </a:txBody>
                  <a:tcPr marT="45725" marB="45725" marR="91450" marL="91450" anchor="ctr"/>
                </a:tc>
              </a:tr>
              <a:tr h="609750">
                <a:tc>
                  <a:txBody>
                    <a:bodyPr/>
                    <a:lstStyle/>
                    <a:p>
                      <a:pPr indent="0" lvl="0" marL="0" marR="0" rtl="0" algn="ctr">
                        <a:lnSpc>
                          <a:spcPct val="100000"/>
                        </a:lnSpc>
                        <a:spcBef>
                          <a:spcPts val="0"/>
                        </a:spcBef>
                        <a:spcAft>
                          <a:spcPts val="0"/>
                        </a:spcAft>
                        <a:buNone/>
                      </a:pPr>
                      <a:r>
                        <a:rPr lang="en-US" sz="1600"/>
                        <a:t>Board</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a:t>Virtex-7 VC707</a:t>
                      </a:r>
                      <a:endParaRPr sz="1600"/>
                    </a:p>
                  </a:txBody>
                  <a:tcPr marT="45725" marB="45725" marR="91450" marL="91450" anchor="ctr"/>
                </a:tc>
                <a:tc>
                  <a:txBody>
                    <a:bodyPr/>
                    <a:lstStyle/>
                    <a:p>
                      <a:pPr indent="0" lvl="0" marL="0" rtl="0" algn="ctr">
                        <a:spcBef>
                          <a:spcPts val="0"/>
                        </a:spcBef>
                        <a:spcAft>
                          <a:spcPts val="0"/>
                        </a:spcAft>
                        <a:buNone/>
                      </a:pPr>
                      <a:r>
                        <a:rPr lang="en-US" sz="1600"/>
                        <a:t>Virtex-7 VC707</a:t>
                      </a:r>
                      <a:endParaRPr sz="1600"/>
                    </a:p>
                  </a:txBody>
                  <a:tcPr marT="45725" marB="45725" marR="91450" marL="91450" anchor="ctr"/>
                </a:tc>
                <a:tc>
                  <a:txBody>
                    <a:bodyPr/>
                    <a:lstStyle/>
                    <a:p>
                      <a:pPr indent="0" lvl="0" marL="0" rtl="0" algn="ctr">
                        <a:spcBef>
                          <a:spcPts val="0"/>
                        </a:spcBef>
                        <a:spcAft>
                          <a:spcPts val="0"/>
                        </a:spcAft>
                        <a:buNone/>
                      </a:pPr>
                      <a:r>
                        <a:rPr lang="en-US" sz="1600"/>
                        <a:t>Virtex-7 VC707</a:t>
                      </a:r>
                      <a:endParaRPr sz="1600"/>
                    </a:p>
                  </a:txBody>
                  <a:tcPr marT="45725" marB="45725" marR="91450" marL="91450" anchor="ctr"/>
                </a:tc>
                <a:tc>
                  <a:txBody>
                    <a:bodyPr/>
                    <a:lstStyle/>
                    <a:p>
                      <a:pPr indent="0" lvl="0" marL="0" rtl="0" algn="ctr">
                        <a:spcBef>
                          <a:spcPts val="0"/>
                        </a:spcBef>
                        <a:spcAft>
                          <a:spcPts val="0"/>
                        </a:spcAft>
                        <a:buNone/>
                      </a:pPr>
                      <a:r>
                        <a:rPr lang="en-US" sz="1600"/>
                        <a:t>Xilinx Alveo U280</a:t>
                      </a:r>
                      <a:endParaRPr sz="1600"/>
                    </a:p>
                  </a:txBody>
                  <a:tcPr marT="45725" marB="45725" marR="91450" marL="91450" anchor="ctr"/>
                </a:tc>
                <a:tc>
                  <a:txBody>
                    <a:bodyPr/>
                    <a:lstStyle/>
                    <a:p>
                      <a:pPr indent="0" lvl="0" marL="0" rtl="0" algn="ctr">
                        <a:spcBef>
                          <a:spcPts val="0"/>
                        </a:spcBef>
                        <a:spcAft>
                          <a:spcPts val="0"/>
                        </a:spcAft>
                        <a:buNone/>
                      </a:pPr>
                      <a:r>
                        <a:rPr lang="en-US" sz="1600"/>
                        <a:t>Xilinx Kintex 7</a:t>
                      </a:r>
                      <a:endParaRPr sz="1600"/>
                    </a:p>
                  </a:txBody>
                  <a:tcPr marT="45725" marB="45725" marR="91450" marL="914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69" name="Google Shape;469;p1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70" name="Google Shape;470;p12" title="Demo Virtex-7 VC707.mp4">
            <a:hlinkClick r:id="rId3"/>
          </p:cNvPr>
          <p:cNvPicPr preferRelativeResize="0"/>
          <p:nvPr/>
        </p:nvPicPr>
        <p:blipFill>
          <a:blip r:embed="rId4">
            <a:alphaModFix/>
          </a:blip>
          <a:stretch>
            <a:fillRect/>
          </a:stretch>
        </p:blipFill>
        <p:spPr>
          <a:xfrm>
            <a:off x="2723088" y="2065650"/>
            <a:ext cx="7135776" cy="4013874"/>
          </a:xfrm>
          <a:prstGeom prst="rect">
            <a:avLst/>
          </a:prstGeom>
          <a:noFill/>
          <a:ln>
            <a:noFill/>
          </a:ln>
        </p:spPr>
      </p:pic>
      <p:sp>
        <p:nvSpPr>
          <p:cNvPr id="471" name="Google Shape;471;p12"/>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f7b23973b3_0_0"/>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4. Hướng phát triển</a:t>
            </a:r>
            <a:endParaRPr/>
          </a:p>
        </p:txBody>
      </p:sp>
      <p:sp>
        <p:nvSpPr>
          <p:cNvPr id="477" name="Google Shape;477;g3f7b23973b3_0_0"/>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78" name="Google Shape;478;g3f7b23973b3_0_0"/>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
        <p:nvSpPr>
          <p:cNvPr id="479" name="Google Shape;479;g3f7b23973b3_0_0"/>
          <p:cNvSpPr txBox="1"/>
          <p:nvPr>
            <p:ph idx="1" type="body"/>
          </p:nvPr>
        </p:nvSpPr>
        <p:spPr>
          <a:xfrm>
            <a:off x="606000" y="1927430"/>
            <a:ext cx="10980000" cy="4156800"/>
          </a:xfrm>
          <a:prstGeom prst="rect">
            <a:avLst/>
          </a:prstGeom>
          <a:noFill/>
          <a:ln>
            <a:noFill/>
          </a:ln>
        </p:spPr>
        <p:txBody>
          <a:bodyPr anchorCtr="0" anchor="t" bIns="45700" lIns="91425" spcFirstLastPara="1" rIns="91425" wrap="square" tIns="45700">
            <a:normAutofit/>
          </a:bodyPr>
          <a:lstStyle/>
          <a:p>
            <a:pPr indent="-457200" lvl="0" marL="457200" rtl="0" algn="just">
              <a:lnSpc>
                <a:spcPct val="130000"/>
              </a:lnSpc>
              <a:spcBef>
                <a:spcPts val="0"/>
              </a:spcBef>
              <a:spcAft>
                <a:spcPts val="0"/>
              </a:spcAft>
              <a:buSzPts val="1800"/>
              <a:buChar char="•"/>
            </a:pPr>
            <a:r>
              <a:rPr lang="en-US" sz="1800"/>
              <a:t>Giải quyết nghẽn cổ chai bộ nhớ Nâng cấp L1 Arbiter hoặc cải tiến L2 Cache thành dạng đa cổng (Multi-port) → cho phép 2 lõi truy cập L2 đồng thời, tăng băng thông khi cả 2 lõi cùng Miss.</a:t>
            </a:r>
            <a:endParaRPr/>
          </a:p>
          <a:p>
            <a:pPr indent="-457200" lvl="0" marL="457200" rtl="0" algn="just">
              <a:lnSpc>
                <a:spcPct val="130000"/>
              </a:lnSpc>
              <a:spcBef>
                <a:spcPts val="0"/>
              </a:spcBef>
              <a:spcAft>
                <a:spcPts val="0"/>
              </a:spcAft>
              <a:buSzPts val="1800"/>
              <a:buChar char="•"/>
            </a:pPr>
            <a:r>
              <a:rPr lang="en-US" sz="1800"/>
              <a:t>Mở rộng lên N lõi: Chuyển đổi giao thức đồng bộ từ Snooping sang kiến trúc Directory-based để có thể mở rộng lên hệ thống SoC nhiều lõi (N &gt; 2).</a:t>
            </a:r>
            <a:endParaRPr/>
          </a:p>
          <a:p>
            <a:pPr indent="-457200" lvl="0" marL="457200" rtl="0" algn="just">
              <a:lnSpc>
                <a:spcPct val="130000"/>
              </a:lnSpc>
              <a:spcBef>
                <a:spcPts val="0"/>
              </a:spcBef>
              <a:spcAft>
                <a:spcPts val="0"/>
              </a:spcAft>
              <a:buSzPts val="1800"/>
              <a:buChar char="•"/>
            </a:pPr>
            <a:r>
              <a:rPr lang="en-US" sz="1800"/>
              <a:t>Mở rộng tập lệnh &amp; hỗ trợ hệ thống Bổ sung tập lệnh RV32M (Nhân/Chia), RV32F/D (Dấu phẩy động) và hoàn thiện thanh ghi CSR để hỗ trợ ngắt (Interrupt) và ngoại lệ (Exception).</a:t>
            </a:r>
            <a:endParaRPr/>
          </a:p>
          <a:p>
            <a:pPr indent="-457200" lvl="0" marL="457200" rtl="0" algn="just">
              <a:lnSpc>
                <a:spcPct val="130000"/>
              </a:lnSpc>
              <a:spcBef>
                <a:spcPts val="0"/>
              </a:spcBef>
              <a:spcAft>
                <a:spcPts val="0"/>
              </a:spcAft>
              <a:buSzPts val="1800"/>
              <a:buChar char="•"/>
            </a:pPr>
            <a:r>
              <a:rPr lang="en-US" sz="1800"/>
              <a:t>Xây dựng SoC hoàn chỉnh Tích hợp MMU (bộ nhớ ảo), DMA và các chuẩn ngoại vi UART, SPI → hướng tới một hệ thống SoC có khả năng chạy hệ điều hành nhúng (RTOS).</a:t>
            </a:r>
            <a:endParaRPr sz="1800"/>
          </a:p>
          <a:p>
            <a:pPr indent="-457200" lvl="0" marL="457200" rtl="0" algn="just">
              <a:lnSpc>
                <a:spcPct val="130000"/>
              </a:lnSpc>
              <a:spcBef>
                <a:spcPts val="0"/>
              </a:spcBef>
              <a:spcAft>
                <a:spcPts val="0"/>
              </a:spcAft>
              <a:buSzPts val="1800"/>
              <a:buChar char="•"/>
            </a:pPr>
            <a:r>
              <a:rPr lang="en-US" sz="1800"/>
              <a:t>Tích hợp chuẩn công nghiệp: Nghiên cứu và tham khảo ứng dụng các chuẩn giao tiếp đồng nhất bộ nhớ chuyên dụng trong công nghiệp như kiến trúc AMBA ACE (AXI Coherency Extensions) hoặc AMBA CHI (Coherent Hub Interface) của ARM nhằm tối ưu hóa hiệu năng giao tiếp trên bus.</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Tài liệu tham khảo</a:t>
            </a:r>
            <a:endParaRPr/>
          </a:p>
        </p:txBody>
      </p:sp>
      <p:sp>
        <p:nvSpPr>
          <p:cNvPr id="485" name="Google Shape;485;p13"/>
          <p:cNvSpPr txBox="1"/>
          <p:nvPr>
            <p:ph idx="1" type="body"/>
          </p:nvPr>
        </p:nvSpPr>
        <p:spPr>
          <a:xfrm>
            <a:off x="606000" y="1927430"/>
            <a:ext cx="10980000" cy="4156684"/>
          </a:xfrm>
          <a:prstGeom prst="rect">
            <a:avLst/>
          </a:prstGeom>
          <a:noFill/>
          <a:ln>
            <a:noFill/>
          </a:ln>
        </p:spPr>
        <p:txBody>
          <a:bodyPr anchorCtr="0" anchor="t" bIns="45700" lIns="91425" spcFirstLastPara="1" rIns="91425" wrap="square" tIns="45700">
            <a:noAutofit/>
          </a:bodyPr>
          <a:lstStyle/>
          <a:p>
            <a:pPr indent="0" lvl="0" marL="0" rtl="0" algn="just">
              <a:lnSpc>
                <a:spcPct val="130000"/>
              </a:lnSpc>
              <a:spcBef>
                <a:spcPts val="0"/>
              </a:spcBef>
              <a:spcAft>
                <a:spcPts val="0"/>
              </a:spcAft>
              <a:buClr>
                <a:schemeClr val="dk1"/>
              </a:buClr>
              <a:buSzPts val="1600"/>
              <a:buNone/>
            </a:pPr>
            <a:r>
              <a:rPr lang="en-US" sz="1600"/>
              <a:t>[1] M. Majiid, "RISC-V RV64IMAC RTL Design using SystemVerilog HDL", 2022.</a:t>
            </a:r>
            <a:endParaRPr sz="1600"/>
          </a:p>
          <a:p>
            <a:pPr indent="0" lvl="0" marL="0" rtl="0" algn="just">
              <a:lnSpc>
                <a:spcPct val="130000"/>
              </a:lnSpc>
              <a:spcBef>
                <a:spcPts val="0"/>
              </a:spcBef>
              <a:spcAft>
                <a:spcPts val="0"/>
              </a:spcAft>
              <a:buClr>
                <a:schemeClr val="dk1"/>
              </a:buClr>
              <a:buSzPts val="1600"/>
              <a:buNone/>
            </a:pPr>
            <a:r>
              <a:rPr lang="en-US" sz="1600"/>
              <a:t>[2] D. Emil, M. Hamdy, và G. Nagib, "Development an efficient AXI-interconnect unit between set of customized peripheral devices and an implemented dual-core RISC-V processor," The Journal of Supercomputing, 2023. </a:t>
            </a:r>
            <a:endParaRPr sz="1600"/>
          </a:p>
          <a:p>
            <a:pPr indent="0" lvl="0" marL="0" rtl="0" algn="just">
              <a:lnSpc>
                <a:spcPct val="130000"/>
              </a:lnSpc>
              <a:spcBef>
                <a:spcPts val="0"/>
              </a:spcBef>
              <a:spcAft>
                <a:spcPts val="0"/>
              </a:spcAft>
              <a:buClr>
                <a:schemeClr val="dk1"/>
              </a:buClr>
              <a:buSzPts val="1600"/>
              <a:buNone/>
            </a:pPr>
            <a:r>
              <a:rPr lang="en-US" sz="1600"/>
              <a:t>[3] T. Q. Trường và L. P. N. Nam, "Thiết kế và hiện thực bộ vi xử lý RISC-V 32 bit sử dụng kiến trúc Superscalar hỗ trợ bộ điều khiển Cache Associative 4-way và đơn vị quản lý bộ nhớ trên FPGA", 2022. </a:t>
            </a:r>
            <a:endParaRPr sz="1600"/>
          </a:p>
          <a:p>
            <a:pPr indent="0" lvl="0" marL="0" rtl="0" algn="just">
              <a:lnSpc>
                <a:spcPct val="130000"/>
              </a:lnSpc>
              <a:spcBef>
                <a:spcPts val="600"/>
              </a:spcBef>
              <a:spcAft>
                <a:spcPts val="0"/>
              </a:spcAft>
              <a:buClr>
                <a:schemeClr val="dk1"/>
              </a:buClr>
              <a:buSzPts val="1600"/>
              <a:buNone/>
            </a:pPr>
            <a:r>
              <a:rPr lang="en-US" sz="1600"/>
              <a:t>[4] C. T. Bình và Đ. P. Hùng, "Thiết kế và hiện thực lõi vi xử lý RISC-V RV32IF hỗ trợ 4 Way Set Associative Cache và bộ tạo số ngẫu nhiên thực trên FPGA", 2023. </a:t>
            </a:r>
            <a:endParaRPr sz="1600"/>
          </a:p>
          <a:p>
            <a:pPr indent="0" lvl="0" marL="0" rtl="0" algn="just">
              <a:lnSpc>
                <a:spcPct val="130000"/>
              </a:lnSpc>
              <a:spcBef>
                <a:spcPts val="600"/>
              </a:spcBef>
              <a:spcAft>
                <a:spcPts val="0"/>
              </a:spcAft>
              <a:buClr>
                <a:schemeClr val="dk1"/>
              </a:buClr>
              <a:buSzPts val="1600"/>
              <a:buNone/>
            </a:pPr>
            <a:r>
              <a:rPr lang="en-US" sz="1600"/>
              <a:t>[5] T. T. H. Nam và N. Đ. D. Khang, "Hiện thực một NoC (Network on Chip) sử dụng lõi vi xử lý RISC-V RV32IMF thông qua giao thức Tilelink trên FPGA", 2024. </a:t>
            </a:r>
            <a:endParaRPr sz="1600"/>
          </a:p>
          <a:p>
            <a:pPr indent="0" lvl="0" marL="0" rtl="0" algn="just">
              <a:lnSpc>
                <a:spcPct val="130000"/>
              </a:lnSpc>
              <a:spcBef>
                <a:spcPts val="600"/>
              </a:spcBef>
              <a:spcAft>
                <a:spcPts val="0"/>
              </a:spcAft>
              <a:buClr>
                <a:schemeClr val="dk1"/>
              </a:buClr>
              <a:buSzPts val="1600"/>
              <a:buNone/>
            </a:pPr>
            <a:r>
              <a:rPr lang="en-US" sz="1600"/>
              <a:t>[6] K. T. Tài và P. T. Đức, "Thiết kế bộ vi xử lý 2 lõi dựa trên kiến trúc tập lệnh RISC-V RV32ICMFA", 2025. </a:t>
            </a:r>
            <a:endParaRPr sz="1600"/>
          </a:p>
          <a:p>
            <a:pPr indent="0" lvl="0" marL="0" rtl="0" algn="just">
              <a:lnSpc>
                <a:spcPct val="130000"/>
              </a:lnSpc>
              <a:spcBef>
                <a:spcPts val="600"/>
              </a:spcBef>
              <a:spcAft>
                <a:spcPts val="0"/>
              </a:spcAft>
              <a:buClr>
                <a:schemeClr val="dk1"/>
              </a:buClr>
              <a:buSzPts val="1600"/>
              <a:buNone/>
            </a:pPr>
            <a:r>
              <a:rPr lang="en-US" sz="1600"/>
              <a:t>[7] N. Q. T. An và D. H. Tuấn, "Thiết kế bộ điều khiển đồng bộ cache cho hệ thống đa vi xử lý dựa trên lõi CPU RISC-V RV32I", 2025.</a:t>
            </a:r>
            <a:endParaRPr sz="1600"/>
          </a:p>
        </p:txBody>
      </p:sp>
      <p:sp>
        <p:nvSpPr>
          <p:cNvPr id="486" name="Google Shape;486;p1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87" name="Google Shape;487;p1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lang="en-US"/>
              <a:t>Phụ lục</a:t>
            </a:r>
            <a:endParaRPr/>
          </a:p>
        </p:txBody>
      </p:sp>
      <p:sp>
        <p:nvSpPr>
          <p:cNvPr id="493" name="Google Shape;493;p3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494" name="Google Shape;494;p3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495" name="Google Shape;495;p38"/>
          <p:cNvPicPr preferRelativeResize="0"/>
          <p:nvPr/>
        </p:nvPicPr>
        <p:blipFill rotWithShape="1">
          <a:blip r:embed="rId3">
            <a:alphaModFix/>
          </a:blip>
          <a:srcRect b="0" l="0" r="0" t="0"/>
          <a:stretch/>
        </p:blipFill>
        <p:spPr>
          <a:xfrm>
            <a:off x="606000" y="1990930"/>
            <a:ext cx="4867275" cy="1819275"/>
          </a:xfrm>
          <a:prstGeom prst="rect">
            <a:avLst/>
          </a:prstGeom>
          <a:noFill/>
          <a:ln>
            <a:noFill/>
          </a:ln>
        </p:spPr>
      </p:pic>
      <p:pic>
        <p:nvPicPr>
          <p:cNvPr id="496" name="Google Shape;496;p38"/>
          <p:cNvPicPr preferRelativeResize="0"/>
          <p:nvPr/>
        </p:nvPicPr>
        <p:blipFill rotWithShape="1">
          <a:blip r:embed="rId4">
            <a:alphaModFix/>
          </a:blip>
          <a:srcRect b="0" l="0" r="0" t="0"/>
          <a:stretch/>
        </p:blipFill>
        <p:spPr>
          <a:xfrm>
            <a:off x="5562301" y="1990930"/>
            <a:ext cx="5572125" cy="2486025"/>
          </a:xfrm>
          <a:prstGeom prst="rect">
            <a:avLst/>
          </a:prstGeom>
          <a:noFill/>
          <a:ln>
            <a:noFill/>
          </a:ln>
        </p:spPr>
      </p:pic>
      <p:pic>
        <p:nvPicPr>
          <p:cNvPr id="497" name="Google Shape;497;p38"/>
          <p:cNvPicPr preferRelativeResize="0"/>
          <p:nvPr/>
        </p:nvPicPr>
        <p:blipFill rotWithShape="1">
          <a:blip r:embed="rId5">
            <a:alphaModFix/>
          </a:blip>
          <a:srcRect b="0" l="0" r="0" t="0"/>
          <a:stretch/>
        </p:blipFill>
        <p:spPr>
          <a:xfrm>
            <a:off x="420688" y="4387850"/>
            <a:ext cx="557212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9"/>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lang="en-US"/>
              <a:t>Phụ lục</a:t>
            </a:r>
            <a:endParaRPr/>
          </a:p>
        </p:txBody>
      </p:sp>
      <p:sp>
        <p:nvSpPr>
          <p:cNvPr id="503" name="Google Shape;503;p39"/>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504" name="Google Shape;504;p39"/>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505" name="Google Shape;505;p39"/>
          <p:cNvPicPr preferRelativeResize="0"/>
          <p:nvPr/>
        </p:nvPicPr>
        <p:blipFill rotWithShape="1">
          <a:blip r:embed="rId3">
            <a:alphaModFix/>
          </a:blip>
          <a:srcRect b="0" l="0" r="0" t="0"/>
          <a:stretch/>
        </p:blipFill>
        <p:spPr>
          <a:xfrm>
            <a:off x="787400" y="2039938"/>
            <a:ext cx="4724400" cy="2562225"/>
          </a:xfrm>
          <a:prstGeom prst="rect">
            <a:avLst/>
          </a:prstGeom>
          <a:noFill/>
          <a:ln>
            <a:noFill/>
          </a:ln>
        </p:spPr>
      </p:pic>
      <p:pic>
        <p:nvPicPr>
          <p:cNvPr id="506" name="Google Shape;506;p39"/>
          <p:cNvPicPr preferRelativeResize="0"/>
          <p:nvPr/>
        </p:nvPicPr>
        <p:blipFill rotWithShape="1">
          <a:blip r:embed="rId4">
            <a:alphaModFix/>
          </a:blip>
          <a:srcRect b="0" l="0" r="0" t="0"/>
          <a:stretch/>
        </p:blipFill>
        <p:spPr>
          <a:xfrm>
            <a:off x="6413500" y="1477963"/>
            <a:ext cx="4114800" cy="3124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lang="en-US"/>
              <a:t>Phụ lục</a:t>
            </a:r>
            <a:endParaRPr/>
          </a:p>
        </p:txBody>
      </p:sp>
      <p:sp>
        <p:nvSpPr>
          <p:cNvPr id="512" name="Google Shape;512;p4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Copyrights 2024 CE-UIT. All Rights Reserved.</a:t>
            </a:r>
            <a:endParaRPr/>
          </a:p>
        </p:txBody>
      </p:sp>
      <p:sp>
        <p:nvSpPr>
          <p:cNvPr id="513" name="Google Shape;513;p4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US"/>
              <a:t>‹#›</a:t>
            </a:fld>
            <a:endParaRPr/>
          </a:p>
        </p:txBody>
      </p:sp>
      <p:pic>
        <p:nvPicPr>
          <p:cNvPr id="514" name="Google Shape;514;p40"/>
          <p:cNvPicPr preferRelativeResize="0"/>
          <p:nvPr/>
        </p:nvPicPr>
        <p:blipFill rotWithShape="1">
          <a:blip r:embed="rId3">
            <a:alphaModFix/>
          </a:blip>
          <a:srcRect b="0" l="0" r="0" t="0"/>
          <a:stretch/>
        </p:blipFill>
        <p:spPr>
          <a:xfrm>
            <a:off x="879475" y="2017713"/>
            <a:ext cx="4857750" cy="1933575"/>
          </a:xfrm>
          <a:prstGeom prst="rect">
            <a:avLst/>
          </a:prstGeom>
          <a:noFill/>
          <a:ln>
            <a:noFill/>
          </a:ln>
        </p:spPr>
      </p:pic>
      <p:pic>
        <p:nvPicPr>
          <p:cNvPr id="515" name="Google Shape;515;p40"/>
          <p:cNvPicPr preferRelativeResize="0"/>
          <p:nvPr/>
        </p:nvPicPr>
        <p:blipFill rotWithShape="1">
          <a:blip r:embed="rId4">
            <a:alphaModFix/>
          </a:blip>
          <a:srcRect b="0" l="0" r="0" t="0"/>
          <a:stretch/>
        </p:blipFill>
        <p:spPr>
          <a:xfrm>
            <a:off x="7416800" y="2017713"/>
            <a:ext cx="2667000" cy="3181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2022-06-26T12:27:32Z</dcterms:created>
</cp:coreProperties>
</file>